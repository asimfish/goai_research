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多智能体并行闭环 1/2 · 构图 A：三条横向相位带（S2 候选 C01），编排器在左分派，运行账本与 KPI 在下（round 3, deck theme）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l_bar" descr="Editable shape; source id hl_bar"/>
          <p:cNvSpPr/>
          <p:nvPr/>
        </p:nvSpPr>
        <p:spPr>
          <a:xfrm>
            <a:off x="317499" y="936624"/>
            <a:ext cx="3841749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l" descr="Editable text; source id hl"/>
          <p:cNvSpPr txBox="1"/>
          <p:nvPr/>
        </p:nvSpPr>
        <p:spPr>
          <a:xfrm>
            <a:off x="460374" y="936624"/>
            <a:ext cx="355599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完成判定由程序执行，而非模型自述</a:t>
            </a:r>
          </a:p>
        </p:txBody>
      </p:sp>
      <p:sp>
        <p:nvSpPr>
          <p:cNvPr id="4" name="lg" descr="Editable shape; source id lg"/>
          <p:cNvSpPr/>
          <p:nvPr/>
        </p:nvSpPr>
        <p:spPr>
          <a:xfrm>
            <a:off x="5873749" y="936624"/>
            <a:ext cx="6000749" cy="3651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g_s0" descr="Editable line; source id lg_s0"/>
          <p:cNvSpPr/>
          <p:nvPr/>
        </p:nvSpPr>
        <p:spPr>
          <a:xfrm>
            <a:off x="5984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g_l0" descr="Editable text; source id lg_l0"/>
          <p:cNvSpPr txBox="1"/>
          <p:nvPr/>
        </p:nvSpPr>
        <p:spPr>
          <a:xfrm>
            <a:off x="6461124" y="1015999"/>
            <a:ext cx="476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主流程</a:t>
            </a:r>
          </a:p>
        </p:txBody>
      </p:sp>
      <p:cxnSp>
        <p:nvCxnSpPr>
          <p:cNvPr id="7" name="lg_s1" descr="Editable line; source id lg_s1"/>
          <p:cNvCxnSpPr/>
          <p:nvPr/>
        </p:nvCxnSpPr>
        <p:spPr>
          <a:xfrm>
            <a:off x="7064374" y="1119187"/>
            <a:ext cx="412750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g_l1" descr="Editable text; source id lg_l1"/>
          <p:cNvSpPr txBox="1"/>
          <p:nvPr/>
        </p:nvSpPr>
        <p:spPr>
          <a:xfrm>
            <a:off x="7540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任务分派</a:t>
            </a:r>
          </a:p>
        </p:txBody>
      </p:sp>
      <p:sp>
        <p:nvSpPr>
          <p:cNvPr id="9" name="lg_s2" descr="Editable line; source id lg_s2"/>
          <p:cNvSpPr/>
          <p:nvPr/>
        </p:nvSpPr>
        <p:spPr>
          <a:xfrm>
            <a:off x="8270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g_l2" descr="Editable text; source id lg_l2"/>
          <p:cNvSpPr txBox="1"/>
          <p:nvPr/>
        </p:nvSpPr>
        <p:spPr>
          <a:xfrm>
            <a:off x="8747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定向返修</a:t>
            </a:r>
          </a:p>
        </p:txBody>
      </p:sp>
      <p:sp>
        <p:nvSpPr>
          <p:cNvPr id="11" name="lg_s3" descr="Editable line; source id lg_s3"/>
          <p:cNvSpPr/>
          <p:nvPr/>
        </p:nvSpPr>
        <p:spPr>
          <a:xfrm>
            <a:off x="9477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g_l3" descr="Editable text; source id lg_l3"/>
          <p:cNvSpPr txBox="1"/>
          <p:nvPr/>
        </p:nvSpPr>
        <p:spPr>
          <a:xfrm>
            <a:off x="99536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通过放行</a:t>
            </a:r>
          </a:p>
        </p:txBody>
      </p:sp>
      <p:sp>
        <p:nvSpPr>
          <p:cNvPr id="13" name="lg_s4" descr="Editable line; source id lg_s4"/>
          <p:cNvSpPr/>
          <p:nvPr/>
        </p:nvSpPr>
        <p:spPr>
          <a:xfrm>
            <a:off x="10683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5000"/>
                </a:moveTo>
                <a:lnTo>
                  <a:pt x="38000" y="50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7000"/>
                </a:lnTo>
                <a:lnTo>
                  <a:pt x="0" y="700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g_l4" descr="Editable text; source id lg_l4"/>
          <p:cNvSpPr txBox="1"/>
          <p:nvPr/>
        </p:nvSpPr>
        <p:spPr>
          <a:xfrm>
            <a:off x="11160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记录入账</a:t>
            </a:r>
          </a:p>
        </p:txBody>
      </p:sp>
      <p:sp>
        <p:nvSpPr>
          <p:cNvPr id="15" name="topic_sh" descr="Editable shape; source id topic_sh"/>
          <p:cNvSpPr/>
          <p:nvPr/>
        </p:nvSpPr>
        <p:spPr>
          <a:xfrm>
            <a:off x="333374" y="1436687"/>
            <a:ext cx="1555749" cy="1111249"/>
          </a:xfrm>
          <a:prstGeom prst="roundRect">
            <a:avLst>
              <a:gd name="adj" fmla="val 10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pic" descr="Editable shape; source id topic"/>
          <p:cNvSpPr/>
          <p:nvPr/>
        </p:nvSpPr>
        <p:spPr>
          <a:xfrm>
            <a:off x="317499" y="1396999"/>
            <a:ext cx="1555749" cy="111124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topic_art" descr="cropped from the image-model asset sheet, cell &quot;structure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79" y="1460499"/>
            <a:ext cx="656790" cy="492124"/>
          </a:xfrm>
          <a:prstGeom prst="rect">
            <a:avLst/>
          </a:prstGeom>
          <a:effectLst/>
        </p:spPr>
      </p:pic>
      <p:sp>
        <p:nvSpPr>
          <p:cNvPr id="18" name="topic_t" descr="Editable text; source id topic_t"/>
          <p:cNvSpPr txBox="1"/>
          <p:nvPr/>
        </p:nvSpPr>
        <p:spPr>
          <a:xfrm>
            <a:off x="365124" y="1984374"/>
            <a:ext cx="14604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研究课题</a:t>
            </a:r>
          </a:p>
        </p:txBody>
      </p:sp>
      <p:sp>
        <p:nvSpPr>
          <p:cNvPr id="19" name="topic_s0" descr="Editable text; source id topic_s0"/>
          <p:cNvSpPr txBox="1"/>
          <p:nvPr/>
        </p:nvSpPr>
        <p:spPr>
          <a:xfrm>
            <a:off x="365124" y="2254249"/>
            <a:ext cx="14604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Ba–Y–Zn–Si–O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新相合成</a:t>
            </a:r>
          </a:p>
        </p:txBody>
      </p:sp>
      <p:sp>
        <p:nvSpPr>
          <p:cNvPr id="20" name="f_topic_0" descr="Editable line; source id f_topic_0"/>
          <p:cNvSpPr/>
          <p:nvPr/>
        </p:nvSpPr>
        <p:spPr>
          <a:xfrm>
            <a:off x="1027906" y="2547937"/>
            <a:ext cx="134937" cy="214312"/>
          </a:xfrm>
          <a:custGeom>
            <a:avLst/>
            <a:gdLst/>
            <a:ahLst/>
            <a:cxnLst/>
            <a:rect l="l" t="t" r="r" b="b"/>
            <a:pathLst>
              <a:path w="17000" h="27000">
                <a:moveTo>
                  <a:pt x="11000" y="0"/>
                </a:moveTo>
                <a:lnTo>
                  <a:pt x="11000" y="7000"/>
                </a:lnTo>
                <a:lnTo>
                  <a:pt x="17000" y="7000"/>
                </a:lnTo>
                <a:lnTo>
                  <a:pt x="8500" y="27000"/>
                </a:lnTo>
                <a:lnTo>
                  <a:pt x="0" y="7000"/>
                </a:lnTo>
                <a:lnTo>
                  <a:pt x="6000" y="7000"/>
                </a:lnTo>
                <a:lnTo>
                  <a:pt x="6000" y="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orc_art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03" y="2841624"/>
            <a:ext cx="1277542" cy="1412874"/>
          </a:xfrm>
          <a:prstGeom prst="rect">
            <a:avLst/>
          </a:prstGeom>
          <a:effectLst/>
        </p:spPr>
      </p:pic>
      <p:sp>
        <p:nvSpPr>
          <p:cNvPr id="22" name="orc_sh" descr="Editable shape; source id orc_sh"/>
          <p:cNvSpPr/>
          <p:nvPr/>
        </p:nvSpPr>
        <p:spPr>
          <a:xfrm>
            <a:off x="333374" y="4341812"/>
            <a:ext cx="1555749" cy="1031874"/>
          </a:xfrm>
          <a:prstGeom prst="roundRect">
            <a:avLst>
              <a:gd name="adj" fmla="val 10769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rc" descr="Editable shape; source id orc"/>
          <p:cNvSpPr/>
          <p:nvPr/>
        </p:nvSpPr>
        <p:spPr>
          <a:xfrm>
            <a:off x="317499" y="4302124"/>
            <a:ext cx="1555749" cy="1031874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rc_t" descr="Editable text; source id orc_t"/>
          <p:cNvSpPr txBox="1"/>
          <p:nvPr/>
        </p:nvSpPr>
        <p:spPr>
          <a:xfrm>
            <a:off x="365124" y="4460874"/>
            <a:ext cx="14604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编排器</a:t>
            </a:r>
          </a:p>
        </p:txBody>
      </p:sp>
      <p:sp>
        <p:nvSpPr>
          <p:cNvPr id="25" name="orc_s0" descr="Editable text; source id orc_s0"/>
          <p:cNvSpPr txBox="1"/>
          <p:nvPr/>
        </p:nvSpPr>
        <p:spPr>
          <a:xfrm>
            <a:off x="365124" y="4762499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建账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任务分派</a:t>
            </a:r>
          </a:p>
        </p:txBody>
      </p:sp>
      <p:sp>
        <p:nvSpPr>
          <p:cNvPr id="26" name="orc_s1" descr="Editable text; source id orc_s1"/>
          <p:cNvSpPr txBox="1"/>
          <p:nvPr/>
        </p:nvSpPr>
        <p:spPr>
          <a:xfrm>
            <a:off x="365124" y="4968874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闸门校验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问题路由</a:t>
            </a:r>
          </a:p>
        </p:txBody>
      </p:sp>
      <p:sp>
        <p:nvSpPr>
          <p:cNvPr id="27" name="b1" descr="Editable shape; source id b1"/>
          <p:cNvSpPr/>
          <p:nvPr/>
        </p:nvSpPr>
        <p:spPr>
          <a:xfrm>
            <a:off x="2190749" y="1396999"/>
            <a:ext cx="9048749" cy="1142999"/>
          </a:xfrm>
          <a:prstGeom prst="roundRect">
            <a:avLst>
              <a:gd name="adj" fmla="val 12500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1_b" descr="Editable shape; source id b1_b"/>
          <p:cNvSpPr/>
          <p:nvPr/>
        </p:nvSpPr>
        <p:spPr>
          <a:xfrm>
            <a:off x="2254249" y="1460499"/>
            <a:ext cx="603249" cy="1015999"/>
          </a:xfrm>
          <a:prstGeom prst="roundRect">
            <a:avLst>
              <a:gd name="adj" fmla="val 15789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1_n" descr="Editable text; source id b1_n"/>
          <p:cNvSpPr txBox="1"/>
          <p:nvPr/>
        </p:nvSpPr>
        <p:spPr>
          <a:xfrm>
            <a:off x="2254249" y="1516062"/>
            <a:ext cx="603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0" name="b1_l0" descr="Editable text; source id b1_l0"/>
          <p:cNvSpPr txBox="1"/>
          <p:nvPr/>
        </p:nvSpPr>
        <p:spPr>
          <a:xfrm>
            <a:off x="2254249" y="1881187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文献</a:t>
            </a:r>
          </a:p>
        </p:txBody>
      </p:sp>
      <p:sp>
        <p:nvSpPr>
          <p:cNvPr id="31" name="b1_l1" descr="Editable text; source id b1_l1"/>
          <p:cNvSpPr txBox="1"/>
          <p:nvPr/>
        </p:nvSpPr>
        <p:spPr>
          <a:xfrm>
            <a:off x="2254249" y="2151062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取证</a:t>
            </a:r>
          </a:p>
        </p:txBody>
      </p:sp>
      <p:sp>
        <p:nvSpPr>
          <p:cNvPr id="32" name="b2" descr="Editable shape; source id b2"/>
          <p:cNvSpPr/>
          <p:nvPr/>
        </p:nvSpPr>
        <p:spPr>
          <a:xfrm>
            <a:off x="2190749" y="2857499"/>
            <a:ext cx="9048749" cy="1142999"/>
          </a:xfrm>
          <a:prstGeom prst="roundRect">
            <a:avLst>
              <a:gd name="adj" fmla="val 12500"/>
            </a:avLst>
          </a:prstGeom>
          <a:solidFill>
            <a:srgbClr val="E2F0F3"/>
          </a:solidFill>
          <a:ln w="15874">
            <a:solidFill>
              <a:srgbClr val="9CC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2_b" descr="Editable shape; source id b2_b"/>
          <p:cNvSpPr/>
          <p:nvPr/>
        </p:nvSpPr>
        <p:spPr>
          <a:xfrm>
            <a:off x="2254249" y="2920999"/>
            <a:ext cx="603249" cy="1015999"/>
          </a:xfrm>
          <a:prstGeom prst="roundRect">
            <a:avLst>
              <a:gd name="adj" fmla="val 15789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2_n" descr="Editable text; source id b2_n"/>
          <p:cNvSpPr txBox="1"/>
          <p:nvPr/>
        </p:nvSpPr>
        <p:spPr>
          <a:xfrm>
            <a:off x="2254249" y="2976562"/>
            <a:ext cx="603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5" name="b2_l0" descr="Editable text; source id b2_l0"/>
          <p:cNvSpPr txBox="1"/>
          <p:nvPr/>
        </p:nvSpPr>
        <p:spPr>
          <a:xfrm>
            <a:off x="2254249" y="3341687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并行</a:t>
            </a:r>
          </a:p>
        </p:txBody>
      </p:sp>
      <p:sp>
        <p:nvSpPr>
          <p:cNvPr id="36" name="b2_l1" descr="Editable text; source id b2_l1"/>
          <p:cNvSpPr txBox="1"/>
          <p:nvPr/>
        </p:nvSpPr>
        <p:spPr>
          <a:xfrm>
            <a:off x="2254249" y="3611562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生产</a:t>
            </a:r>
          </a:p>
        </p:txBody>
      </p:sp>
      <p:sp>
        <p:nvSpPr>
          <p:cNvPr id="37" name="b3" descr="Editable shape; source id b3"/>
          <p:cNvSpPr/>
          <p:nvPr/>
        </p:nvSpPr>
        <p:spPr>
          <a:xfrm>
            <a:off x="2190749" y="4222749"/>
            <a:ext cx="9048749" cy="1142999"/>
          </a:xfrm>
          <a:prstGeom prst="roundRect">
            <a:avLst>
              <a:gd name="adj" fmla="val 12500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3_b" descr="Editable shape; source id b3_b"/>
          <p:cNvSpPr/>
          <p:nvPr/>
        </p:nvSpPr>
        <p:spPr>
          <a:xfrm>
            <a:off x="2254249" y="4286249"/>
            <a:ext cx="603249" cy="1015999"/>
          </a:xfrm>
          <a:prstGeom prst="roundRect">
            <a:avLst>
              <a:gd name="adj" fmla="val 15789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3_n" descr="Editable text; source id b3_n"/>
          <p:cNvSpPr txBox="1"/>
          <p:nvPr/>
        </p:nvSpPr>
        <p:spPr>
          <a:xfrm>
            <a:off x="2254249" y="4341812"/>
            <a:ext cx="603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0" name="b3_l0" descr="Editable text; source id b3_l0"/>
          <p:cNvSpPr txBox="1"/>
          <p:nvPr/>
        </p:nvSpPr>
        <p:spPr>
          <a:xfrm>
            <a:off x="2254249" y="4706937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评审</a:t>
            </a:r>
          </a:p>
        </p:txBody>
      </p:sp>
      <p:sp>
        <p:nvSpPr>
          <p:cNvPr id="41" name="b3_l1" descr="Editable text; source id b3_l1"/>
          <p:cNvSpPr txBox="1"/>
          <p:nvPr/>
        </p:nvSpPr>
        <p:spPr>
          <a:xfrm>
            <a:off x="2254249" y="4976812"/>
            <a:ext cx="603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放行</a:t>
            </a:r>
          </a:p>
        </p:txBody>
      </p:sp>
      <p:sp>
        <p:nvSpPr>
          <p:cNvPr id="42" name="f_seq0_0" descr="Editable line; source id f_seq0_0"/>
          <p:cNvSpPr/>
          <p:nvPr/>
        </p:nvSpPr>
        <p:spPr>
          <a:xfrm>
            <a:off x="2488406" y="2563812"/>
            <a:ext cx="134937" cy="269875"/>
          </a:xfrm>
          <a:custGeom>
            <a:avLst/>
            <a:gdLst/>
            <a:ahLst/>
            <a:cxnLst/>
            <a:rect l="l" t="t" r="r" b="b"/>
            <a:pathLst>
              <a:path w="17000" h="34000">
                <a:moveTo>
                  <a:pt x="11000" y="0"/>
                </a:moveTo>
                <a:lnTo>
                  <a:pt x="11000" y="14000"/>
                </a:lnTo>
                <a:lnTo>
                  <a:pt x="17000" y="14000"/>
                </a:lnTo>
                <a:lnTo>
                  <a:pt x="8500" y="34000"/>
                </a:lnTo>
                <a:lnTo>
                  <a:pt x="0" y="14000"/>
                </a:lnTo>
                <a:lnTo>
                  <a:pt x="6000" y="14000"/>
                </a:lnTo>
                <a:lnTo>
                  <a:pt x="6000" y="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_seq1_0" descr="Editable line; source id f_seq1_0"/>
          <p:cNvSpPr/>
          <p:nvPr/>
        </p:nvSpPr>
        <p:spPr>
          <a:xfrm>
            <a:off x="2491978" y="4024312"/>
            <a:ext cx="127794" cy="174625"/>
          </a:xfrm>
          <a:custGeom>
            <a:avLst/>
            <a:gdLst/>
            <a:ahLst/>
            <a:cxnLst/>
            <a:rect l="l" t="t" r="r" b="b"/>
            <a:pathLst>
              <a:path w="16100" h="22000">
                <a:moveTo>
                  <a:pt x="10550" y="0"/>
                </a:moveTo>
                <a:lnTo>
                  <a:pt x="10550" y="3000"/>
                </a:lnTo>
                <a:lnTo>
                  <a:pt x="16100" y="3000"/>
                </a:lnTo>
                <a:lnTo>
                  <a:pt x="8050" y="22000"/>
                </a:lnTo>
                <a:lnTo>
                  <a:pt x="0" y="3000"/>
                </a:lnTo>
                <a:lnTo>
                  <a:pt x="5550" y="3000"/>
                </a:lnTo>
                <a:lnTo>
                  <a:pt x="5550" y="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cope_sh" descr="Editable shape; source id scope_sh"/>
          <p:cNvSpPr/>
          <p:nvPr/>
        </p:nvSpPr>
        <p:spPr>
          <a:xfrm>
            <a:off x="2968624" y="1547812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cope" descr="Editable shape; source id scope"/>
          <p:cNvSpPr/>
          <p:nvPr/>
        </p:nvSpPr>
        <p:spPr>
          <a:xfrm>
            <a:off x="2952749" y="1508124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scope_art" descr="cropped from the image-model asset sheet, cell &quot;phasediagram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249" y="1715524"/>
            <a:ext cx="603249" cy="505951"/>
          </a:xfrm>
          <a:prstGeom prst="rect">
            <a:avLst/>
          </a:prstGeom>
          <a:effectLst/>
        </p:spPr>
      </p:pic>
      <p:sp>
        <p:nvSpPr>
          <p:cNvPr id="47" name="scope_t" descr="Editable text; source id scope_t"/>
          <p:cNvSpPr txBox="1"/>
          <p:nvPr/>
        </p:nvSpPr>
        <p:spPr>
          <a:xfrm>
            <a:off x="3682999" y="1635124"/>
            <a:ext cx="10001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体系界定</a:t>
            </a:r>
          </a:p>
        </p:txBody>
      </p:sp>
      <p:sp>
        <p:nvSpPr>
          <p:cNvPr id="48" name="scope_s0" descr="Editable text; source id scope_s0"/>
          <p:cNvSpPr txBox="1"/>
          <p:nvPr/>
        </p:nvSpPr>
        <p:spPr>
          <a:xfrm>
            <a:off x="3682999" y="1904999"/>
            <a:ext cx="10001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目标相与近邻</a:t>
            </a:r>
          </a:p>
        </p:txBody>
      </p:sp>
      <p:sp>
        <p:nvSpPr>
          <p:cNvPr id="49" name="scope_s1" descr="Editable text; source id scope_s1"/>
          <p:cNvSpPr txBox="1"/>
          <p:nvPr/>
        </p:nvSpPr>
        <p:spPr>
          <a:xfrm>
            <a:off x="3682999" y="2111374"/>
            <a:ext cx="10001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相图与热力学</a:t>
            </a:r>
          </a:p>
        </p:txBody>
      </p:sp>
      <p:sp>
        <p:nvSpPr>
          <p:cNvPr id="50" name="g1" descr="Editable shape; source id g1"/>
          <p:cNvSpPr/>
          <p:nvPr/>
        </p:nvSpPr>
        <p:spPr>
          <a:xfrm>
            <a:off x="5000624" y="1444624"/>
            <a:ext cx="4063999" cy="1047749"/>
          </a:xfrm>
          <a:prstGeom prst="roundRect">
            <a:avLst>
              <a:gd name="adj" fmla="val 1060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1_l0" descr="Editable text; source id g1_l0"/>
          <p:cNvSpPr txBox="1"/>
          <p:nvPr/>
        </p:nvSpPr>
        <p:spPr>
          <a:xfrm>
            <a:off x="5040312" y="165099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并</a:t>
            </a:r>
          </a:p>
        </p:txBody>
      </p:sp>
      <p:sp>
        <p:nvSpPr>
          <p:cNvPr id="52" name="g1_l1" descr="Editable text; source id g1_l1"/>
          <p:cNvSpPr txBox="1"/>
          <p:nvPr/>
        </p:nvSpPr>
        <p:spPr>
          <a:xfrm>
            <a:off x="5040312" y="185737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行</a:t>
            </a:r>
          </a:p>
        </p:txBody>
      </p:sp>
      <p:sp>
        <p:nvSpPr>
          <p:cNvPr id="53" name="g1_l2" descr="Editable text; source id g1_l2"/>
          <p:cNvSpPr txBox="1"/>
          <p:nvPr/>
        </p:nvSpPr>
        <p:spPr>
          <a:xfrm>
            <a:off x="5040312" y="20796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rPr>
              <a:t>×2</a:t>
            </a:r>
          </a:p>
        </p:txBody>
      </p:sp>
      <p:sp>
        <p:nvSpPr>
          <p:cNvPr id="54" name="lit_sh" descr="Editable shape; source id lit_sh"/>
          <p:cNvSpPr/>
          <p:nvPr/>
        </p:nvSpPr>
        <p:spPr>
          <a:xfrm>
            <a:off x="5318124" y="1547812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it" descr="Editable shape; source id lit"/>
          <p:cNvSpPr/>
          <p:nvPr/>
        </p:nvSpPr>
        <p:spPr>
          <a:xfrm>
            <a:off x="5302249" y="1508124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it_art" descr="cropped from the image-model asset sheet, cell &quot;litdb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749" y="1765209"/>
            <a:ext cx="571499" cy="406581"/>
          </a:xfrm>
          <a:prstGeom prst="rect">
            <a:avLst/>
          </a:prstGeom>
          <a:effectLst/>
        </p:spPr>
      </p:pic>
      <p:sp>
        <p:nvSpPr>
          <p:cNvPr id="57" name="lit_t" descr="Editable text; source id lit_t"/>
          <p:cNvSpPr txBox="1"/>
          <p:nvPr/>
        </p:nvSpPr>
        <p:spPr>
          <a:xfrm>
            <a:off x="6000749" y="1650999"/>
            <a:ext cx="10477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文献检索</a:t>
            </a:r>
          </a:p>
        </p:txBody>
      </p:sp>
      <p:sp>
        <p:nvSpPr>
          <p:cNvPr id="58" name="lit_s0" descr="Editable text; source id lit_s0"/>
          <p:cNvSpPr txBox="1"/>
          <p:nvPr/>
        </p:nvSpPr>
        <p:spPr>
          <a:xfrm>
            <a:off x="6000749" y="1920874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五源与本地全文库</a:t>
            </a:r>
          </a:p>
        </p:txBody>
      </p:sp>
      <p:sp>
        <p:nvSpPr>
          <p:cNvPr id="59" name="lit_s1" descr="Editable text; source id lit_s1"/>
          <p:cNvSpPr txBox="1"/>
          <p:nvPr/>
        </p:nvSpPr>
        <p:spPr>
          <a:xfrm>
            <a:off x="6000749" y="2111374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分片并发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≥3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路</a:t>
            </a:r>
          </a:p>
        </p:txBody>
      </p:sp>
      <p:sp>
        <p:nvSpPr>
          <p:cNvPr id="60" name="style_sh" descr="Editable shape; source id style_sh"/>
          <p:cNvSpPr/>
          <p:nvPr/>
        </p:nvSpPr>
        <p:spPr>
          <a:xfrm>
            <a:off x="7207249" y="1547812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tyle" descr="Editable shape; source id style"/>
          <p:cNvSpPr/>
          <p:nvPr/>
        </p:nvSpPr>
        <p:spPr>
          <a:xfrm>
            <a:off x="7191374" y="1508124"/>
            <a:ext cx="180974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style_art" descr="cropped from the image-model asset sheet, cell &quot;styl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874" y="1742281"/>
            <a:ext cx="603249" cy="452437"/>
          </a:xfrm>
          <a:prstGeom prst="rect">
            <a:avLst/>
          </a:prstGeom>
          <a:effectLst/>
        </p:spPr>
      </p:pic>
      <p:sp>
        <p:nvSpPr>
          <p:cNvPr id="63" name="style_t" descr="Editable text; source id style_t"/>
          <p:cNvSpPr txBox="1"/>
          <p:nvPr/>
        </p:nvSpPr>
        <p:spPr>
          <a:xfrm>
            <a:off x="7921624" y="1643062"/>
            <a:ext cx="10159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综述范式库</a:t>
            </a:r>
          </a:p>
        </p:txBody>
      </p:sp>
      <p:sp>
        <p:nvSpPr>
          <p:cNvPr id="64" name="style_s0" descr="Editable text; source id style_s0"/>
          <p:cNvSpPr txBox="1"/>
          <p:nvPr/>
        </p:nvSpPr>
        <p:spPr>
          <a:xfrm>
            <a:off x="7921624" y="1897062"/>
            <a:ext cx="1015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30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篇高水平综述</a:t>
            </a:r>
          </a:p>
        </p:txBody>
      </p:sp>
      <p:sp>
        <p:nvSpPr>
          <p:cNvPr id="65" name="style_s1" descr="Editable text; source id style_s1"/>
          <p:cNvSpPr txBox="1"/>
          <p:nvPr/>
        </p:nvSpPr>
        <p:spPr>
          <a:xfrm>
            <a:off x="7921624" y="2095499"/>
            <a:ext cx="1015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结构与写作规范</a:t>
            </a:r>
          </a:p>
        </p:txBody>
      </p:sp>
      <p:sp>
        <p:nvSpPr>
          <p:cNvPr id="66" name="ref_sh" descr="Editable shape; source id ref_sh"/>
          <p:cNvSpPr/>
          <p:nvPr/>
        </p:nvSpPr>
        <p:spPr>
          <a:xfrm>
            <a:off x="9334499" y="1547812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f" descr="Editable shape; source id ref"/>
          <p:cNvSpPr/>
          <p:nvPr/>
        </p:nvSpPr>
        <p:spPr>
          <a:xfrm>
            <a:off x="9318624" y="1508124"/>
            <a:ext cx="1793874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ref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2124" y="1765639"/>
            <a:ext cx="571499" cy="405721"/>
          </a:xfrm>
          <a:prstGeom prst="rect">
            <a:avLst/>
          </a:prstGeom>
          <a:effectLst/>
        </p:spPr>
      </p:pic>
      <p:sp>
        <p:nvSpPr>
          <p:cNvPr id="69" name="ref_t" descr="Editable text; source id ref_t"/>
          <p:cNvSpPr txBox="1"/>
          <p:nvPr/>
        </p:nvSpPr>
        <p:spPr>
          <a:xfrm>
            <a:off x="10017124" y="1650999"/>
            <a:ext cx="10318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引用核验</a:t>
            </a:r>
          </a:p>
        </p:txBody>
      </p:sp>
      <p:sp>
        <p:nvSpPr>
          <p:cNvPr id="70" name="ref_s0" descr="Editable text; source id ref_s0"/>
          <p:cNvSpPr txBox="1"/>
          <p:nvPr/>
        </p:nvSpPr>
        <p:spPr>
          <a:xfrm>
            <a:off x="10017124" y="1920874"/>
            <a:ext cx="1031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引用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51/51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</a:t>
            </a:r>
          </a:p>
        </p:txBody>
      </p:sp>
      <p:sp>
        <p:nvSpPr>
          <p:cNvPr id="71" name="ref_s1" descr="Editable text; source id ref_s1"/>
          <p:cNvSpPr txBox="1"/>
          <p:nvPr/>
        </p:nvSpPr>
        <p:spPr>
          <a:xfrm>
            <a:off x="10017124" y="2111374"/>
            <a:ext cx="1031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比对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DOI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与原文</a:t>
            </a:r>
          </a:p>
        </p:txBody>
      </p:sp>
      <p:sp>
        <p:nvSpPr>
          <p:cNvPr id="72" name="f_1a_0" descr="Editable line; source id f_1a_0"/>
          <p:cNvSpPr/>
          <p:nvPr/>
        </p:nvSpPr>
        <p:spPr>
          <a:xfrm>
            <a:off x="4786312" y="191135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_1b_0" descr="Editable line; source id f_1b_0"/>
          <p:cNvSpPr/>
          <p:nvPr/>
        </p:nvSpPr>
        <p:spPr>
          <a:xfrm>
            <a:off x="9104312" y="191135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ax_sh" descr="Editable shape; source id tax_sh"/>
          <p:cNvSpPr/>
          <p:nvPr/>
        </p:nvSpPr>
        <p:spPr>
          <a:xfrm>
            <a:off x="2968624" y="3008312"/>
            <a:ext cx="187324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ax" descr="Editable shape; source id tax"/>
          <p:cNvSpPr/>
          <p:nvPr/>
        </p:nvSpPr>
        <p:spPr>
          <a:xfrm>
            <a:off x="2952749" y="2968624"/>
            <a:ext cx="187324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tax_art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6249" y="3224038"/>
            <a:ext cx="603249" cy="409923"/>
          </a:xfrm>
          <a:prstGeom prst="rect">
            <a:avLst/>
          </a:prstGeom>
          <a:effectLst/>
        </p:spPr>
      </p:pic>
      <p:sp>
        <p:nvSpPr>
          <p:cNvPr id="77" name="tax_t" descr="Editable text; source id tax_t"/>
          <p:cNvSpPr txBox="1"/>
          <p:nvPr/>
        </p:nvSpPr>
        <p:spPr>
          <a:xfrm>
            <a:off x="3682999" y="3095624"/>
            <a:ext cx="1079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证据分类</a:t>
            </a:r>
          </a:p>
        </p:txBody>
      </p:sp>
      <p:sp>
        <p:nvSpPr>
          <p:cNvPr id="78" name="tax_s0" descr="Editable text; source id tax_s0"/>
          <p:cNvSpPr txBox="1"/>
          <p:nvPr/>
        </p:nvSpPr>
        <p:spPr>
          <a:xfrm>
            <a:off x="3682999" y="3365499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路线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×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条件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×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表征</a:t>
            </a:r>
          </a:p>
        </p:txBody>
      </p:sp>
      <p:sp>
        <p:nvSpPr>
          <p:cNvPr id="79" name="tax_s1" descr="Editable text; source id tax_s1"/>
          <p:cNvSpPr txBox="1"/>
          <p:nvPr/>
        </p:nvSpPr>
        <p:spPr>
          <a:xfrm>
            <a:off x="3682999" y="3571874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合成条件表</a:t>
            </a:r>
          </a:p>
        </p:txBody>
      </p:sp>
      <p:sp>
        <p:nvSpPr>
          <p:cNvPr id="80" name="g2" descr="Editable shape; source id g2"/>
          <p:cNvSpPr/>
          <p:nvPr/>
        </p:nvSpPr>
        <p:spPr>
          <a:xfrm>
            <a:off x="5079999" y="2905124"/>
            <a:ext cx="6048374" cy="1047749"/>
          </a:xfrm>
          <a:prstGeom prst="roundRect">
            <a:avLst>
              <a:gd name="adj" fmla="val 1060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2_l0" descr="Editable text; source id g2_l0"/>
          <p:cNvSpPr txBox="1"/>
          <p:nvPr/>
        </p:nvSpPr>
        <p:spPr>
          <a:xfrm>
            <a:off x="5119687" y="311149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并</a:t>
            </a:r>
          </a:p>
        </p:txBody>
      </p:sp>
      <p:sp>
        <p:nvSpPr>
          <p:cNvPr id="82" name="g2_l1" descr="Editable text; source id g2_l1"/>
          <p:cNvSpPr txBox="1"/>
          <p:nvPr/>
        </p:nvSpPr>
        <p:spPr>
          <a:xfrm>
            <a:off x="5119687" y="331787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行</a:t>
            </a:r>
          </a:p>
        </p:txBody>
      </p:sp>
      <p:sp>
        <p:nvSpPr>
          <p:cNvPr id="83" name="g2_l2" descr="Editable text; source id g2_l2"/>
          <p:cNvSpPr txBox="1"/>
          <p:nvPr/>
        </p:nvSpPr>
        <p:spPr>
          <a:xfrm>
            <a:off x="5119687" y="35401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rPr>
              <a:t>×3</a:t>
            </a:r>
          </a:p>
        </p:txBody>
      </p:sp>
      <p:sp>
        <p:nvSpPr>
          <p:cNvPr id="84" name="fig_sh" descr="Editable shape; source id fig_sh"/>
          <p:cNvSpPr/>
          <p:nvPr/>
        </p:nvSpPr>
        <p:spPr>
          <a:xfrm>
            <a:off x="5397499" y="3008312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ig" descr="Editable shape; source id fig"/>
          <p:cNvSpPr/>
          <p:nvPr/>
        </p:nvSpPr>
        <p:spPr>
          <a:xfrm>
            <a:off x="5381624" y="2968624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fig_art" descr="cropped from the image-model asset sheet, cell &quot;figur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5124" y="3221523"/>
            <a:ext cx="603249" cy="414952"/>
          </a:xfrm>
          <a:prstGeom prst="rect">
            <a:avLst/>
          </a:prstGeom>
          <a:effectLst/>
        </p:spPr>
      </p:pic>
      <p:sp>
        <p:nvSpPr>
          <p:cNvPr id="87" name="fig_t" descr="Editable text; source id fig_t"/>
          <p:cNvSpPr txBox="1"/>
          <p:nvPr/>
        </p:nvSpPr>
        <p:spPr>
          <a:xfrm>
            <a:off x="6111874" y="3119437"/>
            <a:ext cx="1047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图表制作</a:t>
            </a:r>
          </a:p>
        </p:txBody>
      </p:sp>
      <p:sp>
        <p:nvSpPr>
          <p:cNvPr id="88" name="fig_s0" descr="Editable text; source id fig_s0"/>
          <p:cNvSpPr txBox="1"/>
          <p:nvPr/>
        </p:nvSpPr>
        <p:spPr>
          <a:xfrm>
            <a:off x="6111874" y="3373437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可编辑矢量图</a:t>
            </a:r>
          </a:p>
        </p:txBody>
      </p:sp>
      <p:sp>
        <p:nvSpPr>
          <p:cNvPr id="89" name="fig_s1" descr="Editable text; source id fig_s1"/>
          <p:cNvSpPr txBox="1"/>
          <p:nvPr/>
        </p:nvSpPr>
        <p:spPr>
          <a:xfrm>
            <a:off x="6111874" y="3555999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路线图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分类图</a:t>
            </a:r>
          </a:p>
        </p:txBody>
      </p:sp>
      <p:sp>
        <p:nvSpPr>
          <p:cNvPr id="90" name="draft_sh" descr="Editable shape; source id draft_sh"/>
          <p:cNvSpPr/>
          <p:nvPr/>
        </p:nvSpPr>
        <p:spPr>
          <a:xfrm>
            <a:off x="7318374" y="3008312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raft" descr="Editable shape; source id draft"/>
          <p:cNvSpPr/>
          <p:nvPr/>
        </p:nvSpPr>
        <p:spPr>
          <a:xfrm>
            <a:off x="7302499" y="2968624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draft_art" descr="cropped from the image-model asset sheet, cell &quot;writer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5999" y="3241211"/>
            <a:ext cx="603249" cy="375577"/>
          </a:xfrm>
          <a:prstGeom prst="rect">
            <a:avLst/>
          </a:prstGeom>
          <a:effectLst/>
        </p:spPr>
      </p:pic>
      <p:sp>
        <p:nvSpPr>
          <p:cNvPr id="93" name="draft_t" descr="Editable text; source id draft_t"/>
          <p:cNvSpPr txBox="1"/>
          <p:nvPr/>
        </p:nvSpPr>
        <p:spPr>
          <a:xfrm>
            <a:off x="8032749" y="3119437"/>
            <a:ext cx="1047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综述撰写</a:t>
            </a:r>
          </a:p>
        </p:txBody>
      </p:sp>
      <p:sp>
        <p:nvSpPr>
          <p:cNvPr id="94" name="draft_s0" descr="Editable text; source id draft_s0"/>
          <p:cNvSpPr txBox="1"/>
          <p:nvPr/>
        </p:nvSpPr>
        <p:spPr>
          <a:xfrm>
            <a:off x="8032749" y="3373437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按章节并行</a:t>
            </a:r>
          </a:p>
        </p:txBody>
      </p:sp>
      <p:sp>
        <p:nvSpPr>
          <p:cNvPr id="95" name="draft_s1" descr="Editable text; source id draft_s1"/>
          <p:cNvSpPr txBox="1"/>
          <p:nvPr/>
        </p:nvSpPr>
        <p:spPr>
          <a:xfrm>
            <a:off x="8032749" y="3555999"/>
            <a:ext cx="104774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论断逐条绑定引用</a:t>
            </a:r>
          </a:p>
        </p:txBody>
      </p:sp>
      <p:sp>
        <p:nvSpPr>
          <p:cNvPr id="96" name="idea_sh" descr="Editable shape; source id idea_sh"/>
          <p:cNvSpPr/>
          <p:nvPr/>
        </p:nvSpPr>
        <p:spPr>
          <a:xfrm>
            <a:off x="9239249" y="3008312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idea" descr="Editable shape; source id idea"/>
          <p:cNvSpPr/>
          <p:nvPr/>
        </p:nvSpPr>
        <p:spPr>
          <a:xfrm>
            <a:off x="9223374" y="2968624"/>
            <a:ext cx="1841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idea_art" descr="cropped from the image-model asset sheet, cell &quot;precursors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6874" y="3309676"/>
            <a:ext cx="492124" cy="238646"/>
          </a:xfrm>
          <a:prstGeom prst="rect">
            <a:avLst/>
          </a:prstGeom>
          <a:effectLst/>
        </p:spPr>
      </p:pic>
      <p:sp>
        <p:nvSpPr>
          <p:cNvPr id="99" name="idea_t" descr="Editable text; source id idea_t"/>
          <p:cNvSpPr txBox="1"/>
          <p:nvPr/>
        </p:nvSpPr>
        <p:spPr>
          <a:xfrm>
            <a:off x="9842499" y="3032124"/>
            <a:ext cx="11588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合成方案构想</a:t>
            </a:r>
          </a:p>
        </p:txBody>
      </p:sp>
      <p:sp>
        <p:nvSpPr>
          <p:cNvPr id="100" name="idea_s0" descr="Editable text; source id idea_s0"/>
          <p:cNvSpPr txBox="1"/>
          <p:nvPr/>
        </p:nvSpPr>
        <p:spPr>
          <a:xfrm>
            <a:off x="9842499" y="3286124"/>
            <a:ext cx="1158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RECIPE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前驱体预测</a:t>
            </a:r>
          </a:p>
        </p:txBody>
      </p:sp>
      <p:sp>
        <p:nvSpPr>
          <p:cNvPr id="101" name="idea_s1" descr="Editable text; source id idea_s1"/>
          <p:cNvSpPr txBox="1"/>
          <p:nvPr/>
        </p:nvSpPr>
        <p:spPr>
          <a:xfrm>
            <a:off x="9842499" y="3460749"/>
            <a:ext cx="1158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BaCO₃ · Y₂O₃</a:t>
            </a:r>
          </a:p>
        </p:txBody>
      </p:sp>
      <p:sp>
        <p:nvSpPr>
          <p:cNvPr id="102" name="idea_s2" descr="Editable text; source id idea_s2"/>
          <p:cNvSpPr txBox="1"/>
          <p:nvPr/>
        </p:nvSpPr>
        <p:spPr>
          <a:xfrm>
            <a:off x="9842499" y="3651249"/>
            <a:ext cx="11588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ZnO · SiO₂</a:t>
            </a:r>
          </a:p>
        </p:txBody>
      </p:sp>
      <p:sp>
        <p:nvSpPr>
          <p:cNvPr id="103" name="f_2a_0" descr="Editable line; source id f_2a_0"/>
          <p:cNvSpPr/>
          <p:nvPr/>
        </p:nvSpPr>
        <p:spPr>
          <a:xfrm>
            <a:off x="4865687" y="337185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3" descr="Editable shape; source id g3"/>
          <p:cNvSpPr/>
          <p:nvPr/>
        </p:nvSpPr>
        <p:spPr>
          <a:xfrm>
            <a:off x="2952749" y="4270374"/>
            <a:ext cx="5095874" cy="1047749"/>
          </a:xfrm>
          <a:prstGeom prst="roundRect">
            <a:avLst>
              <a:gd name="adj" fmla="val 10606"/>
            </a:avLst>
          </a:prstGeom>
          <a:solidFill>
            <a:srgbClr val="F7FAFE"/>
          </a:solidFill>
          <a:ln w="14287">
            <a:solidFill>
              <a:srgbClr val="0356C0"/>
            </a:solidFill>
            <a:custDash>
              <a:ds d="388889" sp="27777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3_l0" descr="Editable text; source id g3_l0"/>
          <p:cNvSpPr txBox="1"/>
          <p:nvPr/>
        </p:nvSpPr>
        <p:spPr>
          <a:xfrm>
            <a:off x="2992437" y="4476749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并</a:t>
            </a:r>
          </a:p>
        </p:txBody>
      </p:sp>
      <p:sp>
        <p:nvSpPr>
          <p:cNvPr id="106" name="g3_l1" descr="Editable text; source id g3_l1"/>
          <p:cNvSpPr txBox="1"/>
          <p:nvPr/>
        </p:nvSpPr>
        <p:spPr>
          <a:xfrm>
            <a:off x="2992437" y="468312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0356C0"/>
                </a:solidFill>
                <a:latin typeface="Noto Sans CJK SC"/>
                <a:ea typeface="Noto Sans CJK SC"/>
                <a:cs typeface="Noto Sans CJK SC"/>
              </a:rPr>
              <a:t>行</a:t>
            </a:r>
          </a:p>
        </p:txBody>
      </p:sp>
      <p:sp>
        <p:nvSpPr>
          <p:cNvPr id="107" name="g3_l2" descr="Editable text; source id g3_l2"/>
          <p:cNvSpPr txBox="1"/>
          <p:nvPr/>
        </p:nvSpPr>
        <p:spPr>
          <a:xfrm>
            <a:off x="2992437" y="4905374"/>
            <a:ext cx="238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0356C0"/>
                </a:solidFill>
                <a:latin typeface="DejaVu Sans"/>
                <a:ea typeface="DejaVu Sans"/>
                <a:cs typeface="DejaVu Sans"/>
              </a:rPr>
              <a:t>×3</a:t>
            </a:r>
          </a:p>
        </p:txBody>
      </p:sp>
      <p:sp>
        <p:nvSpPr>
          <p:cNvPr id="108" name="rv0_sh" descr="Editable shape; source id rv0_sh"/>
          <p:cNvSpPr/>
          <p:nvPr/>
        </p:nvSpPr>
        <p:spPr>
          <a:xfrm>
            <a:off x="3270249" y="4373562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v0" descr="Editable shape; source id rv0"/>
          <p:cNvSpPr/>
          <p:nvPr/>
        </p:nvSpPr>
        <p:spPr>
          <a:xfrm>
            <a:off x="3254374" y="4333874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rv0_art" descr="cropped from the image-model asset sheet, cell &quot;researcher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7874" y="4525151"/>
            <a:ext cx="492124" cy="538196"/>
          </a:xfrm>
          <a:prstGeom prst="rect">
            <a:avLst/>
          </a:prstGeom>
          <a:effectLst/>
        </p:spPr>
      </p:pic>
      <p:sp>
        <p:nvSpPr>
          <p:cNvPr id="111" name="rv0_t" descr="Editable text; source id rv0_t"/>
          <p:cNvSpPr txBox="1"/>
          <p:nvPr/>
        </p:nvSpPr>
        <p:spPr>
          <a:xfrm>
            <a:off x="3873499" y="4476749"/>
            <a:ext cx="8413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领域专家</a:t>
            </a:r>
          </a:p>
        </p:txBody>
      </p:sp>
      <p:sp>
        <p:nvSpPr>
          <p:cNvPr id="112" name="rv0_s0" descr="Editable text; source id rv0_s0"/>
          <p:cNvSpPr txBox="1"/>
          <p:nvPr/>
        </p:nvSpPr>
        <p:spPr>
          <a:xfrm>
            <a:off x="3873499" y="4746624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覆盖缺口</a:t>
            </a:r>
          </a:p>
        </p:txBody>
      </p:sp>
      <p:sp>
        <p:nvSpPr>
          <p:cNvPr id="113" name="rv0_s1" descr="Editable text; source id rv0_s1"/>
          <p:cNvSpPr txBox="1"/>
          <p:nvPr/>
        </p:nvSpPr>
        <p:spPr>
          <a:xfrm>
            <a:off x="3873499" y="4929187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分类合理性</a:t>
            </a:r>
          </a:p>
        </p:txBody>
      </p:sp>
      <p:sp>
        <p:nvSpPr>
          <p:cNvPr id="114" name="rv1_sh" descr="Editable shape; source id rv1_sh"/>
          <p:cNvSpPr/>
          <p:nvPr/>
        </p:nvSpPr>
        <p:spPr>
          <a:xfrm>
            <a:off x="4873624" y="4373562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v1" descr="Editable shape; source id rv1"/>
          <p:cNvSpPr/>
          <p:nvPr/>
        </p:nvSpPr>
        <p:spPr>
          <a:xfrm>
            <a:off x="4857749" y="4333874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rv1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1249" y="4565903"/>
            <a:ext cx="492124" cy="456691"/>
          </a:xfrm>
          <a:prstGeom prst="rect">
            <a:avLst/>
          </a:prstGeom>
          <a:effectLst/>
        </p:spPr>
      </p:pic>
      <p:sp>
        <p:nvSpPr>
          <p:cNvPr id="117" name="rv1_t" descr="Editable text; source id rv1_t"/>
          <p:cNvSpPr txBox="1"/>
          <p:nvPr/>
        </p:nvSpPr>
        <p:spPr>
          <a:xfrm>
            <a:off x="5476874" y="4476749"/>
            <a:ext cx="8413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方法审查</a:t>
            </a:r>
          </a:p>
        </p:txBody>
      </p:sp>
      <p:sp>
        <p:nvSpPr>
          <p:cNvPr id="118" name="rv1_s0" descr="Editable text; source id rv1_s0"/>
          <p:cNvSpPr txBox="1"/>
          <p:nvPr/>
        </p:nvSpPr>
        <p:spPr>
          <a:xfrm>
            <a:off x="5476874" y="4746624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论断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–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引用绑定</a:t>
            </a:r>
          </a:p>
        </p:txBody>
      </p:sp>
      <p:sp>
        <p:nvSpPr>
          <p:cNvPr id="119" name="rv1_s1" descr="Editable text; source id rv1_s1"/>
          <p:cNvSpPr txBox="1"/>
          <p:nvPr/>
        </p:nvSpPr>
        <p:spPr>
          <a:xfrm>
            <a:off x="5476874" y="4929187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条件表数值</a:t>
            </a:r>
          </a:p>
        </p:txBody>
      </p:sp>
      <p:sp>
        <p:nvSpPr>
          <p:cNvPr id="120" name="rv2_sh" descr="Editable shape; source id rv2_sh"/>
          <p:cNvSpPr/>
          <p:nvPr/>
        </p:nvSpPr>
        <p:spPr>
          <a:xfrm>
            <a:off x="6476999" y="4373562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v2" descr="Editable shape; source id rv2"/>
          <p:cNvSpPr/>
          <p:nvPr/>
        </p:nvSpPr>
        <p:spPr>
          <a:xfrm>
            <a:off x="6461124" y="4333874"/>
            <a:ext cx="15239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rv2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4" y="4561520"/>
            <a:ext cx="492124" cy="465458"/>
          </a:xfrm>
          <a:prstGeom prst="rect">
            <a:avLst/>
          </a:prstGeom>
          <a:effectLst/>
        </p:spPr>
      </p:pic>
      <p:sp>
        <p:nvSpPr>
          <p:cNvPr id="123" name="rv2_t" descr="Editable text; source id rv2_t"/>
          <p:cNvSpPr txBox="1"/>
          <p:nvPr/>
        </p:nvSpPr>
        <p:spPr>
          <a:xfrm>
            <a:off x="7080249" y="4476749"/>
            <a:ext cx="8413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期刊编辑</a:t>
            </a:r>
          </a:p>
        </p:txBody>
      </p:sp>
      <p:sp>
        <p:nvSpPr>
          <p:cNvPr id="124" name="rv2_s0" descr="Editable text; source id rv2_s0"/>
          <p:cNvSpPr txBox="1"/>
          <p:nvPr/>
        </p:nvSpPr>
        <p:spPr>
          <a:xfrm>
            <a:off x="7080249" y="4746624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版面与图表</a:t>
            </a:r>
          </a:p>
        </p:txBody>
      </p:sp>
      <p:sp>
        <p:nvSpPr>
          <p:cNvPr id="125" name="rv2_s1" descr="Editable text; source id rv2_s1"/>
          <p:cNvSpPr txBox="1"/>
          <p:nvPr/>
        </p:nvSpPr>
        <p:spPr>
          <a:xfrm>
            <a:off x="7080249" y="4929187"/>
            <a:ext cx="841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逐页审读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PDF</a:t>
            </a:r>
          </a:p>
        </p:txBody>
      </p:sp>
      <p:sp>
        <p:nvSpPr>
          <p:cNvPr id="126" name="iss_sh" descr="Editable shape; source id iss_sh"/>
          <p:cNvSpPr/>
          <p:nvPr/>
        </p:nvSpPr>
        <p:spPr>
          <a:xfrm>
            <a:off x="8318499" y="4373562"/>
            <a:ext cx="1587499" cy="920749"/>
          </a:xfrm>
          <a:prstGeom prst="roundRect">
            <a:avLst>
              <a:gd name="adj" fmla="val 12068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iss" descr="Editable shape; source id iss"/>
          <p:cNvSpPr/>
          <p:nvPr/>
        </p:nvSpPr>
        <p:spPr>
          <a:xfrm>
            <a:off x="8302624" y="4333874"/>
            <a:ext cx="1587499" cy="920749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iss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6124" y="4577026"/>
            <a:ext cx="476249" cy="434447"/>
          </a:xfrm>
          <a:prstGeom prst="rect">
            <a:avLst/>
          </a:prstGeom>
          <a:effectLst/>
        </p:spPr>
      </p:pic>
      <p:sp>
        <p:nvSpPr>
          <p:cNvPr id="129" name="iss_t" descr="Editable text; source id iss_t"/>
          <p:cNvSpPr txBox="1"/>
          <p:nvPr/>
        </p:nvSpPr>
        <p:spPr>
          <a:xfrm>
            <a:off x="8905874" y="4460874"/>
            <a:ext cx="9207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评审意见</a:t>
            </a:r>
          </a:p>
        </p:txBody>
      </p:sp>
      <p:sp>
        <p:nvSpPr>
          <p:cNvPr id="130" name="iss_s0" descr="Editable text; source id iss_s0"/>
          <p:cNvSpPr txBox="1"/>
          <p:nvPr/>
        </p:nvSpPr>
        <p:spPr>
          <a:xfrm>
            <a:off x="8905874" y="4730749"/>
            <a:ext cx="920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按严重度分级</a:t>
            </a:r>
          </a:p>
        </p:txBody>
      </p:sp>
      <p:sp>
        <p:nvSpPr>
          <p:cNvPr id="131" name="iss_s1" descr="Editable text; source id iss_s1"/>
          <p:cNvSpPr txBox="1"/>
          <p:nvPr/>
        </p:nvSpPr>
        <p:spPr>
          <a:xfrm>
            <a:off x="8905874" y="4937124"/>
            <a:ext cx="920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标注责任阶段</a:t>
            </a:r>
          </a:p>
        </p:txBody>
      </p:sp>
      <p:sp>
        <p:nvSpPr>
          <p:cNvPr id="132" name="verdict" descr="Editable shape; source id verdict"/>
          <p:cNvSpPr/>
          <p:nvPr/>
        </p:nvSpPr>
        <p:spPr>
          <a:xfrm>
            <a:off x="10191749" y="4381499"/>
            <a:ext cx="936624" cy="825499"/>
          </a:xfrm>
          <a:prstGeom prst="diamond">
            <a:avLst/>
          </a:prstGeom>
          <a:solidFill>
            <a:srgbClr val="FEF3D6"/>
          </a:solidFill>
          <a:ln w="19049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verdict_t" descr="Editable text; source id verdict_t"/>
          <p:cNvSpPr txBox="1"/>
          <p:nvPr/>
        </p:nvSpPr>
        <p:spPr>
          <a:xfrm>
            <a:off x="10445749" y="4603749"/>
            <a:ext cx="43656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裁决</a:t>
            </a:r>
          </a:p>
        </p:txBody>
      </p:sp>
      <p:sp>
        <p:nvSpPr>
          <p:cNvPr id="134" name="f_3a_0" descr="Editable line; source id f_3a_0"/>
          <p:cNvSpPr/>
          <p:nvPr/>
        </p:nvSpPr>
        <p:spPr>
          <a:xfrm>
            <a:off x="8088312" y="473710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_3b_0" descr="Editable line; source id f_3b_0"/>
          <p:cNvSpPr/>
          <p:nvPr/>
        </p:nvSpPr>
        <p:spPr>
          <a:xfrm>
            <a:off x="9929812" y="4726781"/>
            <a:ext cx="206375" cy="134937"/>
          </a:xfrm>
          <a:custGeom>
            <a:avLst/>
            <a:gdLst/>
            <a:ahLst/>
            <a:cxnLst/>
            <a:rect l="l" t="t" r="r" b="b"/>
            <a:pathLst>
              <a:path w="26000" h="17000">
                <a:moveTo>
                  <a:pt x="0" y="6000"/>
                </a:moveTo>
                <a:lnTo>
                  <a:pt x="6000" y="6000"/>
                </a:lnTo>
                <a:lnTo>
                  <a:pt x="6000" y="0"/>
                </a:lnTo>
                <a:lnTo>
                  <a:pt x="26000" y="8500"/>
                </a:lnTo>
                <a:lnTo>
                  <a:pt x="6000" y="17000"/>
                </a:lnTo>
                <a:lnTo>
                  <a:pt x="6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f_d1_0" descr="Editable line; source id f_d1_0"/>
          <p:cNvCxnSpPr/>
          <p:nvPr/>
        </p:nvCxnSpPr>
        <p:spPr>
          <a:xfrm>
            <a:off x="1857374" y="3428999"/>
            <a:ext cx="309563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f_d0_0" descr="Editable line; source id f_d0_0"/>
          <p:cNvCxnSpPr/>
          <p:nvPr/>
        </p:nvCxnSpPr>
        <p:spPr>
          <a:xfrm flipV="1">
            <a:off x="2016124" y="1968499"/>
            <a:ext cx="0" cy="146050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f_d0_1" descr="Editable line; source id f_d0_1"/>
          <p:cNvCxnSpPr/>
          <p:nvPr/>
        </p:nvCxnSpPr>
        <p:spPr>
          <a:xfrm>
            <a:off x="2016124" y="1968499"/>
            <a:ext cx="150813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f_d2_0" descr="Editable line; source id f_d2_0"/>
          <p:cNvCxnSpPr/>
          <p:nvPr/>
        </p:nvCxnSpPr>
        <p:spPr>
          <a:xfrm>
            <a:off x="2016124" y="3428999"/>
            <a:ext cx="0" cy="136525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f_d2_1" descr="Editable line; source id f_d2_1"/>
          <p:cNvCxnSpPr/>
          <p:nvPr/>
        </p:nvCxnSpPr>
        <p:spPr>
          <a:xfrm>
            <a:off x="2016124" y="4794249"/>
            <a:ext cx="150813" cy="0"/>
          </a:xfrm>
          <a:prstGeom prst="line">
            <a:avLst/>
          </a:prstGeom>
          <a:ln w="23812">
            <a:solidFill>
              <a:srgbClr val="0356C0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ret_0" descr="Editable line; source id ret_0"/>
          <p:cNvCxnSpPr/>
          <p:nvPr/>
        </p:nvCxnSpPr>
        <p:spPr>
          <a:xfrm>
            <a:off x="11175999" y="4794249"/>
            <a:ext cx="238125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ret_1" descr="Editable line; source id ret_1"/>
          <p:cNvCxnSpPr/>
          <p:nvPr/>
        </p:nvCxnSpPr>
        <p:spPr>
          <a:xfrm flipV="1">
            <a:off x="11414124" y="4786312"/>
            <a:ext cx="71438" cy="7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ret_2" descr="Editable line; source id ret_2"/>
          <p:cNvCxnSpPr/>
          <p:nvPr/>
        </p:nvCxnSpPr>
        <p:spPr>
          <a:xfrm flipV="1">
            <a:off x="11485562" y="4762499"/>
            <a:ext cx="47625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ret_3" descr="Editable line; source id ret_3"/>
          <p:cNvCxnSpPr/>
          <p:nvPr/>
        </p:nvCxnSpPr>
        <p:spPr>
          <a:xfrm flipV="1">
            <a:off x="11533187" y="4722812"/>
            <a:ext cx="39687" cy="3968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ret_4" descr="Editable line; source id ret_4"/>
          <p:cNvCxnSpPr/>
          <p:nvPr/>
        </p:nvCxnSpPr>
        <p:spPr>
          <a:xfrm flipV="1">
            <a:off x="11572874" y="4675187"/>
            <a:ext cx="23813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ret_5" descr="Editable line; source id ret_5"/>
          <p:cNvCxnSpPr/>
          <p:nvPr/>
        </p:nvCxnSpPr>
        <p:spPr>
          <a:xfrm flipV="1">
            <a:off x="11596687" y="4603749"/>
            <a:ext cx="7937" cy="7143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ret_6" descr="Editable line; source id ret_6"/>
          <p:cNvCxnSpPr/>
          <p:nvPr/>
        </p:nvCxnSpPr>
        <p:spPr>
          <a:xfrm flipV="1">
            <a:off x="11604624" y="2857499"/>
            <a:ext cx="0" cy="17462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ret_7" descr="Editable line; source id ret_7"/>
          <p:cNvCxnSpPr/>
          <p:nvPr/>
        </p:nvCxnSpPr>
        <p:spPr>
          <a:xfrm flipH="1" flipV="1">
            <a:off x="11596687" y="2786062"/>
            <a:ext cx="7937" cy="714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ret_8" descr="Editable line; source id ret_8"/>
          <p:cNvCxnSpPr/>
          <p:nvPr/>
        </p:nvCxnSpPr>
        <p:spPr>
          <a:xfrm flipH="1" flipV="1">
            <a:off x="11572874" y="2738437"/>
            <a:ext cx="23813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ret_9" descr="Editable line; source id ret_9"/>
          <p:cNvCxnSpPr/>
          <p:nvPr/>
        </p:nvCxnSpPr>
        <p:spPr>
          <a:xfrm flipH="1" flipV="1">
            <a:off x="11533187" y="2698749"/>
            <a:ext cx="39687" cy="3968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ret_10" descr="Editable line; source id ret_10"/>
          <p:cNvCxnSpPr/>
          <p:nvPr/>
        </p:nvCxnSpPr>
        <p:spPr>
          <a:xfrm flipH="1" flipV="1">
            <a:off x="11485562" y="2674937"/>
            <a:ext cx="47625" cy="23812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ret_11" descr="Editable line; source id ret_11"/>
          <p:cNvCxnSpPr/>
          <p:nvPr/>
        </p:nvCxnSpPr>
        <p:spPr>
          <a:xfrm flipH="1" flipV="1">
            <a:off x="11414124" y="2666999"/>
            <a:ext cx="71438" cy="793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ret_12" descr="Editable line; source id ret_12"/>
          <p:cNvCxnSpPr/>
          <p:nvPr/>
        </p:nvCxnSpPr>
        <p:spPr>
          <a:xfrm flipH="1">
            <a:off x="4079874" y="2666999"/>
            <a:ext cx="7334250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ret_13" descr="Editable line; source id ret_13"/>
          <p:cNvCxnSpPr/>
          <p:nvPr/>
        </p:nvCxnSpPr>
        <p:spPr>
          <a:xfrm flipH="1">
            <a:off x="4008437" y="2666999"/>
            <a:ext cx="71437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ret_14" descr="Editable line; source id ret_14"/>
          <p:cNvCxnSpPr/>
          <p:nvPr/>
        </p:nvCxnSpPr>
        <p:spPr>
          <a:xfrm flipH="1">
            <a:off x="3960812" y="2666999"/>
            <a:ext cx="47625" cy="7938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ret_15" descr="Editable line; source id ret_15"/>
          <p:cNvCxnSpPr/>
          <p:nvPr/>
        </p:nvCxnSpPr>
        <p:spPr>
          <a:xfrm flipH="1">
            <a:off x="3921124" y="2674937"/>
            <a:ext cx="39688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ret_16" descr="Editable line; source id ret_16"/>
          <p:cNvCxnSpPr/>
          <p:nvPr/>
        </p:nvCxnSpPr>
        <p:spPr>
          <a:xfrm flipH="1">
            <a:off x="3897312" y="2674937"/>
            <a:ext cx="23812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ret_17" descr="Editable line; source id ret_17"/>
          <p:cNvCxnSpPr/>
          <p:nvPr/>
        </p:nvCxnSpPr>
        <p:spPr>
          <a:xfrm flipH="1">
            <a:off x="3889374" y="2690812"/>
            <a:ext cx="7938" cy="79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t_18" descr="Editable line; source id ret_18"/>
          <p:cNvSpPr/>
          <p:nvPr/>
        </p:nvSpPr>
        <p:spPr>
          <a:xfrm>
            <a:off x="3810000" y="2698750"/>
            <a:ext cx="158750" cy="222250"/>
          </a:xfrm>
          <a:custGeom>
            <a:avLst/>
            <a:gdLst/>
            <a:ahLst/>
            <a:cxnLst/>
            <a:rect l="l" t="t" r="r" b="b"/>
            <a:pathLst>
              <a:path w="20000" h="28000">
                <a:moveTo>
                  <a:pt x="13000" y="0"/>
                </a:moveTo>
                <a:lnTo>
                  <a:pt x="13000" y="4000"/>
                </a:lnTo>
                <a:lnTo>
                  <a:pt x="20000" y="4000"/>
                </a:lnTo>
                <a:lnTo>
                  <a:pt x="10000" y="28000"/>
                </a:lnTo>
                <a:lnTo>
                  <a:pt x="0" y="4000"/>
                </a:lnTo>
                <a:lnTo>
                  <a:pt x="7000" y="4000"/>
                </a:lnTo>
                <a:lnTo>
                  <a:pt x="7000" y="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_ret" descr="Editable shape; source id t_ret"/>
          <p:cNvSpPr/>
          <p:nvPr/>
        </p:nvSpPr>
        <p:spPr>
          <a:xfrm>
            <a:off x="5905499" y="2532062"/>
            <a:ext cx="2960687" cy="2698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_ret_t" descr="Editable text; source id t_ret_t"/>
          <p:cNvSpPr txBox="1"/>
          <p:nvPr/>
        </p:nvSpPr>
        <p:spPr>
          <a:xfrm>
            <a:off x="5984874" y="2571749"/>
            <a:ext cx="2801937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评审意见定向返修</a:t>
            </a:r>
            <a:r>
              <a:rPr sz="937" b="1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仅重跑责任阶段</a:t>
            </a:r>
            <a:r>
              <a:rPr sz="937" b="1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至多</a:t>
            </a:r>
            <a:r>
              <a:rPr sz="937" b="1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937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轮</a:t>
            </a:r>
          </a:p>
        </p:txBody>
      </p:sp>
      <p:sp>
        <p:nvSpPr>
          <p:cNvPr id="162" name="f_pass_0" descr="Editable line; source id f_pass_0"/>
          <p:cNvSpPr/>
          <p:nvPr/>
        </p:nvSpPr>
        <p:spPr>
          <a:xfrm>
            <a:off x="10592593" y="5246687"/>
            <a:ext cx="134937" cy="254000"/>
          </a:xfrm>
          <a:custGeom>
            <a:avLst/>
            <a:gdLst/>
            <a:ahLst/>
            <a:cxnLst/>
            <a:rect l="l" t="t" r="r" b="b"/>
            <a:pathLst>
              <a:path w="17000" h="32000">
                <a:moveTo>
                  <a:pt x="11000" y="0"/>
                </a:moveTo>
                <a:lnTo>
                  <a:pt x="11000" y="12000"/>
                </a:lnTo>
                <a:lnTo>
                  <a:pt x="17000" y="12000"/>
                </a:lnTo>
                <a:lnTo>
                  <a:pt x="8500" y="32000"/>
                </a:lnTo>
                <a:lnTo>
                  <a:pt x="0" y="12000"/>
                </a:lnTo>
                <a:lnTo>
                  <a:pt x="6000" y="12000"/>
                </a:lnTo>
                <a:lnTo>
                  <a:pt x="60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_pass" descr="Editable shape; source id t_pass"/>
          <p:cNvSpPr/>
          <p:nvPr/>
        </p:nvSpPr>
        <p:spPr>
          <a:xfrm>
            <a:off x="8413749" y="5302249"/>
            <a:ext cx="2166937" cy="2460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2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_pass_t" descr="Editable text; source id t_pass_t"/>
          <p:cNvSpPr txBox="1"/>
          <p:nvPr/>
        </p:nvSpPr>
        <p:spPr>
          <a:xfrm>
            <a:off x="8493124" y="5349874"/>
            <a:ext cx="2008187" cy="166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812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PASS</a:t>
            </a: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：</a:t>
            </a:r>
            <a:r>
              <a:rPr sz="812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blocker = 0 </a:t>
            </a: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且</a:t>
            </a:r>
            <a:r>
              <a:rPr sz="812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 major = 0</a:t>
            </a:r>
          </a:p>
        </p:txBody>
      </p:sp>
      <p:sp>
        <p:nvSpPr>
          <p:cNvPr id="165" name="deliver_sh" descr="Editable shape; source id deliver_sh"/>
          <p:cNvSpPr/>
          <p:nvPr/>
        </p:nvSpPr>
        <p:spPr>
          <a:xfrm>
            <a:off x="9302749" y="5595937"/>
            <a:ext cx="2587624" cy="1222374"/>
          </a:xfrm>
          <a:prstGeom prst="roundRect">
            <a:avLst>
              <a:gd name="adj" fmla="val 909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deliver" descr="Editable shape; source id deliver"/>
          <p:cNvSpPr/>
          <p:nvPr/>
        </p:nvSpPr>
        <p:spPr>
          <a:xfrm>
            <a:off x="9286874" y="5556249"/>
            <a:ext cx="2587624" cy="1222374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49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deliver_t" descr="Editable text; source id deliver_t"/>
          <p:cNvSpPr txBox="1"/>
          <p:nvPr/>
        </p:nvSpPr>
        <p:spPr>
          <a:xfrm>
            <a:off x="9397999" y="5595937"/>
            <a:ext cx="23653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168" name="deliver_s0" descr="Editable text; source id deliver_s0"/>
          <p:cNvSpPr txBox="1"/>
          <p:nvPr/>
        </p:nvSpPr>
        <p:spPr>
          <a:xfrm>
            <a:off x="9397999" y="5873749"/>
            <a:ext cx="2365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综述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PDF 23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引用核验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51/51</a:t>
            </a:r>
          </a:p>
        </p:txBody>
      </p:sp>
      <p:sp>
        <p:nvSpPr>
          <p:cNvPr id="169" name="deliver_s1" descr="Editable text; source id deliver_s1"/>
          <p:cNvSpPr txBox="1"/>
          <p:nvPr/>
        </p:nvSpPr>
        <p:spPr>
          <a:xfrm>
            <a:off x="9397999" y="6064249"/>
            <a:ext cx="2365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合成方案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OpenLab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工作流</a:t>
            </a:r>
          </a:p>
        </p:txBody>
      </p:sp>
      <p:pic>
        <p:nvPicPr>
          <p:cNvPr id="170" name="deliver_i0" descr="cropped from the image-model asset sheet, cell &quot;pdf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1283" y="6286499"/>
            <a:ext cx="453181" cy="428624"/>
          </a:xfrm>
          <a:prstGeom prst="rect">
            <a:avLst/>
          </a:prstGeom>
          <a:effectLst/>
        </p:spPr>
      </p:pic>
      <p:pic>
        <p:nvPicPr>
          <p:cNvPr id="171" name="deliver_i1" descr="cropped from the image-model asset sheet, cell &quot;plan&quot; (Codex image_gen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46754" y="6286499"/>
            <a:ext cx="448740" cy="428624"/>
          </a:xfrm>
          <a:prstGeom prst="rect">
            <a:avLst/>
          </a:prstGeom>
          <a:effectLst/>
        </p:spPr>
      </p:pic>
      <p:pic>
        <p:nvPicPr>
          <p:cNvPr id="172" name="deliver_i2" descr="cropped from the image-model asset sheet, cell &quot;workflow&quot; (Codex image_gen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12437" y="6288374"/>
            <a:ext cx="539749" cy="424876"/>
          </a:xfrm>
          <a:prstGeom prst="rect">
            <a:avLst/>
          </a:prstGeom>
          <a:effectLst/>
        </p:spPr>
      </p:pic>
      <p:pic>
        <p:nvPicPr>
          <p:cNvPr id="173" name="deliver_i3" descr="cropped from the image-model asset sheet, cell &quot;robotlab&quot; (Codex image_gen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23624" y="6305583"/>
            <a:ext cx="539749" cy="390457"/>
          </a:xfrm>
          <a:prstGeom prst="rect">
            <a:avLst/>
          </a:prstGeom>
          <a:effectLst/>
        </p:spPr>
      </p:pic>
      <p:sp>
        <p:nvSpPr>
          <p:cNvPr id="174" name="rail" descr="Editable shape; source id rail"/>
          <p:cNvSpPr/>
          <p:nvPr/>
        </p:nvSpPr>
        <p:spPr>
          <a:xfrm>
            <a:off x="317499" y="5556249"/>
            <a:ext cx="8810624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5874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rail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6874" y="5677539"/>
            <a:ext cx="476249" cy="328920"/>
          </a:xfrm>
          <a:prstGeom prst="rect">
            <a:avLst/>
          </a:prstGeom>
          <a:effectLst/>
        </p:spPr>
      </p:pic>
      <p:sp>
        <p:nvSpPr>
          <p:cNvPr id="176" name="rail_t" descr="Editable text; source id rail_t"/>
          <p:cNvSpPr txBox="1"/>
          <p:nvPr/>
        </p:nvSpPr>
        <p:spPr>
          <a:xfrm>
            <a:off x="936624" y="5611812"/>
            <a:ext cx="2079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运行账本</a:t>
            </a:r>
            <a:r>
              <a: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ledger.json</a:t>
            </a:r>
          </a:p>
        </p:txBody>
      </p:sp>
      <p:sp>
        <p:nvSpPr>
          <p:cNvPr id="177" name="rail_s" descr="Editable text; source id rail_s"/>
          <p:cNvSpPr txBox="1"/>
          <p:nvPr/>
        </p:nvSpPr>
        <p:spPr>
          <a:xfrm>
            <a:off x="936624" y="5865812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✓ PASS 6 · △ WARN 3 · </a:t>
            </a:r>
            <a:r>
              <a:rPr sz="874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降级须入账</a:t>
            </a:r>
          </a:p>
        </p:txBody>
      </p:sp>
      <p:sp>
        <p:nvSpPr>
          <p:cNvPr id="178" name="gate0" descr="Editable shape; source id gate0"/>
          <p:cNvSpPr/>
          <p:nvPr/>
        </p:nvSpPr>
        <p:spPr>
          <a:xfrm>
            <a:off x="31114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ate0_c" descr="Editable text; source id gate0_c"/>
          <p:cNvSpPr txBox="1"/>
          <p:nvPr/>
        </p:nvSpPr>
        <p:spPr>
          <a:xfrm>
            <a:off x="31114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80" name="gate0_t" descr="Editable text; source id gate0_t"/>
          <p:cNvSpPr txBox="1"/>
          <p:nvPr/>
        </p:nvSpPr>
        <p:spPr>
          <a:xfrm>
            <a:off x="31273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范围确认</a:t>
            </a:r>
          </a:p>
        </p:txBody>
      </p:sp>
      <p:sp>
        <p:nvSpPr>
          <p:cNvPr id="181" name="gate1" descr="Editable shape; source id gate1"/>
          <p:cNvSpPr/>
          <p:nvPr/>
        </p:nvSpPr>
        <p:spPr>
          <a:xfrm>
            <a:off x="37782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ate1_c" descr="Editable text; source id gate1_c"/>
          <p:cNvSpPr txBox="1"/>
          <p:nvPr/>
        </p:nvSpPr>
        <p:spPr>
          <a:xfrm>
            <a:off x="37782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rPr>
              <a:t>△</a:t>
            </a:r>
          </a:p>
        </p:txBody>
      </p:sp>
      <p:sp>
        <p:nvSpPr>
          <p:cNvPr id="183" name="gate1_t" descr="Editable text; source id gate1_t"/>
          <p:cNvSpPr txBox="1"/>
          <p:nvPr/>
        </p:nvSpPr>
        <p:spPr>
          <a:xfrm>
            <a:off x="37941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文献覆盖</a:t>
            </a:r>
          </a:p>
        </p:txBody>
      </p:sp>
      <p:sp>
        <p:nvSpPr>
          <p:cNvPr id="184" name="gate2" descr="Editable shape; source id gate2"/>
          <p:cNvSpPr/>
          <p:nvPr/>
        </p:nvSpPr>
        <p:spPr>
          <a:xfrm>
            <a:off x="44449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ate2_c" descr="Editable text; source id gate2_c"/>
          <p:cNvSpPr txBox="1"/>
          <p:nvPr/>
        </p:nvSpPr>
        <p:spPr>
          <a:xfrm>
            <a:off x="44449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rPr>
              <a:t>△</a:t>
            </a:r>
          </a:p>
        </p:txBody>
      </p:sp>
      <p:sp>
        <p:nvSpPr>
          <p:cNvPr id="186" name="gate2_t" descr="Editable text; source id gate2_t"/>
          <p:cNvSpPr txBox="1"/>
          <p:nvPr/>
        </p:nvSpPr>
        <p:spPr>
          <a:xfrm>
            <a:off x="44608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范式库</a:t>
            </a:r>
          </a:p>
        </p:txBody>
      </p:sp>
      <p:sp>
        <p:nvSpPr>
          <p:cNvPr id="187" name="gate3" descr="Editable shape; source id gate3"/>
          <p:cNvSpPr/>
          <p:nvPr/>
        </p:nvSpPr>
        <p:spPr>
          <a:xfrm>
            <a:off x="51117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ate3_c" descr="Editable text; source id gate3_c"/>
          <p:cNvSpPr txBox="1"/>
          <p:nvPr/>
        </p:nvSpPr>
        <p:spPr>
          <a:xfrm>
            <a:off x="51117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89" name="gate3_t" descr="Editable text; source id gate3_t"/>
          <p:cNvSpPr txBox="1"/>
          <p:nvPr/>
        </p:nvSpPr>
        <p:spPr>
          <a:xfrm>
            <a:off x="51276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引用完整</a:t>
            </a:r>
          </a:p>
        </p:txBody>
      </p:sp>
      <p:sp>
        <p:nvSpPr>
          <p:cNvPr id="190" name="gate4" descr="Editable shape; source id gate4"/>
          <p:cNvSpPr/>
          <p:nvPr/>
        </p:nvSpPr>
        <p:spPr>
          <a:xfrm>
            <a:off x="57784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ate4_c" descr="Editable text; source id gate4_c"/>
          <p:cNvSpPr txBox="1"/>
          <p:nvPr/>
        </p:nvSpPr>
        <p:spPr>
          <a:xfrm>
            <a:off x="57784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92" name="gate4_t" descr="Editable text; source id gate4_t"/>
          <p:cNvSpPr txBox="1"/>
          <p:nvPr/>
        </p:nvSpPr>
        <p:spPr>
          <a:xfrm>
            <a:off x="57943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证据分类</a:t>
            </a:r>
          </a:p>
        </p:txBody>
      </p:sp>
      <p:sp>
        <p:nvSpPr>
          <p:cNvPr id="193" name="gate5" descr="Editable shape; source id gate5"/>
          <p:cNvSpPr/>
          <p:nvPr/>
        </p:nvSpPr>
        <p:spPr>
          <a:xfrm>
            <a:off x="64452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ate5_c" descr="Editable text; source id gate5_c"/>
          <p:cNvSpPr txBox="1"/>
          <p:nvPr/>
        </p:nvSpPr>
        <p:spPr>
          <a:xfrm>
            <a:off x="64452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95" name="gate5_t" descr="Editable text; source id gate5_t"/>
          <p:cNvSpPr txBox="1"/>
          <p:nvPr/>
        </p:nvSpPr>
        <p:spPr>
          <a:xfrm>
            <a:off x="64611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图表就绪</a:t>
            </a:r>
          </a:p>
        </p:txBody>
      </p:sp>
      <p:sp>
        <p:nvSpPr>
          <p:cNvPr id="196" name="gate6" descr="Editable shape; source id gate6"/>
          <p:cNvSpPr/>
          <p:nvPr/>
        </p:nvSpPr>
        <p:spPr>
          <a:xfrm>
            <a:off x="71119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FEF3D6"/>
          </a:solidFill>
          <a:ln w="11906">
            <a:solidFill>
              <a:srgbClr val="F8C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ate6_c" descr="Editable text; source id gate6_c"/>
          <p:cNvSpPr txBox="1"/>
          <p:nvPr/>
        </p:nvSpPr>
        <p:spPr>
          <a:xfrm>
            <a:off x="71119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rPr>
              <a:t>△</a:t>
            </a:r>
          </a:p>
        </p:txBody>
      </p:sp>
      <p:sp>
        <p:nvSpPr>
          <p:cNvPr id="198" name="gate6_t" descr="Editable text; source id gate6_t"/>
          <p:cNvSpPr txBox="1"/>
          <p:nvPr/>
        </p:nvSpPr>
        <p:spPr>
          <a:xfrm>
            <a:off x="71278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A8690A"/>
                </a:solidFill>
                <a:latin typeface="Noto Sans CJK SC"/>
                <a:ea typeface="Noto Sans CJK SC"/>
                <a:cs typeface="Noto Sans CJK SC"/>
              </a:rPr>
              <a:t>方案评审</a:t>
            </a:r>
          </a:p>
        </p:txBody>
      </p:sp>
      <p:sp>
        <p:nvSpPr>
          <p:cNvPr id="199" name="gate7" descr="Editable shape; source id gate7"/>
          <p:cNvSpPr/>
          <p:nvPr/>
        </p:nvSpPr>
        <p:spPr>
          <a:xfrm>
            <a:off x="777874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ate7_c" descr="Editable text; source id gate7_c"/>
          <p:cNvSpPr txBox="1"/>
          <p:nvPr/>
        </p:nvSpPr>
        <p:spPr>
          <a:xfrm>
            <a:off x="777874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1" name="gate7_t" descr="Editable text; source id gate7_t"/>
          <p:cNvSpPr txBox="1"/>
          <p:nvPr/>
        </p:nvSpPr>
        <p:spPr>
          <a:xfrm>
            <a:off x="779462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稿件完成</a:t>
            </a:r>
          </a:p>
        </p:txBody>
      </p:sp>
      <p:sp>
        <p:nvSpPr>
          <p:cNvPr id="202" name="gate8" descr="Editable shape; source id gate8"/>
          <p:cNvSpPr/>
          <p:nvPr/>
        </p:nvSpPr>
        <p:spPr>
          <a:xfrm>
            <a:off x="8445499" y="5619749"/>
            <a:ext cx="619124" cy="444499"/>
          </a:xfrm>
          <a:prstGeom prst="roundRect">
            <a:avLst>
              <a:gd name="adj" fmla="val 16071"/>
            </a:avLst>
          </a:prstGeom>
          <a:solidFill>
            <a:srgbClr val="E4F5EE"/>
          </a:solidFill>
          <a:ln w="11906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ate8_c" descr="Editable text; source id gate8_c"/>
          <p:cNvSpPr txBox="1"/>
          <p:nvPr/>
        </p:nvSpPr>
        <p:spPr>
          <a:xfrm>
            <a:off x="8445499" y="5643562"/>
            <a:ext cx="619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4" name="gate8_t" descr="Editable text; source id gate8_t"/>
          <p:cNvSpPr txBox="1"/>
          <p:nvPr/>
        </p:nvSpPr>
        <p:spPr>
          <a:xfrm>
            <a:off x="8461374" y="5841999"/>
            <a:ext cx="58737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终审通过</a:t>
            </a:r>
          </a:p>
        </p:txBody>
      </p:sp>
      <p:sp>
        <p:nvSpPr>
          <p:cNvPr id="205" name="f_w0_0" descr="Editable line; source id f_w0_0"/>
          <p:cNvSpPr/>
          <p:nvPr/>
        </p:nvSpPr>
        <p:spPr>
          <a:xfrm>
            <a:off x="3690937" y="5389562"/>
            <a:ext cx="79375" cy="134937"/>
          </a:xfrm>
          <a:custGeom>
            <a:avLst/>
            <a:gdLst/>
            <a:ahLst/>
            <a:cxnLst/>
            <a:rect l="l" t="t" r="r" b="b"/>
            <a:pathLst>
              <a:path w="10000" h="17000">
                <a:moveTo>
                  <a:pt x="6000" y="0"/>
                </a:moveTo>
                <a:lnTo>
                  <a:pt x="6000" y="5000"/>
                </a:lnTo>
                <a:lnTo>
                  <a:pt x="10000" y="5000"/>
                </a:lnTo>
                <a:lnTo>
                  <a:pt x="5000" y="17000"/>
                </a:lnTo>
                <a:lnTo>
                  <a:pt x="0" y="5000"/>
                </a:lnTo>
                <a:lnTo>
                  <a:pt x="4000" y="5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_w1_0" descr="Editable line; source id f_w1_0"/>
          <p:cNvSpPr/>
          <p:nvPr/>
        </p:nvSpPr>
        <p:spPr>
          <a:xfrm>
            <a:off x="5992812" y="5389562"/>
            <a:ext cx="79375" cy="134937"/>
          </a:xfrm>
          <a:custGeom>
            <a:avLst/>
            <a:gdLst/>
            <a:ahLst/>
            <a:cxnLst/>
            <a:rect l="l" t="t" r="r" b="b"/>
            <a:pathLst>
              <a:path w="10000" h="17000">
                <a:moveTo>
                  <a:pt x="6000" y="0"/>
                </a:moveTo>
                <a:lnTo>
                  <a:pt x="6000" y="5000"/>
                </a:lnTo>
                <a:lnTo>
                  <a:pt x="10000" y="5000"/>
                </a:lnTo>
                <a:lnTo>
                  <a:pt x="5000" y="17000"/>
                </a:lnTo>
                <a:lnTo>
                  <a:pt x="0" y="5000"/>
                </a:lnTo>
                <a:lnTo>
                  <a:pt x="4000" y="5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_w2_0" descr="Editable line; source id f_w2_0"/>
          <p:cNvSpPr/>
          <p:nvPr/>
        </p:nvSpPr>
        <p:spPr>
          <a:xfrm>
            <a:off x="8215312" y="5389562"/>
            <a:ext cx="79375" cy="134937"/>
          </a:xfrm>
          <a:custGeom>
            <a:avLst/>
            <a:gdLst/>
            <a:ahLst/>
            <a:cxnLst/>
            <a:rect l="l" t="t" r="r" b="b"/>
            <a:pathLst>
              <a:path w="10000" h="17000">
                <a:moveTo>
                  <a:pt x="6000" y="0"/>
                </a:moveTo>
                <a:lnTo>
                  <a:pt x="6000" y="5000"/>
                </a:lnTo>
                <a:lnTo>
                  <a:pt x="10000" y="5000"/>
                </a:lnTo>
                <a:lnTo>
                  <a:pt x="5000" y="17000"/>
                </a:lnTo>
                <a:lnTo>
                  <a:pt x="0" y="5000"/>
                </a:lnTo>
                <a:lnTo>
                  <a:pt x="4000" y="5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_w3_0" descr="Editable line; source id f_w3_0"/>
          <p:cNvSpPr/>
          <p:nvPr/>
        </p:nvSpPr>
        <p:spPr>
          <a:xfrm>
            <a:off x="1055687" y="5373687"/>
            <a:ext cx="79375" cy="150812"/>
          </a:xfrm>
          <a:custGeom>
            <a:avLst/>
            <a:gdLst/>
            <a:ahLst/>
            <a:cxnLst/>
            <a:rect l="l" t="t" r="r" b="b"/>
            <a:pathLst>
              <a:path w="10000" h="19000">
                <a:moveTo>
                  <a:pt x="6000" y="0"/>
                </a:moveTo>
                <a:lnTo>
                  <a:pt x="6000" y="7000"/>
                </a:lnTo>
                <a:lnTo>
                  <a:pt x="10000" y="7000"/>
                </a:lnTo>
                <a:lnTo>
                  <a:pt x="5000" y="19000"/>
                </a:lnTo>
                <a:lnTo>
                  <a:pt x="0" y="7000"/>
                </a:lnTo>
                <a:lnTo>
                  <a:pt x="4000" y="7000"/>
                </a:lnTo>
                <a:lnTo>
                  <a:pt x="4000" y="0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kpi0" descr="Editable shape; source id kpi0"/>
          <p:cNvSpPr/>
          <p:nvPr/>
        </p:nvSpPr>
        <p:spPr>
          <a:xfrm>
            <a:off x="317499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kpi0_r" descr="Editable shape; source id kpi0_r"/>
          <p:cNvSpPr/>
          <p:nvPr/>
        </p:nvSpPr>
        <p:spPr>
          <a:xfrm>
            <a:off x="317499" y="6207124"/>
            <a:ext cx="2127249" cy="39687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kpi0_b" descr="Editable text; source id kpi0_b"/>
          <p:cNvSpPr txBox="1"/>
          <p:nvPr/>
        </p:nvSpPr>
        <p:spPr>
          <a:xfrm>
            <a:off x="444499" y="6270624"/>
            <a:ext cx="56356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212" name="kpi0_u" descr="Editable text; source id kpi0_u"/>
          <p:cNvSpPr txBox="1"/>
          <p:nvPr/>
        </p:nvSpPr>
        <p:spPr>
          <a:xfrm>
            <a:off x="1071562" y="6286499"/>
            <a:ext cx="1293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批</a:t>
            </a:r>
          </a:p>
        </p:txBody>
      </p:sp>
      <p:sp>
        <p:nvSpPr>
          <p:cNvPr id="213" name="kpi0_c" descr="Editable text; source id kpi0_c"/>
          <p:cNvSpPr txBox="1"/>
          <p:nvPr/>
        </p:nvSpPr>
        <p:spPr>
          <a:xfrm>
            <a:off x="1071562" y="6540499"/>
            <a:ext cx="129381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并行批次</a:t>
            </a:r>
          </a:p>
        </p:txBody>
      </p:sp>
      <p:sp>
        <p:nvSpPr>
          <p:cNvPr id="214" name="kpi1" descr="Editable shape; source id kpi1"/>
          <p:cNvSpPr/>
          <p:nvPr/>
        </p:nvSpPr>
        <p:spPr>
          <a:xfrm>
            <a:off x="2547937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kpi1_r" descr="Editable shape; source id kpi1_r"/>
          <p:cNvSpPr/>
          <p:nvPr/>
        </p:nvSpPr>
        <p:spPr>
          <a:xfrm>
            <a:off x="2547937" y="6207124"/>
            <a:ext cx="2127249" cy="39687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kpi1_b" descr="Editable text; source id kpi1_b"/>
          <p:cNvSpPr txBox="1"/>
          <p:nvPr/>
        </p:nvSpPr>
        <p:spPr>
          <a:xfrm>
            <a:off x="2674937" y="6270624"/>
            <a:ext cx="56356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217" name="kpi1_u" descr="Editable text; source id kpi1_u"/>
          <p:cNvSpPr txBox="1"/>
          <p:nvPr/>
        </p:nvSpPr>
        <p:spPr>
          <a:xfrm>
            <a:off x="3301999" y="6286499"/>
            <a:ext cx="1293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项子任务</a:t>
            </a:r>
          </a:p>
        </p:txBody>
      </p:sp>
      <p:sp>
        <p:nvSpPr>
          <p:cNvPr id="218" name="kpi1_c" descr="Editable text; source id kpi1_c"/>
          <p:cNvSpPr txBox="1"/>
          <p:nvPr/>
        </p:nvSpPr>
        <p:spPr>
          <a:xfrm>
            <a:off x="3301999" y="6540499"/>
            <a:ext cx="129381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各写各的分片</a:t>
            </a:r>
          </a:p>
        </p:txBody>
      </p:sp>
      <p:sp>
        <p:nvSpPr>
          <p:cNvPr id="219" name="kpi2" descr="Editable shape; source id kpi2"/>
          <p:cNvSpPr/>
          <p:nvPr/>
        </p:nvSpPr>
        <p:spPr>
          <a:xfrm>
            <a:off x="4770437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kpi2_r" descr="Editable shape; source id kpi2_r"/>
          <p:cNvSpPr/>
          <p:nvPr/>
        </p:nvSpPr>
        <p:spPr>
          <a:xfrm>
            <a:off x="4770437" y="6207124"/>
            <a:ext cx="2127249" cy="39687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kpi2_b" descr="Editable text; source id kpi2_b"/>
          <p:cNvSpPr txBox="1"/>
          <p:nvPr/>
        </p:nvSpPr>
        <p:spPr>
          <a:xfrm>
            <a:off x="4897437" y="6270624"/>
            <a:ext cx="56356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≤4</a:t>
            </a:r>
          </a:p>
        </p:txBody>
      </p:sp>
      <p:sp>
        <p:nvSpPr>
          <p:cNvPr id="222" name="kpi2_u" descr="Editable text; source id kpi2_u"/>
          <p:cNvSpPr txBox="1"/>
          <p:nvPr/>
        </p:nvSpPr>
        <p:spPr>
          <a:xfrm>
            <a:off x="5524499" y="6286499"/>
            <a:ext cx="1293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路并行</a:t>
            </a:r>
          </a:p>
        </p:txBody>
      </p:sp>
      <p:sp>
        <p:nvSpPr>
          <p:cNvPr id="223" name="kpi2_c" descr="Editable text; source id kpi2_c"/>
          <p:cNvSpPr txBox="1"/>
          <p:nvPr/>
        </p:nvSpPr>
        <p:spPr>
          <a:xfrm>
            <a:off x="5524499" y="6540499"/>
            <a:ext cx="129381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单批并发上限</a:t>
            </a:r>
          </a:p>
        </p:txBody>
      </p:sp>
      <p:sp>
        <p:nvSpPr>
          <p:cNvPr id="224" name="kpi3" descr="Editable shape; source id kpi3"/>
          <p:cNvSpPr/>
          <p:nvPr/>
        </p:nvSpPr>
        <p:spPr>
          <a:xfrm>
            <a:off x="7000874" y="6207124"/>
            <a:ext cx="2127249" cy="571499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kpi3_r" descr="Editable shape; source id kpi3_r"/>
          <p:cNvSpPr/>
          <p:nvPr/>
        </p:nvSpPr>
        <p:spPr>
          <a:xfrm>
            <a:off x="7000874" y="6207124"/>
            <a:ext cx="2127249" cy="3968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kpi3_b" descr="Editable text; source id kpi3_b"/>
          <p:cNvSpPr txBox="1"/>
          <p:nvPr/>
        </p:nvSpPr>
        <p:spPr>
          <a:xfrm>
            <a:off x="7127874" y="6270624"/>
            <a:ext cx="785812" cy="476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18"/>
              </a:lnSpc>
              <a:spcBef>
                <a:spcPts val="0"/>
              </a:spcBef>
              <a:spcAft>
                <a:spcPts val="0"/>
              </a:spcAft>
              <a:def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749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134</a:t>
            </a:r>
          </a:p>
        </p:txBody>
      </p:sp>
      <p:sp>
        <p:nvSpPr>
          <p:cNvPr id="227" name="kpi3_u" descr="Editable text; source id kpi3_u"/>
          <p:cNvSpPr txBox="1"/>
          <p:nvPr/>
        </p:nvSpPr>
        <p:spPr>
          <a:xfrm>
            <a:off x="7977187" y="6286499"/>
            <a:ext cx="1071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次工具调用</a:t>
            </a:r>
          </a:p>
        </p:txBody>
      </p:sp>
      <p:sp>
        <p:nvSpPr>
          <p:cNvPr id="228" name="kpi3_c" descr="Editable text; source id kpi3_c"/>
          <p:cNvSpPr txBox="1"/>
          <p:nvPr/>
        </p:nvSpPr>
        <p:spPr>
          <a:xfrm>
            <a:off x="7977187" y="6540499"/>
            <a:ext cx="107156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MCP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服务端审计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