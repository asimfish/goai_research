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7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整体方案页：文献数据库 → 结构化知识 → 合成方案 → OpenLab 实验步骤；Experimental Guidance 引文四类信息着色（round 4, deck theme） [deck style; slide 16:9; pt_per_px=0.625]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1" descr="Editable shape; source id p1"/>
          <p:cNvSpPr/>
          <p:nvPr/>
        </p:nvSpPr>
        <p:spPr>
          <a:xfrm>
            <a:off x="317499" y="936624"/>
            <a:ext cx="2793999" cy="3540124"/>
          </a:xfrm>
          <a:prstGeom prst="roundRect">
            <a:avLst>
              <a:gd name="adj" fmla="val 5681"/>
            </a:avLst>
          </a:prstGeom>
          <a:solidFill>
            <a:srgbClr val="E6ECF5"/>
          </a:solidFill>
          <a:ln w="15874">
            <a:solidFill>
              <a:srgbClr val="A9B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1_b" descr="Editable shape; source id p1_b"/>
          <p:cNvSpPr/>
          <p:nvPr/>
        </p:nvSpPr>
        <p:spPr>
          <a:xfrm>
            <a:off x="380999" y="1000124"/>
            <a:ext cx="2666999" cy="317499"/>
          </a:xfrm>
          <a:prstGeom prst="roundRect">
            <a:avLst>
              <a:gd name="adj" fmla="val 35000"/>
            </a:avLst>
          </a:prstGeom>
          <a:solidFill>
            <a:srgbClr val="154A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1_l" descr="Editable text; source id p1_l"/>
          <p:cNvSpPr txBox="1"/>
          <p:nvPr/>
        </p:nvSpPr>
        <p:spPr>
          <a:xfrm>
            <a:off x="507999" y="1000124"/>
            <a:ext cx="2412999" cy="3174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265"/>
              </a:lnSpc>
              <a:spcBef>
                <a:spcPts val="0"/>
              </a:spcBef>
              <a:spcAft>
                <a:spcPts val="0"/>
              </a:spcAft>
              <a:defRPr sz="1562" b="1" i="0" lang="zh-CN" dirty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62" b="1" i="0" lang="zh-CN" dirty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文献数据库</a:t>
            </a:r>
          </a:p>
        </p:txBody>
      </p:sp>
      <p:pic>
        <p:nvPicPr>
          <p:cNvPr id="5" name="lit_art" descr="cropped from the image-model asset sheet, cell &quot;litdb&quot; (Codex image_gen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872" y="1396999"/>
            <a:ext cx="1651254" cy="1174749"/>
          </a:xfrm>
          <a:prstGeom prst="rect">
            <a:avLst/>
          </a:prstGeom>
          <a:effectLst/>
        </p:spPr>
      </p:pic>
      <p:sp>
        <p:nvSpPr>
          <p:cNvPr id="6" name="lit_n" descr="Editable text; source id lit_n"/>
          <p:cNvSpPr txBox="1"/>
          <p:nvPr/>
        </p:nvSpPr>
        <p:spPr>
          <a:xfrm>
            <a:off x="412749" y="2619374"/>
            <a:ext cx="2603499" cy="4127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921"/>
              </a:lnSpc>
              <a:spcBef>
                <a:spcPts val="0"/>
              </a:spcBef>
              <a:spcAft>
                <a:spcPts val="0"/>
              </a:spcAft>
              <a:defRPr sz="2499" b="1" i="0" lang="zh-CN" dirty="0">
                <a:solidFill>
                  <a:srgbClr val="156082"/>
                </a:solidFill>
                <a:latin typeface="DejaVu Sans"/>
                <a:ea typeface="DejaVu Sans"/>
                <a:cs typeface="DejaVu Sans"/>
              </a:defRPr>
            </a:pPr>
            <a:r>
              <a:rPr sz="2499" b="1" i="0" lang="zh-CN" dirty="0">
                <a:solidFill>
                  <a:srgbClr val="156082"/>
                </a:solidFill>
                <a:latin typeface="DejaVu Sans"/>
                <a:ea typeface="DejaVu Sans"/>
                <a:cs typeface="DejaVu Sans"/>
              </a:rPr>
              <a:t>88,343,822</a:t>
            </a:r>
          </a:p>
        </p:txBody>
      </p:sp>
      <p:sp>
        <p:nvSpPr>
          <p:cNvPr id="7" name="lit_u" descr="Editable text; source id lit_u"/>
          <p:cNvSpPr txBox="1"/>
          <p:nvPr/>
        </p:nvSpPr>
        <p:spPr>
          <a:xfrm>
            <a:off x="412749" y="3032124"/>
            <a:ext cx="2603499" cy="2222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640"/>
              </a:lnSpc>
              <a:spcBef>
                <a:spcPts val="0"/>
              </a:spcBef>
              <a:spcAft>
                <a:spcPts val="0"/>
              </a:spcAft>
              <a:defRPr sz="1124" b="1" i="0" lang="zh-CN" dirty="0">
                <a:solidFill>
                  <a:srgbClr val="1B2B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4" b="1" i="0" lang="zh-CN" dirty="0">
                <a:solidFill>
                  <a:srgbClr val="1B2B3A"/>
                </a:solidFill>
                <a:latin typeface="Noto Sans CJK SC"/>
                <a:ea typeface="Noto Sans CJK SC"/>
                <a:cs typeface="Noto Sans CJK SC"/>
              </a:rPr>
              <a:t>篇文献</a:t>
            </a:r>
            <a:r>
              <a:rPr sz="1124" b="1" i="0" lang="zh-CN" dirty="0">
                <a:solidFill>
                  <a:srgbClr val="1B2B3A"/>
                </a:solidFill>
                <a:latin typeface="DejaVu Sans"/>
                <a:ea typeface="DejaVu Sans"/>
                <a:cs typeface="DejaVu Sans"/>
              </a:rPr>
              <a:t> · </a:t>
            </a:r>
            <a:r>
              <a:rPr sz="1124" b="1" i="0" lang="zh-CN" dirty="0">
                <a:solidFill>
                  <a:srgbClr val="1B2B3A"/>
                </a:solidFill>
                <a:latin typeface="Noto Sans CJK SC"/>
                <a:ea typeface="Noto Sans CJK SC"/>
                <a:cs typeface="Noto Sans CJK SC"/>
              </a:rPr>
              <a:t>全文</a:t>
            </a:r>
            <a:r>
              <a:rPr sz="1124" b="1" i="0" lang="zh-CN" dirty="0">
                <a:solidFill>
                  <a:srgbClr val="1B2B3A"/>
                </a:solidFill>
                <a:latin typeface="DejaVu Sans"/>
                <a:ea typeface="DejaVu Sans"/>
                <a:cs typeface="DejaVu Sans"/>
              </a:rPr>
              <a:t> 80.5 TB</a:t>
            </a:r>
          </a:p>
        </p:txBody>
      </p:sp>
      <p:pic>
        <p:nvPicPr>
          <p:cNvPr id="8" name="donut" descr="ring meter rendered locally (PIL) from the value 20%, teal on a light trac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49" y="3365499"/>
            <a:ext cx="952499" cy="952499"/>
          </a:xfrm>
          <a:prstGeom prst="rect">
            <a:avLst/>
          </a:prstGeom>
          <a:effectLst/>
        </p:spPr>
      </p:pic>
      <p:sp>
        <p:nvSpPr>
          <p:cNvPr id="9" name="donut_t" descr="Editable text; source id donut_t"/>
          <p:cNvSpPr txBox="1"/>
          <p:nvPr/>
        </p:nvSpPr>
        <p:spPr>
          <a:xfrm>
            <a:off x="571499" y="3651249"/>
            <a:ext cx="761999" cy="380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906"/>
              </a:lnSpc>
              <a:spcBef>
                <a:spcPts val="0"/>
              </a:spcBef>
              <a:spcAft>
                <a:spcPts val="0"/>
              </a:spcAft>
              <a:defRPr sz="1624" b="1" i="0" lang="zh-CN" dirty="0">
                <a:solidFill>
                  <a:srgbClr val="156082"/>
                </a:solidFill>
                <a:latin typeface="DejaVu Sans"/>
                <a:ea typeface="DejaVu Sans"/>
                <a:cs typeface="DejaVu Sans"/>
              </a:defRPr>
            </a:pPr>
            <a:r>
              <a:rPr sz="1624" b="1" i="0" lang="zh-CN" dirty="0">
                <a:solidFill>
                  <a:srgbClr val="156082"/>
                </a:solidFill>
                <a:latin typeface="DejaVu Sans"/>
                <a:ea typeface="DejaVu Sans"/>
                <a:cs typeface="DejaVu Sans"/>
              </a:rPr>
              <a:t>~20%</a:t>
            </a:r>
          </a:p>
        </p:txBody>
      </p:sp>
      <p:sp>
        <p:nvSpPr>
          <p:cNvPr id="10" name="donut_c" descr="Editable text; source id donut_c"/>
          <p:cNvSpPr txBox="1"/>
          <p:nvPr/>
        </p:nvSpPr>
        <p:spPr>
          <a:xfrm>
            <a:off x="1523999" y="3540124"/>
            <a:ext cx="1492249" cy="2381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734"/>
              </a:lnSpc>
              <a:spcBef>
                <a:spcPts val="0"/>
              </a:spcBef>
              <a:spcAft>
                <a:spcPts val="0"/>
              </a:spcAft>
              <a:defRPr sz="1187" b="1" i="0" lang="zh-CN" dirty="0">
                <a:solidFill>
                  <a:srgbClr val="1B2B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87" b="1" i="0" lang="zh-CN" dirty="0">
                <a:solidFill>
                  <a:srgbClr val="1B2B3A"/>
                </a:solidFill>
                <a:latin typeface="Noto Sans CJK SC"/>
                <a:ea typeface="Noto Sans CJK SC"/>
                <a:cs typeface="Noto Sans CJK SC"/>
              </a:rPr>
              <a:t>化学学科论文占比</a:t>
            </a:r>
          </a:p>
        </p:txBody>
      </p:sp>
      <p:sp>
        <p:nvSpPr>
          <p:cNvPr id="11" name="donut_s" descr="Editable text; source id donut_s"/>
          <p:cNvSpPr txBox="1"/>
          <p:nvPr/>
        </p:nvSpPr>
        <p:spPr>
          <a:xfrm>
            <a:off x="1523999" y="3794124"/>
            <a:ext cx="1492249" cy="1904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281"/>
              </a:lnSpc>
              <a:spcBef>
                <a:spcPts val="0"/>
              </a:spcBef>
              <a:spcAft>
                <a:spcPts val="0"/>
              </a:spcAft>
              <a:defRPr sz="874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74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rPr>
              <a:t>合成条件散落在正文段落中</a:t>
            </a:r>
          </a:p>
        </p:txBody>
      </p:sp>
      <p:sp>
        <p:nvSpPr>
          <p:cNvPr id="12" name="donut_s2" descr="Editable text; source id donut_s2"/>
          <p:cNvSpPr txBox="1"/>
          <p:nvPr/>
        </p:nvSpPr>
        <p:spPr>
          <a:xfrm>
            <a:off x="1523999" y="3984624"/>
            <a:ext cx="1492249" cy="1904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281"/>
              </a:lnSpc>
              <a:spcBef>
                <a:spcPts val="0"/>
              </a:spcBef>
              <a:spcAft>
                <a:spcPts val="0"/>
              </a:spcAft>
              <a:defRPr sz="874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74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rPr>
              <a:t>尚未结构化</a:t>
            </a:r>
          </a:p>
        </p:txBody>
      </p:sp>
      <p:pic>
        <p:nvPicPr>
          <p:cNvPr id="13" name="c_pap" descr="cropped from the image-model asset sheet, cell &quot;products&quot; (Codex image_gen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1999" y="1105621"/>
            <a:ext cx="1555749" cy="1074881"/>
          </a:xfrm>
          <a:prstGeom prst="rect">
            <a:avLst/>
          </a:prstGeom>
          <a:effectLst/>
        </p:spPr>
      </p:pic>
      <p:sp>
        <p:nvSpPr>
          <p:cNvPr id="14" name="c_pap_c" descr="Editable text; source id c_pap_c"/>
          <p:cNvSpPr txBox="1"/>
          <p:nvPr/>
        </p:nvSpPr>
        <p:spPr>
          <a:xfrm>
            <a:off x="3143249" y="2285999"/>
            <a:ext cx="1873249" cy="2381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640"/>
              </a:lnSpc>
              <a:spcBef>
                <a:spcPts val="0"/>
              </a:spcBef>
              <a:spcAft>
                <a:spcPts val="0"/>
              </a:spcAft>
              <a:defRPr sz="1124" b="1" i="0" lang="zh-CN" dirty="0">
                <a:solidFill>
                  <a:srgbClr val="1B2B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4" b="1" i="0" lang="zh-CN" dirty="0">
                <a:solidFill>
                  <a:srgbClr val="1B2B3A"/>
                </a:solidFill>
                <a:latin typeface="Noto Sans CJK SC"/>
                <a:ea typeface="Noto Sans CJK SC"/>
                <a:cs typeface="Noto Sans CJK SC"/>
              </a:rPr>
              <a:t>文献中的合成描述</a:t>
            </a:r>
          </a:p>
        </p:txBody>
      </p:sp>
      <p:sp>
        <p:nvSpPr>
          <p:cNvPr id="15" name="f_c0_0" descr="Editable line; source id f_c0_0"/>
          <p:cNvSpPr/>
          <p:nvPr/>
        </p:nvSpPr>
        <p:spPr>
          <a:xfrm>
            <a:off x="4921250" y="1575594"/>
            <a:ext cx="333375" cy="134937"/>
          </a:xfrm>
          <a:custGeom>
            <a:avLst/>
            <a:gdLst/>
            <a:ahLst/>
            <a:cxnLst/>
            <a:rect l="l" t="t" r="r" b="b"/>
            <a:pathLst>
              <a:path w="42000" h="17000">
                <a:moveTo>
                  <a:pt x="0" y="6000"/>
                </a:moveTo>
                <a:lnTo>
                  <a:pt x="22000" y="6000"/>
                </a:lnTo>
                <a:lnTo>
                  <a:pt x="22000" y="0"/>
                </a:lnTo>
                <a:lnTo>
                  <a:pt x="42000" y="8500"/>
                </a:lnTo>
                <a:lnTo>
                  <a:pt x="22000" y="17000"/>
                </a:lnTo>
                <a:lnTo>
                  <a:pt x="22000" y="11000"/>
                </a:lnTo>
                <a:lnTo>
                  <a:pt x="0" y="11000"/>
                </a:lnTo>
                <a:close/>
              </a:path>
            </a:pathLst>
          </a:cu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c_nb" descr="cropped from the image-model asset sheet, cell &quot;condtable&quot; (Codex image_gen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18124" y="1114476"/>
            <a:ext cx="1555749" cy="1057171"/>
          </a:xfrm>
          <a:prstGeom prst="rect">
            <a:avLst/>
          </a:prstGeom>
          <a:effectLst/>
        </p:spPr>
      </p:pic>
      <p:sp>
        <p:nvSpPr>
          <p:cNvPr id="17" name="c_nb_c" descr="Editable text; source id c_nb_c"/>
          <p:cNvSpPr txBox="1"/>
          <p:nvPr/>
        </p:nvSpPr>
        <p:spPr>
          <a:xfrm>
            <a:off x="5159374" y="2285999"/>
            <a:ext cx="1873249" cy="2381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640"/>
              </a:lnSpc>
              <a:spcBef>
                <a:spcPts val="0"/>
              </a:spcBef>
              <a:spcAft>
                <a:spcPts val="0"/>
              </a:spcAft>
              <a:defRPr sz="1124" b="1" i="0" lang="zh-CN" dirty="0">
                <a:solidFill>
                  <a:srgbClr val="1B2B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4" b="1" i="0" lang="zh-CN" dirty="0">
                <a:solidFill>
                  <a:srgbClr val="1B2B3A"/>
                </a:solidFill>
                <a:latin typeface="Noto Sans CJK SC"/>
                <a:ea typeface="Noto Sans CJK SC"/>
                <a:cs typeface="Noto Sans CJK SC"/>
              </a:rPr>
              <a:t>结构化的合成知识</a:t>
            </a:r>
          </a:p>
        </p:txBody>
      </p:sp>
      <p:sp>
        <p:nvSpPr>
          <p:cNvPr id="18" name="f_c1_0" descr="Editable line; source id f_c1_0"/>
          <p:cNvSpPr/>
          <p:nvPr/>
        </p:nvSpPr>
        <p:spPr>
          <a:xfrm>
            <a:off x="6937375" y="1575594"/>
            <a:ext cx="333375" cy="134937"/>
          </a:xfrm>
          <a:custGeom>
            <a:avLst/>
            <a:gdLst/>
            <a:ahLst/>
            <a:cxnLst/>
            <a:rect l="l" t="t" r="r" b="b"/>
            <a:pathLst>
              <a:path w="42000" h="17000">
                <a:moveTo>
                  <a:pt x="0" y="6000"/>
                </a:moveTo>
                <a:lnTo>
                  <a:pt x="22000" y="6000"/>
                </a:lnTo>
                <a:lnTo>
                  <a:pt x="22000" y="0"/>
                </a:lnTo>
                <a:lnTo>
                  <a:pt x="42000" y="8500"/>
                </a:lnTo>
                <a:lnTo>
                  <a:pt x="22000" y="17000"/>
                </a:lnTo>
                <a:lnTo>
                  <a:pt x="22000" y="11000"/>
                </a:lnTo>
                <a:lnTo>
                  <a:pt x="0" y="11000"/>
                </a:lnTo>
                <a:close/>
              </a:path>
            </a:pathLst>
          </a:cu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c_fur" descr="cropped from the image-model asset sheet, cell &quot;furnace&quot; (Codex image_gen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34249" y="1113938"/>
            <a:ext cx="1555749" cy="1058247"/>
          </a:xfrm>
          <a:prstGeom prst="rect">
            <a:avLst/>
          </a:prstGeom>
          <a:effectLst/>
        </p:spPr>
      </p:pic>
      <p:sp>
        <p:nvSpPr>
          <p:cNvPr id="20" name="c_fur_c" descr="Editable text; source id c_fur_c"/>
          <p:cNvSpPr txBox="1"/>
          <p:nvPr/>
        </p:nvSpPr>
        <p:spPr>
          <a:xfrm>
            <a:off x="7175499" y="2285999"/>
            <a:ext cx="1873249" cy="2381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640"/>
              </a:lnSpc>
              <a:spcBef>
                <a:spcPts val="0"/>
              </a:spcBef>
              <a:spcAft>
                <a:spcPts val="0"/>
              </a:spcAft>
              <a:defRPr sz="1124" b="1" i="0" lang="zh-CN" dirty="0">
                <a:solidFill>
                  <a:srgbClr val="1B2B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4" b="1" i="0" lang="zh-CN" dirty="0">
                <a:solidFill>
                  <a:srgbClr val="1B2B3A"/>
                </a:solidFill>
                <a:latin typeface="Noto Sans CJK SC"/>
                <a:ea typeface="Noto Sans CJK SC"/>
                <a:cs typeface="Noto Sans CJK SC"/>
              </a:rPr>
              <a:t>合成方案与实验装置</a:t>
            </a:r>
          </a:p>
        </p:txBody>
      </p:sp>
      <p:sp>
        <p:nvSpPr>
          <p:cNvPr id="21" name="slogan1" descr="Editable text; source id slogan1"/>
          <p:cNvSpPr txBox="1"/>
          <p:nvPr/>
        </p:nvSpPr>
        <p:spPr>
          <a:xfrm>
            <a:off x="3301999" y="2730499"/>
            <a:ext cx="5587999" cy="714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4949"/>
              </a:lnSpc>
              <a:spcBef>
                <a:spcPts val="0"/>
              </a:spcBef>
              <a:spcAft>
                <a:spcPts val="0"/>
              </a:spcAft>
              <a:defRPr sz="4124" b="1" i="1" lang="zh-CN" dirty="0">
                <a:solidFill>
                  <a:srgbClr val="154A97"/>
                </a:solidFill>
                <a:latin typeface="DejaVu Sans"/>
                <a:ea typeface="DejaVu Sans"/>
                <a:cs typeface="DejaVu Sans"/>
              </a:defRPr>
            </a:pPr>
            <a:r>
              <a:rPr sz="4124" b="1" i="1" lang="zh-CN" dirty="0">
                <a:solidFill>
                  <a:srgbClr val="154A97"/>
                </a:solidFill>
                <a:latin typeface="DejaVu Sans"/>
                <a:ea typeface="DejaVu Sans"/>
                <a:cs typeface="DejaVu Sans"/>
              </a:rPr>
              <a:t>Could </a:t>
            </a:r>
            <a:r>
              <a:rPr sz="4124" b="1" i="1" lang="zh-CN" dirty="0">
                <a:solidFill>
                  <a:srgbClr val="E97132"/>
                </a:solidFill>
                <a:latin typeface="DejaVu Sans"/>
                <a:ea typeface="DejaVu Sans"/>
                <a:cs typeface="DejaVu Sans"/>
              </a:rPr>
              <a:t>AI</a:t>
            </a:r>
          </a:p>
        </p:txBody>
      </p:sp>
      <p:sp>
        <p:nvSpPr>
          <p:cNvPr id="22" name="slogan2" descr="Editable text; source id slogan2"/>
          <p:cNvSpPr txBox="1"/>
          <p:nvPr/>
        </p:nvSpPr>
        <p:spPr>
          <a:xfrm>
            <a:off x="3301999" y="3460749"/>
            <a:ext cx="5587999" cy="6826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4949"/>
              </a:lnSpc>
              <a:spcBef>
                <a:spcPts val="0"/>
              </a:spcBef>
              <a:spcAft>
                <a:spcPts val="0"/>
              </a:spcAft>
              <a:defRPr sz="4124" b="1" i="1" lang="zh-CN" dirty="0">
                <a:solidFill>
                  <a:srgbClr val="154A97"/>
                </a:solidFill>
                <a:latin typeface="DejaVu Sans"/>
                <a:ea typeface="DejaVu Sans"/>
                <a:cs typeface="DejaVu Sans"/>
              </a:defRPr>
            </a:pPr>
            <a:r>
              <a:rPr sz="4124" b="1" i="1" lang="zh-CN" dirty="0">
                <a:solidFill>
                  <a:srgbClr val="154A97"/>
                </a:solidFill>
                <a:latin typeface="DejaVu Sans"/>
                <a:ea typeface="DejaVu Sans"/>
                <a:cs typeface="DejaVu Sans"/>
              </a:rPr>
              <a:t>Dream of </a:t>
            </a:r>
            <a:r>
              <a:rPr sz="4124" b="1" i="1" lang="zh-CN" dirty="0">
                <a:solidFill>
                  <a:srgbClr val="0E2841"/>
                </a:solidFill>
                <a:latin typeface="DejaVu Sans"/>
                <a:ea typeface="DejaVu Sans"/>
                <a:cs typeface="DejaVu Sans"/>
              </a:rPr>
              <a:t>Science</a:t>
            </a:r>
          </a:p>
        </p:txBody>
      </p:sp>
      <p:sp>
        <p:nvSpPr>
          <p:cNvPr id="23" name="slogan_s" descr="Editable text; source id slogan_s"/>
          <p:cNvSpPr txBox="1"/>
          <p:nvPr/>
        </p:nvSpPr>
        <p:spPr>
          <a:xfrm>
            <a:off x="3301999" y="4143374"/>
            <a:ext cx="5587999" cy="2698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46"/>
              </a:lnSpc>
              <a:spcBef>
                <a:spcPts val="0"/>
              </a:spcBef>
              <a:spcAft>
                <a:spcPts val="0"/>
              </a:spcAft>
              <a:defRPr sz="1062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62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rPr>
              <a:t>大模型读懂文献里的合成经验，生成可执行的研究方案，交给自动化实验室执行与仿真</a:t>
            </a:r>
          </a:p>
        </p:txBody>
      </p:sp>
      <p:sp>
        <p:nvSpPr>
          <p:cNvPr id="24" name="p3" descr="Editable shape; source id p3"/>
          <p:cNvSpPr/>
          <p:nvPr/>
        </p:nvSpPr>
        <p:spPr>
          <a:xfrm>
            <a:off x="9080499" y="936624"/>
            <a:ext cx="2793999" cy="3540124"/>
          </a:xfrm>
          <a:prstGeom prst="roundRect">
            <a:avLst>
              <a:gd name="adj" fmla="val 5681"/>
            </a:avLst>
          </a:prstGeom>
          <a:solidFill>
            <a:srgbClr val="E4F5EE"/>
          </a:solidFill>
          <a:ln w="15874">
            <a:solidFill>
              <a:srgbClr val="9AD5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p3_b" descr="Editable shape; source id p3_b"/>
          <p:cNvSpPr/>
          <p:nvPr/>
        </p:nvSpPr>
        <p:spPr>
          <a:xfrm>
            <a:off x="9143999" y="1000124"/>
            <a:ext cx="2666999" cy="317499"/>
          </a:xfrm>
          <a:prstGeom prst="roundRect">
            <a:avLst>
              <a:gd name="adj" fmla="val 35000"/>
            </a:avLst>
          </a:prstGeom>
          <a:solidFill>
            <a:srgbClr val="129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p3_l" descr="Editable text; source id p3_l"/>
          <p:cNvSpPr txBox="1"/>
          <p:nvPr/>
        </p:nvSpPr>
        <p:spPr>
          <a:xfrm>
            <a:off x="9270999" y="1000124"/>
            <a:ext cx="2412999" cy="3174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265"/>
              </a:lnSpc>
              <a:spcBef>
                <a:spcPts val="0"/>
              </a:spcBef>
              <a:spcAft>
                <a:spcPts val="0"/>
              </a:spcAft>
              <a:defRPr sz="1562" b="1" i="0" lang="zh-CN" dirty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62" b="1" i="0" lang="zh-CN" dirty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实验流程</a:t>
            </a:r>
            <a:r>
              <a:rPr sz="1562" b="1" i="0" lang="zh-CN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Step 1–3</a:t>
            </a:r>
          </a:p>
        </p:txBody>
      </p:sp>
      <p:pic>
        <p:nvPicPr>
          <p:cNvPr id="27" name="lab_art" descr="cropped from the image-model asset sheet, cell &quot;robotlab&quot; (Codex image_gen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57064" y="1365249"/>
            <a:ext cx="2040871" cy="1476374"/>
          </a:xfrm>
          <a:prstGeom prst="rect">
            <a:avLst/>
          </a:prstGeom>
          <a:effectLst/>
        </p:spPr>
      </p:pic>
      <p:sp>
        <p:nvSpPr>
          <p:cNvPr id="28" name="lab_c" descr="Editable text; source id lab_c"/>
          <p:cNvSpPr txBox="1"/>
          <p:nvPr/>
        </p:nvSpPr>
        <p:spPr>
          <a:xfrm>
            <a:off x="9175749" y="2873374"/>
            <a:ext cx="2603499" cy="2381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828"/>
              </a:lnSpc>
              <a:spcBef>
                <a:spcPts val="0"/>
              </a:spcBef>
              <a:spcAft>
                <a:spcPts val="0"/>
              </a:spcAft>
              <a:defRPr sz="1249" b="1" i="0" lang="zh-CN" dirty="0">
                <a:solidFill>
                  <a:srgbClr val="1B2B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49" b="1" i="0" lang="zh-CN" dirty="0">
                <a:solidFill>
                  <a:srgbClr val="1B2B3A"/>
                </a:solidFill>
                <a:latin typeface="Noto Sans CJK SC"/>
                <a:ea typeface="Noto Sans CJK SC"/>
                <a:cs typeface="Noto Sans CJK SC"/>
              </a:rPr>
              <a:t>繁琐细致的实验步骤</a:t>
            </a:r>
          </a:p>
        </p:txBody>
      </p:sp>
      <p:sp>
        <p:nvSpPr>
          <p:cNvPr id="29" name="s1" descr="Editable shape; source id s1"/>
          <p:cNvSpPr/>
          <p:nvPr/>
        </p:nvSpPr>
        <p:spPr>
          <a:xfrm>
            <a:off x="9175749" y="3190874"/>
            <a:ext cx="2603499" cy="349249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1906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s1_art" descr="cropped from the image-model asset sheet, cell &quot;precursors&quot; (Codex image_gen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23374" y="3296215"/>
            <a:ext cx="285749" cy="138569"/>
          </a:xfrm>
          <a:prstGeom prst="rect">
            <a:avLst/>
          </a:prstGeom>
          <a:effectLst/>
        </p:spPr>
      </p:pic>
      <p:sp>
        <p:nvSpPr>
          <p:cNvPr id="31" name="s1_t" descr="Editable text; source id s1_t"/>
          <p:cNvSpPr txBox="1"/>
          <p:nvPr/>
        </p:nvSpPr>
        <p:spPr>
          <a:xfrm>
            <a:off x="9556749" y="3190874"/>
            <a:ext cx="2158999" cy="3492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281"/>
              </a:lnSpc>
              <a:spcBef>
                <a:spcPts val="0"/>
              </a:spcBef>
              <a:spcAft>
                <a:spcPts val="0"/>
              </a:spcAft>
              <a:defRPr sz="874" b="0" i="0" lang="zh-CN" dirty="0">
                <a:solidFill>
                  <a:srgbClr val="1B2B3A"/>
                </a:solidFill>
                <a:latin typeface="DejaVu Sans"/>
                <a:ea typeface="DejaVu Sans"/>
                <a:cs typeface="DejaVu Sans"/>
              </a:defRPr>
            </a:pPr>
            <a:r>
              <a:rPr sz="874" b="0" i="0" lang="zh-CN" dirty="0">
                <a:solidFill>
                  <a:srgbClr val="1B2B3A"/>
                </a:solidFill>
                <a:latin typeface="DejaVu Sans"/>
                <a:ea typeface="DejaVu Sans"/>
                <a:cs typeface="DejaVu Sans"/>
              </a:rPr>
              <a:t>① </a:t>
            </a:r>
            <a:r>
              <a:rPr sz="874" b="0" i="0" lang="zh-CN" dirty="0">
                <a:solidFill>
                  <a:srgbClr val="1B2B3A"/>
                </a:solidFill>
                <a:latin typeface="Noto Sans CJK SC"/>
                <a:ea typeface="Noto Sans CJK SC"/>
                <a:cs typeface="Noto Sans CJK SC"/>
              </a:rPr>
              <a:t>称量后在玛瑙研钵中充分研磨混合</a:t>
            </a:r>
          </a:p>
        </p:txBody>
      </p:sp>
      <p:sp>
        <p:nvSpPr>
          <p:cNvPr id="32" name="s2" descr="Editable shape; source id s2"/>
          <p:cNvSpPr/>
          <p:nvPr/>
        </p:nvSpPr>
        <p:spPr>
          <a:xfrm>
            <a:off x="9175749" y="3603624"/>
            <a:ext cx="2603499" cy="349249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1906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s2_art" descr="cropped from the image-model asset sheet, cell &quot;fluxgrowth&quot; (Codex image_gen)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30518" y="3635374"/>
            <a:ext cx="271462" cy="285749"/>
          </a:xfrm>
          <a:prstGeom prst="rect">
            <a:avLst/>
          </a:prstGeom>
          <a:effectLst/>
        </p:spPr>
      </p:pic>
      <p:sp>
        <p:nvSpPr>
          <p:cNvPr id="34" name="s2_t" descr="Editable text; source id s2_t"/>
          <p:cNvSpPr txBox="1"/>
          <p:nvPr/>
        </p:nvSpPr>
        <p:spPr>
          <a:xfrm>
            <a:off x="9556749" y="3603624"/>
            <a:ext cx="2158999" cy="3492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281"/>
              </a:lnSpc>
              <a:spcBef>
                <a:spcPts val="0"/>
              </a:spcBef>
              <a:spcAft>
                <a:spcPts val="0"/>
              </a:spcAft>
              <a:defRPr sz="874" b="0" i="0" lang="zh-CN" dirty="0">
                <a:solidFill>
                  <a:srgbClr val="1B2B3A"/>
                </a:solidFill>
                <a:latin typeface="DejaVu Sans"/>
                <a:ea typeface="DejaVu Sans"/>
                <a:cs typeface="DejaVu Sans"/>
              </a:defRPr>
            </a:pPr>
            <a:r>
              <a:rPr sz="874" b="0" i="0" lang="zh-CN" dirty="0">
                <a:solidFill>
                  <a:srgbClr val="1B2B3A"/>
                </a:solidFill>
                <a:latin typeface="DejaVu Sans"/>
                <a:ea typeface="DejaVu Sans"/>
                <a:cs typeface="DejaVu Sans"/>
              </a:rPr>
              <a:t>② </a:t>
            </a:r>
            <a:r>
              <a:rPr sz="874" b="0" i="0" lang="zh-CN" dirty="0">
                <a:solidFill>
                  <a:srgbClr val="1B2B3A"/>
                </a:solidFill>
                <a:latin typeface="Noto Sans CJK SC"/>
                <a:ea typeface="Noto Sans CJK SC"/>
                <a:cs typeface="Noto Sans CJK SC"/>
              </a:rPr>
              <a:t>转移至刚玉坩埚</a:t>
            </a:r>
          </a:p>
        </p:txBody>
      </p:sp>
      <p:sp>
        <p:nvSpPr>
          <p:cNvPr id="35" name="s3" descr="Editable shape; source id s3"/>
          <p:cNvSpPr/>
          <p:nvPr/>
        </p:nvSpPr>
        <p:spPr>
          <a:xfrm>
            <a:off x="9175749" y="4016374"/>
            <a:ext cx="2603499" cy="349249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1906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s3_art" descr="cropped from the image-model asset sheet, cell &quot;furnace&quot; (Codex image_gen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23374" y="4093813"/>
            <a:ext cx="285749" cy="194371"/>
          </a:xfrm>
          <a:prstGeom prst="rect">
            <a:avLst/>
          </a:prstGeom>
          <a:effectLst/>
        </p:spPr>
      </p:pic>
      <p:sp>
        <p:nvSpPr>
          <p:cNvPr id="37" name="s3_t" descr="Editable text; source id s3_t"/>
          <p:cNvSpPr txBox="1"/>
          <p:nvPr/>
        </p:nvSpPr>
        <p:spPr>
          <a:xfrm>
            <a:off x="9556749" y="4016374"/>
            <a:ext cx="2158999" cy="3492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281"/>
              </a:lnSpc>
              <a:spcBef>
                <a:spcPts val="0"/>
              </a:spcBef>
              <a:spcAft>
                <a:spcPts val="0"/>
              </a:spcAft>
              <a:defRPr sz="874" b="0" i="0" lang="zh-CN" dirty="0">
                <a:solidFill>
                  <a:srgbClr val="1B2B3A"/>
                </a:solidFill>
                <a:latin typeface="DejaVu Sans"/>
                <a:ea typeface="DejaVu Sans"/>
                <a:cs typeface="DejaVu Sans"/>
              </a:defRPr>
            </a:pPr>
            <a:r>
              <a:rPr sz="874" b="0" i="0" lang="zh-CN" dirty="0">
                <a:solidFill>
                  <a:srgbClr val="1B2B3A"/>
                </a:solidFill>
                <a:latin typeface="DejaVu Sans"/>
                <a:ea typeface="DejaVu Sans"/>
                <a:cs typeface="DejaVu Sans"/>
              </a:rPr>
              <a:t>③ </a:t>
            </a:r>
            <a:r>
              <a:rPr sz="874" b="0" i="0" lang="zh-CN" dirty="0">
                <a:solidFill>
                  <a:srgbClr val="1B2B3A"/>
                </a:solidFill>
                <a:latin typeface="Noto Sans CJK SC"/>
                <a:ea typeface="Noto Sans CJK SC"/>
                <a:cs typeface="Noto Sans CJK SC"/>
              </a:rPr>
              <a:t>分段热处理：</a:t>
            </a:r>
            <a:r>
              <a:rPr sz="874" b="0" i="0" lang="zh-CN" dirty="0">
                <a:solidFill>
                  <a:srgbClr val="1B2B3A"/>
                </a:solidFill>
                <a:latin typeface="DejaVu Sans"/>
                <a:ea typeface="DejaVu Sans"/>
                <a:cs typeface="DejaVu Sans"/>
              </a:rPr>
              <a:t>350 / 1000 / 1300 °C</a:t>
            </a:r>
          </a:p>
        </p:txBody>
      </p:sp>
      <p:sp>
        <p:nvSpPr>
          <p:cNvPr id="38" name="q" descr="Editable shape; source id q"/>
          <p:cNvSpPr/>
          <p:nvPr/>
        </p:nvSpPr>
        <p:spPr>
          <a:xfrm>
            <a:off x="317499" y="4635499"/>
            <a:ext cx="11556999" cy="2143124"/>
          </a:xfrm>
          <a:prstGeom prst="roundRect">
            <a:avLst>
              <a:gd name="adj" fmla="val 5925"/>
            </a:avLst>
          </a:prstGeom>
          <a:solidFill>
            <a:srgbClr val="FFFFFF"/>
          </a:solidFill>
          <a:ln w="15874">
            <a:solidFill>
              <a:srgbClr val="0E28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q_bar" descr="Editable shape; source id q_bar"/>
          <p:cNvSpPr/>
          <p:nvPr/>
        </p:nvSpPr>
        <p:spPr>
          <a:xfrm>
            <a:off x="317499" y="4635499"/>
            <a:ext cx="79374" cy="2143124"/>
          </a:xfrm>
          <a:prstGeom prst="rect">
            <a:avLst/>
          </a:prstGeom>
          <a:solidFill>
            <a:srgbClr val="154A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q_art" descr="cropped from the image-model asset sheet, cell &quot;products&quot; (Codex image_gen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999" y="5168755"/>
            <a:ext cx="1190624" cy="822613"/>
          </a:xfrm>
          <a:prstGeom prst="rect">
            <a:avLst/>
          </a:prstGeom>
          <a:effectLst/>
        </p:spPr>
      </p:pic>
      <p:sp>
        <p:nvSpPr>
          <p:cNvPr id="41" name="q_pill" descr="Editable shape; source id q_pill"/>
          <p:cNvSpPr/>
          <p:nvPr/>
        </p:nvSpPr>
        <p:spPr>
          <a:xfrm>
            <a:off x="1873249" y="4762499"/>
            <a:ext cx="2730499" cy="269874"/>
          </a:xfrm>
          <a:prstGeom prst="roundRect">
            <a:avLst>
              <a:gd name="adj" fmla="val 50000"/>
            </a:avLst>
          </a:prstGeom>
          <a:solidFill>
            <a:srgbClr val="154A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q_pill_t" descr="Editable text; source id q_pill_t"/>
          <p:cNvSpPr txBox="1"/>
          <p:nvPr/>
        </p:nvSpPr>
        <p:spPr>
          <a:xfrm>
            <a:off x="1873249" y="4762499"/>
            <a:ext cx="2730499" cy="2698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46"/>
              </a:lnSpc>
              <a:spcBef>
                <a:spcPts val="0"/>
              </a:spcBef>
              <a:spcAft>
                <a:spcPts val="0"/>
              </a:spcAft>
              <a:defRPr sz="1062" b="1" i="0" lang="zh-CN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62" b="1" i="0" lang="zh-CN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Experimental Guidance · </a:t>
            </a:r>
            <a:r>
              <a:rPr sz="1062" b="1" i="0" lang="zh-CN" dirty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文献原文</a:t>
            </a:r>
          </a:p>
        </p:txBody>
      </p:sp>
      <p:sp>
        <p:nvSpPr>
          <p:cNvPr id="43" name="q_open" descr="Editable text; source id q_open"/>
          <p:cNvSpPr txBox="1"/>
          <p:nvPr/>
        </p:nvSpPr>
        <p:spPr>
          <a:xfrm>
            <a:off x="1809749" y="5048249"/>
            <a:ext cx="285749" cy="4762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3218"/>
              </a:lnSpc>
              <a:spcBef>
                <a:spcPts val="0"/>
              </a:spcBef>
              <a:spcAft>
                <a:spcPts val="0"/>
              </a:spcAft>
              <a:defRPr sz="2749" b="1" i="0" lang="zh-CN" dirty="0">
                <a:solidFill>
                  <a:srgbClr val="154A97"/>
                </a:solidFill>
                <a:latin typeface="DejaVu Sans"/>
                <a:ea typeface="DejaVu Sans"/>
                <a:cs typeface="DejaVu Sans"/>
              </a:defRPr>
            </a:pPr>
            <a:r>
              <a:rPr sz="2749" b="1" i="0" lang="zh-CN" dirty="0">
                <a:solidFill>
                  <a:srgbClr val="154A97"/>
                </a:solidFill>
                <a:latin typeface="DejaVu Sans"/>
                <a:ea typeface="DejaVu Sans"/>
                <a:cs typeface="DejaVu Sans"/>
              </a:rPr>
              <a:t>“</a:t>
            </a:r>
          </a:p>
        </p:txBody>
      </p:sp>
      <p:sp>
        <p:nvSpPr>
          <p:cNvPr id="44" name="quote" descr="Editable text; source id quote"/>
          <p:cNvSpPr txBox="1"/>
          <p:nvPr/>
        </p:nvSpPr>
        <p:spPr>
          <a:xfrm>
            <a:off x="2079624" y="5095874"/>
            <a:ext cx="6984999" cy="1317624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242"/>
              </a:lnSpc>
              <a:spcBef>
                <a:spcPts val="0"/>
              </a:spcBef>
              <a:spcAft>
                <a:spcPts val="0"/>
              </a:spcAft>
              <a:defRPr sz="857" b="0" i="0" lang="zh-CN" dirty="0">
                <a:solidFill>
                  <a:srgbClr val="1B2B3A"/>
                </a:solidFill>
                <a:latin typeface="DejaVu Sans"/>
                <a:ea typeface="DejaVu Sans"/>
                <a:cs typeface="DejaVu Sans"/>
              </a:defRPr>
            </a:pPr>
            <a:r>
              <a:rPr sz="857" b="0" i="0" lang="zh-CN" dirty="0">
                <a:solidFill>
                  <a:srgbClr val="1B2B3A"/>
                </a:solidFill>
                <a:latin typeface="DejaVu Sans"/>
                <a:ea typeface="DejaVu Sans"/>
                <a:cs typeface="DejaVu Sans"/>
              </a:rPr>
              <a:t>The phosphors of </a:t>
            </a:r>
            <a:r>
              <a:rPr sz="857" b="1" i="0" lang="zh-CN" dirty="0">
                <a:solidFill>
                  <a:srgbClr val="F59E0B"/>
                </a:solidFill>
                <a:latin typeface="DejaVu Sans"/>
                <a:ea typeface="DejaVu Sans"/>
                <a:cs typeface="DejaVu Sans"/>
              </a:rPr>
              <a:t>Sr4.75-5x-5yCa5xBa5y(PO4)2(SiO4):Eu0.252+ (0.01 ≤ x ≤ 1; 0.01 ≤ y ≤ 0.5)</a:t>
            </a:r>
            <a:r>
              <a:rPr sz="857" b="0" i="0" lang="zh-CN" dirty="0">
                <a:solidFill>
                  <a:srgbClr val="1B2B3A"/>
                </a:solidFill>
                <a:latin typeface="DejaVu Sans"/>
                <a:ea typeface="DejaVu Sans"/>
                <a:cs typeface="DejaVu Sans"/>
              </a:rPr>
              <a:t> were prepared: I) </a:t>
            </a:r>
          </a:p>
          <a:p>
            <a:pPr algn="l" fontAlgn="base">
              <a:lnSpc>
                <a:spcPts val="1242"/>
              </a:lnSpc>
              <a:spcBef>
                <a:spcPts val="0"/>
              </a:spcBef>
              <a:spcAft>
                <a:spcPts val="0"/>
              </a:spcAft>
              <a:defRPr sz="857" b="0" i="0" lang="zh-CN" dirty="0">
                <a:solidFill>
                  <a:srgbClr val="1B2B3A"/>
                </a:solidFill>
                <a:latin typeface="DejaVu Sans"/>
                <a:ea typeface="DejaVu Sans"/>
                <a:cs typeface="DejaVu Sans"/>
              </a:defRPr>
            </a:pPr>
            <a:r>
              <a:rPr sz="857" b="0" i="0" lang="zh-CN" dirty="0">
                <a:solidFill>
                  <a:srgbClr val="1B2B3A"/>
                </a:solidFill>
                <a:latin typeface="DejaVu Sans"/>
                <a:ea typeface="DejaVu Sans"/>
                <a:cs typeface="DejaVu Sans"/>
              </a:rPr>
              <a:t>Sr4.75-5xCa5x((PO4)(SiO4)0.5)2:Eu0.252+ (0.01 ≤ x ≤ 0.95); and II) Sr4.75-5yBa5y(PO4) 2(SiO4):Eu0.252+ (y = 0.01, 0.05, </a:t>
            </a:r>
          </a:p>
          <a:p>
            <a:pPr algn="l" fontAlgn="base">
              <a:lnSpc>
                <a:spcPts val="1242"/>
              </a:lnSpc>
              <a:spcBef>
                <a:spcPts val="0"/>
              </a:spcBef>
              <a:spcAft>
                <a:spcPts val="0"/>
              </a:spcAft>
              <a:defRPr sz="857" b="0" i="0" lang="zh-CN" dirty="0">
                <a:solidFill>
                  <a:srgbClr val="1B2B3A"/>
                </a:solidFill>
                <a:latin typeface="DejaVu Sans"/>
                <a:ea typeface="DejaVu Sans"/>
                <a:cs typeface="DejaVu Sans"/>
              </a:defRPr>
            </a:pPr>
            <a:r>
              <a:rPr sz="857" b="0" i="0" lang="zh-CN" dirty="0">
                <a:solidFill>
                  <a:srgbClr val="1B2B3A"/>
                </a:solidFill>
                <a:latin typeface="DejaVu Sans"/>
                <a:ea typeface="DejaVu Sans"/>
                <a:cs typeface="DejaVu Sans"/>
              </a:rPr>
              <a:t>0.1, 0.2, 0.5). The starting materials were </a:t>
            </a:r>
            <a:r>
              <a:rPr sz="857" b="1" i="0" lang="zh-CN" dirty="0">
                <a:solidFill>
                  <a:srgbClr val="E97132"/>
                </a:solidFill>
                <a:latin typeface="DejaVu Sans"/>
                <a:ea typeface="DejaVu Sans"/>
                <a:cs typeface="DejaVu Sans"/>
              </a:rPr>
              <a:t>CaCO3 (99.99%), SrCO3 (99.99%), BaCO3 (99.99%), NH4H2PO4 (99.99%), </a:t>
            </a:r>
          </a:p>
          <a:p>
            <a:pPr algn="l" fontAlgn="base">
              <a:lnSpc>
                <a:spcPts val="1242"/>
              </a:lnSpc>
              <a:spcBef>
                <a:spcPts val="0"/>
              </a:spcBef>
              <a:spcAft>
                <a:spcPts val="0"/>
              </a:spcAft>
              <a:defRPr sz="857" b="1" i="0" lang="zh-CN" dirty="0">
                <a:solidFill>
                  <a:srgbClr val="E97132"/>
                </a:solidFill>
                <a:latin typeface="DejaVu Sans"/>
                <a:ea typeface="DejaVu Sans"/>
                <a:cs typeface="DejaVu Sans"/>
              </a:defRPr>
            </a:pPr>
            <a:r>
              <a:rPr sz="857" b="1" i="0" lang="zh-CN" dirty="0">
                <a:solidFill>
                  <a:srgbClr val="E97132"/>
                </a:solidFill>
                <a:latin typeface="DejaVu Sans"/>
                <a:ea typeface="DejaVu Sans"/>
                <a:cs typeface="DejaVu Sans"/>
              </a:rPr>
              <a:t>SiO2 (99.99%), Eu2O3 (99.99%)</a:t>
            </a:r>
            <a:r>
              <a:rPr sz="857" b="0" i="0" lang="zh-CN" dirty="0">
                <a:solidFill>
                  <a:srgbClr val="1B2B3A"/>
                </a:solidFill>
                <a:latin typeface="DejaVu Sans"/>
                <a:ea typeface="DejaVu Sans"/>
                <a:cs typeface="DejaVu Sans"/>
              </a:rPr>
              <a:t>. The stoichiometric chemicals </a:t>
            </a:r>
            <a:r>
              <a:rPr sz="857" b="1" i="0" lang="zh-CN" dirty="0">
                <a:solidFill>
                  <a:srgbClr val="12946B"/>
                </a:solidFill>
                <a:latin typeface="DejaVu Sans"/>
                <a:ea typeface="DejaVu Sans"/>
                <a:cs typeface="DejaVu Sans"/>
              </a:rPr>
              <a:t>were weighed and thoroughly mixed in an agate </a:t>
            </a:r>
          </a:p>
          <a:p>
            <a:pPr algn="l" fontAlgn="base">
              <a:lnSpc>
                <a:spcPts val="1242"/>
              </a:lnSpc>
              <a:spcBef>
                <a:spcPts val="0"/>
              </a:spcBef>
              <a:spcAft>
                <a:spcPts val="0"/>
              </a:spcAft>
              <a:defRPr sz="857" b="1" i="0" lang="zh-CN" dirty="0">
                <a:solidFill>
                  <a:srgbClr val="12946B"/>
                </a:solidFill>
                <a:latin typeface="DejaVu Sans"/>
                <a:ea typeface="DejaVu Sans"/>
                <a:cs typeface="DejaVu Sans"/>
              </a:defRPr>
            </a:pPr>
            <a:r>
              <a:rPr sz="857" b="1" i="0" lang="zh-CN" dirty="0">
                <a:solidFill>
                  <a:srgbClr val="12946B"/>
                </a:solidFill>
                <a:latin typeface="DejaVu Sans"/>
                <a:ea typeface="DejaVu Sans"/>
                <a:cs typeface="DejaVu Sans"/>
              </a:rPr>
              <a:t>mortar, then transferred to a corundum crucible</a:t>
            </a:r>
            <a:r>
              <a:rPr sz="857" b="0" i="0" lang="zh-CN" dirty="0">
                <a:solidFill>
                  <a:srgbClr val="1B2B3A"/>
                </a:solidFill>
                <a:latin typeface="DejaVu Sans"/>
                <a:ea typeface="DejaVu Sans"/>
                <a:cs typeface="DejaVu Sans"/>
              </a:rPr>
              <a:t> and </a:t>
            </a:r>
            <a:r>
              <a:rPr sz="857" b="1" i="0" lang="zh-CN" dirty="0">
                <a:solidFill>
                  <a:srgbClr val="154A97"/>
                </a:solidFill>
                <a:latin typeface="DejaVu Sans"/>
                <a:ea typeface="DejaVu Sans"/>
                <a:cs typeface="DejaVu Sans"/>
              </a:rPr>
              <a:t>heated at 350 (in air), 1000 (in air) and 1300 °C (in reducing </a:t>
            </a:r>
          </a:p>
          <a:p>
            <a:pPr algn="l" fontAlgn="base">
              <a:lnSpc>
                <a:spcPts val="1242"/>
              </a:lnSpc>
              <a:spcBef>
                <a:spcPts val="0"/>
              </a:spcBef>
              <a:spcAft>
                <a:spcPts val="0"/>
              </a:spcAft>
              <a:defRPr sz="857" b="1" i="0" lang="zh-CN" dirty="0">
                <a:solidFill>
                  <a:srgbClr val="154A97"/>
                </a:solidFill>
                <a:latin typeface="DejaVu Sans"/>
                <a:ea typeface="DejaVu Sans"/>
                <a:cs typeface="DejaVu Sans"/>
              </a:defRPr>
            </a:pPr>
            <a:r>
              <a:rPr sz="857" b="1" i="0" lang="zh-CN" dirty="0">
                <a:solidFill>
                  <a:srgbClr val="154A97"/>
                </a:solidFill>
                <a:latin typeface="DejaVu Sans"/>
                <a:ea typeface="DejaVu Sans"/>
                <a:cs typeface="DejaVu Sans"/>
              </a:rPr>
              <a:t>(h2) atmosphere)</a:t>
            </a:r>
            <a:r>
              <a:rPr sz="857" b="0" i="0" lang="zh-CN" dirty="0">
                <a:solidFill>
                  <a:srgbClr val="1B2B3A"/>
                </a:solidFill>
                <a:latin typeface="DejaVu Sans"/>
                <a:ea typeface="DejaVu Sans"/>
                <a:cs typeface="DejaVu Sans"/>
              </a:rPr>
              <a:t> for 15 h, respectively. In the experiments no signals from Eu3+ were detected on the emission spectra, </a:t>
            </a:r>
          </a:p>
          <a:p>
            <a:pPr algn="l" fontAlgn="base">
              <a:lnSpc>
                <a:spcPts val="1242"/>
              </a:lnSpc>
              <a:spcBef>
                <a:spcPts val="0"/>
              </a:spcBef>
              <a:spcAft>
                <a:spcPts val="0"/>
              </a:spcAft>
              <a:defRPr sz="857" b="0" i="0" lang="zh-CN" dirty="0">
                <a:solidFill>
                  <a:srgbClr val="1B2B3A"/>
                </a:solidFill>
                <a:latin typeface="DejaVu Sans"/>
                <a:ea typeface="DejaVu Sans"/>
                <a:cs typeface="DejaVu Sans"/>
              </a:defRPr>
            </a:pPr>
            <a:r>
              <a:rPr sz="857" b="0" i="0" lang="zh-CN" dirty="0">
                <a:solidFill>
                  <a:srgbClr val="1B2B3A"/>
                </a:solidFill>
                <a:latin typeface="DejaVu Sans"/>
                <a:ea typeface="DejaVu Sans"/>
                <a:cs typeface="DejaVu Sans"/>
              </a:rPr>
              <a:t>indicating the Eu3+ ions were successfully reduced to Eu2+ ions in the present experimental conditions.</a:t>
            </a:r>
          </a:p>
        </p:txBody>
      </p:sp>
      <p:sp>
        <p:nvSpPr>
          <p:cNvPr id="45" name="q_close" descr="Editable text; source id q_close"/>
          <p:cNvSpPr txBox="1"/>
          <p:nvPr/>
        </p:nvSpPr>
        <p:spPr>
          <a:xfrm>
            <a:off x="8747124" y="5953124"/>
            <a:ext cx="285749" cy="4762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3218"/>
              </a:lnSpc>
              <a:spcBef>
                <a:spcPts val="0"/>
              </a:spcBef>
              <a:spcAft>
                <a:spcPts val="0"/>
              </a:spcAft>
              <a:defRPr sz="2749" b="1" i="0" lang="zh-CN" dirty="0">
                <a:solidFill>
                  <a:srgbClr val="154A97"/>
                </a:solidFill>
                <a:latin typeface="DejaVu Sans"/>
                <a:ea typeface="DejaVu Sans"/>
                <a:cs typeface="DejaVu Sans"/>
              </a:defRPr>
            </a:pPr>
            <a:r>
              <a:rPr sz="2749" b="1" i="0" lang="zh-CN" dirty="0">
                <a:solidFill>
                  <a:srgbClr val="154A97"/>
                </a:solidFill>
                <a:latin typeface="DejaVu Sans"/>
                <a:ea typeface="DejaVu Sans"/>
                <a:cs typeface="DejaVu Sans"/>
              </a:rPr>
              <a:t>”</a:t>
            </a:r>
          </a:p>
        </p:txBody>
      </p:sp>
      <p:sp>
        <p:nvSpPr>
          <p:cNvPr id="46" name="q_cap" descr="Editable text; source id q_cap"/>
          <p:cNvSpPr txBox="1"/>
          <p:nvPr/>
        </p:nvSpPr>
        <p:spPr>
          <a:xfrm>
            <a:off x="1873249" y="6476999"/>
            <a:ext cx="7143749" cy="253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640"/>
              </a:lnSpc>
              <a:spcBef>
                <a:spcPts val="0"/>
              </a:spcBef>
              <a:spcAft>
                <a:spcPts val="0"/>
              </a:spcAft>
              <a:defRPr sz="1124" b="1" i="0" lang="zh-CN" dirty="0">
                <a:solidFill>
                  <a:srgbClr val="0E284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4" b="1" i="0" lang="zh-CN" dirty="0">
                <a:solidFill>
                  <a:srgbClr val="0E2841"/>
                </a:solidFill>
                <a:latin typeface="Noto Sans CJK SC"/>
                <a:ea typeface="Noto Sans CJK SC"/>
                <a:cs typeface="Noto Sans CJK SC"/>
              </a:rPr>
              <a:t>简短且复杂的高密度知识信息</a:t>
            </a:r>
            <a:r>
              <a:rPr sz="1124" b="1" i="0" lang="zh-CN" dirty="0">
                <a:solidFill>
                  <a:srgbClr val="0E2841"/>
                </a:solidFill>
                <a:latin typeface="DejaVu Sans"/>
                <a:ea typeface="DejaVu Sans"/>
                <a:cs typeface="DejaVu Sans"/>
              </a:rPr>
              <a:t> → </a:t>
            </a:r>
            <a:r>
              <a:rPr sz="1124" b="1" i="0" lang="zh-CN" dirty="0">
                <a:solidFill>
                  <a:srgbClr val="0E2841"/>
                </a:solidFill>
                <a:latin typeface="Noto Sans CJK SC"/>
                <a:ea typeface="Noto Sans CJK SC"/>
                <a:cs typeface="Noto Sans CJK SC"/>
              </a:rPr>
              <a:t>由大模型抽取为结构化合成方案（组成</a:t>
            </a:r>
            <a:r>
              <a:rPr sz="1124" b="1" i="0" lang="zh-CN" dirty="0">
                <a:solidFill>
                  <a:srgbClr val="0E2841"/>
                </a:solidFill>
                <a:latin typeface="DejaVu Sans"/>
                <a:ea typeface="DejaVu Sans"/>
                <a:cs typeface="DejaVu Sans"/>
              </a:rPr>
              <a:t> · </a:t>
            </a:r>
            <a:r>
              <a:rPr sz="1124" b="1" i="0" lang="zh-CN" dirty="0">
                <a:solidFill>
                  <a:srgbClr val="0E2841"/>
                </a:solidFill>
                <a:latin typeface="Noto Sans CJK SC"/>
                <a:ea typeface="Noto Sans CJK SC"/>
                <a:cs typeface="Noto Sans CJK SC"/>
              </a:rPr>
              <a:t>原料</a:t>
            </a:r>
            <a:r>
              <a:rPr sz="1124" b="1" i="0" lang="zh-CN" dirty="0">
                <a:solidFill>
                  <a:srgbClr val="0E2841"/>
                </a:solidFill>
                <a:latin typeface="DejaVu Sans"/>
                <a:ea typeface="DejaVu Sans"/>
                <a:cs typeface="DejaVu Sans"/>
              </a:rPr>
              <a:t> · </a:t>
            </a:r>
            <a:r>
              <a:rPr sz="1124" b="1" i="0" lang="zh-CN" dirty="0">
                <a:solidFill>
                  <a:srgbClr val="0E2841"/>
                </a:solidFill>
                <a:latin typeface="Noto Sans CJK SC"/>
                <a:ea typeface="Noto Sans CJK SC"/>
                <a:cs typeface="Noto Sans CJK SC"/>
              </a:rPr>
              <a:t>操作</a:t>
            </a:r>
            <a:r>
              <a:rPr sz="1124" b="1" i="0" lang="zh-CN" dirty="0">
                <a:solidFill>
                  <a:srgbClr val="0E2841"/>
                </a:solidFill>
                <a:latin typeface="DejaVu Sans"/>
                <a:ea typeface="DejaVu Sans"/>
                <a:cs typeface="DejaVu Sans"/>
              </a:rPr>
              <a:t> · </a:t>
            </a:r>
            <a:r>
              <a:rPr sz="1124" b="1" i="0" lang="zh-CN" dirty="0">
                <a:solidFill>
                  <a:srgbClr val="0E2841"/>
                </a:solidFill>
                <a:latin typeface="Noto Sans CJK SC"/>
                <a:ea typeface="Noto Sans CJK SC"/>
                <a:cs typeface="Noto Sans CJK SC"/>
              </a:rPr>
              <a:t>条件）</a:t>
            </a:r>
          </a:p>
        </p:txBody>
      </p:sp>
      <p:sp>
        <p:nvSpPr>
          <p:cNvPr id="47" name="lg_t" descr="Editable text; source id lg_t"/>
          <p:cNvSpPr txBox="1"/>
          <p:nvPr/>
        </p:nvSpPr>
        <p:spPr>
          <a:xfrm>
            <a:off x="9207499" y="4778374"/>
            <a:ext cx="2539999" cy="2381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546"/>
              </a:lnSpc>
              <a:spcBef>
                <a:spcPts val="0"/>
              </a:spcBef>
              <a:spcAft>
                <a:spcPts val="0"/>
              </a:spcAft>
              <a:defRPr sz="1062" b="1" i="0" lang="zh-CN" dirty="0">
                <a:solidFill>
                  <a:srgbClr val="1B2B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62" b="1" i="0" lang="zh-CN" dirty="0">
                <a:solidFill>
                  <a:srgbClr val="1B2B3A"/>
                </a:solidFill>
                <a:latin typeface="Noto Sans CJK SC"/>
                <a:ea typeface="Noto Sans CJK SC"/>
                <a:cs typeface="Noto Sans CJK SC"/>
              </a:rPr>
              <a:t>一段话里的四类信息</a:t>
            </a:r>
          </a:p>
        </p:txBody>
      </p:sp>
      <p:sp>
        <p:nvSpPr>
          <p:cNvPr id="48" name="lg0" descr="Editable shape; source id lg0"/>
          <p:cNvSpPr/>
          <p:nvPr/>
        </p:nvSpPr>
        <p:spPr>
          <a:xfrm>
            <a:off x="9207499" y="5079999"/>
            <a:ext cx="2539999" cy="333374"/>
          </a:xfrm>
          <a:prstGeom prst="roundRect">
            <a:avLst>
              <a:gd name="adj" fmla="val 23809"/>
            </a:avLst>
          </a:prstGeom>
          <a:solidFill>
            <a:srgbClr val="FEF3D6"/>
          </a:solidFill>
          <a:ln w="11906">
            <a:solidFill>
              <a:srgbClr val="F8CE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lg0_art" descr="cropped from the image-model asset sheet, cell &quot;structure&quot; (Codex image_gen)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55124" y="5139632"/>
            <a:ext cx="285749" cy="214108"/>
          </a:xfrm>
          <a:prstGeom prst="rect">
            <a:avLst/>
          </a:prstGeom>
          <a:effectLst/>
        </p:spPr>
      </p:pic>
      <p:sp>
        <p:nvSpPr>
          <p:cNvPr id="50" name="lg0_t" descr="Editable text; source id lg0_t"/>
          <p:cNvSpPr txBox="1"/>
          <p:nvPr/>
        </p:nvSpPr>
        <p:spPr>
          <a:xfrm>
            <a:off x="9588499" y="5079999"/>
            <a:ext cx="2111374" cy="333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374"/>
              </a:lnSpc>
              <a:spcBef>
                <a:spcPts val="0"/>
              </a:spcBef>
              <a:spcAft>
                <a:spcPts val="0"/>
              </a:spcAft>
              <a:defRPr sz="937" b="1" i="0" lang="zh-CN" dirty="0">
                <a:solidFill>
                  <a:srgbClr val="A8690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37" b="1" i="0" lang="zh-CN" dirty="0">
                <a:solidFill>
                  <a:srgbClr val="A8690A"/>
                </a:solidFill>
                <a:latin typeface="Noto Sans CJK SC"/>
                <a:ea typeface="Noto Sans CJK SC"/>
                <a:cs typeface="Noto Sans CJK SC"/>
              </a:rPr>
              <a:t>组成与掺杂</a:t>
            </a:r>
          </a:p>
        </p:txBody>
      </p:sp>
      <p:sp>
        <p:nvSpPr>
          <p:cNvPr id="51" name="lg1" descr="Editable shape; source id lg1"/>
          <p:cNvSpPr/>
          <p:nvPr/>
        </p:nvSpPr>
        <p:spPr>
          <a:xfrm>
            <a:off x="9207499" y="5476874"/>
            <a:ext cx="2539999" cy="333374"/>
          </a:xfrm>
          <a:prstGeom prst="roundRect">
            <a:avLst>
              <a:gd name="adj" fmla="val 23809"/>
            </a:avLst>
          </a:prstGeom>
          <a:solidFill>
            <a:srgbClr val="FDEEE3"/>
          </a:solidFill>
          <a:ln w="11906">
            <a:solidFill>
              <a:srgbClr val="F3BE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lg1_art" descr="cropped from the image-model asset sheet, cell &quot;precursors&quot; (Codex image_gen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55124" y="5574277"/>
            <a:ext cx="285749" cy="138569"/>
          </a:xfrm>
          <a:prstGeom prst="rect">
            <a:avLst/>
          </a:prstGeom>
          <a:effectLst/>
        </p:spPr>
      </p:pic>
      <p:sp>
        <p:nvSpPr>
          <p:cNvPr id="53" name="lg1_t" descr="Editable text; source id lg1_t"/>
          <p:cNvSpPr txBox="1"/>
          <p:nvPr/>
        </p:nvSpPr>
        <p:spPr>
          <a:xfrm>
            <a:off x="9588499" y="5476874"/>
            <a:ext cx="2111374" cy="333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374"/>
              </a:lnSpc>
              <a:spcBef>
                <a:spcPts val="0"/>
              </a:spcBef>
              <a:spcAft>
                <a:spcPts val="0"/>
              </a:spcAft>
              <a:defRPr sz="937" b="1" i="0" lang="zh-CN" dirty="0">
                <a:solidFill>
                  <a:srgbClr val="B9531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37" b="1" i="0" lang="zh-CN" dirty="0">
                <a:solidFill>
                  <a:srgbClr val="B9531B"/>
                </a:solidFill>
                <a:latin typeface="Noto Sans CJK SC"/>
                <a:ea typeface="Noto Sans CJK SC"/>
                <a:cs typeface="Noto Sans CJK SC"/>
              </a:rPr>
              <a:t>起始原料</a:t>
            </a:r>
          </a:p>
        </p:txBody>
      </p:sp>
      <p:sp>
        <p:nvSpPr>
          <p:cNvPr id="54" name="lg2" descr="Editable shape; source id lg2"/>
          <p:cNvSpPr/>
          <p:nvPr/>
        </p:nvSpPr>
        <p:spPr>
          <a:xfrm>
            <a:off x="9207499" y="5873749"/>
            <a:ext cx="2539999" cy="333374"/>
          </a:xfrm>
          <a:prstGeom prst="roundRect">
            <a:avLst>
              <a:gd name="adj" fmla="val 23809"/>
            </a:avLst>
          </a:prstGeom>
          <a:solidFill>
            <a:srgbClr val="E4F5EE"/>
          </a:solidFill>
          <a:ln w="11906">
            <a:solidFill>
              <a:srgbClr val="9AD5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lg2_art" descr="cropped from the image-model asset sheet, cell &quot;precursors&quot; (Codex image_gen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55124" y="5971152"/>
            <a:ext cx="285749" cy="138569"/>
          </a:xfrm>
          <a:prstGeom prst="rect">
            <a:avLst/>
          </a:prstGeom>
          <a:effectLst/>
        </p:spPr>
      </p:pic>
      <p:sp>
        <p:nvSpPr>
          <p:cNvPr id="56" name="lg2_t" descr="Editable text; source id lg2_t"/>
          <p:cNvSpPr txBox="1"/>
          <p:nvPr/>
        </p:nvSpPr>
        <p:spPr>
          <a:xfrm>
            <a:off x="9588499" y="5873749"/>
            <a:ext cx="2111374" cy="333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374"/>
              </a:lnSpc>
              <a:spcBef>
                <a:spcPts val="0"/>
              </a:spcBef>
              <a:spcAft>
                <a:spcPts val="0"/>
              </a:spcAft>
              <a:defRPr sz="937" b="1" i="0" lang="zh-CN" dirty="0">
                <a:solidFill>
                  <a:srgbClr val="0B6B4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37" b="1" i="0" lang="zh-CN" dirty="0">
                <a:solidFill>
                  <a:srgbClr val="0B6B4F"/>
                </a:solidFill>
                <a:latin typeface="Noto Sans CJK SC"/>
                <a:ea typeface="Noto Sans CJK SC"/>
                <a:cs typeface="Noto Sans CJK SC"/>
              </a:rPr>
              <a:t>操作：称量</a:t>
            </a:r>
            <a:r>
              <a:rPr sz="937" b="1" i="0" lang="zh-CN" dirty="0">
                <a:solidFill>
                  <a:srgbClr val="0B6B4F"/>
                </a:solidFill>
                <a:latin typeface="DejaVu Sans"/>
                <a:ea typeface="DejaVu Sans"/>
                <a:cs typeface="DejaVu Sans"/>
              </a:rPr>
              <a:t> · </a:t>
            </a:r>
            <a:r>
              <a:rPr sz="937" b="1" i="0" lang="zh-CN" dirty="0">
                <a:solidFill>
                  <a:srgbClr val="0B6B4F"/>
                </a:solidFill>
                <a:latin typeface="Noto Sans CJK SC"/>
                <a:ea typeface="Noto Sans CJK SC"/>
                <a:cs typeface="Noto Sans CJK SC"/>
              </a:rPr>
              <a:t>研磨</a:t>
            </a:r>
            <a:r>
              <a:rPr sz="937" b="1" i="0" lang="zh-CN" dirty="0">
                <a:solidFill>
                  <a:srgbClr val="0B6B4F"/>
                </a:solidFill>
                <a:latin typeface="DejaVu Sans"/>
                <a:ea typeface="DejaVu Sans"/>
                <a:cs typeface="DejaVu Sans"/>
              </a:rPr>
              <a:t> · </a:t>
            </a:r>
            <a:r>
              <a:rPr sz="937" b="1" i="0" lang="zh-CN" dirty="0">
                <a:solidFill>
                  <a:srgbClr val="0B6B4F"/>
                </a:solidFill>
                <a:latin typeface="Noto Sans CJK SC"/>
                <a:ea typeface="Noto Sans CJK SC"/>
                <a:cs typeface="Noto Sans CJK SC"/>
              </a:rPr>
              <a:t>装料</a:t>
            </a:r>
          </a:p>
        </p:txBody>
      </p:sp>
      <p:sp>
        <p:nvSpPr>
          <p:cNvPr id="57" name="lg3" descr="Editable shape; source id lg3"/>
          <p:cNvSpPr/>
          <p:nvPr/>
        </p:nvSpPr>
        <p:spPr>
          <a:xfrm>
            <a:off x="9207499" y="6270624"/>
            <a:ext cx="2539999" cy="333374"/>
          </a:xfrm>
          <a:prstGeom prst="roundRect">
            <a:avLst>
              <a:gd name="adj" fmla="val 23809"/>
            </a:avLst>
          </a:prstGeom>
          <a:solidFill>
            <a:srgbClr val="E6ECF5"/>
          </a:solidFill>
          <a:ln w="11906">
            <a:solidFill>
              <a:srgbClr val="A9B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lg3_art" descr="cropped from the image-model asset sheet, cell &quot;furnace&quot; (Codex image_gen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55124" y="6340126"/>
            <a:ext cx="285749" cy="194371"/>
          </a:xfrm>
          <a:prstGeom prst="rect">
            <a:avLst/>
          </a:prstGeom>
          <a:effectLst/>
        </p:spPr>
      </p:pic>
      <p:sp>
        <p:nvSpPr>
          <p:cNvPr id="59" name="lg3_t" descr="Editable text; source id lg3_t"/>
          <p:cNvSpPr txBox="1"/>
          <p:nvPr/>
        </p:nvSpPr>
        <p:spPr>
          <a:xfrm>
            <a:off x="9588499" y="6270624"/>
            <a:ext cx="2111374" cy="333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374"/>
              </a:lnSpc>
              <a:spcBef>
                <a:spcPts val="0"/>
              </a:spcBef>
              <a:spcAft>
                <a:spcPts val="0"/>
              </a:spcAft>
              <a:defRPr sz="937" b="1" i="0" lang="zh-CN" dirty="0">
                <a:solidFill>
                  <a:srgbClr val="154A9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37" b="1" i="0" lang="zh-CN" dirty="0">
                <a:solidFill>
                  <a:srgbClr val="154A97"/>
                </a:solidFill>
                <a:latin typeface="Noto Sans CJK SC"/>
                <a:ea typeface="Noto Sans CJK SC"/>
                <a:cs typeface="Noto Sans CJK SC"/>
              </a:rPr>
              <a:t>热处理程序与气氛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Editable reconstruction</dc:title>
  <dc:subject>Reconstructed from source images; see validation and font manifest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