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多智能体并行闭环 2/2 · 交叉核验 → 问题路由与返修 → 程序化放行（round 3, deck theme；数字取自 BYZSO 正式案例账本） [deck style; slide 16:9; pt_per_px=0.625]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l_bar" descr="Editable shape; source id hl_bar"/>
          <p:cNvSpPr/>
          <p:nvPr/>
        </p:nvSpPr>
        <p:spPr>
          <a:xfrm>
            <a:off x="317499" y="936624"/>
            <a:ext cx="4063999" cy="365124"/>
          </a:xfrm>
          <a:prstGeom prst="roundRect">
            <a:avLst>
              <a:gd name="adj" fmla="val 26086"/>
            </a:avLst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l" descr="Editable text; source id hl"/>
          <p:cNvSpPr txBox="1"/>
          <p:nvPr/>
        </p:nvSpPr>
        <p:spPr>
          <a:xfrm>
            <a:off x="460374" y="936624"/>
            <a:ext cx="3778249" cy="365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交叉核验发现问题，定向返修逐项关闭</a:t>
            </a:r>
          </a:p>
        </p:txBody>
      </p:sp>
      <p:sp>
        <p:nvSpPr>
          <p:cNvPr id="4" name="hl_n" descr="Editable text; source id hl_n"/>
          <p:cNvSpPr txBox="1"/>
          <p:nvPr/>
        </p:nvSpPr>
        <p:spPr>
          <a:xfrm>
            <a:off x="4540249" y="936624"/>
            <a:ext cx="2111374" cy="365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E97132"/>
                </a:solidFill>
                <a:latin typeface="DejaVu Sans"/>
                <a:ea typeface="DejaVu Sans"/>
                <a:cs typeface="DejaVu Sans"/>
              </a:defRPr>
            </a:pPr>
            <a:r>
              <a:rPr sz="1562" b="1" i="0" lang="zh-CN" dirty="0">
                <a:solidFill>
                  <a:srgbClr val="E97132"/>
                </a:solidFill>
                <a:latin typeface="DejaVu Sans"/>
                <a:ea typeface="DejaVu Sans"/>
                <a:cs typeface="DejaVu Sans"/>
              </a:rPr>
              <a:t>11 </a:t>
            </a:r>
            <a:r>
              <a:rPr sz="1562" b="1" i="0" lang="zh-CN" dirty="0">
                <a:solidFill>
                  <a:srgbClr val="E97132"/>
                </a:solidFill>
                <a:latin typeface="Noto Sans CJK SC"/>
                <a:ea typeface="Noto Sans CJK SC"/>
                <a:cs typeface="Noto Sans CJK SC"/>
              </a:rPr>
              <a:t>项问题</a:t>
            </a:r>
            <a:r>
              <a:rPr sz="1562" b="1" i="0" lang="zh-CN" dirty="0">
                <a:solidFill>
                  <a:srgbClr val="E97132"/>
                </a:solidFill>
                <a:latin typeface="DejaVu Sans"/>
                <a:ea typeface="DejaVu Sans"/>
                <a:cs typeface="DejaVu Sans"/>
              </a:rPr>
              <a:t> · 2 </a:t>
            </a:r>
            <a:r>
              <a:rPr sz="1562" b="1" i="0" lang="zh-CN" dirty="0">
                <a:solidFill>
                  <a:srgbClr val="E97132"/>
                </a:solidFill>
                <a:latin typeface="Noto Sans CJK SC"/>
                <a:ea typeface="Noto Sans CJK SC"/>
                <a:cs typeface="Noto Sans CJK SC"/>
              </a:rPr>
              <a:t>轮闭环</a:t>
            </a:r>
          </a:p>
        </p:txBody>
      </p:sp>
      <p:sp>
        <p:nvSpPr>
          <p:cNvPr id="5" name="lg" descr="Editable shape; source id lg"/>
          <p:cNvSpPr/>
          <p:nvPr/>
        </p:nvSpPr>
        <p:spPr>
          <a:xfrm>
            <a:off x="6826249" y="936624"/>
            <a:ext cx="5048249" cy="365124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11906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g_s0" descr="Editable line; source id lg_s0"/>
          <p:cNvSpPr/>
          <p:nvPr/>
        </p:nvSpPr>
        <p:spPr>
          <a:xfrm>
            <a:off x="6937375" y="1071562"/>
            <a:ext cx="412750" cy="95250"/>
          </a:xfrm>
          <a:custGeom>
            <a:avLst/>
            <a:gdLst/>
            <a:ahLst/>
            <a:cxnLst/>
            <a:rect l="l" t="t" r="r" b="b"/>
            <a:pathLst>
              <a:path w="52000" h="12000">
                <a:moveTo>
                  <a:pt x="0" y="3500"/>
                </a:moveTo>
                <a:lnTo>
                  <a:pt x="38000" y="3500"/>
                </a:lnTo>
                <a:lnTo>
                  <a:pt x="38000" y="0"/>
                </a:lnTo>
                <a:lnTo>
                  <a:pt x="52000" y="6000"/>
                </a:lnTo>
                <a:lnTo>
                  <a:pt x="38000" y="12000"/>
                </a:lnTo>
                <a:lnTo>
                  <a:pt x="38000" y="8500"/>
                </a:lnTo>
                <a:lnTo>
                  <a:pt x="0" y="85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g_l0" descr="Editable text; source id lg_l0"/>
          <p:cNvSpPr txBox="1"/>
          <p:nvPr/>
        </p:nvSpPr>
        <p:spPr>
          <a:xfrm>
            <a:off x="7413624" y="1015999"/>
            <a:ext cx="4762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主流程</a:t>
            </a:r>
          </a:p>
        </p:txBody>
      </p:sp>
      <p:sp>
        <p:nvSpPr>
          <p:cNvPr id="8" name="lg_s1" descr="Editable line; source id lg_s1"/>
          <p:cNvSpPr/>
          <p:nvPr/>
        </p:nvSpPr>
        <p:spPr>
          <a:xfrm>
            <a:off x="8016875" y="1071562"/>
            <a:ext cx="412750" cy="95250"/>
          </a:xfrm>
          <a:custGeom>
            <a:avLst/>
            <a:gdLst/>
            <a:ahLst/>
            <a:cxnLst/>
            <a:rect l="l" t="t" r="r" b="b"/>
            <a:pathLst>
              <a:path w="52000" h="12000">
                <a:moveTo>
                  <a:pt x="0" y="3500"/>
                </a:moveTo>
                <a:lnTo>
                  <a:pt x="38000" y="3500"/>
                </a:lnTo>
                <a:lnTo>
                  <a:pt x="38000" y="0"/>
                </a:lnTo>
                <a:lnTo>
                  <a:pt x="52000" y="6000"/>
                </a:lnTo>
                <a:lnTo>
                  <a:pt x="38000" y="12000"/>
                </a:lnTo>
                <a:lnTo>
                  <a:pt x="38000" y="8500"/>
                </a:lnTo>
                <a:lnTo>
                  <a:pt x="0" y="8500"/>
                </a:lnTo>
                <a:close/>
              </a:path>
            </a:pathLst>
          </a:cu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g_l1" descr="Editable text; source id lg_l1"/>
          <p:cNvSpPr txBox="1"/>
          <p:nvPr/>
        </p:nvSpPr>
        <p:spPr>
          <a:xfrm>
            <a:off x="8493124" y="1015999"/>
            <a:ext cx="6032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定向返修</a:t>
            </a:r>
          </a:p>
        </p:txBody>
      </p:sp>
      <p:sp>
        <p:nvSpPr>
          <p:cNvPr id="10" name="lg_s2" descr="Editable line; source id lg_s2"/>
          <p:cNvSpPr/>
          <p:nvPr/>
        </p:nvSpPr>
        <p:spPr>
          <a:xfrm>
            <a:off x="9223375" y="1071562"/>
            <a:ext cx="412750" cy="95250"/>
          </a:xfrm>
          <a:custGeom>
            <a:avLst/>
            <a:gdLst/>
            <a:ahLst/>
            <a:cxnLst/>
            <a:rect l="l" t="t" r="r" b="b"/>
            <a:pathLst>
              <a:path w="52000" h="12000">
                <a:moveTo>
                  <a:pt x="0" y="3500"/>
                </a:moveTo>
                <a:lnTo>
                  <a:pt x="38000" y="3500"/>
                </a:lnTo>
                <a:lnTo>
                  <a:pt x="38000" y="0"/>
                </a:lnTo>
                <a:lnTo>
                  <a:pt x="52000" y="6000"/>
                </a:lnTo>
                <a:lnTo>
                  <a:pt x="38000" y="12000"/>
                </a:lnTo>
                <a:lnTo>
                  <a:pt x="38000" y="8500"/>
                </a:lnTo>
                <a:lnTo>
                  <a:pt x="0" y="850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g_l2" descr="Editable text; source id lg_l2"/>
          <p:cNvSpPr txBox="1"/>
          <p:nvPr/>
        </p:nvSpPr>
        <p:spPr>
          <a:xfrm>
            <a:off x="9699624" y="1015999"/>
            <a:ext cx="7302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程序化放行</a:t>
            </a:r>
          </a:p>
        </p:txBody>
      </p:sp>
      <p:cxnSp>
        <p:nvCxnSpPr>
          <p:cNvPr id="12" name="lg_s3" descr="Editable line; source id lg_s3"/>
          <p:cNvCxnSpPr/>
          <p:nvPr/>
        </p:nvCxnSpPr>
        <p:spPr>
          <a:xfrm>
            <a:off x="10556874" y="1119187"/>
            <a:ext cx="412750" cy="0"/>
          </a:xfrm>
          <a:prstGeom prst="line">
            <a:avLst/>
          </a:prstGeom>
          <a:ln w="23812">
            <a:solidFill>
              <a:srgbClr val="DC3C3C"/>
            </a:solidFill>
            <a:custDash>
              <a:ds d="333333" sp="233333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lg_l3" descr="Editable text; source id lg_l3"/>
          <p:cNvSpPr txBox="1"/>
          <p:nvPr/>
        </p:nvSpPr>
        <p:spPr>
          <a:xfrm>
            <a:off x="11033124" y="1015999"/>
            <a:ext cx="73024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转人工裁决</a:t>
            </a:r>
          </a:p>
        </p:txBody>
      </p:sp>
      <p:sp>
        <p:nvSpPr>
          <p:cNvPr id="14" name="p1" descr="Editable shape; source id p1"/>
          <p:cNvSpPr/>
          <p:nvPr/>
        </p:nvSpPr>
        <p:spPr>
          <a:xfrm>
            <a:off x="1873249" y="1444624"/>
            <a:ext cx="3540124" cy="3254374"/>
          </a:xfrm>
          <a:prstGeom prst="roundRect">
            <a:avLst>
              <a:gd name="adj" fmla="val 4878"/>
            </a:avLst>
          </a:prstGeom>
          <a:solidFill>
            <a:srgbClr val="E6ECF5"/>
          </a:solidFill>
          <a:ln w="15874">
            <a:solidFill>
              <a:srgbClr val="A9B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1_b" descr="Editable shape; source id p1_b"/>
          <p:cNvSpPr/>
          <p:nvPr/>
        </p:nvSpPr>
        <p:spPr>
          <a:xfrm>
            <a:off x="1936749" y="1508124"/>
            <a:ext cx="3413124" cy="317499"/>
          </a:xfrm>
          <a:prstGeom prst="roundRect">
            <a:avLst>
              <a:gd name="adj" fmla="val 35000"/>
            </a:avLst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1_l" descr="Editable text; source id p1_l"/>
          <p:cNvSpPr txBox="1"/>
          <p:nvPr/>
        </p:nvSpPr>
        <p:spPr>
          <a:xfrm>
            <a:off x="2063749" y="1508124"/>
            <a:ext cx="315912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62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</a:t>
            </a:r>
            <a:r>
              <a:rPr sz="1562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交叉核验</a:t>
            </a:r>
          </a:p>
        </p:txBody>
      </p:sp>
      <p:sp>
        <p:nvSpPr>
          <p:cNvPr id="17" name="p2" descr="Editable shape; source id p2"/>
          <p:cNvSpPr/>
          <p:nvPr/>
        </p:nvSpPr>
        <p:spPr>
          <a:xfrm>
            <a:off x="5603874" y="2555874"/>
            <a:ext cx="3111499" cy="2143124"/>
          </a:xfrm>
          <a:prstGeom prst="roundRect">
            <a:avLst>
              <a:gd name="adj" fmla="val 7407"/>
            </a:avLst>
          </a:prstGeom>
          <a:solidFill>
            <a:srgbClr val="E2F0F3"/>
          </a:solidFill>
          <a:ln w="15874">
            <a:solidFill>
              <a:srgbClr val="9CC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2_b" descr="Editable shape; source id p2_b"/>
          <p:cNvSpPr/>
          <p:nvPr/>
        </p:nvSpPr>
        <p:spPr>
          <a:xfrm>
            <a:off x="5667374" y="2619374"/>
            <a:ext cx="2984499" cy="317499"/>
          </a:xfrm>
          <a:prstGeom prst="roundRect">
            <a:avLst>
              <a:gd name="adj" fmla="val 35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2_l" descr="Editable text; source id p2_l"/>
          <p:cNvSpPr txBox="1"/>
          <p:nvPr/>
        </p:nvSpPr>
        <p:spPr>
          <a:xfrm>
            <a:off x="5794374" y="2619374"/>
            <a:ext cx="273049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62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</a:t>
            </a:r>
            <a:r>
              <a:rPr sz="1562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问题路由与返修</a:t>
            </a:r>
          </a:p>
        </p:txBody>
      </p:sp>
      <p:sp>
        <p:nvSpPr>
          <p:cNvPr id="20" name="p3" descr="Editable shape; source id p3"/>
          <p:cNvSpPr/>
          <p:nvPr/>
        </p:nvSpPr>
        <p:spPr>
          <a:xfrm>
            <a:off x="8858249" y="1444624"/>
            <a:ext cx="3016249" cy="1952624"/>
          </a:xfrm>
          <a:prstGeom prst="roundRect">
            <a:avLst>
              <a:gd name="adj" fmla="val 8130"/>
            </a:avLst>
          </a:prstGeom>
          <a:solidFill>
            <a:srgbClr val="E4F5EE"/>
          </a:solidFill>
          <a:ln w="15874">
            <a:solidFill>
              <a:srgbClr val="9AD5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3_b" descr="Editable shape; source id p3_b"/>
          <p:cNvSpPr/>
          <p:nvPr/>
        </p:nvSpPr>
        <p:spPr>
          <a:xfrm>
            <a:off x="8921749" y="1508124"/>
            <a:ext cx="2889249" cy="317499"/>
          </a:xfrm>
          <a:prstGeom prst="roundRect">
            <a:avLst>
              <a:gd name="adj" fmla="val 35000"/>
            </a:avLst>
          </a:prstGeom>
          <a:solidFill>
            <a:srgbClr val="129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3_l" descr="Editable text; source id p3_l"/>
          <p:cNvSpPr txBox="1"/>
          <p:nvPr/>
        </p:nvSpPr>
        <p:spPr>
          <a:xfrm>
            <a:off x="9048749" y="1508124"/>
            <a:ext cx="263524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62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</a:t>
            </a:r>
            <a:r>
              <a:rPr sz="1562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程序化放行</a:t>
            </a:r>
          </a:p>
        </p:txBody>
      </p:sp>
      <p:sp>
        <p:nvSpPr>
          <p:cNvPr id="23" name="prod_sh" descr="Editable shape; source id prod_sh"/>
          <p:cNvSpPr/>
          <p:nvPr/>
        </p:nvSpPr>
        <p:spPr>
          <a:xfrm>
            <a:off x="333374" y="2119312"/>
            <a:ext cx="1285874" cy="1873249"/>
          </a:xfrm>
          <a:prstGeom prst="roundRect">
            <a:avLst>
              <a:gd name="adj" fmla="val 8641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rod" descr="Editable shape; source id prod"/>
          <p:cNvSpPr/>
          <p:nvPr/>
        </p:nvSpPr>
        <p:spPr>
          <a:xfrm>
            <a:off x="317499" y="2079624"/>
            <a:ext cx="1285874" cy="1873249"/>
          </a:xfrm>
          <a:prstGeom prst="roundRect">
            <a:avLst>
              <a:gd name="adj" fmla="val 8641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rod_art" descr="cropped from the image-model asset sheet, cell &quot;products&quot; (Codex image_gen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" y="2266661"/>
            <a:ext cx="1158874" cy="800677"/>
          </a:xfrm>
          <a:prstGeom prst="rect">
            <a:avLst/>
          </a:prstGeom>
          <a:effectLst/>
        </p:spPr>
      </p:pic>
      <p:sp>
        <p:nvSpPr>
          <p:cNvPr id="26" name="prod_t" descr="Editable text; source id prod_t"/>
          <p:cNvSpPr txBox="1"/>
          <p:nvPr/>
        </p:nvSpPr>
        <p:spPr>
          <a:xfrm>
            <a:off x="365124" y="3143249"/>
            <a:ext cx="1190624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本轮产物</a:t>
            </a:r>
          </a:p>
        </p:txBody>
      </p:sp>
      <p:sp>
        <p:nvSpPr>
          <p:cNvPr id="27" name="prod_s0" descr="Editable text; source id prod_s0"/>
          <p:cNvSpPr txBox="1"/>
          <p:nvPr/>
        </p:nvSpPr>
        <p:spPr>
          <a:xfrm>
            <a:off x="365124" y="3413124"/>
            <a:ext cx="119062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综述稿</a:t>
            </a:r>
            <a:r>
              <a:rPr sz="999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图表</a:t>
            </a:r>
          </a:p>
        </p:txBody>
      </p:sp>
      <p:sp>
        <p:nvSpPr>
          <p:cNvPr id="28" name="prod_s1" descr="Editable text; source id prod_s1"/>
          <p:cNvSpPr txBox="1"/>
          <p:nvPr/>
        </p:nvSpPr>
        <p:spPr>
          <a:xfrm>
            <a:off x="365124" y="3619499"/>
            <a:ext cx="1190624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合成方案</a:t>
            </a:r>
            <a:r>
              <a:rPr sz="999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999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引用库</a:t>
            </a:r>
          </a:p>
        </p:txBody>
      </p:sp>
      <p:sp>
        <p:nvSpPr>
          <p:cNvPr id="29" name="f_in_0" descr="Editable line; source id f_in_0"/>
          <p:cNvSpPr/>
          <p:nvPr/>
        </p:nvSpPr>
        <p:spPr>
          <a:xfrm>
            <a:off x="1651000" y="2948781"/>
            <a:ext cx="198437" cy="134937"/>
          </a:xfrm>
          <a:custGeom>
            <a:avLst/>
            <a:gdLst/>
            <a:ahLst/>
            <a:cxnLst/>
            <a:rect l="l" t="t" r="r" b="b"/>
            <a:pathLst>
              <a:path w="25000" h="17000">
                <a:moveTo>
                  <a:pt x="0" y="6000"/>
                </a:moveTo>
                <a:lnTo>
                  <a:pt x="5000" y="6000"/>
                </a:lnTo>
                <a:lnTo>
                  <a:pt x="5000" y="0"/>
                </a:lnTo>
                <a:lnTo>
                  <a:pt x="25000" y="8500"/>
                </a:lnTo>
                <a:lnTo>
                  <a:pt x="5000" y="17000"/>
                </a:lnTo>
                <a:lnTo>
                  <a:pt x="50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1_sh" descr="Editable shape; source id c1_sh"/>
          <p:cNvSpPr/>
          <p:nvPr/>
        </p:nvSpPr>
        <p:spPr>
          <a:xfrm>
            <a:off x="2016124" y="1928812"/>
            <a:ext cx="1587499" cy="1317624"/>
          </a:xfrm>
          <a:prstGeom prst="roundRect">
            <a:avLst>
              <a:gd name="adj" fmla="val 8433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1" descr="Editable shape; source id c1"/>
          <p:cNvSpPr/>
          <p:nvPr/>
        </p:nvSpPr>
        <p:spPr>
          <a:xfrm>
            <a:off x="2000249" y="1889124"/>
            <a:ext cx="1587499" cy="1317624"/>
          </a:xfrm>
          <a:prstGeom prst="roundRect">
            <a:avLst>
              <a:gd name="adj" fmla="val 8433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1_t" descr="Editable text; source id c1_t"/>
          <p:cNvSpPr txBox="1"/>
          <p:nvPr/>
        </p:nvSpPr>
        <p:spPr>
          <a:xfrm>
            <a:off x="2063749" y="1952624"/>
            <a:ext cx="146049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执行者</a:t>
            </a:r>
            <a:r>
              <a:rPr sz="1312" b="1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 ⇄ </a:t>
            </a:r>
            <a:r>
              <a: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评审者</a:t>
            </a:r>
          </a:p>
        </p:txBody>
      </p:sp>
      <p:sp>
        <p:nvSpPr>
          <p:cNvPr id="33" name="c1_s" descr="Editable text; source id c1_s"/>
          <p:cNvSpPr txBox="1"/>
          <p:nvPr/>
        </p:nvSpPr>
        <p:spPr>
          <a:xfrm>
            <a:off x="2063749" y="2206624"/>
            <a:ext cx="146049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独立上下文</a:t>
            </a:r>
            <a:r>
              <a:rPr sz="1062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062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三视角</a:t>
            </a:r>
          </a:p>
        </p:txBody>
      </p:sp>
      <p:pic>
        <p:nvPicPr>
          <p:cNvPr id="34" name="c1_art" descr="cropped from the image-model asset sheet, cell &quot;duo_review&quot; (Codex image_gen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394" y="2444749"/>
            <a:ext cx="865211" cy="698499"/>
          </a:xfrm>
          <a:prstGeom prst="rect">
            <a:avLst/>
          </a:prstGeom>
          <a:effectLst/>
        </p:spPr>
      </p:pic>
      <p:sp>
        <p:nvSpPr>
          <p:cNvPr id="35" name="c2_sh" descr="Editable shape; source id c2_sh"/>
          <p:cNvSpPr/>
          <p:nvPr/>
        </p:nvSpPr>
        <p:spPr>
          <a:xfrm>
            <a:off x="3714749" y="1928812"/>
            <a:ext cx="1587499" cy="1317624"/>
          </a:xfrm>
          <a:prstGeom prst="roundRect">
            <a:avLst>
              <a:gd name="adj" fmla="val 8433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2" descr="Editable shape; source id c2"/>
          <p:cNvSpPr/>
          <p:nvPr/>
        </p:nvSpPr>
        <p:spPr>
          <a:xfrm>
            <a:off x="3698874" y="1889124"/>
            <a:ext cx="1587499" cy="1317624"/>
          </a:xfrm>
          <a:prstGeom prst="roundRect">
            <a:avLst>
              <a:gd name="adj" fmla="val 8433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2_t" descr="Editable text; source id c2_t"/>
          <p:cNvSpPr txBox="1"/>
          <p:nvPr/>
        </p:nvSpPr>
        <p:spPr>
          <a:xfrm>
            <a:off x="3762374" y="1952624"/>
            <a:ext cx="146049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提案者</a:t>
            </a:r>
            <a:r>
              <a:rPr sz="1312" b="1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 ⇄ </a:t>
            </a:r>
            <a:r>
              <a: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质询者</a:t>
            </a:r>
          </a:p>
        </p:txBody>
      </p:sp>
      <p:sp>
        <p:nvSpPr>
          <p:cNvPr id="38" name="c2_s" descr="Editable text; source id c2_s"/>
          <p:cNvSpPr txBox="1"/>
          <p:nvPr/>
        </p:nvSpPr>
        <p:spPr>
          <a:xfrm>
            <a:off x="3762374" y="2206624"/>
            <a:ext cx="146049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合成方案内部质询</a:t>
            </a:r>
          </a:p>
        </p:txBody>
      </p:sp>
      <p:pic>
        <p:nvPicPr>
          <p:cNvPr id="39" name="c2_art" descr="cropped from the image-model asset sheet, cell &quot;duo_attack&quot; (Codex image_gen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073" y="2444749"/>
            <a:ext cx="867103" cy="698499"/>
          </a:xfrm>
          <a:prstGeom prst="rect">
            <a:avLst/>
          </a:prstGeom>
          <a:effectLst/>
        </p:spPr>
      </p:pic>
      <p:sp>
        <p:nvSpPr>
          <p:cNvPr id="40" name="c3_sh" descr="Editable shape; source id c3_sh"/>
          <p:cNvSpPr/>
          <p:nvPr/>
        </p:nvSpPr>
        <p:spPr>
          <a:xfrm>
            <a:off x="2016124" y="3341687"/>
            <a:ext cx="1587499" cy="1317624"/>
          </a:xfrm>
          <a:prstGeom prst="roundRect">
            <a:avLst>
              <a:gd name="adj" fmla="val 8433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3" descr="Editable shape; source id c3"/>
          <p:cNvSpPr/>
          <p:nvPr/>
        </p:nvSpPr>
        <p:spPr>
          <a:xfrm>
            <a:off x="2000249" y="3301999"/>
            <a:ext cx="1587499" cy="1317624"/>
          </a:xfrm>
          <a:prstGeom prst="roundRect">
            <a:avLst>
              <a:gd name="adj" fmla="val 8433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3_t" descr="Editable text; source id c3_t"/>
          <p:cNvSpPr txBox="1"/>
          <p:nvPr/>
        </p:nvSpPr>
        <p:spPr>
          <a:xfrm>
            <a:off x="2063749" y="3365499"/>
            <a:ext cx="146049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候选图</a:t>
            </a:r>
            <a:r>
              <a:rPr sz="1312" b="1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 ⇄ </a:t>
            </a:r>
            <a:r>
              <a: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审计</a:t>
            </a:r>
          </a:p>
        </p:txBody>
      </p:sp>
      <p:sp>
        <p:nvSpPr>
          <p:cNvPr id="43" name="c3_s" descr="Editable text; source id c3_s"/>
          <p:cNvSpPr txBox="1"/>
          <p:nvPr/>
        </p:nvSpPr>
        <p:spPr>
          <a:xfrm>
            <a:off x="2063749" y="3619499"/>
            <a:ext cx="146049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图表两轮候选制</a:t>
            </a:r>
          </a:p>
        </p:txBody>
      </p:sp>
      <p:pic>
        <p:nvPicPr>
          <p:cNvPr id="44" name="c3_art" descr="cropped from the image-model asset sheet, cell &quot;duo_audit&quot; (Codex image_gen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1483" y="3857624"/>
            <a:ext cx="965032" cy="698499"/>
          </a:xfrm>
          <a:prstGeom prst="rect">
            <a:avLst/>
          </a:prstGeom>
          <a:effectLst/>
        </p:spPr>
      </p:pic>
      <p:sp>
        <p:nvSpPr>
          <p:cNvPr id="45" name="c4_sh" descr="Editable shape; source id c4_sh"/>
          <p:cNvSpPr/>
          <p:nvPr/>
        </p:nvSpPr>
        <p:spPr>
          <a:xfrm>
            <a:off x="3714749" y="3341687"/>
            <a:ext cx="1587499" cy="1317624"/>
          </a:xfrm>
          <a:prstGeom prst="roundRect">
            <a:avLst>
              <a:gd name="adj" fmla="val 8433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4" descr="Editable shape; source id c4"/>
          <p:cNvSpPr/>
          <p:nvPr/>
        </p:nvSpPr>
        <p:spPr>
          <a:xfrm>
            <a:off x="3698874" y="3301999"/>
            <a:ext cx="1587499" cy="1317624"/>
          </a:xfrm>
          <a:prstGeom prst="roundRect">
            <a:avLst>
              <a:gd name="adj" fmla="val 8433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4_t" descr="Editable text; source id c4_t"/>
          <p:cNvSpPr txBox="1"/>
          <p:nvPr/>
        </p:nvSpPr>
        <p:spPr>
          <a:xfrm>
            <a:off x="3762374" y="3365499"/>
            <a:ext cx="146049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稿件</a:t>
            </a:r>
            <a:r>
              <a:rPr sz="1312" b="1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 ⇄ </a:t>
            </a:r>
            <a:r>
              <a: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程序检查</a:t>
            </a:r>
          </a:p>
        </p:txBody>
      </p:sp>
      <p:sp>
        <p:nvSpPr>
          <p:cNvPr id="48" name="c4_s" descr="Editable text; source id c4_s"/>
          <p:cNvSpPr txBox="1"/>
          <p:nvPr/>
        </p:nvSpPr>
        <p:spPr>
          <a:xfrm>
            <a:off x="3762374" y="3619499"/>
            <a:ext cx="146049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defRPr>
            </a:pPr>
            <a:r>
              <a:rPr sz="1062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bib · tex · pdf </a:t>
            </a:r>
            <a:r>
              <a:rPr sz="1062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守卫</a:t>
            </a:r>
          </a:p>
        </p:txBody>
      </p:sp>
      <p:pic>
        <p:nvPicPr>
          <p:cNvPr id="49" name="c4_art" descr="cropped from the image-model asset sheet, cell &quot;guard&quot; (Codex image_gen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3977" y="3857624"/>
            <a:ext cx="777294" cy="698499"/>
          </a:xfrm>
          <a:prstGeom prst="rect">
            <a:avLst/>
          </a:prstGeom>
          <a:effectLst/>
        </p:spPr>
      </p:pic>
      <p:sp>
        <p:nvSpPr>
          <p:cNvPr id="50" name="route_sh" descr="Editable shape; source id route_sh"/>
          <p:cNvSpPr/>
          <p:nvPr/>
        </p:nvSpPr>
        <p:spPr>
          <a:xfrm>
            <a:off x="5730874" y="3024187"/>
            <a:ext cx="1317624" cy="1587499"/>
          </a:xfrm>
          <a:prstGeom prst="roundRect">
            <a:avLst>
              <a:gd name="adj" fmla="val 8433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te" descr="Editable shape; source id route"/>
          <p:cNvSpPr/>
          <p:nvPr/>
        </p:nvSpPr>
        <p:spPr>
          <a:xfrm>
            <a:off x="5714999" y="2984499"/>
            <a:ext cx="1317624" cy="1587499"/>
          </a:xfrm>
          <a:prstGeom prst="roundRect">
            <a:avLst>
              <a:gd name="adj" fmla="val 8433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route_art" descr="cropped from the image-model asset sheet, cell &quot;route&quot; (Codex image_gen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3555" y="3087687"/>
            <a:ext cx="800514" cy="730249"/>
          </a:xfrm>
          <a:prstGeom prst="rect">
            <a:avLst/>
          </a:prstGeom>
          <a:effectLst/>
        </p:spPr>
      </p:pic>
      <p:sp>
        <p:nvSpPr>
          <p:cNvPr id="53" name="route_t" descr="Editable text; source id route_t"/>
          <p:cNvSpPr txBox="1"/>
          <p:nvPr/>
        </p:nvSpPr>
        <p:spPr>
          <a:xfrm>
            <a:off x="5762624" y="3849687"/>
            <a:ext cx="122237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意见路由</a:t>
            </a:r>
          </a:p>
        </p:txBody>
      </p:sp>
      <p:sp>
        <p:nvSpPr>
          <p:cNvPr id="54" name="route_s0" descr="Editable text; source id route_s0"/>
          <p:cNvSpPr txBox="1"/>
          <p:nvPr/>
        </p:nvSpPr>
        <p:spPr>
          <a:xfrm>
            <a:off x="5762624" y="4103687"/>
            <a:ext cx="122237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defRPr>
            </a:pP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target → </a:t>
            </a: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责任阶段</a:t>
            </a:r>
          </a:p>
        </p:txBody>
      </p:sp>
      <p:sp>
        <p:nvSpPr>
          <p:cNvPr id="55" name="route_s1" descr="Editable text; source id route_s1"/>
          <p:cNvSpPr txBox="1"/>
          <p:nvPr/>
        </p:nvSpPr>
        <p:spPr>
          <a:xfrm>
            <a:off x="5762624" y="4286249"/>
            <a:ext cx="122237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只重跑受影响链路</a:t>
            </a:r>
          </a:p>
        </p:txBody>
      </p:sp>
      <p:sp>
        <p:nvSpPr>
          <p:cNvPr id="56" name="cas_sh" descr="Editable shape; source id cas_sh"/>
          <p:cNvSpPr/>
          <p:nvPr/>
        </p:nvSpPr>
        <p:spPr>
          <a:xfrm>
            <a:off x="7302499" y="3024187"/>
            <a:ext cx="1317624" cy="1587499"/>
          </a:xfrm>
          <a:prstGeom prst="roundRect">
            <a:avLst>
              <a:gd name="adj" fmla="val 8433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as" descr="Editable shape; source id cas"/>
          <p:cNvSpPr/>
          <p:nvPr/>
        </p:nvSpPr>
        <p:spPr>
          <a:xfrm>
            <a:off x="7286624" y="2984499"/>
            <a:ext cx="1317624" cy="1587499"/>
          </a:xfrm>
          <a:prstGeom prst="roundRect">
            <a:avLst>
              <a:gd name="adj" fmla="val 8433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cas_art" descr="cropped from the image-model asset sheet, cell &quot;cascade&quot; (Codex image_gen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4199" y="3087687"/>
            <a:ext cx="962475" cy="730249"/>
          </a:xfrm>
          <a:prstGeom prst="rect">
            <a:avLst/>
          </a:prstGeom>
          <a:effectLst/>
        </p:spPr>
      </p:pic>
      <p:sp>
        <p:nvSpPr>
          <p:cNvPr id="59" name="cas_t" descr="Editable text; source id cas_t"/>
          <p:cNvSpPr txBox="1"/>
          <p:nvPr/>
        </p:nvSpPr>
        <p:spPr>
          <a:xfrm>
            <a:off x="7334249" y="3849687"/>
            <a:ext cx="122237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级联失效</a:t>
            </a:r>
          </a:p>
        </p:txBody>
      </p:sp>
      <p:sp>
        <p:nvSpPr>
          <p:cNvPr id="60" name="cas_s0" descr="Editable text; source id cas_s0"/>
          <p:cNvSpPr txBox="1"/>
          <p:nvPr/>
        </p:nvSpPr>
        <p:spPr>
          <a:xfrm>
            <a:off x="7334249" y="4103687"/>
            <a:ext cx="122237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产物指纹变更</a:t>
            </a:r>
          </a:p>
        </p:txBody>
      </p:sp>
      <p:sp>
        <p:nvSpPr>
          <p:cNvPr id="61" name="cas_s1" descr="Editable text; source id cas_s1"/>
          <p:cNvSpPr txBox="1"/>
          <p:nvPr/>
        </p:nvSpPr>
        <p:spPr>
          <a:xfrm>
            <a:off x="7334249" y="4286249"/>
            <a:ext cx="122237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下游闸门</a:t>
            </a: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→ </a:t>
            </a: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待复核</a:t>
            </a:r>
          </a:p>
        </p:txBody>
      </p:sp>
      <p:sp>
        <p:nvSpPr>
          <p:cNvPr id="62" name="f_rc_0" descr="Editable line; source id f_rc_0"/>
          <p:cNvSpPr/>
          <p:nvPr/>
        </p:nvSpPr>
        <p:spPr>
          <a:xfrm>
            <a:off x="7080250" y="3721100"/>
            <a:ext cx="158750" cy="114300"/>
          </a:xfrm>
          <a:custGeom>
            <a:avLst/>
            <a:gdLst/>
            <a:ahLst/>
            <a:cxnLst/>
            <a:rect l="l" t="t" r="r" b="b"/>
            <a:pathLst>
              <a:path w="20000" h="14400">
                <a:moveTo>
                  <a:pt x="0" y="4700"/>
                </a:moveTo>
                <a:lnTo>
                  <a:pt x="3000" y="4700"/>
                </a:lnTo>
                <a:lnTo>
                  <a:pt x="3000" y="0"/>
                </a:lnTo>
                <a:lnTo>
                  <a:pt x="20000" y="7200"/>
                </a:lnTo>
                <a:lnTo>
                  <a:pt x="3000" y="14400"/>
                </a:lnTo>
                <a:lnTo>
                  <a:pt x="3000" y="9700"/>
                </a:lnTo>
                <a:lnTo>
                  <a:pt x="0" y="97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_p1r_0" descr="Editable line; source id f_p1r_0"/>
          <p:cNvSpPr/>
          <p:nvPr/>
        </p:nvSpPr>
        <p:spPr>
          <a:xfrm>
            <a:off x="5445125" y="3710781"/>
            <a:ext cx="214312" cy="134937"/>
          </a:xfrm>
          <a:custGeom>
            <a:avLst/>
            <a:gdLst/>
            <a:ahLst/>
            <a:cxnLst/>
            <a:rect l="l" t="t" r="r" b="b"/>
            <a:pathLst>
              <a:path w="27000" h="17000">
                <a:moveTo>
                  <a:pt x="0" y="6000"/>
                </a:moveTo>
                <a:lnTo>
                  <a:pt x="7000" y="6000"/>
                </a:lnTo>
                <a:lnTo>
                  <a:pt x="7000" y="0"/>
                </a:lnTo>
                <a:lnTo>
                  <a:pt x="27000" y="8500"/>
                </a:lnTo>
                <a:lnTo>
                  <a:pt x="7000" y="17000"/>
                </a:lnTo>
                <a:lnTo>
                  <a:pt x="70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cd_sh" descr="Editable shape; source id cd_sh"/>
          <p:cNvSpPr/>
          <p:nvPr/>
        </p:nvSpPr>
        <p:spPr>
          <a:xfrm>
            <a:off x="9001124" y="1912937"/>
            <a:ext cx="2762249" cy="571499"/>
          </a:xfrm>
          <a:prstGeom prst="roundRect">
            <a:avLst>
              <a:gd name="adj" fmla="val 19444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cd" descr="Editable shape; source id cd"/>
          <p:cNvSpPr/>
          <p:nvPr/>
        </p:nvSpPr>
        <p:spPr>
          <a:xfrm>
            <a:off x="8985249" y="1873249"/>
            <a:ext cx="2762249" cy="571499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cd_art" descr="cropped from the image-model asset sheet, cell &quot;checkdone&quot; (Codex image_gen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8749" y="1987209"/>
            <a:ext cx="428624" cy="343580"/>
          </a:xfrm>
          <a:prstGeom prst="rect">
            <a:avLst/>
          </a:prstGeom>
          <a:effectLst/>
        </p:spPr>
      </p:pic>
      <p:sp>
        <p:nvSpPr>
          <p:cNvPr id="67" name="cd_t" descr="Editable text; source id cd_t"/>
          <p:cNvSpPr txBox="1"/>
          <p:nvPr/>
        </p:nvSpPr>
        <p:spPr>
          <a:xfrm>
            <a:off x="9540874" y="1928812"/>
            <a:ext cx="2143124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defRPr>
            </a:pPr>
            <a:r>
              <a:rPr sz="1437" b="1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check-done</a:t>
            </a:r>
          </a:p>
        </p:txBody>
      </p:sp>
      <p:sp>
        <p:nvSpPr>
          <p:cNvPr id="68" name="cd_s0" descr="Editable text; source id cd_s0"/>
          <p:cNvSpPr txBox="1"/>
          <p:nvPr/>
        </p:nvSpPr>
        <p:spPr>
          <a:xfrm>
            <a:off x="9540874" y="2206624"/>
            <a:ext cx="214312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九道闸门全部入账</a:t>
            </a: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退出码</a:t>
            </a: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0</a:t>
            </a:r>
          </a:p>
        </p:txBody>
      </p:sp>
      <p:sp>
        <p:nvSpPr>
          <p:cNvPr id="69" name="out_sh" descr="Editable shape; source id out_sh"/>
          <p:cNvSpPr/>
          <p:nvPr/>
        </p:nvSpPr>
        <p:spPr>
          <a:xfrm>
            <a:off x="9001124" y="2754312"/>
            <a:ext cx="2762249" cy="571499"/>
          </a:xfrm>
          <a:prstGeom prst="roundRect">
            <a:avLst>
              <a:gd name="adj" fmla="val 19444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ut" descr="Editable shape; source id out"/>
          <p:cNvSpPr/>
          <p:nvPr/>
        </p:nvSpPr>
        <p:spPr>
          <a:xfrm>
            <a:off x="8985249" y="2714624"/>
            <a:ext cx="2762249" cy="571499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out_art" descr="cropped from the image-model asset sheet, cell &quot;plan&quot; (Codex image_gen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8749" y="2795669"/>
            <a:ext cx="428624" cy="409410"/>
          </a:xfrm>
          <a:prstGeom prst="rect">
            <a:avLst/>
          </a:prstGeom>
          <a:effectLst/>
        </p:spPr>
      </p:pic>
      <p:sp>
        <p:nvSpPr>
          <p:cNvPr id="72" name="out_t" descr="Editable text; source id out_t"/>
          <p:cNvSpPr txBox="1"/>
          <p:nvPr/>
        </p:nvSpPr>
        <p:spPr>
          <a:xfrm>
            <a:off x="9540874" y="2770187"/>
            <a:ext cx="2143124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</p:txBody>
      </p:sp>
      <p:sp>
        <p:nvSpPr>
          <p:cNvPr id="73" name="out_s0" descr="Editable text; source id out_s0"/>
          <p:cNvSpPr txBox="1"/>
          <p:nvPr/>
        </p:nvSpPr>
        <p:spPr>
          <a:xfrm>
            <a:off x="9540874" y="3047999"/>
            <a:ext cx="2143124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综述</a:t>
            </a: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PDF · </a:t>
            </a: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合成方案</a:t>
            </a: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→ OpenLab</a:t>
            </a:r>
          </a:p>
        </p:txBody>
      </p:sp>
      <p:sp>
        <p:nvSpPr>
          <p:cNvPr id="74" name="f_out_0" descr="Editable line; source id f_out_0"/>
          <p:cNvSpPr/>
          <p:nvPr/>
        </p:nvSpPr>
        <p:spPr>
          <a:xfrm>
            <a:off x="10309225" y="2500312"/>
            <a:ext cx="114300" cy="158750"/>
          </a:xfrm>
          <a:custGeom>
            <a:avLst/>
            <a:gdLst/>
            <a:ahLst/>
            <a:cxnLst/>
            <a:rect l="l" t="t" r="r" b="b"/>
            <a:pathLst>
              <a:path w="14400" h="20000">
                <a:moveTo>
                  <a:pt x="9700" y="0"/>
                </a:moveTo>
                <a:lnTo>
                  <a:pt x="9700" y="3000"/>
                </a:lnTo>
                <a:lnTo>
                  <a:pt x="14400" y="3000"/>
                </a:lnTo>
                <a:lnTo>
                  <a:pt x="7200" y="20000"/>
                </a:lnTo>
                <a:lnTo>
                  <a:pt x="0" y="3000"/>
                </a:lnTo>
                <a:lnTo>
                  <a:pt x="4700" y="3000"/>
                </a:lnTo>
                <a:lnTo>
                  <a:pt x="4700" y="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_keep_0" descr="Editable line; source id f_keep_0"/>
          <p:cNvSpPr/>
          <p:nvPr/>
        </p:nvSpPr>
        <p:spPr>
          <a:xfrm>
            <a:off x="5445125" y="2091531"/>
            <a:ext cx="3484562" cy="134937"/>
          </a:xfrm>
          <a:custGeom>
            <a:avLst/>
            <a:gdLst/>
            <a:ahLst/>
            <a:cxnLst/>
            <a:rect l="l" t="t" r="r" b="b"/>
            <a:pathLst>
              <a:path w="439000" h="17000">
                <a:moveTo>
                  <a:pt x="0" y="6000"/>
                </a:moveTo>
                <a:lnTo>
                  <a:pt x="419000" y="6000"/>
                </a:lnTo>
                <a:lnTo>
                  <a:pt x="419000" y="0"/>
                </a:lnTo>
                <a:lnTo>
                  <a:pt x="439000" y="8500"/>
                </a:lnTo>
                <a:lnTo>
                  <a:pt x="419000" y="17000"/>
                </a:lnTo>
                <a:lnTo>
                  <a:pt x="4190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_keep" descr="Editable shape; source id t_keep"/>
          <p:cNvSpPr/>
          <p:nvPr/>
        </p:nvSpPr>
        <p:spPr>
          <a:xfrm>
            <a:off x="6175374" y="2016124"/>
            <a:ext cx="1944687" cy="2857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129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_keep_t" descr="Editable text; source id t_keep_t"/>
          <p:cNvSpPr txBox="1"/>
          <p:nvPr/>
        </p:nvSpPr>
        <p:spPr>
          <a:xfrm>
            <a:off x="6254749" y="2055812"/>
            <a:ext cx="1785937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1" i="0" lang="zh-CN" dirty="0">
                <a:solidFill>
                  <a:srgbClr val="0B6B4F"/>
                </a:solidFill>
                <a:latin typeface="DejaVu Sans"/>
                <a:ea typeface="DejaVu Sans"/>
                <a:cs typeface="DejaVu Sans"/>
              </a:defRPr>
            </a:pPr>
            <a:r>
              <a:rPr sz="999" b="1" i="0" lang="zh-CN" dirty="0">
                <a:solidFill>
                  <a:srgbClr val="0B6B4F"/>
                </a:solidFill>
                <a:latin typeface="DejaVu Sans"/>
                <a:ea typeface="DejaVu Sans"/>
                <a:cs typeface="DejaVu Sans"/>
              </a:rPr>
              <a:t>blocker = 0 </a:t>
            </a:r>
            <a:r>
              <a:rPr sz="999" b="1" i="0" lang="zh-CN" dirty="0">
                <a:solidFill>
                  <a:srgbClr val="0B6B4F"/>
                </a:solidFill>
                <a:latin typeface="Noto Sans CJK SC"/>
                <a:ea typeface="Noto Sans CJK SC"/>
                <a:cs typeface="Noto Sans CJK SC"/>
              </a:rPr>
              <a:t>且</a:t>
            </a:r>
            <a:r>
              <a:rPr sz="999" b="1" i="0" lang="zh-CN" dirty="0">
                <a:solidFill>
                  <a:srgbClr val="0B6B4F"/>
                </a:solidFill>
                <a:latin typeface="DejaVu Sans"/>
                <a:ea typeface="DejaVu Sans"/>
                <a:cs typeface="DejaVu Sans"/>
              </a:rPr>
              <a:t> major = 0</a:t>
            </a:r>
          </a:p>
        </p:txBody>
      </p:sp>
      <p:sp>
        <p:nvSpPr>
          <p:cNvPr id="78" name="lc_sh" descr="Editable shape; source id lc_sh"/>
          <p:cNvSpPr/>
          <p:nvPr/>
        </p:nvSpPr>
        <p:spPr>
          <a:xfrm>
            <a:off x="8874124" y="3563937"/>
            <a:ext cx="3016249" cy="571499"/>
          </a:xfrm>
          <a:prstGeom prst="roundRect">
            <a:avLst>
              <a:gd name="adj" fmla="val 19444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lc" descr="Editable shape; source id lc"/>
          <p:cNvSpPr/>
          <p:nvPr/>
        </p:nvSpPr>
        <p:spPr>
          <a:xfrm>
            <a:off x="8858249" y="3524249"/>
            <a:ext cx="3016249" cy="571499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4287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lc_art" descr="cropped from the image-model asset sheet, cell &quot;padlock&quot; (Codex image_gen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21749" y="3589633"/>
            <a:ext cx="412749" cy="440733"/>
          </a:xfrm>
          <a:prstGeom prst="rect">
            <a:avLst/>
          </a:prstGeom>
          <a:effectLst/>
        </p:spPr>
      </p:pic>
      <p:sp>
        <p:nvSpPr>
          <p:cNvPr id="81" name="lc_t" descr="Editable text; source id lc_t"/>
          <p:cNvSpPr txBox="1"/>
          <p:nvPr/>
        </p:nvSpPr>
        <p:spPr>
          <a:xfrm>
            <a:off x="9397999" y="3579812"/>
            <a:ext cx="241299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defRPr>
            </a:pPr>
            <a:r>
              <a:rPr sz="1437" b="1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loopctl </a:t>
            </a:r>
            <a:r>
              <a:rPr sz="1437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拒绝入账</a:t>
            </a:r>
          </a:p>
        </p:txBody>
      </p:sp>
      <p:sp>
        <p:nvSpPr>
          <p:cNvPr id="82" name="lc_s0" descr="Editable text; source id lc_s0"/>
          <p:cNvSpPr txBox="1"/>
          <p:nvPr/>
        </p:nvSpPr>
        <p:spPr>
          <a:xfrm>
            <a:off x="9397999" y="3857624"/>
            <a:ext cx="2412999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跳过阶段</a:t>
            </a: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无回执的</a:t>
            </a: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PASS → </a:t>
            </a: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写入被拒</a:t>
            </a:r>
          </a:p>
        </p:txBody>
      </p:sp>
      <p:sp>
        <p:nvSpPr>
          <p:cNvPr id="83" name="human_sh" descr="Editable shape; source id human_sh"/>
          <p:cNvSpPr/>
          <p:nvPr/>
        </p:nvSpPr>
        <p:spPr>
          <a:xfrm>
            <a:off x="8874124" y="4230687"/>
            <a:ext cx="3016249" cy="571499"/>
          </a:xfrm>
          <a:prstGeom prst="roundRect">
            <a:avLst>
              <a:gd name="adj" fmla="val 19444"/>
            </a:avLst>
          </a:prstGeom>
          <a:solidFill>
            <a:srgbClr val="E3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human" descr="Editable shape; source id human"/>
          <p:cNvSpPr/>
          <p:nvPr/>
        </p:nvSpPr>
        <p:spPr>
          <a:xfrm>
            <a:off x="8858249" y="4190999"/>
            <a:ext cx="3016249" cy="571499"/>
          </a:xfrm>
          <a:prstGeom prst="roundRect">
            <a:avLst>
              <a:gd name="adj" fmla="val 19444"/>
            </a:avLst>
          </a:prstGeom>
          <a:solidFill>
            <a:srgbClr val="FCE9E9"/>
          </a:solidFill>
          <a:ln w="14287">
            <a:solidFill>
              <a:srgbClr val="F0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human_art" descr="cropped from the image-model asset sheet, cell &quot;human&quot; (Codex image_gen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62126" y="4254499"/>
            <a:ext cx="331996" cy="444499"/>
          </a:xfrm>
          <a:prstGeom prst="rect">
            <a:avLst/>
          </a:prstGeom>
          <a:effectLst/>
        </p:spPr>
      </p:pic>
      <p:sp>
        <p:nvSpPr>
          <p:cNvPr id="86" name="human_t" descr="Editable text; source id human_t"/>
          <p:cNvSpPr txBox="1"/>
          <p:nvPr/>
        </p:nvSpPr>
        <p:spPr>
          <a:xfrm>
            <a:off x="9397999" y="4246562"/>
            <a:ext cx="241299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转人工裁决</a:t>
            </a:r>
          </a:p>
        </p:txBody>
      </p:sp>
      <p:sp>
        <p:nvSpPr>
          <p:cNvPr id="87" name="human_s0" descr="Editable text; source id human_s0"/>
          <p:cNvSpPr txBox="1"/>
          <p:nvPr/>
        </p:nvSpPr>
        <p:spPr>
          <a:xfrm>
            <a:off x="9397999" y="4524374"/>
            <a:ext cx="2412999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同一问题三轮未收敛</a:t>
            </a:r>
            <a:r>
              <a:rPr sz="937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937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轮次用尽</a:t>
            </a:r>
          </a:p>
        </p:txBody>
      </p:sp>
      <p:cxnSp>
        <p:nvCxnSpPr>
          <p:cNvPr id="88" name="f_esc_0" descr="Editable line; source id f_esc_0"/>
          <p:cNvCxnSpPr/>
          <p:nvPr/>
        </p:nvCxnSpPr>
        <p:spPr>
          <a:xfrm>
            <a:off x="8397874" y="4619624"/>
            <a:ext cx="0" cy="428625"/>
          </a:xfrm>
          <a:prstGeom prst="line">
            <a:avLst/>
          </a:prstGeom>
          <a:ln w="23812">
            <a:solidFill>
              <a:srgbClr val="DC3C3C"/>
            </a:solidFill>
            <a:custDash>
              <a:ds d="333333" sp="2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f_esc_1" descr="Editable line; source id f_esc_1"/>
          <p:cNvCxnSpPr/>
          <p:nvPr/>
        </p:nvCxnSpPr>
        <p:spPr>
          <a:xfrm>
            <a:off x="8397874" y="5048249"/>
            <a:ext cx="1968500" cy="0"/>
          </a:xfrm>
          <a:prstGeom prst="line">
            <a:avLst/>
          </a:prstGeom>
          <a:ln w="23812">
            <a:solidFill>
              <a:srgbClr val="DC3C3C"/>
            </a:solidFill>
            <a:custDash>
              <a:ds d="333333" sp="2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f_esc_2" descr="Editable line; source id f_esc_2"/>
          <p:cNvCxnSpPr/>
          <p:nvPr/>
        </p:nvCxnSpPr>
        <p:spPr>
          <a:xfrm flipV="1">
            <a:off x="10366374" y="4825999"/>
            <a:ext cx="0" cy="222250"/>
          </a:xfrm>
          <a:prstGeom prst="line">
            <a:avLst/>
          </a:prstGeom>
          <a:ln w="23812">
            <a:solidFill>
              <a:srgbClr val="DC3C3C"/>
            </a:solidFill>
            <a:custDash>
              <a:ds d="333333" sp="233333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_esc" descr="Editable shape; source id t_esc"/>
          <p:cNvSpPr/>
          <p:nvPr/>
        </p:nvSpPr>
        <p:spPr>
          <a:xfrm>
            <a:off x="9143999" y="4921249"/>
            <a:ext cx="603249" cy="2619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D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_esc_t" descr="Editable text; source id t_esc_t"/>
          <p:cNvSpPr txBox="1"/>
          <p:nvPr/>
        </p:nvSpPr>
        <p:spPr>
          <a:xfrm>
            <a:off x="9223374" y="4952999"/>
            <a:ext cx="444499" cy="182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874" b="1" i="0" lang="zh-CN" dirty="0">
                <a:solidFill>
                  <a:srgbClr val="97151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74" b="1" i="0" lang="zh-CN" dirty="0">
                <a:solidFill>
                  <a:srgbClr val="971515"/>
                </a:solidFill>
                <a:latin typeface="Noto Sans CJK SC"/>
                <a:ea typeface="Noto Sans CJK SC"/>
                <a:cs typeface="Noto Sans CJK SC"/>
              </a:rPr>
              <a:t>未收敛</a:t>
            </a:r>
          </a:p>
        </p:txBody>
      </p:sp>
      <p:cxnSp>
        <p:nvCxnSpPr>
          <p:cNvPr id="93" name="ret_0" descr="Editable line; source id ret_0"/>
          <p:cNvCxnSpPr/>
          <p:nvPr/>
        </p:nvCxnSpPr>
        <p:spPr>
          <a:xfrm flipH="1">
            <a:off x="7746999" y="4619624"/>
            <a:ext cx="39688" cy="119063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ret_1" descr="Editable line; source id ret_1"/>
          <p:cNvCxnSpPr/>
          <p:nvPr/>
        </p:nvCxnSpPr>
        <p:spPr>
          <a:xfrm flipH="1">
            <a:off x="7627937" y="4738687"/>
            <a:ext cx="119062" cy="111125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ret_2" descr="Editable line; source id ret_2"/>
          <p:cNvCxnSpPr/>
          <p:nvPr/>
        </p:nvCxnSpPr>
        <p:spPr>
          <a:xfrm flipH="1">
            <a:off x="7437437" y="4849812"/>
            <a:ext cx="190500" cy="95250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ret_3" descr="Editable line; source id ret_3"/>
          <p:cNvCxnSpPr/>
          <p:nvPr/>
        </p:nvCxnSpPr>
        <p:spPr>
          <a:xfrm flipH="1">
            <a:off x="7191374" y="4945062"/>
            <a:ext cx="246063" cy="79375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ret_4" descr="Editable line; source id ret_4"/>
          <p:cNvCxnSpPr/>
          <p:nvPr/>
        </p:nvCxnSpPr>
        <p:spPr>
          <a:xfrm flipH="1">
            <a:off x="6889749" y="5024437"/>
            <a:ext cx="301625" cy="71437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ret_5" descr="Editable line; source id ret_5"/>
          <p:cNvCxnSpPr/>
          <p:nvPr/>
        </p:nvCxnSpPr>
        <p:spPr>
          <a:xfrm flipH="1">
            <a:off x="6540499" y="5095874"/>
            <a:ext cx="349250" cy="55563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ret_6" descr="Editable line; source id ret_6"/>
          <p:cNvCxnSpPr/>
          <p:nvPr/>
        </p:nvCxnSpPr>
        <p:spPr>
          <a:xfrm flipH="1">
            <a:off x="6151562" y="5151437"/>
            <a:ext cx="388937" cy="39687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ret_7" descr="Editable line; source id ret_7"/>
          <p:cNvCxnSpPr/>
          <p:nvPr/>
        </p:nvCxnSpPr>
        <p:spPr>
          <a:xfrm flipH="1">
            <a:off x="5738812" y="5191124"/>
            <a:ext cx="412750" cy="23813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ret_8" descr="Editable line; source id ret_8"/>
          <p:cNvCxnSpPr/>
          <p:nvPr/>
        </p:nvCxnSpPr>
        <p:spPr>
          <a:xfrm flipH="1">
            <a:off x="5294312" y="5214937"/>
            <a:ext cx="444500" cy="15875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ret_9" descr="Editable line; source id ret_9"/>
          <p:cNvCxnSpPr/>
          <p:nvPr/>
        </p:nvCxnSpPr>
        <p:spPr>
          <a:xfrm flipH="1">
            <a:off x="4833937" y="5230812"/>
            <a:ext cx="460375" cy="0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ret_10" descr="Editable line; source id ret_10"/>
          <p:cNvCxnSpPr/>
          <p:nvPr/>
        </p:nvCxnSpPr>
        <p:spPr>
          <a:xfrm flipH="1" flipV="1">
            <a:off x="4373562" y="5206999"/>
            <a:ext cx="460375" cy="23813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ret_11" descr="Editable line; source id ret_11"/>
          <p:cNvCxnSpPr/>
          <p:nvPr/>
        </p:nvCxnSpPr>
        <p:spPr>
          <a:xfrm flipH="1" flipV="1">
            <a:off x="3913187" y="5183187"/>
            <a:ext cx="460375" cy="23812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ret_12" descr="Editable line; source id ret_12"/>
          <p:cNvCxnSpPr/>
          <p:nvPr/>
        </p:nvCxnSpPr>
        <p:spPr>
          <a:xfrm flipH="1" flipV="1">
            <a:off x="3452812" y="5135562"/>
            <a:ext cx="460375" cy="47625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ret_13" descr="Editable line; source id ret_13"/>
          <p:cNvCxnSpPr/>
          <p:nvPr/>
        </p:nvCxnSpPr>
        <p:spPr>
          <a:xfrm flipH="1" flipV="1">
            <a:off x="3008312" y="5072062"/>
            <a:ext cx="444500" cy="63500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ret_14" descr="Editable line; source id ret_14"/>
          <p:cNvCxnSpPr/>
          <p:nvPr/>
        </p:nvCxnSpPr>
        <p:spPr>
          <a:xfrm flipH="1" flipV="1">
            <a:off x="2595562" y="4992687"/>
            <a:ext cx="412750" cy="79375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ret_15" descr="Editable line; source id ret_15"/>
          <p:cNvCxnSpPr/>
          <p:nvPr/>
        </p:nvCxnSpPr>
        <p:spPr>
          <a:xfrm flipH="1" flipV="1">
            <a:off x="2206624" y="4905374"/>
            <a:ext cx="388938" cy="87313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ret_16" descr="Editable line; source id ret_16"/>
          <p:cNvCxnSpPr/>
          <p:nvPr/>
        </p:nvCxnSpPr>
        <p:spPr>
          <a:xfrm flipH="1" flipV="1">
            <a:off x="1857374" y="4794249"/>
            <a:ext cx="349250" cy="111125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ret_17" descr="Editable line; source id ret_17"/>
          <p:cNvCxnSpPr/>
          <p:nvPr/>
        </p:nvCxnSpPr>
        <p:spPr>
          <a:xfrm flipH="1" flipV="1">
            <a:off x="1555749" y="4675187"/>
            <a:ext cx="301625" cy="119062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ret_18" descr="Editable line; source id ret_18"/>
          <p:cNvCxnSpPr/>
          <p:nvPr/>
        </p:nvCxnSpPr>
        <p:spPr>
          <a:xfrm flipH="1" flipV="1">
            <a:off x="1309687" y="4532312"/>
            <a:ext cx="246062" cy="142875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ret_19" descr="Editable line; source id ret_19"/>
          <p:cNvCxnSpPr/>
          <p:nvPr/>
        </p:nvCxnSpPr>
        <p:spPr>
          <a:xfrm flipH="1" flipV="1">
            <a:off x="1119187" y="4373562"/>
            <a:ext cx="190500" cy="158750"/>
          </a:xfrm>
          <a:prstGeom prst="line">
            <a:avLst/>
          </a:prstGeom>
          <a:ln w="47624">
            <a:solidFill>
              <a:srgbClr val="E971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t_20" descr="Editable line; source id ret_20"/>
          <p:cNvSpPr/>
          <p:nvPr/>
        </p:nvSpPr>
        <p:spPr>
          <a:xfrm>
            <a:off x="960437" y="4016375"/>
            <a:ext cx="180507" cy="366855"/>
          </a:xfrm>
          <a:custGeom>
            <a:avLst/>
            <a:gdLst/>
            <a:ahLst/>
            <a:cxnLst/>
            <a:rect l="l" t="t" r="r" b="b"/>
            <a:pathLst>
              <a:path w="22741" h="46218">
                <a:moveTo>
                  <a:pt x="17259" y="46218"/>
                </a:moveTo>
                <a:lnTo>
                  <a:pt x="7006" y="23150"/>
                </a:lnTo>
                <a:lnTo>
                  <a:pt x="609" y="25993"/>
                </a:lnTo>
                <a:lnTo>
                  <a:pt x="0" y="0"/>
                </a:lnTo>
                <a:lnTo>
                  <a:pt x="18885" y="17870"/>
                </a:lnTo>
                <a:lnTo>
                  <a:pt x="12489" y="20713"/>
                </a:lnTo>
                <a:lnTo>
                  <a:pt x="22741" y="43782"/>
                </a:lnTo>
                <a:close/>
              </a:path>
            </a:pathLst>
          </a:cu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_ret" descr="Editable shape; source id t_ret"/>
          <p:cNvSpPr/>
          <p:nvPr/>
        </p:nvSpPr>
        <p:spPr>
          <a:xfrm>
            <a:off x="3436937" y="5111749"/>
            <a:ext cx="2016124" cy="29368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_ret_t" descr="Editable text; source id t_ret_t"/>
          <p:cNvSpPr txBox="1"/>
          <p:nvPr/>
        </p:nvSpPr>
        <p:spPr>
          <a:xfrm>
            <a:off x="3516312" y="5143499"/>
            <a:ext cx="1857374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B9531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1" i="0" lang="zh-CN" dirty="0">
                <a:solidFill>
                  <a:srgbClr val="B9531B"/>
                </a:solidFill>
                <a:latin typeface="Noto Sans CJK SC"/>
                <a:ea typeface="Noto Sans CJK SC"/>
                <a:cs typeface="Noto Sans CJK SC"/>
              </a:rPr>
              <a:t>仅重跑责任阶段</a:t>
            </a:r>
            <a:r>
              <a:rPr sz="1062" b="1" i="0" lang="zh-CN" dirty="0">
                <a:solidFill>
                  <a:srgbClr val="B9531B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062" b="1" i="0" lang="zh-CN" dirty="0">
                <a:solidFill>
                  <a:srgbClr val="B9531B"/>
                </a:solidFill>
                <a:latin typeface="Noto Sans CJK SC"/>
                <a:ea typeface="Noto Sans CJK SC"/>
                <a:cs typeface="Noto Sans CJK SC"/>
              </a:rPr>
              <a:t>至多</a:t>
            </a:r>
            <a:r>
              <a:rPr sz="1062" b="1" i="0" lang="zh-CN" dirty="0">
                <a:solidFill>
                  <a:srgbClr val="B9531B"/>
                </a:solidFill>
                <a:latin typeface="DejaVu Sans"/>
                <a:ea typeface="DejaVu Sans"/>
                <a:cs typeface="DejaVu Sans"/>
              </a:rPr>
              <a:t> 5 </a:t>
            </a:r>
            <a:r>
              <a:rPr sz="1062" b="1" i="0" lang="zh-CN" dirty="0">
                <a:solidFill>
                  <a:srgbClr val="B9531B"/>
                </a:solidFill>
                <a:latin typeface="Noto Sans CJK SC"/>
                <a:ea typeface="Noto Sans CJK SC"/>
                <a:cs typeface="Noto Sans CJK SC"/>
              </a:rPr>
              <a:t>轮</a:t>
            </a:r>
          </a:p>
        </p:txBody>
      </p:sp>
      <p:sp>
        <p:nvSpPr>
          <p:cNvPr id="116" name="ex" descr="Editable shape; source id ex"/>
          <p:cNvSpPr/>
          <p:nvPr/>
        </p:nvSpPr>
        <p:spPr>
          <a:xfrm>
            <a:off x="317499" y="5587999"/>
            <a:ext cx="3492499" cy="1174749"/>
          </a:xfrm>
          <a:prstGeom prst="roundRect">
            <a:avLst>
              <a:gd name="adj" fmla="val 6756"/>
            </a:avLst>
          </a:prstGeom>
          <a:solidFill>
            <a:srgbClr val="FFFFFF"/>
          </a:solidFill>
          <a:ln w="15874">
            <a:solidFill>
              <a:srgbClr val="D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ex_b" descr="Editable shape; source id ex_b"/>
          <p:cNvSpPr/>
          <p:nvPr/>
        </p:nvSpPr>
        <p:spPr>
          <a:xfrm>
            <a:off x="412749" y="5667374"/>
            <a:ext cx="2111374" cy="238124"/>
          </a:xfrm>
          <a:prstGeom prst="roundRect">
            <a:avLst>
              <a:gd name="adj" fmla="val 50000"/>
            </a:avLst>
          </a:prstGeom>
          <a:solidFill>
            <a:srgbClr val="D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ex_h" descr="Editable text; source id ex_h"/>
          <p:cNvSpPr txBox="1"/>
          <p:nvPr/>
        </p:nvSpPr>
        <p:spPr>
          <a:xfrm>
            <a:off x="412749" y="5667374"/>
            <a:ext cx="2111374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937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37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实例</a:t>
            </a:r>
            <a:r>
              <a:rPr sz="937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· I5 · blocker → </a:t>
            </a:r>
            <a:r>
              <a:rPr sz="937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写作阶段</a:t>
            </a:r>
          </a:p>
        </p:txBody>
      </p:sp>
      <p:pic>
        <p:nvPicPr>
          <p:cNvPr id="119" name="ex_art" descr="cropped from the image-model asset sheet, cell &quot;condtable&quot; (Codex image_gen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2749" y="6107588"/>
            <a:ext cx="666749" cy="453073"/>
          </a:xfrm>
          <a:prstGeom prst="rect">
            <a:avLst/>
          </a:prstGeom>
          <a:effectLst/>
        </p:spPr>
      </p:pic>
      <p:sp>
        <p:nvSpPr>
          <p:cNvPr id="120" name="ex_l0" descr="Editable text; source id ex_l0"/>
          <p:cNvSpPr txBox="1"/>
          <p:nvPr/>
        </p:nvSpPr>
        <p:spPr>
          <a:xfrm>
            <a:off x="1142999" y="5968999"/>
            <a:ext cx="260349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合成条件表逐字段核对：原文为固相合成，</a:t>
            </a:r>
          </a:p>
        </p:txBody>
      </p:sp>
      <p:sp>
        <p:nvSpPr>
          <p:cNvPr id="121" name="ex_l1" descr="Editable text; source id ex_l1"/>
          <p:cNvSpPr txBox="1"/>
          <p:nvPr/>
        </p:nvSpPr>
        <p:spPr>
          <a:xfrm>
            <a:off x="1142999" y="6207124"/>
            <a:ext cx="260349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表中误标为熔体法</a:t>
            </a:r>
            <a:r>
              <a:rPr sz="999" b="0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 → </a:t>
            </a:r>
            <a:r>
              <a:rPr sz="999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路由至写作阶段，</a:t>
            </a:r>
          </a:p>
        </p:txBody>
      </p:sp>
      <p:sp>
        <p:nvSpPr>
          <p:cNvPr id="122" name="ex_l2" descr="Editable text; source id ex_l2"/>
          <p:cNvSpPr txBox="1"/>
          <p:nvPr/>
        </p:nvSpPr>
        <p:spPr>
          <a:xfrm>
            <a:off x="1142999" y="6445249"/>
            <a:ext cx="260349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9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回核实验段后重建条件表，第</a:t>
            </a:r>
            <a:r>
              <a:rPr sz="999" b="0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 2 </a:t>
            </a:r>
            <a:r>
              <a:rPr sz="999" b="0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轮关闭。</a:t>
            </a:r>
          </a:p>
        </p:txBody>
      </p:sp>
      <p:sp>
        <p:nvSpPr>
          <p:cNvPr id="123" name="rd0" descr="Editable shape; source id rd0"/>
          <p:cNvSpPr/>
          <p:nvPr/>
        </p:nvSpPr>
        <p:spPr>
          <a:xfrm>
            <a:off x="3936999" y="5587999"/>
            <a:ext cx="1904999" cy="1174749"/>
          </a:xfrm>
          <a:prstGeom prst="roundRect">
            <a:avLst>
              <a:gd name="adj" fmla="val 5405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d0_r" descr="Editable shape; source id rd0_r"/>
          <p:cNvSpPr/>
          <p:nvPr/>
        </p:nvSpPr>
        <p:spPr>
          <a:xfrm>
            <a:off x="3936999" y="5587999"/>
            <a:ext cx="1904999" cy="47624"/>
          </a:xfrm>
          <a:prstGeom prst="rect">
            <a:avLst/>
          </a:prstGeom>
          <a:solidFill>
            <a:srgbClr val="D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d0_h" descr="Editable text; source id rd0_h"/>
          <p:cNvSpPr txBox="1"/>
          <p:nvPr/>
        </p:nvSpPr>
        <p:spPr>
          <a:xfrm>
            <a:off x="4048124" y="5683249"/>
            <a:ext cx="168274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生产阶段</a:t>
            </a:r>
            <a:r>
              <a:rPr sz="1062" b="1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06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闸门拦截</a:t>
            </a:r>
          </a:p>
        </p:txBody>
      </p:sp>
      <p:sp>
        <p:nvSpPr>
          <p:cNvPr id="126" name="rd0_b" descr="Editable text; source id rd0_b"/>
          <p:cNvSpPr txBox="1"/>
          <p:nvPr/>
        </p:nvSpPr>
        <p:spPr>
          <a:xfrm>
            <a:off x="4048124" y="5905499"/>
            <a:ext cx="373062" cy="571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937"/>
              </a:lnSpc>
              <a:spcBef>
                <a:spcPts val="0"/>
              </a:spcBef>
              <a:spcAft>
                <a:spcPts val="0"/>
              </a:spcAft>
              <a:defRPr sz="3374" b="1" i="0" lang="zh-CN" dirty="0">
                <a:solidFill>
                  <a:srgbClr val="DC3C3C"/>
                </a:solidFill>
                <a:latin typeface="DejaVu Sans"/>
                <a:ea typeface="DejaVu Sans"/>
                <a:cs typeface="DejaVu Sans"/>
              </a:defRPr>
            </a:pPr>
            <a:r>
              <a:rPr sz="3374" b="1" i="0" lang="zh-CN" dirty="0">
                <a:solidFill>
                  <a:srgbClr val="DC3C3C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27" name="rd0_u" descr="Editable text; source id rd0_u"/>
          <p:cNvSpPr txBox="1"/>
          <p:nvPr/>
        </p:nvSpPr>
        <p:spPr>
          <a:xfrm>
            <a:off x="4452937" y="6111874"/>
            <a:ext cx="47624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项</a:t>
            </a:r>
          </a:p>
        </p:txBody>
      </p:sp>
      <p:pic>
        <p:nvPicPr>
          <p:cNvPr id="128" name="rd0_art" descr="cropped from the image-model asset sheet, cell &quot;padlock&quot; (Codex image_gen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39001" y="5921374"/>
            <a:ext cx="475746" cy="507999"/>
          </a:xfrm>
          <a:prstGeom prst="rect">
            <a:avLst/>
          </a:prstGeom>
          <a:effectLst/>
        </p:spPr>
      </p:pic>
      <p:sp>
        <p:nvSpPr>
          <p:cNvPr id="129" name="rd0_c" descr="Editable text; source id rd0_c"/>
          <p:cNvSpPr txBox="1"/>
          <p:nvPr/>
        </p:nvSpPr>
        <p:spPr>
          <a:xfrm>
            <a:off x="4032249" y="6476999"/>
            <a:ext cx="174624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968"/>
              </a:lnSpc>
              <a:spcBef>
                <a:spcPts val="0"/>
              </a:spcBef>
              <a:spcAft>
                <a:spcPts val="0"/>
              </a:spcAft>
              <a:defRPr sz="812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defRPr>
            </a:pPr>
            <a:r>
              <a:rPr sz="812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3 blocker · 1 major</a:t>
            </a:r>
          </a:p>
        </p:txBody>
      </p:sp>
      <p:sp>
        <p:nvSpPr>
          <p:cNvPr id="130" name="rd1" descr="Editable shape; source id rd1"/>
          <p:cNvSpPr/>
          <p:nvPr/>
        </p:nvSpPr>
        <p:spPr>
          <a:xfrm>
            <a:off x="5937249" y="5587999"/>
            <a:ext cx="1904999" cy="1174749"/>
          </a:xfrm>
          <a:prstGeom prst="roundRect">
            <a:avLst>
              <a:gd name="adj" fmla="val 5405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d1_r" descr="Editable shape; source id rd1_r"/>
          <p:cNvSpPr/>
          <p:nvPr/>
        </p:nvSpPr>
        <p:spPr>
          <a:xfrm>
            <a:off x="5937249" y="5587999"/>
            <a:ext cx="1904999" cy="4762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d1_h" descr="Editable text; source id rd1_h"/>
          <p:cNvSpPr txBox="1"/>
          <p:nvPr/>
        </p:nvSpPr>
        <p:spPr>
          <a:xfrm>
            <a:off x="6048374" y="5683249"/>
            <a:ext cx="168274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第</a:t>
            </a:r>
            <a:r>
              <a:rPr sz="1062" b="1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 1 </a:t>
            </a:r>
            <a:r>
              <a:rPr sz="106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轮评审</a:t>
            </a:r>
          </a:p>
        </p:txBody>
      </p:sp>
      <p:sp>
        <p:nvSpPr>
          <p:cNvPr id="133" name="rd1_b" descr="Editable text; source id rd1_b"/>
          <p:cNvSpPr txBox="1"/>
          <p:nvPr/>
        </p:nvSpPr>
        <p:spPr>
          <a:xfrm>
            <a:off x="6048374" y="5905499"/>
            <a:ext cx="373062" cy="571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937"/>
              </a:lnSpc>
              <a:spcBef>
                <a:spcPts val="0"/>
              </a:spcBef>
              <a:spcAft>
                <a:spcPts val="0"/>
              </a:spcAft>
              <a:defRPr sz="3374" b="1" i="0" lang="zh-CN" dirty="0">
                <a:solidFill>
                  <a:srgbClr val="F59E0B"/>
                </a:solidFill>
                <a:latin typeface="DejaVu Sans"/>
                <a:ea typeface="DejaVu Sans"/>
                <a:cs typeface="DejaVu Sans"/>
              </a:defRPr>
            </a:pPr>
            <a:r>
              <a:rPr sz="3374" b="1" i="0" lang="zh-CN" dirty="0">
                <a:solidFill>
                  <a:srgbClr val="F59E0B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134" name="rd1_u" descr="Editable text; source id rd1_u"/>
          <p:cNvSpPr txBox="1"/>
          <p:nvPr/>
        </p:nvSpPr>
        <p:spPr>
          <a:xfrm>
            <a:off x="6453187" y="6111874"/>
            <a:ext cx="47624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项</a:t>
            </a:r>
          </a:p>
        </p:txBody>
      </p:sp>
      <p:pic>
        <p:nvPicPr>
          <p:cNvPr id="135" name="rd1_art" descr="cropped from the image-model asset sheet, cell &quot;route&quot; (Codex image_gen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124" y="5943669"/>
            <a:ext cx="507999" cy="463410"/>
          </a:xfrm>
          <a:prstGeom prst="rect">
            <a:avLst/>
          </a:prstGeom>
          <a:effectLst/>
        </p:spPr>
      </p:pic>
      <p:sp>
        <p:nvSpPr>
          <p:cNvPr id="136" name="rd1_c" descr="Editable text; source id rd1_c"/>
          <p:cNvSpPr txBox="1"/>
          <p:nvPr/>
        </p:nvSpPr>
        <p:spPr>
          <a:xfrm>
            <a:off x="6032499" y="6476999"/>
            <a:ext cx="174624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968"/>
              </a:lnSpc>
              <a:spcBef>
                <a:spcPts val="0"/>
              </a:spcBef>
              <a:spcAft>
                <a:spcPts val="0"/>
              </a:spcAft>
              <a:defRPr sz="812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defRPr>
            </a:pPr>
            <a:r>
              <a:rPr sz="812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1 blocker · 3 major · 1 minor</a:t>
            </a:r>
          </a:p>
        </p:txBody>
      </p:sp>
      <p:sp>
        <p:nvSpPr>
          <p:cNvPr id="137" name="rd2" descr="Editable shape; source id rd2"/>
          <p:cNvSpPr/>
          <p:nvPr/>
        </p:nvSpPr>
        <p:spPr>
          <a:xfrm>
            <a:off x="7937499" y="5587999"/>
            <a:ext cx="1904999" cy="1174749"/>
          </a:xfrm>
          <a:prstGeom prst="roundRect">
            <a:avLst>
              <a:gd name="adj" fmla="val 5405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d2_r" descr="Editable shape; source id rd2_r"/>
          <p:cNvSpPr/>
          <p:nvPr/>
        </p:nvSpPr>
        <p:spPr>
          <a:xfrm>
            <a:off x="7937499" y="5587999"/>
            <a:ext cx="1904999" cy="47624"/>
          </a:xfrm>
          <a:prstGeom prst="rect">
            <a:avLst/>
          </a:prstGeom>
          <a:solidFill>
            <a:srgbClr val="129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d2_h" descr="Editable text; source id rd2_h"/>
          <p:cNvSpPr txBox="1"/>
          <p:nvPr/>
        </p:nvSpPr>
        <p:spPr>
          <a:xfrm>
            <a:off x="8048624" y="5683249"/>
            <a:ext cx="168274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第</a:t>
            </a:r>
            <a:r>
              <a:rPr sz="1062" b="1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 2 </a:t>
            </a:r>
            <a:r>
              <a:rPr sz="106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轮终审</a:t>
            </a:r>
          </a:p>
        </p:txBody>
      </p:sp>
      <p:sp>
        <p:nvSpPr>
          <p:cNvPr id="140" name="rd2_b" descr="Editable text; source id rd2_b"/>
          <p:cNvSpPr txBox="1"/>
          <p:nvPr/>
        </p:nvSpPr>
        <p:spPr>
          <a:xfrm>
            <a:off x="8048624" y="5905499"/>
            <a:ext cx="373062" cy="571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937"/>
              </a:lnSpc>
              <a:spcBef>
                <a:spcPts val="0"/>
              </a:spcBef>
              <a:spcAft>
                <a:spcPts val="0"/>
              </a:spcAft>
              <a:defRPr sz="3374" b="1" i="0" lang="zh-CN" dirty="0">
                <a:solidFill>
                  <a:srgbClr val="12946B"/>
                </a:solidFill>
                <a:latin typeface="DejaVu Sans"/>
                <a:ea typeface="DejaVu Sans"/>
                <a:cs typeface="DejaVu Sans"/>
              </a:defRPr>
            </a:pPr>
            <a:r>
              <a:rPr sz="3374" b="1" i="0" lang="zh-CN" dirty="0">
                <a:solidFill>
                  <a:srgbClr val="12946B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41" name="rd2_u" descr="Editable text; source id rd2_u"/>
          <p:cNvSpPr txBox="1"/>
          <p:nvPr/>
        </p:nvSpPr>
        <p:spPr>
          <a:xfrm>
            <a:off x="8453437" y="6111874"/>
            <a:ext cx="47624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项</a:t>
            </a:r>
          </a:p>
        </p:txBody>
      </p:sp>
      <p:pic>
        <p:nvPicPr>
          <p:cNvPr id="142" name="rd2_art" descr="cropped from the image-model asset sheet, cell &quot;ledger&quot; (Codex image_gen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23374" y="5999950"/>
            <a:ext cx="507999" cy="350848"/>
          </a:xfrm>
          <a:prstGeom prst="rect">
            <a:avLst/>
          </a:prstGeom>
          <a:effectLst/>
        </p:spPr>
      </p:pic>
      <p:sp>
        <p:nvSpPr>
          <p:cNvPr id="143" name="rd2_c" descr="Editable text; source id rd2_c"/>
          <p:cNvSpPr txBox="1"/>
          <p:nvPr/>
        </p:nvSpPr>
        <p:spPr>
          <a:xfrm>
            <a:off x="8032749" y="6476999"/>
            <a:ext cx="174624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812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2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仅</a:t>
            </a:r>
            <a:r>
              <a:rPr sz="812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minor · </a:t>
            </a:r>
            <a:r>
              <a:rPr sz="812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当轮关闭</a:t>
            </a:r>
          </a:p>
        </p:txBody>
      </p:sp>
      <p:sp>
        <p:nvSpPr>
          <p:cNvPr id="144" name="rd3" descr="Editable shape; source id rd3"/>
          <p:cNvSpPr/>
          <p:nvPr/>
        </p:nvSpPr>
        <p:spPr>
          <a:xfrm>
            <a:off x="9937749" y="5587999"/>
            <a:ext cx="1904999" cy="1174749"/>
          </a:xfrm>
          <a:prstGeom prst="roundRect">
            <a:avLst>
              <a:gd name="adj" fmla="val 5405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d3_r" descr="Editable shape; source id rd3_r"/>
          <p:cNvSpPr/>
          <p:nvPr/>
        </p:nvSpPr>
        <p:spPr>
          <a:xfrm>
            <a:off x="9937749" y="5587999"/>
            <a:ext cx="1904999" cy="47624"/>
          </a:xfrm>
          <a:prstGeom prst="rect">
            <a:avLst/>
          </a:prstGeom>
          <a:solidFill>
            <a:srgbClr val="129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d3_h" descr="Editable text; source id rd3_h"/>
          <p:cNvSpPr txBox="1"/>
          <p:nvPr/>
        </p:nvSpPr>
        <p:spPr>
          <a:xfrm>
            <a:off x="10048874" y="5683249"/>
            <a:ext cx="168274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1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defRPr>
            </a:pPr>
            <a:r>
              <a:rPr sz="1062" b="1" i="0" lang="zh-CN" dirty="0">
                <a:solidFill>
                  <a:srgbClr val="1B2B3A"/>
                </a:solidFill>
                <a:latin typeface="DejaVu Sans"/>
                <a:ea typeface="DejaVu Sans"/>
                <a:cs typeface="DejaVu Sans"/>
              </a:rPr>
              <a:t>check-done · </a:t>
            </a:r>
            <a:r>
              <a:rPr sz="1062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未决问题</a:t>
            </a:r>
          </a:p>
        </p:txBody>
      </p:sp>
      <p:sp>
        <p:nvSpPr>
          <p:cNvPr id="147" name="rd3_b" descr="Editable text; source id rd3_b"/>
          <p:cNvSpPr txBox="1"/>
          <p:nvPr/>
        </p:nvSpPr>
        <p:spPr>
          <a:xfrm>
            <a:off x="10048874" y="5905499"/>
            <a:ext cx="373062" cy="571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937"/>
              </a:lnSpc>
              <a:spcBef>
                <a:spcPts val="0"/>
              </a:spcBef>
              <a:spcAft>
                <a:spcPts val="0"/>
              </a:spcAft>
              <a:defRPr sz="3374" b="1" i="0" lang="zh-CN" dirty="0">
                <a:solidFill>
                  <a:srgbClr val="12946B"/>
                </a:solidFill>
                <a:latin typeface="DejaVu Sans"/>
                <a:ea typeface="DejaVu Sans"/>
                <a:cs typeface="DejaVu Sans"/>
              </a:defRPr>
            </a:pPr>
            <a:r>
              <a:rPr sz="3374" b="1" i="0" lang="zh-CN" dirty="0">
                <a:solidFill>
                  <a:srgbClr val="12946B"/>
                </a:solidFill>
                <a:latin typeface="DejaVu Sans"/>
                <a:ea typeface="DejaVu Sans"/>
                <a:cs typeface="DejaVu Sans"/>
              </a:rPr>
              <a:t>0</a:t>
            </a:r>
          </a:p>
        </p:txBody>
      </p:sp>
      <p:sp>
        <p:nvSpPr>
          <p:cNvPr id="148" name="rd3_u" descr="Editable text; source id rd3_u"/>
          <p:cNvSpPr txBox="1"/>
          <p:nvPr/>
        </p:nvSpPr>
        <p:spPr>
          <a:xfrm>
            <a:off x="10453687" y="6111874"/>
            <a:ext cx="47624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1" i="0" lang="zh-CN" dirty="0">
                <a:solidFill>
                  <a:srgbClr val="1B2B3A"/>
                </a:solidFill>
                <a:latin typeface="Noto Sans CJK SC"/>
                <a:ea typeface="Noto Sans CJK SC"/>
                <a:cs typeface="Noto Sans CJK SC"/>
              </a:rPr>
              <a:t>项</a:t>
            </a:r>
          </a:p>
        </p:txBody>
      </p:sp>
      <p:pic>
        <p:nvPicPr>
          <p:cNvPr id="149" name="rd3_art" descr="cropped from the image-model asset sheet, cell &quot;pdf&quot; (Codex image_gen)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23624" y="5935138"/>
            <a:ext cx="507999" cy="480472"/>
          </a:xfrm>
          <a:prstGeom prst="rect">
            <a:avLst/>
          </a:prstGeom>
          <a:effectLst/>
        </p:spPr>
      </p:pic>
      <p:sp>
        <p:nvSpPr>
          <p:cNvPr id="150" name="rd3_c" descr="Editable text; source id rd3_c"/>
          <p:cNvSpPr txBox="1"/>
          <p:nvPr/>
        </p:nvSpPr>
        <p:spPr>
          <a:xfrm>
            <a:off x="10032999" y="6476999"/>
            <a:ext cx="174624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812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defRPr>
            </a:pPr>
            <a:r>
              <a:rPr sz="812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11/11 </a:t>
            </a:r>
            <a:r>
              <a:rPr sz="812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已关闭</a:t>
            </a:r>
            <a:r>
              <a:rPr sz="812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812" b="0" i="0" lang="zh-CN" dirty="0">
                <a:solidFill>
                  <a:srgbClr val="5F6B7A"/>
                </a:solidFill>
                <a:latin typeface="Noto Sans CJK SC"/>
                <a:ea typeface="Noto Sans CJK SC"/>
                <a:cs typeface="Noto Sans CJK SC"/>
              </a:rPr>
              <a:t>退出码</a:t>
            </a:r>
            <a:r>
              <a:rPr sz="812" b="0" i="0" lang="zh-CN" dirty="0">
                <a:solidFill>
                  <a:srgbClr val="5F6B7A"/>
                </a:solidFill>
                <a:latin typeface="DejaVu Sans"/>
                <a:ea typeface="DejaVu Sans"/>
                <a:cs typeface="DejaVu Sans"/>
              </a:rPr>
              <a:t> 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