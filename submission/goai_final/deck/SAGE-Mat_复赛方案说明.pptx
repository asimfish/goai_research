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  <Relationship Id="rId20"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各位评审好，我们是 SAGE-Mat 团队。我们做的是一个面向无机材料合成调研与合成规划的证据约束多智能体系统，一句话概括：一行研究主题进去，可核验的综述、证据链和候选合成路线出来。右侧四个数字概括了这项工作的规模与科学内容：本地文献全文库约三千八百万篇并接入在线检索；九个 Agent 角色和四个自研 MCP 服务；正式案例中对目标相及四个近邻体系的二十八条合成条件做了逐字段比较；对七种目标化合物给出了前驱体路线预测，并提出四个值得探索的新实验方向。</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先说背景。自动化实验室已经能高通量地做实验，真正的瓶颈不在产能，而在做什么实验、为什么做，这一步仍然靠人读文献。AI for Science 的空缺，是让大模型把文献里的知识抽取、总结、压缩成可执行的假设，再和实验结果、历史文献一起迭代，形成知识闭环。这件事之所以现在重要，有三点：实验产能已经远大于知识吞吐；文献里的成功经验和失败边界是最便宜的实验，跳过它们就是重复别人做过的探索；闭环要能自我纠错，每条假设都必须带可核验的证据。我们的科学空缺就是把散落在文献中的合成知识变成可执行、可追溯、可回写的合成方案，接到实验闭环里。左图实线部分是本系统覆盖的知识侧，虚线是下一环的自动化实验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具体到科学问题。成功的合成条件和失败的边界都写在文献里，关键是用哪些、怎么找，以及找到之后哪里还有新的科学发现，也就是站在巨人的肩膀上继续前行。科学问题本身也是探索出来的：案例 A 是 LLZO 石榴石固态电解质，由团队在初赛调研中自主探索确定，文献很多，但没有人把它们整理成跨掺杂体系的统一工艺图景；案例 B 是专家推荐的 Ba5Y12Zn[O(SiO4)]8，2024 年首次报道，只有一篇直接合成文献，但近邻体系证据丰富。我们要回答的三个问题是：用哪些文献、怎么找到并核对、新发现在哪里。</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接下来看系统本身。它的核心设计是把生成像论文的结论改为保存证据与判定过程。认知层是九个用 Markdown 写成的 Agent 角色，由 Codex 执行；确定性层把在线和本地文献检索、题录与作者核对、绘图以及 RECIPE 前驱体预测放进四个 MCP 服务；控制层为每个阶段设定明确完成标准，由程序检查，不由模型自己宣布完成，而且写稿与审稿分离。</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这一页讲 Agent 之间怎么交互。每个 Agent 通过产物文件和共享进度记录交接，记录每一步是否通过、待返工问题与产物版本；上游一变，下游自动重查。文献检索、题录与作者逐条比对、写作与可编辑图纸、RECIPE 候选路线和对抗审稿都沿同一条链流转，审稿问题会回到原阶段返工。这样一来，实验室可以直接接收结构化路线与失败判据，实验结果也能按同样格式回写为证据。</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方法路线的关键是，做完了不由模型自己宣布。九道质量关卡全部通过、没有未关闭的严重问题，而且终审有审稿记录，程序才放行交付。正式运行中有四次需要人确认的节点，其中一次是五条作者名不匹配的文献三轮未收敛，交人决定后删除并继续。对抗审稿使用全新上下文，从领域专家、方法严谨派和期刊编辑三个视角提出问题，再沿原路返工。 每道关卡下方标出了负责它的 Agent 编号，和系统能力页一一对应。</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这一页讲合成方案怎么建模。前驱体交给 AI 预测：RECIPE 把无机逆合成重述为变长前驱体集合的排序问题，先构建高召回候选池，再枚举二到五元集合，用学习到的重排器直接给完整集合排序，每条路线都附分数和校验值，并标注为模型候选、未经实验验证。温度、气氛、助熔剂这些条件则不由模型臆造，而是从结构近邻体系的实验记录中按证据等级类比：固相成相的一千三百度预烧、一千六百度烧成来自 Ba–Y–Si–O 陶瓷系列；助熔生长的 MoO3 助熔、Pt 坩埚、一千一百五十度和每小时两开的慢冷来自同谱系单晶；相场筛查来自粉体研究。同时明确边界：这些数值来自无锌谱系，不能无条件迁移到含锌目标，所以第一步实验是局部相图。左下角是随 checkpoint 提交的基准评测：在两千五百五十八条留出反应上，Combo@1 七十一点八一，比先前最优基线高十一点四个百分点。</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正式案例是纯主题冷启动，唯一输入是一行关于 Ba 五 Y 十二 Zn 硅酸盐及其近邻化合物合成条件的主题。系统在需要人确认的节点续跑后交出二十页综述，再按材料专家八条意见修订为二十三页正式稿。五十一篇参考文献逐条核对通过，正文有二百一十九次引用，三张图都由同一图源生成可编辑版本，两轮对抗审稿的终审没有遗留问题。右侧的运行事实展示了这些过程都被完整记录。</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在科学结论上，系统给出的不是一份配方，而是文献证据限定的可迁移范围。公开证据只能确认目标相采用开放体系高温溶液法并以单晶衍射鉴定，不足以给出经验证的复现配方；无锌四方谱系提供了助熔生长、固相陶瓷和粉体相场筛查三类可比路线，但具体数值不能无条件迁移。获得单晶不等于建立批量相纯窗口，局部相图才是连接复现与发现的核心实验。基于这些边界，系统提出四个方向，每个方向都配了工艺路线和模型候选前驱体。</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初赛承诺的 LLZO 主题已经端到端跑通：四十六篇文献覆盖六个子主题，逐条核对通过，并整合成十页 A4 综述。模型首选前驱体路线是氧化锆、氧化镧和碳酸锂，与文献一致；次选出现可疑命名，反而说明模型生成、化学式规范化、文献复核和对抗审稿这四步把关非常必要。整轮共有二十一个 Agent 任务和四十九次工具调用，替代材料 Li6PS5Cl、Li3YCl6 和 LATP 的首选路线也都通过文献复核，分别对应高电导冷压、高电压正极侧和低成本空气中操作三种场景。</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这一页回到冷启动输入：系统只接收一行主题，也就是 Ba 五 Y 十二 Zn 及其结构相近化合物的合成条件。编排器自动确认范围，四次在需要人确认的节点续跑，组织了二十九批、四十个子任务；文献检索覆盖八个子主题，在线五源加本地全文库得到六十三条候选。引用核对让五十一篇全部通过，写作完成十一章、二百一十九次引用和百分之百整合，绘图把三张视觉参照重建成可编辑图，想法生成调用 RECIPE 三次给出四个实验方向，对抗审稿两轮后首轮七项问题全部关闭、终审零问题。</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复现与开源的基础，是复用开源的 Codex CLI 作为 Agent 宿主，九个角色都写成可读的 Markdown 说明。我们自主设计并开源四个 MCP 服务，覆盖文献检索、引用核对、绘图和 RECIPE 前驱体预测；知识库由部分公开的文献全文库和在线检索组成，被引文献中有二十一篇全文进入公开知识库。绘图工具让一份图源同时生成论文图和 draw.io 可编辑图，整个仓库按 MIT 协议开源，支持一键安装、用一到两分钟完成冒烟测试，并用同一主题重跑整条流水线。需要诚实说明的是，目标相只有一篇直接报道，大模型步骤不可逐字复现，所以我们以所有质量关卡通过作为复现判据。</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最后是应用价值。这套系统真正改变的，是把"该不该相信这条结论"变成一个可以点开 DOI 和原文段落回答的问题。对材料研究者，一次运行替代数周的文献梳理，五十一篇文献逐条核对，二十八条合成条件逐字段比较，前人结论汇总之后可以直接进入课题设计。对自动化实验室，我们交付的是可执行的方案而不是一段总结：前驱体、条件、表征和失败判据都是结构化对象，实验结果同格式回写为证据，触发新一轮迭代，需要人确认的节点保留在回路中。对只有一篇报道的新化合物，系统也能从近邻体系推断可迁移的边界，给出四个实验方向和七种化合物的前驱体候选，把探索预算花在最有发现价值的地方。下一步我们会接入跨模型审稿，对四个方向开展合成实验并回写证据，整个仓库以 MIT 协议开源。感谢各位评审。</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2.xml><?xml version="1.0" encoding="utf-8"?>
<p:sldLayout xmlns:a="http://schemas.openxmlformats.org/drawingml/2006/main" xmlns:p="http://schemas.openxmlformats.org/presentationml/2006/main" xmlns:p14="http://schemas.microsoft.com/office/powerpoint/2010/main" type="cust" preserve="1" showMasterSp="1">
  <p:cSld name="Cover">
    <p:spTree>
      <p:nvGrpSpPr>
        <p:cNvPr id="1" name=""/>
        <p:cNvGrpSpPr/>
        <p:nvPr/>
      </p:nvGrpSpPr>
      <p:grpSpPr>
        <a:xfrm>
          <a:off x="0" y="0"/>
          <a:ext cx="0" cy="0"/>
          <a:chOff x="0" y="0"/>
          <a:chExt cx="0" cy="0"/>
        </a:xfrm>
      </p:grpSpPr>
    </p:spTree>
    <p:extLst>
      <p:ext uri="{BB962C8B-B14F-4D97-AF65-F5344CB8AC3E}">
        <p14:creationId val="1212999818"/>
      </p:ext>
    </p:extLst>
  </p:cSld>
  <p:clrMapOvr>
    <a:masterClrMapping/>
  </p:clrMapOvr>
</p:sldLayout>
</file>

<file path=ppt/slideLayouts/slideLayout13.xml><?xml version="1.0" encoding="utf-8"?>
<p:sldLayout xmlns:a="http://schemas.openxmlformats.org/drawingml/2006/main" xmlns:p="http://schemas.openxmlformats.org/presentationml/2006/main" xmlns:p14="http://schemas.microsoft.com/office/powerpoint/2010/main" type="cust" preserve="1" showMasterSp="1">
  <p:cSld name="Content">
    <p:spTree>
      <p:nvGrpSpPr>
        <p:cNvPr id="1" name=""/>
        <p:cNvGrpSpPr/>
        <p:nvPr/>
      </p:nvGrpSpPr>
      <p:grpSpPr>
        <a:xfrm>
          <a:off x="0" y="0"/>
          <a:ext cx="0" cy="0"/>
          <a:chOff x="0" y="0"/>
          <a:chExt cx="0" cy="0"/>
        </a:xfrm>
      </p:grpSpPr>
    </p:spTree>
    <p:extLst>
      <p:ext uri="{BB962C8B-B14F-4D97-AF65-F5344CB8AC3E}">
        <p14:creationId val="1212999818"/>
      </p:ext>
    </p:extLst>
  </p:cSld>
  <p:clrMapOvr>
    <a:masterClrMapping/>
  </p:clrMapOvr>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1.xml"/>  <Relationship Id="rId13" Type="http://schemas.openxmlformats.org/officeDocument/2006/relationships/slideLayout" Target="../slideLayouts/slideLayout12.xml"/>
  <Relationship Id="rId14" Type="http://schemas.openxmlformats.org/officeDocument/2006/relationships/slideLayout" Target="../slideLayouts/slideLayout13.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60" r:id="rId13"/>
    <p:sldLayoutId id="2147483661"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c4a3301d2618663e.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e1313572d1f0a68a.jp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8572500" y="0"/>
              <a:ext cx="3619500" cy="6858000"/>
            </a:xfrm>
            <a:prstGeom prst="rect">
              <a:avLst/>
            </a:prstGeom>
            <a:solidFill>
              <a:schemeClr val="accent1"/>
            </a:solidFill>
            <a:ln>
              <a:noFill/>
            </a:ln>
          </p:spPr>
        </p:sp>
      </p:grpSp>
      <p:grpSp>
        <p:nvGrpSpPr>
          <p:cNvPr id="7" name="Group 7"/>
          <p:cNvGrpSpPr/>
          <p:nvPr/>
        </p:nvGrpSpPr>
        <p:grpSpPr>
          <a:xfrm>
            <a:off x="678942" y="978218"/>
            <a:ext cx="7046881" cy="355282"/>
            <a:chOff x="678942" y="978218"/>
            <a:chExt cx="7046881" cy="355282"/>
          </a:xfrm>
        </p:grpSpPr>
        <p:sp>
          <p:nvSpPr>
            <p:cNvPr id="5" name="TextBox 5"/>
            <p:cNvSpPr txBox="1"/>
            <p:nvPr/>
          </p:nvSpPr>
          <p:spPr>
            <a:xfrm>
              <a:off x="678942" y="978218"/>
              <a:ext cx="7046881"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GOAI 2026 · AI for Research 赛道 · 材料方向 · 进阶路线 C（合成路线与工艺设计）</a:t>
              </a:r>
            </a:p>
          </p:txBody>
        </p:sp>
        <p:sp>
          <p:nvSpPr>
            <p:cNvPr id="6" name="Rectangle 6"/>
            <p:cNvSpPr/>
            <p:nvPr/>
          </p:nvSpPr>
          <p:spPr>
            <a:xfrm>
              <a:off x="685800" y="1295400"/>
              <a:ext cx="685800" cy="38100"/>
            </a:xfrm>
            <a:prstGeom prst="rect">
              <a:avLst/>
            </a:prstGeom>
            <a:solidFill>
              <a:schemeClr val="accent2"/>
            </a:solidFill>
            <a:ln>
              <a:noFill/>
            </a:ln>
          </p:spPr>
        </p:sp>
      </p:grpSp>
      <p:grpSp>
        <p:nvGrpSpPr>
          <p:cNvPr id="11" name="Group 11"/>
          <p:cNvGrpSpPr/>
          <p:nvPr/>
        </p:nvGrpSpPr>
        <p:grpSpPr>
          <a:xfrm>
            <a:off x="666750" y="1762125"/>
            <a:ext cx="8299514" cy="1594676"/>
            <a:chOff x="666750" y="1762125"/>
            <a:chExt cx="8299514" cy="1594676"/>
          </a:xfrm>
        </p:grpSpPr>
        <p:sp>
          <p:nvSpPr>
            <p:cNvPr id="8" name="TextBox 8"/>
            <p:cNvSpPr txBox="1"/>
            <p:nvPr/>
          </p:nvSpPr>
          <p:spPr>
            <a:xfrm>
              <a:off x="666750" y="1762125"/>
              <a:ext cx="3082366" cy="876300"/>
            </a:xfrm>
            <a:prstGeom prst="rect">
              <a:avLst/>
            </a:prstGeom>
            <a:noFill/>
            <a:ln>
              <a:noFill/>
            </a:ln>
          </p:spPr>
          <p:txBody>
            <a:bodyPr wrap="none" lIns="0" tIns="0" rIns="0" bIns="0" anchor="t" anchorCtr="0">
              <a:spAutoFit/>
            </a:bodyPr>
            <a:lstStyle/>
            <a:p>
              <a:pPr algn="l"/>
              <a:r>
                <a:rPr lang="en-US" sz="4500" b="1" dirty="0">
                  <a:solidFill>
                    <a:schemeClr val="dk1"/>
                  </a:solidFill>
                  <a:latin typeface="Segoe UI"/>
                  <a:ea typeface="Segoe UI"/>
                  <a:cs typeface="Segoe UI"/>
                </a:rPr>
                <a:t>SAGE-Mat</a:t>
              </a:r>
            </a:p>
          </p:txBody>
        </p:sp>
        <p:sp>
          <p:nvSpPr>
            <p:cNvPr id="9" name="TextBox 9"/>
            <p:cNvSpPr txBox="1"/>
            <p:nvPr/>
          </p:nvSpPr>
          <p:spPr>
            <a:xfrm>
              <a:off x="674370" y="2576512"/>
              <a:ext cx="8291894"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Segoe UI"/>
                  <a:ea typeface="Microsoft YaHei"/>
                  <a:cs typeface="Segoe UI"/>
                </a:rPr>
                <a:t>面向无机材料合成调研与合成规划的证据约束多智能体系统</a:t>
              </a:r>
            </a:p>
          </p:txBody>
        </p:sp>
        <p:sp>
          <p:nvSpPr>
            <p:cNvPr id="10" name="TextBox 10"/>
            <p:cNvSpPr txBox="1"/>
            <p:nvPr/>
          </p:nvSpPr>
          <p:spPr>
            <a:xfrm>
              <a:off x="678942" y="3092768"/>
              <a:ext cx="6059300"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9 个 Agent 角色 · 4 个自研 MCP 服务 · 25 个工具 · 程序把关的质量回环</a:t>
              </a:r>
            </a:p>
          </p:txBody>
        </p:sp>
      </p:grpSp>
      <p:grpSp>
        <p:nvGrpSpPr>
          <p:cNvPr id="13" name="Group 13"/>
          <p:cNvGrpSpPr/>
          <p:nvPr/>
        </p:nvGrpSpPr>
        <p:grpSpPr>
          <a:xfrm>
            <a:off x="675894" y="3789998"/>
            <a:ext cx="7068179" cy="381381"/>
            <a:chOff x="675894" y="3789998"/>
            <a:chExt cx="7068179" cy="381381"/>
          </a:xfrm>
        </p:grpSpPr>
        <p:sp>
          <p:nvSpPr>
            <p:cNvPr id="12" name="TextBox 12"/>
            <p:cNvSpPr txBox="1"/>
            <p:nvPr/>
          </p:nvSpPr>
          <p:spPr>
            <a:xfrm>
              <a:off x="675894" y="3789998"/>
              <a:ext cx="7068179" cy="381381"/>
            </a:xfrm>
            <a:prstGeom prst="rect">
              <a:avLst/>
            </a:prstGeom>
            <a:noFill/>
            <a:ln>
              <a:noFill/>
            </a:ln>
          </p:spPr>
          <p:txBody>
            <a:bodyPr wrap="none" lIns="0" tIns="0" rIns="0" bIns="0" anchor="t" anchorCtr="0">
              <a:spAutoFit/>
            </a:bodyPr>
            <a:lstStyle/>
            <a:p>
              <a:pPr algn="l"/>
              <a:r>
                <a:rPr lang="zh-CN" sz="1950" dirty="0">
                  <a:solidFill>
                    <a:schemeClr val="dk1"/>
                  </a:solidFill>
                  <a:latin typeface="Segoe UI"/>
                  <a:ea typeface="Microsoft YaHei"/>
                  <a:cs typeface="Segoe UI"/>
                </a:rPr>
                <a:t>一行主题进去，</a:t>
              </a:r>
              <a:r>
                <a:rPr lang="zh-CN" sz="1950" b="1" dirty="0">
                  <a:solidFill>
                    <a:schemeClr val="accent2"/>
                  </a:solidFill>
                  <a:latin typeface="Segoe UI"/>
                  <a:ea typeface="Microsoft YaHei"/>
                  <a:cs typeface="Segoe UI"/>
                </a:rPr>
                <a:t>可核验的综述、证据链与候选合成路线</a:t>
              </a:r>
              <a:r>
                <a:rPr lang="zh-CN" sz="1950" dirty="0">
                  <a:solidFill>
                    <a:schemeClr val="dk1"/>
                  </a:solidFill>
                  <a:latin typeface="Segoe UI"/>
                  <a:ea typeface="Microsoft YaHei"/>
                  <a:cs typeface="Segoe UI"/>
                </a:rPr>
                <a:t>出来</a:t>
              </a:r>
            </a:p>
          </p:txBody>
        </p:sp>
      </p:grpSp>
      <p:grpSp>
        <p:nvGrpSpPr>
          <p:cNvPr id="19" name="Group 19"/>
          <p:cNvGrpSpPr/>
          <p:nvPr/>
        </p:nvGrpSpPr>
        <p:grpSpPr>
          <a:xfrm>
            <a:off x="678942" y="5334000"/>
            <a:ext cx="7207758" cy="1070801"/>
            <a:chOff x="678942" y="5334000"/>
            <a:chExt cx="7207758" cy="1070801"/>
          </a:xfrm>
        </p:grpSpPr>
        <p:sp>
          <p:nvSpPr>
            <p:cNvPr id="14" name="Line 14"/>
            <p:cNvSpPr/>
            <p:nvPr/>
          </p:nvSpPr>
          <p:spPr>
            <a:xfrm>
              <a:off x="685800" y="5334000"/>
              <a:ext cx="7200900" cy="9525"/>
            </a:xfrm>
            <a:custGeom>
              <a:avLst/>
              <a:gdLst/>
              <a:ahLst/>
              <a:cxnLst/>
              <a:rect l="l" t="t" r="r" b="b"/>
              <a:pathLst>
                <a:path w="7200900" h="9525">
                  <a:moveTo>
                    <a:pt x="0" y="0"/>
                  </a:moveTo>
                  <a:lnTo>
                    <a:pt x="7200900" y="0"/>
                  </a:lnTo>
                </a:path>
              </a:pathLst>
            </a:custGeom>
            <a:noFill/>
            <a:ln w="9525">
              <a:solidFill>
                <a:schemeClr val="accent4"/>
              </a:solidFill>
            </a:ln>
          </p:spPr>
        </p:sp>
        <p:sp>
          <p:nvSpPr>
            <p:cNvPr id="15" name="TextBox 15"/>
            <p:cNvSpPr txBox="1"/>
            <p:nvPr/>
          </p:nvSpPr>
          <p:spPr>
            <a:xfrm>
              <a:off x="678942" y="5531168"/>
              <a:ext cx="63199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Segoe UI"/>
                  <a:ea typeface="Microsoft YaHei"/>
                  <a:cs typeface="Segoe UI"/>
                </a:rPr>
                <a:t>高京（上海交通大学）· 吕丁阳（中国科学院大学）· 李雨峰（上海交通大学）</a:t>
              </a:r>
            </a:p>
          </p:txBody>
        </p:sp>
        <p:sp>
          <p:nvSpPr>
            <p:cNvPr id="16" name="TextBox 16"/>
            <p:cNvSpPr txBox="1"/>
            <p:nvPr/>
          </p:nvSpPr>
          <p:spPr>
            <a:xfrm>
              <a:off x="678942" y="6140768"/>
              <a:ext cx="32095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Segoe UI"/>
                  <a:ea typeface="Segoe UI"/>
                  <a:cs typeface="Segoe UI"/>
                </a:rPr>
                <a:t>MIT</a:t>
              </a:r>
            </a:p>
          </p:txBody>
        </p:sp>
        <p:sp>
          <p:nvSpPr>
            <p:cNvPr id="17" name="Freeform 17"/>
            <p:cNvSpPr/>
            <p:nvPr/>
          </p:nvSpPr>
          <p:spPr>
            <a:xfrm>
              <a:off x="1092994" y="6101398"/>
              <a:ext cx="148431" cy="158909"/>
            </a:xfrm>
            <a:custGeom>
              <a:avLst/>
              <a:gdLst/>
              <a:ahLst/>
              <a:cxnLst/>
              <a:rect l="l" t="t" r="r" b="b"/>
              <a:pathLst>
                <a:path w="148431" h="158909">
                  <a:moveTo>
                    <a:pt x="52388" y="141446"/>
                  </a:moveTo>
                  <a:cubicBezTo>
                    <a:pt x="14843" y="153670"/>
                    <a:pt x="14843" y="119618"/>
                    <a:pt x="0" y="115253"/>
                  </a:cubicBezTo>
                  <a:moveTo>
                    <a:pt x="104775" y="158909"/>
                  </a:moveTo>
                  <a:lnTo>
                    <a:pt x="104775" y="128349"/>
                  </a:lnTo>
                  <a:cubicBezTo>
                    <a:pt x="104775" y="119618"/>
                    <a:pt x="105648" y="116126"/>
                    <a:pt x="100409" y="110887"/>
                  </a:cubicBezTo>
                  <a:cubicBezTo>
                    <a:pt x="124857" y="108268"/>
                    <a:pt x="148431" y="98663"/>
                    <a:pt x="148431" y="58499"/>
                  </a:cubicBezTo>
                  <a:cubicBezTo>
                    <a:pt x="148421" y="48065"/>
                    <a:pt x="144350" y="38045"/>
                    <a:pt x="137081" y="30559"/>
                  </a:cubicBezTo>
                  <a:cubicBezTo>
                    <a:pt x="140490" y="21496"/>
                    <a:pt x="140176" y="11452"/>
                    <a:pt x="136208" y="2619"/>
                  </a:cubicBezTo>
                  <a:cubicBezTo>
                    <a:pt x="136208" y="2619"/>
                    <a:pt x="126603" y="0"/>
                    <a:pt x="105648" y="13970"/>
                  </a:cubicBezTo>
                  <a:cubicBezTo>
                    <a:pt x="87900" y="9348"/>
                    <a:pt x="69263" y="9348"/>
                    <a:pt x="51514" y="13970"/>
                  </a:cubicBezTo>
                  <a:cubicBezTo>
                    <a:pt x="30559" y="0"/>
                    <a:pt x="20955" y="2619"/>
                    <a:pt x="20955" y="2619"/>
                  </a:cubicBezTo>
                  <a:cubicBezTo>
                    <a:pt x="16986" y="11452"/>
                    <a:pt x="16673" y="21496"/>
                    <a:pt x="20082" y="30559"/>
                  </a:cubicBezTo>
                  <a:cubicBezTo>
                    <a:pt x="12813" y="38045"/>
                    <a:pt x="8742" y="48065"/>
                    <a:pt x="8731" y="58499"/>
                  </a:cubicBezTo>
                  <a:cubicBezTo>
                    <a:pt x="8731" y="98663"/>
                    <a:pt x="32306" y="108268"/>
                    <a:pt x="56753" y="110887"/>
                  </a:cubicBezTo>
                  <a:cubicBezTo>
                    <a:pt x="51514" y="116126"/>
                    <a:pt x="51514" y="121364"/>
                    <a:pt x="52388" y="128349"/>
                  </a:cubicBezTo>
                  <a:lnTo>
                    <a:pt x="52388" y="158909"/>
                  </a:lnTo>
                </a:path>
              </a:pathLst>
            </a:custGeom>
            <a:noFill/>
            <a:ln w="19050">
              <a:solidFill>
                <a:schemeClr val="accent1"/>
              </a:solidFill>
            </a:ln>
          </p:spPr>
        </p:sp>
        <p:sp>
          <p:nvSpPr>
            <p:cNvPr id="18" name="TextBox 18"/>
            <p:cNvSpPr txBox="1"/>
            <p:nvPr/>
          </p:nvSpPr>
          <p:spPr>
            <a:xfrm>
              <a:off x="1364742" y="6140768"/>
              <a:ext cx="211277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Segoe UI"/>
                  <a:ea typeface="Segoe UI"/>
                  <a:cs typeface="Segoe UI"/>
                </a:rPr>
                <a:t>asimfish/goai_research</a:t>
              </a:r>
            </a:p>
          </p:txBody>
        </p:sp>
      </p:grpSp>
      <p:grpSp>
        <p:nvGrpSpPr>
          <p:cNvPr id="29" name="Group 29"/>
          <p:cNvGrpSpPr/>
          <p:nvPr/>
        </p:nvGrpSpPr>
        <p:grpSpPr>
          <a:xfrm>
            <a:off x="9010650" y="975360"/>
            <a:ext cx="2917420" cy="5225415"/>
            <a:chOff x="9010650" y="975360"/>
            <a:chExt cx="2917420" cy="5225415"/>
          </a:xfrm>
        </p:grpSpPr>
        <p:sp>
          <p:nvSpPr>
            <p:cNvPr id="20" name="TextBox 20"/>
            <p:cNvSpPr txBox="1"/>
            <p:nvPr/>
          </p:nvSpPr>
          <p:spPr>
            <a:xfrm>
              <a:off x="9010650" y="975360"/>
              <a:ext cx="2739318" cy="819150"/>
            </a:xfrm>
            <a:prstGeom prst="rect">
              <a:avLst/>
            </a:prstGeom>
            <a:noFill/>
            <a:ln>
              <a:noFill/>
            </a:ln>
          </p:spPr>
          <p:txBody>
            <a:bodyPr wrap="none" lIns="0" tIns="0" rIns="0" bIns="0" anchor="t" anchorCtr="0">
              <a:spAutoFit/>
            </a:bodyPr>
            <a:lstStyle/>
            <a:p>
              <a:pPr algn="l"/>
              <a:r>
                <a:rPr lang="zh-CN" sz="4200" b="1" dirty="0">
                  <a:solidFill>
                    <a:srgbClr val="FFFFFF"/>
                  </a:solidFill>
                  <a:latin typeface="Segoe UI"/>
                  <a:ea typeface="Microsoft YaHei"/>
                  <a:cs typeface="Segoe UI"/>
                </a:rPr>
                <a:t>3.8 kw 篇</a:t>
              </a:r>
            </a:p>
          </p:txBody>
        </p:sp>
        <p:sp>
          <p:nvSpPr>
            <p:cNvPr id="21" name="TextBox 21"/>
            <p:cNvSpPr txBox="1"/>
            <p:nvPr/>
          </p:nvSpPr>
          <p:spPr>
            <a:xfrm>
              <a:off x="9022842" y="1587818"/>
              <a:ext cx="2645474" cy="492633"/>
            </a:xfrm>
            <a:prstGeom prst="rect">
              <a:avLst/>
            </a:prstGeom>
            <a:noFill/>
            <a:ln>
              <a:noFill/>
            </a:ln>
          </p:spPr>
          <p:txBody>
            <a:bodyPr wrap="square" lIns="0" tIns="0" rIns="0" bIns="0" anchor="t" anchorCtr="0"/>
            <a:lstStyle/>
            <a:p>
              <a:pPr algn="l">
                <a:lnSpc>
                  <a:spcPts val="1800"/>
                </a:lnSpc>
              </a:pPr>
              <a:r>
                <a:rPr lang="zh-CN" sz="1350" dirty="0">
                  <a:solidFill>
                    <a:srgbClr val="FFFFFF">
                      <a:alphaMod val="80000"/>
                    </a:srgbClr>
                  </a:solidFill>
                  <a:latin typeface="Segoe UI"/>
                  <a:ea typeface="Microsoft YaHei"/>
                  <a:cs typeface="Segoe UI"/>
                </a:rPr>
                <a:t>本地文献全文库（约 3,757 万篇）</a:t>
              </a:r>
              <a:r>
                <a:rPr lang="zh-CN" sz="1350" dirty="0">
                  <a:solidFill>
                    <a:srgbClr val="FFFFFF">
                      <a:alphaMod val="80000"/>
                    </a:srgbClr>
                  </a:solidFill>
                  <a:latin typeface="Segoe UI"/>
                  <a:ea typeface="Microsoft YaHei"/>
                  <a:cs typeface="Segoe UI"/>
                </a:rPr>
                <a:t>+ 在线五源检索</a:t>
              </a:r>
            </a:p>
          </p:txBody>
        </p:sp>
        <p:sp>
          <p:nvSpPr>
            <p:cNvPr id="22" name="TextBox 22"/>
            <p:cNvSpPr txBox="1"/>
            <p:nvPr/>
          </p:nvSpPr>
          <p:spPr>
            <a:xfrm>
              <a:off x="9010650" y="2308860"/>
              <a:ext cx="1136397" cy="819150"/>
            </a:xfrm>
            <a:prstGeom prst="rect">
              <a:avLst/>
            </a:prstGeom>
            <a:noFill/>
            <a:ln>
              <a:noFill/>
            </a:ln>
          </p:spPr>
          <p:txBody>
            <a:bodyPr wrap="none" lIns="0" tIns="0" rIns="0" bIns="0" anchor="t" anchorCtr="0">
              <a:spAutoFit/>
            </a:bodyPr>
            <a:lstStyle/>
            <a:p>
              <a:pPr algn="l"/>
              <a:r>
                <a:rPr lang="zh-CN" sz="4200" b="1" dirty="0">
                  <a:solidFill>
                    <a:srgbClr val="FFFFFF"/>
                  </a:solidFill>
                  <a:latin typeface="Segoe UI"/>
                  <a:ea typeface="Microsoft YaHei"/>
                  <a:cs typeface="Segoe UI"/>
                </a:rPr>
                <a:t>9 个</a:t>
              </a:r>
            </a:p>
          </p:txBody>
        </p:sp>
        <p:sp>
          <p:nvSpPr>
            <p:cNvPr id="23" name="TextBox 23"/>
            <p:cNvSpPr txBox="1"/>
            <p:nvPr/>
          </p:nvSpPr>
          <p:spPr>
            <a:xfrm>
              <a:off x="9022842" y="2921318"/>
              <a:ext cx="2499741" cy="492633"/>
            </a:xfrm>
            <a:prstGeom prst="rect">
              <a:avLst/>
            </a:prstGeom>
            <a:noFill/>
            <a:ln>
              <a:noFill/>
            </a:ln>
          </p:spPr>
          <p:txBody>
            <a:bodyPr wrap="square" lIns="0" tIns="0" rIns="0" bIns="0" anchor="t" anchorCtr="0"/>
            <a:lstStyle/>
            <a:p>
              <a:pPr algn="l">
                <a:lnSpc>
                  <a:spcPts val="1800"/>
                </a:lnSpc>
              </a:pPr>
              <a:r>
                <a:rPr lang="zh-CN" sz="1350" dirty="0">
                  <a:solidFill>
                    <a:srgbClr val="FFFFFF">
                      <a:alphaMod val="80000"/>
                    </a:srgbClr>
                  </a:solidFill>
                  <a:latin typeface="Segoe UI"/>
                  <a:ea typeface="Microsoft YaHei"/>
                  <a:cs typeface="Segoe UI"/>
                </a:rPr>
                <a:t>Agent 角色 · 4 个自研 MCP 服务</a:t>
              </a:r>
            </a:p>
            <a:p>
              <a:pPr algn="l" marL="145732" indent="-145732">
                <a:lnSpc>
                  <a:spcPts val="1800"/>
                </a:lnSpc>
                <a:buClr>
                  <a:srgbClr val="FFFFFF"/>
                </a:buClr>
                <a:buSzTx/>
                <a:buFontTx/>
                <a:buChar char="•"/>
              </a:pPr>
              <a:r>
                <a:rPr lang="zh-CN" sz="1350" dirty="0">
                  <a:solidFill>
                    <a:srgbClr val="FFFFFF">
                      <a:alphaMod val="80000"/>
                    </a:srgbClr>
                  </a:solidFill>
                  <a:latin typeface="Segoe UI"/>
                  <a:ea typeface="Microsoft YaHei"/>
                  <a:cs typeface="Segoe UI"/>
                </a:rPr>
                <a:t>25 个工具</a:t>
              </a:r>
            </a:p>
          </p:txBody>
        </p:sp>
        <p:sp>
          <p:nvSpPr>
            <p:cNvPr id="24" name="TextBox 24"/>
            <p:cNvSpPr txBox="1"/>
            <p:nvPr/>
          </p:nvSpPr>
          <p:spPr>
            <a:xfrm>
              <a:off x="9010650" y="3642360"/>
              <a:ext cx="1462918" cy="819150"/>
            </a:xfrm>
            <a:prstGeom prst="rect">
              <a:avLst/>
            </a:prstGeom>
            <a:noFill/>
            <a:ln>
              <a:noFill/>
            </a:ln>
          </p:spPr>
          <p:txBody>
            <a:bodyPr wrap="none" lIns="0" tIns="0" rIns="0" bIns="0" anchor="t" anchorCtr="0">
              <a:spAutoFit/>
            </a:bodyPr>
            <a:lstStyle/>
            <a:p>
              <a:pPr algn="l"/>
              <a:r>
                <a:rPr lang="zh-CN" sz="4200" b="1" dirty="0">
                  <a:solidFill>
                    <a:srgbClr val="FFFFFF"/>
                  </a:solidFill>
                  <a:latin typeface="Segoe UI"/>
                  <a:ea typeface="Microsoft YaHei"/>
                  <a:cs typeface="Segoe UI"/>
                </a:rPr>
                <a:t>28 条</a:t>
              </a:r>
            </a:p>
          </p:txBody>
        </p:sp>
        <p:sp>
          <p:nvSpPr>
            <p:cNvPr id="25" name="TextBox 25"/>
            <p:cNvSpPr txBox="1"/>
            <p:nvPr/>
          </p:nvSpPr>
          <p:spPr>
            <a:xfrm>
              <a:off x="9022842" y="4254818"/>
              <a:ext cx="2414016" cy="492633"/>
            </a:xfrm>
            <a:prstGeom prst="rect">
              <a:avLst/>
            </a:prstGeom>
            <a:noFill/>
            <a:ln>
              <a:noFill/>
            </a:ln>
          </p:spPr>
          <p:txBody>
            <a:bodyPr wrap="square" lIns="0" tIns="0" rIns="0" bIns="0" anchor="t" anchorCtr="0"/>
            <a:lstStyle/>
            <a:p>
              <a:pPr algn="l">
                <a:lnSpc>
                  <a:spcPts val="1800"/>
                </a:lnSpc>
              </a:pPr>
              <a:r>
                <a:rPr lang="zh-CN" sz="1350" dirty="0">
                  <a:solidFill>
                    <a:srgbClr val="FFFFFF">
                      <a:alphaMod val="80000"/>
                    </a:srgbClr>
                  </a:solidFill>
                  <a:latin typeface="Segoe UI"/>
                  <a:ea typeface="Microsoft YaHei"/>
                  <a:cs typeface="Segoe UI"/>
                </a:rPr>
                <a:t>合成条件逐字段比较：目标相</a:t>
              </a:r>
              <a:r>
                <a:rPr lang="zh-CN" sz="1350" dirty="0">
                  <a:solidFill>
                    <a:srgbClr val="FFFFFF">
                      <a:alphaMod val="80000"/>
                    </a:srgbClr>
                  </a:solidFill>
                  <a:latin typeface="Segoe UI"/>
                  <a:ea typeface="Microsoft YaHei"/>
                  <a:cs typeface="Segoe UI"/>
                </a:rPr>
                <a:t>Ba–Y–Zn–Si–O 及 4 个近邻体系</a:t>
              </a:r>
            </a:p>
          </p:txBody>
        </p:sp>
        <p:sp>
          <p:nvSpPr>
            <p:cNvPr id="26" name="TextBox 26"/>
            <p:cNvSpPr txBox="1"/>
            <p:nvPr/>
          </p:nvSpPr>
          <p:spPr>
            <a:xfrm>
              <a:off x="9010650" y="4975860"/>
              <a:ext cx="2917420" cy="819150"/>
            </a:xfrm>
            <a:prstGeom prst="rect">
              <a:avLst/>
            </a:prstGeom>
            <a:noFill/>
            <a:ln>
              <a:noFill/>
            </a:ln>
          </p:spPr>
          <p:txBody>
            <a:bodyPr wrap="none" lIns="0" tIns="0" rIns="0" bIns="0" anchor="t" anchorCtr="0">
              <a:spAutoFit/>
            </a:bodyPr>
            <a:lstStyle/>
            <a:p>
              <a:pPr algn="l"/>
              <a:r>
                <a:rPr lang="zh-CN" sz="4200" b="1" dirty="0">
                  <a:solidFill>
                    <a:srgbClr val="FFFFFF"/>
                  </a:solidFill>
                  <a:latin typeface="Segoe UI"/>
                  <a:ea typeface="Microsoft YaHei"/>
                  <a:cs typeface="Segoe UI"/>
                </a:rPr>
                <a:t>7 种 · 4 个</a:t>
              </a:r>
            </a:p>
          </p:txBody>
        </p:sp>
        <p:sp>
          <p:nvSpPr>
            <p:cNvPr id="27" name="TextBox 27"/>
            <p:cNvSpPr txBox="1"/>
            <p:nvPr/>
          </p:nvSpPr>
          <p:spPr>
            <a:xfrm>
              <a:off x="9022842" y="5588318"/>
              <a:ext cx="2242566" cy="492633"/>
            </a:xfrm>
            <a:prstGeom prst="rect">
              <a:avLst/>
            </a:prstGeom>
            <a:noFill/>
            <a:ln>
              <a:noFill/>
            </a:ln>
          </p:spPr>
          <p:txBody>
            <a:bodyPr wrap="square" lIns="0" tIns="0" rIns="0" bIns="0" anchor="t" anchorCtr="0"/>
            <a:lstStyle/>
            <a:p>
              <a:pPr algn="l">
                <a:lnSpc>
                  <a:spcPts val="1800"/>
                </a:lnSpc>
              </a:pPr>
              <a:r>
                <a:rPr lang="zh-CN" sz="1350" dirty="0">
                  <a:solidFill>
                    <a:srgbClr val="FFFFFF">
                      <a:alphaMod val="80000"/>
                    </a:srgbClr>
                  </a:solidFill>
                  <a:latin typeface="Segoe UI"/>
                  <a:ea typeface="Microsoft YaHei"/>
                  <a:cs typeface="Segoe UI"/>
                </a:rPr>
                <a:t>目标化合物的前驱体路线预测</a:t>
              </a:r>
            </a:p>
            <a:p>
              <a:pPr algn="l" marL="145732" indent="-145732">
                <a:lnSpc>
                  <a:spcPts val="1800"/>
                </a:lnSpc>
                <a:buClr>
                  <a:srgbClr val="FFFFFF"/>
                </a:buClr>
                <a:buSzTx/>
                <a:buFontTx/>
                <a:buChar char="•"/>
              </a:pPr>
              <a:r>
                <a:rPr lang="zh-CN" sz="1350" dirty="0">
                  <a:solidFill>
                    <a:srgbClr val="FFFFFF">
                      <a:alphaMod val="80000"/>
                    </a:srgbClr>
                  </a:solidFill>
                  <a:latin typeface="Segoe UI"/>
                  <a:ea typeface="Microsoft YaHei"/>
                  <a:cs typeface="Segoe UI"/>
                </a:rPr>
                <a:t>值得探索的新实验方向</a:t>
              </a:r>
            </a:p>
          </p:txBody>
        </p:sp>
        <p:sp>
          <p:nvSpPr>
            <p:cNvPr id="28" name="Line 28"/>
            <p:cNvSpPr/>
            <p:nvPr/>
          </p:nvSpPr>
          <p:spPr>
            <a:xfrm>
              <a:off x="9029700" y="6191250"/>
              <a:ext cx="2705100" cy="9525"/>
            </a:xfrm>
            <a:custGeom>
              <a:avLst/>
              <a:gdLst/>
              <a:ahLst/>
              <a:cxnLst/>
              <a:rect l="l" t="t" r="r" b="b"/>
              <a:pathLst>
                <a:path w="2705100" h="9525">
                  <a:moveTo>
                    <a:pt x="0" y="0"/>
                  </a:moveTo>
                  <a:lnTo>
                    <a:pt x="2705100" y="0"/>
                  </a:lnTo>
                </a:path>
              </a:pathLst>
            </a:custGeom>
            <a:noFill/>
            <a:ln w="9525">
              <a:solidFill>
                <a:srgbClr val="FFFFFF">
                  <a:alpha val="35000"/>
                </a:srgbClr>
              </a:solidFill>
            </a:ln>
          </p:spPr>
        </p:sp>
      </p:grpSp>
      <p:sp>
        <p:nvSpPr>
          <p:cNvPr id="30" name="TextBox 30"/>
          <p:cNvSpPr txBox="1"/>
          <p:nvPr/>
        </p:nvSpPr>
        <p:spPr>
          <a:xfrm>
            <a:off x="9723120" y="6480810"/>
            <a:ext cx="1789176" cy="234696"/>
          </a:xfrm>
          <a:prstGeom prst="rect">
            <a:avLst/>
          </a:prstGeom>
          <a:noFill/>
          <a:ln>
            <a:noFill/>
          </a:ln>
        </p:spPr>
        <p:txBody>
          <a:bodyPr wrap="none" lIns="0" tIns="0" rIns="0" bIns="0" anchor="t" anchorCtr="0">
            <a:spAutoFit/>
          </a:bodyPr>
          <a:lstStyle/>
          <a:p>
            <a:pPr algn="r"/>
            <a:r>
              <a:rPr lang="zh-CN" sz="1200" dirty="0">
                <a:solidFill>
                  <a:srgbClr val="FFFFFF">
                    <a:alphaMod val="80000"/>
                  </a:srgbClr>
                </a:solidFill>
                <a:latin typeface="Segoe UI"/>
                <a:ea typeface="Microsoft YaHei"/>
                <a:cs typeface="Segoe UI"/>
              </a:rPr>
              <a:t>2026-09 · 复赛作品说明</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70560" y="590550"/>
            <a:ext cx="11055858" cy="586740"/>
            <a:chOff x="670560" y="590550"/>
            <a:chExt cx="11055858" cy="586740"/>
          </a:xfrm>
        </p:grpSpPr>
        <p:sp>
          <p:nvSpPr>
            <p:cNvPr id="2" name="TextBox 2"/>
            <p:cNvSpPr txBox="1"/>
            <p:nvPr/>
          </p:nvSpPr>
          <p:spPr>
            <a:xfrm>
              <a:off x="670560" y="590550"/>
              <a:ext cx="11055858"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Segoe UI"/>
                  <a:ea typeface="Microsoft YaHei"/>
                  <a:cs typeface="Segoe UI"/>
                </a:rPr>
                <a:t>自动化实验室缺的不是产能，而是能随实验迭代的知识闭环</a:t>
              </a:r>
            </a:p>
          </p:txBody>
        </p:sp>
        <p:sp>
          <p:nvSpPr>
            <p:cNvPr id="3" name="Rectangle 3"/>
            <p:cNvSpPr/>
            <p:nvPr/>
          </p:nvSpPr>
          <p:spPr>
            <a:xfrm>
              <a:off x="685800" y="1085850"/>
              <a:ext cx="685800" cy="38100"/>
            </a:xfrm>
            <a:prstGeom prst="rect">
              <a:avLst/>
            </a:prstGeom>
            <a:solidFill>
              <a:schemeClr val="accent1"/>
            </a:solidFill>
            <a:ln>
              <a:noFill/>
            </a:ln>
          </p:spPr>
        </p:sp>
      </p:grpSp>
      <p:grpSp>
        <p:nvGrpSpPr>
          <p:cNvPr id="6" name="Group 6"/>
          <p:cNvGrpSpPr/>
          <p:nvPr/>
        </p:nvGrpSpPr>
        <p:grpSpPr>
          <a:xfrm>
            <a:off x="675894" y="1370648"/>
            <a:ext cx="10941177" cy="724281"/>
            <a:chOff x="675894" y="1370648"/>
            <a:chExt cx="10941177" cy="724281"/>
          </a:xfrm>
        </p:grpSpPr>
        <p:sp>
          <p:nvSpPr>
            <p:cNvPr id="5" name="TextBox 5"/>
            <p:cNvSpPr txBox="1"/>
            <p:nvPr/>
          </p:nvSpPr>
          <p:spPr>
            <a:xfrm>
              <a:off x="675894" y="1370648"/>
              <a:ext cx="10941177" cy="724281"/>
            </a:xfrm>
            <a:prstGeom prst="rect">
              <a:avLst/>
            </a:prstGeom>
            <a:noFill/>
            <a:ln>
              <a:noFill/>
            </a:ln>
          </p:spPr>
          <p:txBody>
            <a:bodyPr wrap="square" lIns="0" tIns="0" rIns="0" bIns="0" anchor="t" anchorCtr="0"/>
            <a:lstStyle/>
            <a:p>
              <a:pPr algn="l">
                <a:lnSpc>
                  <a:spcPts val="2700"/>
                </a:lnSpc>
              </a:pPr>
              <a:r>
                <a:rPr lang="zh-CN" sz="1950" dirty="0">
                  <a:solidFill>
                    <a:schemeClr val="dk1"/>
                  </a:solidFill>
                  <a:latin typeface="Segoe UI"/>
                  <a:ea typeface="Microsoft YaHei"/>
                  <a:cs typeface="Segoe UI"/>
                </a:rPr>
                <a:t>实验平台已能高通量地做实验，“做什么实验、为什么做”仍靠人读文献。AI for Science 的空缺是：</a:t>
              </a:r>
              <a:r>
                <a:rPr lang="zh-CN" sz="1950" dirty="0">
                  <a:solidFill>
                    <a:schemeClr val="dk1"/>
                  </a:solidFill>
                  <a:latin typeface="Segoe UI"/>
                  <a:ea typeface="Microsoft YaHei"/>
                  <a:cs typeface="Segoe UI"/>
                </a:rPr>
                <a:t>让大模型把文献知识</a:t>
              </a:r>
              <a:r>
                <a:rPr lang="zh-CN" sz="1950" b="1" dirty="0">
                  <a:solidFill>
                    <a:schemeClr val="accent2"/>
                  </a:solidFill>
                  <a:latin typeface="Segoe UI"/>
                  <a:ea typeface="Microsoft YaHei"/>
                  <a:cs typeface="Segoe UI"/>
                </a:rPr>
                <a:t>抽取、总结、压缩</a:t>
              </a:r>
              <a:r>
                <a:rPr lang="zh-CN" sz="1950" dirty="0">
                  <a:solidFill>
                    <a:schemeClr val="dk1"/>
                  </a:solidFill>
                  <a:latin typeface="Segoe UI"/>
                  <a:ea typeface="Microsoft YaHei"/>
                  <a:cs typeface="Segoe UI"/>
                </a:rPr>
                <a:t>成可执行的假设，并与实验结果、历史文献形成迭代。</a:t>
              </a:r>
            </a:p>
          </p:txBody>
        </p:sp>
      </p:grpSp>
      <p:grpSp>
        <p:nvGrpSpPr>
          <p:cNvPr id="12" name="Group 12"/>
          <p:cNvGrpSpPr/>
          <p:nvPr/>
        </p:nvGrpSpPr>
        <p:grpSpPr>
          <a:xfrm>
            <a:off x="685800" y="2324100"/>
            <a:ext cx="2990850" cy="800100"/>
            <a:chOff x="685800" y="2324100"/>
            <a:chExt cx="2990850" cy="800100"/>
          </a:xfrm>
        </p:grpSpPr>
        <p:sp>
          <p:nvSpPr>
            <p:cNvPr id="7" name="Rectangle 7"/>
            <p:cNvSpPr/>
            <p:nvPr/>
          </p:nvSpPr>
          <p:spPr>
            <a:xfrm>
              <a:off x="685800" y="2324100"/>
              <a:ext cx="2400300" cy="800100"/>
            </a:xfrm>
            <a:prstGeom prst="rect">
              <a:avLst/>
            </a:prstGeom>
            <a:solidFill>
              <a:schemeClr val="lt2"/>
            </a:solidFill>
            <a:ln>
              <a:noFill/>
            </a:ln>
          </p:spPr>
        </p:sp>
        <p:sp>
          <p:nvSpPr>
            <p:cNvPr id="8" name="Rectangle 8"/>
            <p:cNvSpPr/>
            <p:nvPr/>
          </p:nvSpPr>
          <p:spPr>
            <a:xfrm>
              <a:off x="685800" y="2324100"/>
              <a:ext cx="2400300" cy="38100"/>
            </a:xfrm>
            <a:prstGeom prst="rect">
              <a:avLst/>
            </a:prstGeom>
            <a:solidFill>
              <a:schemeClr val="accent1"/>
            </a:solidFill>
            <a:ln>
              <a:noFill/>
            </a:ln>
          </p:spPr>
        </p:sp>
        <p:sp>
          <p:nvSpPr>
            <p:cNvPr id="9" name="TextBox 9"/>
            <p:cNvSpPr txBox="1"/>
            <p:nvPr/>
          </p:nvSpPr>
          <p:spPr>
            <a:xfrm>
              <a:off x="869442" y="2502218"/>
              <a:ext cx="1540307"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历史文献与数据库</a:t>
              </a:r>
            </a:p>
          </p:txBody>
        </p:sp>
        <p:sp>
          <p:nvSpPr>
            <p:cNvPr id="10" name="TextBox 10"/>
            <p:cNvSpPr txBox="1"/>
            <p:nvPr/>
          </p:nvSpPr>
          <p:spPr>
            <a:xfrm>
              <a:off x="870204" y="2766060"/>
              <a:ext cx="2225345" cy="234696"/>
            </a:xfrm>
            <a:prstGeom prst="rect">
              <a:avLst/>
            </a:prstGeom>
            <a:noFill/>
            <a:ln>
              <a:noFill/>
            </a:ln>
          </p:spPr>
          <p:txBody>
            <a:bodyPr wrap="none" lIns="0" tIns="0" rIns="0" bIns="0" anchor="t" anchorCtr="0">
              <a:spAutoFit/>
            </a:bodyPr>
            <a:lstStyle/>
            <a:p>
              <a:pPr algn="l"/>
              <a:r>
                <a:rPr lang="zh-CN" sz="1200" dirty="0">
                  <a:solidFill>
                    <a:schemeClr val="dk2"/>
                  </a:solidFill>
                  <a:latin typeface="Segoe UI"/>
                  <a:ea typeface="Microsoft YaHei"/>
                  <a:cs typeface="Segoe UI"/>
                </a:rPr>
                <a:t>3.8 kw 篇全文 + 在线五源检索</a:t>
              </a:r>
            </a:p>
          </p:txBody>
        </p:sp>
        <p:sp>
          <p:nvSpPr>
            <p:cNvPr id="11" name="Line 11"/>
            <p:cNvSpPr/>
            <p:nvPr/>
          </p:nvSpPr>
          <p:spPr>
            <a:xfrm>
              <a:off x="3105150" y="2724150"/>
              <a:ext cx="571500" cy="1"/>
            </a:xfrm>
            <a:prstGeom prst="line">
              <a:avLst/>
            </a:prstGeom>
            <a:noFill/>
            <a:ln w="19050">
              <a:solidFill>
                <a:schemeClr val="accent1"/>
              </a:solidFill>
              <a:tailEnd type="triangle" w="med" len="med"/>
            </a:ln>
          </p:spPr>
        </p:sp>
      </p:grpSp>
      <p:grpSp>
        <p:nvGrpSpPr>
          <p:cNvPr id="17" name="Group 17"/>
          <p:cNvGrpSpPr/>
          <p:nvPr/>
        </p:nvGrpSpPr>
        <p:grpSpPr>
          <a:xfrm>
            <a:off x="3733800" y="2324100"/>
            <a:ext cx="3159664" cy="2247900"/>
            <a:chOff x="3733800" y="2324100"/>
            <a:chExt cx="3159664" cy="2247900"/>
          </a:xfrm>
        </p:grpSpPr>
        <p:sp>
          <p:nvSpPr>
            <p:cNvPr id="13" name="Rectangle 13"/>
            <p:cNvSpPr/>
            <p:nvPr/>
          </p:nvSpPr>
          <p:spPr>
            <a:xfrm>
              <a:off x="3733800" y="2324100"/>
              <a:ext cx="2857500" cy="800100"/>
            </a:xfrm>
            <a:prstGeom prst="rect">
              <a:avLst/>
            </a:prstGeom>
            <a:solidFill>
              <a:schemeClr val="accent1"/>
            </a:solidFill>
            <a:ln>
              <a:noFill/>
            </a:ln>
          </p:spPr>
        </p:sp>
        <p:sp>
          <p:nvSpPr>
            <p:cNvPr id="14" name="TextBox 14"/>
            <p:cNvSpPr txBox="1"/>
            <p:nvPr/>
          </p:nvSpPr>
          <p:spPr>
            <a:xfrm>
              <a:off x="3917442" y="2502218"/>
              <a:ext cx="2976022"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Segoe UI"/>
                  <a:ea typeface="Microsoft YaHei"/>
                  <a:cs typeface="Segoe UI"/>
                </a:rPr>
                <a:t>大模型 Agent：抽取 · 总结 · 压缩</a:t>
              </a:r>
            </a:p>
          </p:txBody>
        </p:sp>
        <p:sp>
          <p:nvSpPr>
            <p:cNvPr id="15" name="TextBox 15"/>
            <p:cNvSpPr txBox="1"/>
            <p:nvPr/>
          </p:nvSpPr>
          <p:spPr>
            <a:xfrm>
              <a:off x="3918204" y="2766060"/>
              <a:ext cx="2508047" cy="234696"/>
            </a:xfrm>
            <a:prstGeom prst="rect">
              <a:avLst/>
            </a:prstGeom>
            <a:noFill/>
            <a:ln>
              <a:noFill/>
            </a:ln>
          </p:spPr>
          <p:txBody>
            <a:bodyPr wrap="none" lIns="0" tIns="0" rIns="0" bIns="0" anchor="t" anchorCtr="0">
              <a:spAutoFit/>
            </a:bodyPr>
            <a:lstStyle/>
            <a:p>
              <a:pPr algn="l"/>
              <a:r>
                <a:rPr lang="zh-CN" sz="1200" dirty="0">
                  <a:solidFill>
                    <a:srgbClr val="FFFFFF">
                      <a:alphaMod val="85000"/>
                    </a:srgbClr>
                  </a:solidFill>
                  <a:latin typeface="Segoe UI"/>
                  <a:ea typeface="Microsoft YaHei"/>
                  <a:cs typeface="Segoe UI"/>
                </a:rPr>
                <a:t>检索 → 核对 → 条件表 → 可迁移范围</a:t>
              </a:r>
            </a:p>
          </p:txBody>
        </p:sp>
        <p:sp>
          <p:nvSpPr>
            <p:cNvPr id="16" name="Line 16"/>
            <p:cNvSpPr/>
            <p:nvPr/>
          </p:nvSpPr>
          <p:spPr>
            <a:xfrm>
              <a:off x="5162550" y="3143250"/>
              <a:ext cx="1" cy="1428750"/>
            </a:xfrm>
            <a:prstGeom prst="line">
              <a:avLst/>
            </a:prstGeom>
            <a:noFill/>
            <a:ln w="19050">
              <a:solidFill>
                <a:schemeClr val="accent1"/>
              </a:solidFill>
              <a:tailEnd type="triangle" w="med" len="med"/>
            </a:ln>
          </p:spPr>
        </p:sp>
      </p:grpSp>
      <p:grpSp>
        <p:nvGrpSpPr>
          <p:cNvPr id="23" name="Group 23"/>
          <p:cNvGrpSpPr/>
          <p:nvPr/>
        </p:nvGrpSpPr>
        <p:grpSpPr>
          <a:xfrm>
            <a:off x="3143250" y="4629150"/>
            <a:ext cx="3533394" cy="800100"/>
            <a:chOff x="3143250" y="4629150"/>
            <a:chExt cx="3533394" cy="800100"/>
          </a:xfrm>
        </p:grpSpPr>
        <p:sp>
          <p:nvSpPr>
            <p:cNvPr id="18" name="Rectangle 18"/>
            <p:cNvSpPr/>
            <p:nvPr/>
          </p:nvSpPr>
          <p:spPr>
            <a:xfrm>
              <a:off x="3733800" y="4629150"/>
              <a:ext cx="2857500" cy="800100"/>
            </a:xfrm>
            <a:prstGeom prst="rect">
              <a:avLst/>
            </a:prstGeom>
            <a:solidFill>
              <a:schemeClr val="lt1"/>
            </a:solidFill>
            <a:ln w="14288">
              <a:solidFill>
                <a:schemeClr val="accent1"/>
              </a:solidFill>
            </a:ln>
          </p:spPr>
        </p:sp>
        <p:sp>
          <p:nvSpPr>
            <p:cNvPr id="19" name="Rectangle 19"/>
            <p:cNvSpPr/>
            <p:nvPr/>
          </p:nvSpPr>
          <p:spPr>
            <a:xfrm>
              <a:off x="3733800" y="4629150"/>
              <a:ext cx="2857500" cy="38100"/>
            </a:xfrm>
            <a:prstGeom prst="rect">
              <a:avLst/>
            </a:prstGeom>
            <a:solidFill>
              <a:schemeClr val="accent2"/>
            </a:solidFill>
            <a:ln>
              <a:noFill/>
            </a:ln>
          </p:spPr>
        </p:sp>
        <p:sp>
          <p:nvSpPr>
            <p:cNvPr id="20" name="TextBox 20"/>
            <p:cNvSpPr txBox="1"/>
            <p:nvPr/>
          </p:nvSpPr>
          <p:spPr>
            <a:xfrm>
              <a:off x="3917442" y="4807268"/>
              <a:ext cx="1349483"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假设与合成方案</a:t>
              </a:r>
            </a:p>
          </p:txBody>
        </p:sp>
        <p:sp>
          <p:nvSpPr>
            <p:cNvPr id="21" name="TextBox 21"/>
            <p:cNvSpPr txBox="1"/>
            <p:nvPr/>
          </p:nvSpPr>
          <p:spPr>
            <a:xfrm>
              <a:off x="3918204" y="5071110"/>
              <a:ext cx="2758440" cy="234696"/>
            </a:xfrm>
            <a:prstGeom prst="rect">
              <a:avLst/>
            </a:prstGeom>
            <a:noFill/>
            <a:ln>
              <a:noFill/>
            </a:ln>
          </p:spPr>
          <p:txBody>
            <a:bodyPr wrap="none" lIns="0" tIns="0" rIns="0" bIns="0" anchor="t" anchorCtr="0">
              <a:spAutoFit/>
            </a:bodyPr>
            <a:lstStyle/>
            <a:p>
              <a:pPr algn="l"/>
              <a:r>
                <a:rPr lang="zh-CN" sz="1200" dirty="0">
                  <a:solidFill>
                    <a:schemeClr val="dk2"/>
                  </a:solidFill>
                  <a:latin typeface="Segoe UI"/>
                  <a:ea typeface="Microsoft YaHei"/>
                  <a:cs typeface="Segoe UI"/>
                </a:rPr>
                <a:t>前驱体 · 温度/气氛 · 表征 · 失败判据</a:t>
              </a:r>
            </a:p>
          </p:txBody>
        </p:sp>
        <p:sp>
          <p:nvSpPr>
            <p:cNvPr id="22" name="Line 22"/>
            <p:cNvSpPr/>
            <p:nvPr/>
          </p:nvSpPr>
          <p:spPr>
            <a:xfrm flipH="1">
              <a:off x="3143250" y="5029200"/>
              <a:ext cx="552450" cy="1"/>
            </a:xfrm>
            <a:prstGeom prst="line">
              <a:avLst/>
            </a:prstGeom>
            <a:noFill/>
            <a:ln w="19050">
              <a:solidFill>
                <a:schemeClr val="accent3"/>
              </a:solidFill>
              <a:tailEnd type="triangle" w="med" len="med"/>
            </a:ln>
          </p:spPr>
        </p:sp>
      </p:grpSp>
      <p:grpSp>
        <p:nvGrpSpPr>
          <p:cNvPr id="29" name="Group 29"/>
          <p:cNvGrpSpPr/>
          <p:nvPr/>
        </p:nvGrpSpPr>
        <p:grpSpPr>
          <a:xfrm>
            <a:off x="685800" y="3181350"/>
            <a:ext cx="2400300" cy="2247900"/>
            <a:chOff x="685800" y="3181350"/>
            <a:chExt cx="2400300" cy="2247900"/>
          </a:xfrm>
        </p:grpSpPr>
        <p:sp>
          <p:nvSpPr>
            <p:cNvPr id="24" name="Rectangle 24"/>
            <p:cNvSpPr/>
            <p:nvPr/>
          </p:nvSpPr>
          <p:spPr>
            <a:xfrm>
              <a:off x="685800" y="4629150"/>
              <a:ext cx="2400300" cy="800100"/>
            </a:xfrm>
            <a:prstGeom prst="rect">
              <a:avLst/>
            </a:prstGeom>
            <a:solidFill>
              <a:schemeClr val="lt1"/>
            </a:solidFill>
            <a:ln w="14288">
              <a:solidFill>
                <a:schemeClr val="accent3"/>
              </a:solidFill>
              <a:custDash>
                <a:ds d="400000" sp="266666"/>
              </a:custDash>
            </a:ln>
          </p:spPr>
        </p:sp>
        <p:sp>
          <p:nvSpPr>
            <p:cNvPr id="25" name="Rectangle 25"/>
            <p:cNvSpPr/>
            <p:nvPr/>
          </p:nvSpPr>
          <p:spPr>
            <a:xfrm>
              <a:off x="685800" y="4629150"/>
              <a:ext cx="2400300" cy="38100"/>
            </a:xfrm>
            <a:prstGeom prst="rect">
              <a:avLst/>
            </a:prstGeom>
            <a:solidFill>
              <a:schemeClr val="accent3"/>
            </a:solidFill>
            <a:ln>
              <a:noFill/>
            </a:ln>
          </p:spPr>
        </p:sp>
        <p:sp>
          <p:nvSpPr>
            <p:cNvPr id="26" name="TextBox 26"/>
            <p:cNvSpPr txBox="1"/>
            <p:nvPr/>
          </p:nvSpPr>
          <p:spPr>
            <a:xfrm>
              <a:off x="869442" y="4807268"/>
              <a:ext cx="1158659"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Segoe UI"/>
                  <a:ea typeface="Microsoft YaHei"/>
                  <a:cs typeface="Segoe UI"/>
                </a:rPr>
                <a:t>自动化实验室</a:t>
              </a:r>
            </a:p>
          </p:txBody>
        </p:sp>
        <p:sp>
          <p:nvSpPr>
            <p:cNvPr id="27" name="TextBox 27"/>
            <p:cNvSpPr txBox="1"/>
            <p:nvPr/>
          </p:nvSpPr>
          <p:spPr>
            <a:xfrm>
              <a:off x="870204" y="5071110"/>
              <a:ext cx="2160727" cy="234696"/>
            </a:xfrm>
            <a:prstGeom prst="rect">
              <a:avLst/>
            </a:prstGeom>
            <a:noFill/>
            <a:ln>
              <a:noFill/>
            </a:ln>
          </p:spPr>
          <p:txBody>
            <a:bodyPr wrap="none" lIns="0" tIns="0" rIns="0" bIns="0" anchor="t" anchorCtr="0">
              <a:spAutoFit/>
            </a:bodyPr>
            <a:lstStyle/>
            <a:p>
              <a:pPr algn="l"/>
              <a:r>
                <a:rPr lang="zh-CN" sz="1200" dirty="0">
                  <a:solidFill>
                    <a:schemeClr val="dk2"/>
                  </a:solidFill>
                  <a:latin typeface="Segoe UI"/>
                  <a:ea typeface="Microsoft YaHei"/>
                  <a:cs typeface="Segoe UI"/>
                </a:rPr>
                <a:t>合成 · 表征 · 结果回写为证据</a:t>
              </a:r>
            </a:p>
          </p:txBody>
        </p:sp>
        <p:sp>
          <p:nvSpPr>
            <p:cNvPr id="28" name="Line 28"/>
            <p:cNvSpPr/>
            <p:nvPr/>
          </p:nvSpPr>
          <p:spPr>
            <a:xfrm flipV="1">
              <a:off x="1885950" y="3181350"/>
              <a:ext cx="1" cy="1409700"/>
            </a:xfrm>
            <a:prstGeom prst="line">
              <a:avLst/>
            </a:prstGeom>
            <a:noFill/>
            <a:ln w="19050">
              <a:solidFill>
                <a:schemeClr val="accent3"/>
              </a:solidFill>
              <a:custDash>
                <a:ds d="300000" sp="200000"/>
              </a:custDash>
              <a:tailEnd type="triangle" w="med" len="med"/>
            </a:ln>
          </p:spPr>
        </p:sp>
      </p:grpSp>
      <p:grpSp>
        <p:nvGrpSpPr>
          <p:cNvPr id="33" name="Group 33"/>
          <p:cNvGrpSpPr/>
          <p:nvPr/>
        </p:nvGrpSpPr>
        <p:grpSpPr>
          <a:xfrm>
            <a:off x="679704" y="3702368"/>
            <a:ext cx="7378598" cy="2232088"/>
            <a:chOff x="679704" y="3702368"/>
            <a:chExt cx="7378598" cy="2232088"/>
          </a:xfrm>
        </p:grpSpPr>
        <p:sp>
          <p:nvSpPr>
            <p:cNvPr id="30" name="TextBox 30"/>
            <p:cNvSpPr txBox="1"/>
            <p:nvPr/>
          </p:nvSpPr>
          <p:spPr>
            <a:xfrm>
              <a:off x="3250044" y="3702368"/>
              <a:ext cx="777011" cy="264033"/>
            </a:xfrm>
            <a:prstGeom prst="rect">
              <a:avLst/>
            </a:prstGeom>
            <a:noFill/>
            <a:ln>
              <a:noFill/>
            </a:ln>
          </p:spPr>
          <p:txBody>
            <a:bodyPr wrap="none" lIns="0" tIns="0" rIns="0" bIns="0" anchor="t" anchorCtr="0">
              <a:spAutoFit/>
            </a:bodyPr>
            <a:lstStyle/>
            <a:p>
              <a:pPr algn="ctr"/>
              <a:r>
                <a:rPr lang="zh-CN" sz="1350" b="1" dirty="0">
                  <a:solidFill>
                    <a:schemeClr val="accent2"/>
                  </a:solidFill>
                  <a:latin typeface="Segoe UI"/>
                  <a:ea typeface="Microsoft YaHei"/>
                  <a:cs typeface="Segoe UI"/>
                </a:rPr>
                <a:t>知识闭环</a:t>
              </a:r>
            </a:p>
          </p:txBody>
        </p:sp>
        <p:sp>
          <p:nvSpPr>
            <p:cNvPr id="31" name="TextBox 31"/>
            <p:cNvSpPr txBox="1"/>
            <p:nvPr/>
          </p:nvSpPr>
          <p:spPr>
            <a:xfrm>
              <a:off x="2340102" y="3947160"/>
              <a:ext cx="2596896" cy="234696"/>
            </a:xfrm>
            <a:prstGeom prst="rect">
              <a:avLst/>
            </a:prstGeom>
            <a:noFill/>
            <a:ln>
              <a:noFill/>
            </a:ln>
          </p:spPr>
          <p:txBody>
            <a:bodyPr wrap="none" lIns="0" tIns="0" rIns="0" bIns="0" anchor="t" anchorCtr="0">
              <a:spAutoFit/>
            </a:bodyPr>
            <a:lstStyle/>
            <a:p>
              <a:pPr algn="ctr"/>
              <a:r>
                <a:rPr lang="zh-CN" sz="1200" dirty="0">
                  <a:solidFill>
                    <a:schemeClr val="dk2"/>
                  </a:solidFill>
                  <a:latin typeface="Segoe UI"/>
                  <a:ea typeface="Microsoft YaHei"/>
                  <a:cs typeface="Segoe UI"/>
                </a:rPr>
                <a:t>每一轮都站在前人的成功与失败之上</a:t>
              </a:r>
            </a:p>
          </p:txBody>
        </p:sp>
        <p:sp>
          <p:nvSpPr>
            <p:cNvPr id="32" name="TextBox 32"/>
            <p:cNvSpPr txBox="1"/>
            <p:nvPr/>
          </p:nvSpPr>
          <p:spPr>
            <a:xfrm>
              <a:off x="679704" y="5699760"/>
              <a:ext cx="737859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Segoe UI"/>
                  <a:ea typeface="Microsoft YaHei"/>
                  <a:cs typeface="Segoe UI"/>
                </a:rPr>
                <a:t>实线：本系统覆盖的知识侧（文献 → 抽取压缩 → 假设方案） 虚线：下一环，实验结果回写后触发新一轮</a:t>
              </a:r>
            </a:p>
          </p:txBody>
        </p:sp>
      </p:grpSp>
      <p:grpSp>
        <p:nvGrpSpPr>
          <p:cNvPr id="39" name="Group 39"/>
          <p:cNvGrpSpPr/>
          <p:nvPr/>
        </p:nvGrpSpPr>
        <p:grpSpPr>
          <a:xfrm>
            <a:off x="7048500" y="2324100"/>
            <a:ext cx="4672155" cy="2861501"/>
            <a:chOff x="7048500" y="2324100"/>
            <a:chExt cx="4672155" cy="2861501"/>
          </a:xfrm>
        </p:grpSpPr>
        <p:sp>
          <p:nvSpPr>
            <p:cNvPr id="34" name="Rectangle 34"/>
            <p:cNvSpPr/>
            <p:nvPr/>
          </p:nvSpPr>
          <p:spPr>
            <a:xfrm>
              <a:off x="7048500" y="2324100"/>
              <a:ext cx="57150" cy="2724150"/>
            </a:xfrm>
            <a:prstGeom prst="rect">
              <a:avLst/>
            </a:prstGeom>
            <a:solidFill>
              <a:schemeClr val="accent1"/>
            </a:solidFill>
            <a:ln>
              <a:noFill/>
            </a:ln>
          </p:spPr>
        </p:sp>
        <p:sp>
          <p:nvSpPr>
            <p:cNvPr id="35" name="TextBox 35"/>
            <p:cNvSpPr txBox="1"/>
            <p:nvPr/>
          </p:nvSpPr>
          <p:spPr>
            <a:xfrm>
              <a:off x="7267956" y="2377440"/>
              <a:ext cx="179931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Segoe UI"/>
                  <a:ea typeface="Microsoft YaHei"/>
                  <a:cs typeface="Segoe UI"/>
                </a:rPr>
                <a:t>为什么现在重要</a:t>
              </a:r>
            </a:p>
          </p:txBody>
        </p:sp>
        <p:sp>
          <p:nvSpPr>
            <p:cNvPr id="36" name="TextBox 36"/>
            <p:cNvSpPr txBox="1"/>
            <p:nvPr/>
          </p:nvSpPr>
          <p:spPr>
            <a:xfrm>
              <a:off x="7270242" y="2787968"/>
              <a:ext cx="4450413" cy="1654683"/>
            </a:xfrm>
            <a:prstGeom prst="rect">
              <a:avLst/>
            </a:prstGeom>
            <a:noFill/>
            <a:ln>
              <a:noFill/>
            </a:ln>
          </p:spPr>
          <p:txBody>
            <a:bodyPr wrap="square" lIns="0" tIns="0" rIns="0" bIns="0" anchor="t" anchorCtr="0"/>
            <a:lstStyle/>
            <a:p>
              <a:pPr algn="l">
                <a:lnSpc>
                  <a:spcPts val="1950"/>
                </a:lnSpc>
              </a:pPr>
              <a:r>
                <a:rPr lang="en-US" sz="1350" b="1" dirty="0">
                  <a:solidFill>
                    <a:schemeClr val="accent2"/>
                  </a:solidFill>
                  <a:latin typeface="Segoe UI"/>
                  <a:ea typeface="Segoe UI"/>
                  <a:cs typeface="Segoe UI"/>
                </a:rPr>
                <a:t>①</a:t>
              </a:r>
              <a:r>
                <a:rPr lang="zh-CN" sz="1350" dirty="0">
                  <a:solidFill>
                    <a:schemeClr val="dk1"/>
                  </a:solidFill>
                  <a:latin typeface="Segoe UI"/>
                  <a:ea typeface="Microsoft YaHei"/>
                  <a:cs typeface="Segoe UI"/>
                </a:rPr>
                <a:t xml:space="preserve"> 实验产能已经远大于知识吞吐：机器人一天能做的实验，</a:t>
              </a:r>
              <a:r>
                <a:rPr lang="zh-CN" sz="1350" dirty="0">
                  <a:solidFill>
                    <a:schemeClr val="dk1"/>
                  </a:solidFill>
                  <a:latin typeface="Segoe UI"/>
                  <a:ea typeface="Microsoft YaHei"/>
                  <a:cs typeface="Segoe UI"/>
                </a:rPr>
                <a:t>人几周也读不完对应的文献</a:t>
              </a:r>
            </a:p>
            <a:p>
              <a:pPr algn="l">
                <a:lnSpc>
                  <a:spcPts val="1950"/>
                </a:lnSpc>
                <a:spcBef>
                  <a:spcPts val="600"/>
                </a:spcBef>
              </a:pPr>
              <a:r>
                <a:rPr lang="en-US" sz="1350" b="1" dirty="0">
                  <a:solidFill>
                    <a:schemeClr val="accent2"/>
                  </a:solidFill>
                  <a:latin typeface="Segoe UI"/>
                  <a:ea typeface="Segoe UI"/>
                  <a:cs typeface="Segoe UI"/>
                </a:rPr>
                <a:t>②</a:t>
              </a:r>
              <a:r>
                <a:rPr lang="zh-CN" sz="1350" dirty="0">
                  <a:solidFill>
                    <a:schemeClr val="dk1"/>
                  </a:solidFill>
                  <a:latin typeface="Segoe UI"/>
                  <a:ea typeface="Microsoft YaHei"/>
                  <a:cs typeface="Segoe UI"/>
                </a:rPr>
                <a:t xml:space="preserve"> 文献里的成功经验与失败边界，是最便宜的“实验”；</a:t>
              </a:r>
              <a:r>
                <a:rPr lang="zh-CN" sz="1350" dirty="0">
                  <a:solidFill>
                    <a:schemeClr val="dk1"/>
                  </a:solidFill>
                  <a:latin typeface="Segoe UI"/>
                  <a:ea typeface="Microsoft YaHei"/>
                  <a:cs typeface="Segoe UI"/>
                </a:rPr>
                <a:t>跳过它们等于重复别人已经做过的探索</a:t>
              </a:r>
            </a:p>
            <a:p>
              <a:pPr algn="l">
                <a:lnSpc>
                  <a:spcPts val="1950"/>
                </a:lnSpc>
                <a:spcBef>
                  <a:spcPts val="600"/>
                </a:spcBef>
              </a:pPr>
              <a:r>
                <a:rPr lang="en-US" sz="1350" b="1" dirty="0">
                  <a:solidFill>
                    <a:schemeClr val="accent2"/>
                  </a:solidFill>
                  <a:latin typeface="Segoe UI"/>
                  <a:ea typeface="Segoe UI"/>
                  <a:cs typeface="Segoe UI"/>
                </a:rPr>
                <a:t>③</a:t>
              </a:r>
              <a:r>
                <a:rPr lang="zh-CN" sz="1350" dirty="0">
                  <a:solidFill>
                    <a:schemeClr val="dk1"/>
                  </a:solidFill>
                  <a:latin typeface="Segoe UI"/>
                  <a:ea typeface="Microsoft YaHei"/>
                  <a:cs typeface="Segoe UI"/>
                </a:rPr>
                <a:t xml:space="preserve"> 闭环要能自我纠错：每条假设必须带可核验的证据，</a:t>
              </a:r>
              <a:r>
                <a:rPr lang="zh-CN" sz="1350" dirty="0">
                  <a:solidFill>
                    <a:schemeClr val="dk1"/>
                  </a:solidFill>
                  <a:latin typeface="Segoe UI"/>
                  <a:ea typeface="Microsoft YaHei"/>
                  <a:cs typeface="Segoe UI"/>
                </a:rPr>
                <a:t>而不是一段无法追溯的总结</a:t>
              </a:r>
            </a:p>
          </p:txBody>
        </p:sp>
        <p:sp>
          <p:nvSpPr>
            <p:cNvPr id="37" name="Line 37"/>
            <p:cNvSpPr/>
            <p:nvPr/>
          </p:nvSpPr>
          <p:spPr>
            <a:xfrm>
              <a:off x="7277100" y="4514850"/>
              <a:ext cx="4229100" cy="9525"/>
            </a:xfrm>
            <a:custGeom>
              <a:avLst/>
              <a:gdLst/>
              <a:ahLst/>
              <a:cxnLst/>
              <a:rect l="l" t="t" r="r" b="b"/>
              <a:pathLst>
                <a:path w="4229100" h="9525">
                  <a:moveTo>
                    <a:pt x="0" y="0"/>
                  </a:moveTo>
                  <a:lnTo>
                    <a:pt x="4229100" y="0"/>
                  </a:lnTo>
                </a:path>
              </a:pathLst>
            </a:custGeom>
            <a:noFill/>
            <a:ln w="9525">
              <a:solidFill>
                <a:schemeClr val="accent4"/>
              </a:solidFill>
            </a:ln>
          </p:spPr>
        </p:sp>
        <p:sp>
          <p:nvSpPr>
            <p:cNvPr id="38" name="TextBox 38"/>
            <p:cNvSpPr txBox="1"/>
            <p:nvPr/>
          </p:nvSpPr>
          <p:spPr>
            <a:xfrm>
              <a:off x="7270242" y="4673918"/>
              <a:ext cx="4394264" cy="511683"/>
            </a:xfrm>
            <a:prstGeom prst="rect">
              <a:avLst/>
            </a:prstGeom>
            <a:noFill/>
            <a:ln>
              <a:noFill/>
            </a:ln>
          </p:spPr>
          <p:txBody>
            <a:bodyPr wrap="square" lIns="0" tIns="0" rIns="0" bIns="0" anchor="t" anchorCtr="0"/>
            <a:lstStyle/>
            <a:p>
              <a:pPr algn="l">
                <a:lnSpc>
                  <a:spcPts val="1950"/>
                </a:lnSpc>
              </a:pPr>
              <a:r>
                <a:rPr lang="zh-CN" sz="1350" b="1" dirty="0">
                  <a:solidFill>
                    <a:schemeClr val="accent1"/>
                  </a:solidFill>
                  <a:latin typeface="Segoe UI"/>
                  <a:ea typeface="Microsoft YaHei"/>
                  <a:cs typeface="Segoe UI"/>
                </a:rPr>
                <a:t>我们的科学 gap</a:t>
              </a:r>
              <a:r>
                <a:rPr lang="zh-CN" sz="1350" dirty="0">
                  <a:solidFill>
                    <a:schemeClr val="dk1"/>
                  </a:solidFill>
                  <a:latin typeface="Segoe UI"/>
                  <a:ea typeface="Microsoft YaHei"/>
                  <a:cs typeface="Segoe UI"/>
                </a:rPr>
                <a:t xml:space="preserve"> 把散落在文献中的合成知识，变成</a:t>
              </a:r>
              <a:r>
                <a:rPr lang="zh-CN" sz="1350" b="1" dirty="0">
                  <a:solidFill>
                    <a:schemeClr val="accent2"/>
                  </a:solidFill>
                  <a:latin typeface="Segoe UI"/>
                  <a:ea typeface="Microsoft YaHei"/>
                  <a:cs typeface="Segoe UI"/>
                </a:rPr>
                <a:t>可执行、可追溯、可回写</a:t>
              </a:r>
              <a:r>
                <a:rPr lang="zh-CN" sz="1350" dirty="0">
                  <a:solidFill>
                    <a:schemeClr val="dk1"/>
                  </a:solidFill>
                  <a:latin typeface="Segoe UI"/>
                  <a:ea typeface="Microsoft YaHei"/>
                  <a:cs typeface="Segoe UI"/>
                </a:rPr>
                <a:t>的合成方案，接到实验闭环里。</a:t>
              </a:r>
            </a:p>
          </p:txBody>
        </p:sp>
      </p:grpSp>
      <p:grpSp>
        <p:nvGrpSpPr>
          <p:cNvPr id="42" name="Group 42"/>
          <p:cNvGrpSpPr/>
          <p:nvPr/>
        </p:nvGrpSpPr>
        <p:grpSpPr>
          <a:xfrm>
            <a:off x="679704" y="6480810"/>
            <a:ext cx="10832592" cy="234696"/>
            <a:chOff x="679704" y="6480810"/>
            <a:chExt cx="10832592" cy="234696"/>
          </a:xfrm>
        </p:grpSpPr>
        <p:sp>
          <p:nvSpPr>
            <p:cNvPr id="40" name="TextBox 40"/>
            <p:cNvSpPr txBox="1"/>
            <p:nvPr/>
          </p:nvSpPr>
          <p:spPr>
            <a:xfrm>
              <a:off x="679704" y="6480810"/>
              <a:ext cx="341757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Segoe UI"/>
                  <a:ea typeface="Microsoft YaHei"/>
                  <a:cs typeface="Segoe UI"/>
                </a:rPr>
                <a:t>SAGE-Mat · GOAI 2026 AI for Research 复赛</a:t>
              </a:r>
            </a:p>
          </p:txBody>
        </p:sp>
        <p:sp>
          <p:nvSpPr>
            <p:cNvPr id="41" name="TextBox 41"/>
            <p:cNvSpPr txBox="1"/>
            <p:nvPr/>
          </p:nvSpPr>
          <p:spPr>
            <a:xfrm>
              <a:off x="11047781" y="6480810"/>
              <a:ext cx="464515"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Segoe UI"/>
                  <a:ea typeface="Segoe UI"/>
                  <a:cs typeface="Segoe UI"/>
                </a:rPr>
                <a:t>2 / 13</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70560" y="590550"/>
            <a:ext cx="11903964" cy="586740"/>
            <a:chOff x="670560" y="590550"/>
            <a:chExt cx="11903964" cy="586740"/>
          </a:xfrm>
        </p:grpSpPr>
        <p:sp>
          <p:nvSpPr>
            <p:cNvPr id="2" name="TextBox 2"/>
            <p:cNvSpPr txBox="1"/>
            <p:nvPr/>
          </p:nvSpPr>
          <p:spPr>
            <a:xfrm>
              <a:off x="670560" y="590550"/>
              <a:ext cx="11903964"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Segoe UI"/>
                  <a:ea typeface="Microsoft YaHei"/>
                  <a:cs typeface="Segoe UI"/>
                </a:rPr>
                <a:t>合成条件与前人经验散落在文献里，站在巨人肩膀上才有新发现</a:t>
              </a:r>
            </a:p>
          </p:txBody>
        </p:sp>
        <p:sp>
          <p:nvSpPr>
            <p:cNvPr id="3" name="Rectangle 3"/>
            <p:cNvSpPr/>
            <p:nvPr/>
          </p:nvSpPr>
          <p:spPr>
            <a:xfrm>
              <a:off x="685800" y="1085850"/>
              <a:ext cx="685800" cy="38100"/>
            </a:xfrm>
            <a:prstGeom prst="rect">
              <a:avLst/>
            </a:prstGeom>
            <a:solidFill>
              <a:schemeClr val="accent1"/>
            </a:solidFill>
            <a:ln>
              <a:noFill/>
            </a:ln>
          </p:spPr>
        </p:sp>
      </p:grpSp>
      <p:grpSp>
        <p:nvGrpSpPr>
          <p:cNvPr id="6" name="Group 6"/>
          <p:cNvGrpSpPr/>
          <p:nvPr/>
        </p:nvGrpSpPr>
        <p:grpSpPr>
          <a:xfrm>
            <a:off x="675894" y="1370648"/>
            <a:ext cx="9269540" cy="990981"/>
            <a:chOff x="675894" y="1370648"/>
            <a:chExt cx="9269540" cy="990981"/>
          </a:xfrm>
        </p:grpSpPr>
        <p:sp>
          <p:nvSpPr>
            <p:cNvPr id="5" name="TextBox 5"/>
            <p:cNvSpPr txBox="1"/>
            <p:nvPr/>
          </p:nvSpPr>
          <p:spPr>
            <a:xfrm>
              <a:off x="675894" y="1370648"/>
              <a:ext cx="9269540" cy="990981"/>
            </a:xfrm>
            <a:prstGeom prst="rect">
              <a:avLst/>
            </a:prstGeom>
            <a:noFill/>
            <a:ln>
              <a:noFill/>
            </a:ln>
          </p:spPr>
          <p:txBody>
            <a:bodyPr wrap="square" lIns="0" tIns="0" rIns="0" bIns="0" anchor="t" anchorCtr="0"/>
            <a:lstStyle/>
            <a:p>
              <a:pPr algn="l">
                <a:lnSpc>
                  <a:spcPts val="2400"/>
                </a:lnSpc>
              </a:pPr>
              <a:r>
                <a:rPr lang="zh-CN" sz="1950" dirty="0">
                  <a:solidFill>
                    <a:schemeClr val="dk1"/>
                  </a:solidFill>
                  <a:latin typeface="Segoe UI"/>
                  <a:ea typeface="Microsoft YaHei"/>
                  <a:cs typeface="Segoe UI"/>
                </a:rPr>
                <a:t>成功的合成条件和失败的边界都写在文献里，关键是</a:t>
              </a:r>
              <a:r>
                <a:rPr lang="zh-CN" sz="1950" b="1" dirty="0">
                  <a:solidFill>
                    <a:schemeClr val="accent2"/>
                  </a:solidFill>
                  <a:latin typeface="Segoe UI"/>
                  <a:ea typeface="Microsoft YaHei"/>
                  <a:cs typeface="Segoe UI"/>
                </a:rPr>
                <a:t>用哪些、怎么找</a:t>
              </a:r>
              <a:r>
                <a:rPr lang="zh-CN" sz="1950" dirty="0">
                  <a:solidFill>
                    <a:schemeClr val="dk1"/>
                  </a:solidFill>
                  <a:latin typeface="Segoe UI"/>
                  <a:ea typeface="Microsoft YaHei"/>
                  <a:cs typeface="Segoe UI"/>
                </a:rPr>
                <a:t>，以及找到之后</a:t>
              </a:r>
              <a:r>
                <a:rPr lang="zh-CN" sz="1950" dirty="0">
                  <a:solidFill>
                    <a:schemeClr val="dk1"/>
                  </a:solidFill>
                  <a:latin typeface="Segoe UI"/>
                  <a:ea typeface="Microsoft YaHei"/>
                  <a:cs typeface="Segoe UI"/>
                </a:rPr>
                <a:t>哪里还有</a:t>
              </a:r>
              <a:r>
                <a:rPr lang="zh-CN" sz="1950" b="1" dirty="0">
                  <a:solidFill>
                    <a:schemeClr val="accent2"/>
                  </a:solidFill>
                  <a:latin typeface="Segoe UI"/>
                  <a:ea typeface="Microsoft YaHei"/>
                  <a:cs typeface="Segoe UI"/>
                </a:rPr>
                <a:t>新的科学发现</a:t>
              </a:r>
              <a:r>
                <a:rPr lang="zh-CN" sz="1950" dirty="0">
                  <a:solidFill>
                    <a:schemeClr val="dk1"/>
                  </a:solidFill>
                  <a:latin typeface="Segoe UI"/>
                  <a:ea typeface="Microsoft YaHei"/>
                  <a:cs typeface="Segoe UI"/>
                </a:rPr>
                <a:t>。科学问题本身也是探索出来的：一个来自团队自主探索，</a:t>
              </a:r>
              <a:r>
                <a:rPr lang="zh-CN" sz="1950" dirty="0">
                  <a:solidFill>
                    <a:schemeClr val="dk1"/>
                  </a:solidFill>
                  <a:latin typeface="Segoe UI"/>
                  <a:ea typeface="Microsoft YaHei"/>
                  <a:cs typeface="Segoe UI"/>
                </a:rPr>
                <a:t>一个来自领域专家推荐。</a:t>
              </a:r>
            </a:p>
          </p:txBody>
        </p:sp>
      </p:grpSp>
      <p:grpSp>
        <p:nvGrpSpPr>
          <p:cNvPr id="16" name="Group 16"/>
          <p:cNvGrpSpPr/>
          <p:nvPr/>
        </p:nvGrpSpPr>
        <p:grpSpPr>
          <a:xfrm>
            <a:off x="685800" y="2266950"/>
            <a:ext cx="5295900" cy="2381250"/>
            <a:chOff x="685800" y="2266950"/>
            <a:chExt cx="5295900" cy="2381250"/>
          </a:xfrm>
        </p:grpSpPr>
        <p:sp>
          <p:nvSpPr>
            <p:cNvPr id="7" name="Rectangle 7"/>
            <p:cNvSpPr/>
            <p:nvPr/>
          </p:nvSpPr>
          <p:spPr>
            <a:xfrm>
              <a:off x="685800" y="2266950"/>
              <a:ext cx="5295900" cy="2381250"/>
            </a:xfrm>
            <a:prstGeom prst="rect">
              <a:avLst/>
            </a:prstGeom>
            <a:solidFill>
              <a:schemeClr val="lt2"/>
            </a:solidFill>
            <a:ln>
              <a:noFill/>
            </a:ln>
          </p:spPr>
        </p:sp>
        <p:sp>
          <p:nvSpPr>
            <p:cNvPr id="8" name="Rectangle 8"/>
            <p:cNvSpPr/>
            <p:nvPr/>
          </p:nvSpPr>
          <p:spPr>
            <a:xfrm>
              <a:off x="685800" y="2266950"/>
              <a:ext cx="57150" cy="2381250"/>
            </a:xfrm>
            <a:prstGeom prst="rect">
              <a:avLst/>
            </a:prstGeom>
            <a:solidFill>
              <a:schemeClr val="accent1"/>
            </a:solidFill>
            <a:ln>
              <a:noFill/>
            </a:ln>
          </p:spPr>
        </p:sp>
        <p:sp>
          <p:nvSpPr>
            <p:cNvPr id="9" name="TextBox 9"/>
            <p:cNvSpPr txBox="1"/>
            <p:nvPr/>
          </p:nvSpPr>
          <p:spPr>
            <a:xfrm>
              <a:off x="962406" y="2453640"/>
              <a:ext cx="397014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Segoe UI"/>
                  <a:ea typeface="Microsoft YaHei"/>
                  <a:cs typeface="Segoe UI"/>
                </a:rPr>
                <a:t>案例 A · LLZO 石榴石固态电解质</a:t>
              </a:r>
            </a:p>
          </p:txBody>
        </p:sp>
        <p:sp>
          <p:nvSpPr>
            <p:cNvPr id="10" name="TextBox 10"/>
            <p:cNvSpPr txBox="1"/>
            <p:nvPr/>
          </p:nvSpPr>
          <p:spPr>
            <a:xfrm>
              <a:off x="964692" y="2768918"/>
              <a:ext cx="3466719"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团队在初赛调研中自主探索确定的科学问题</a:t>
              </a:r>
            </a:p>
          </p:txBody>
        </p:sp>
        <p:sp>
          <p:nvSpPr>
            <p:cNvPr id="11" name="TextBox 11"/>
            <p:cNvSpPr txBox="1"/>
            <p:nvPr/>
          </p:nvSpPr>
          <p:spPr>
            <a:xfrm>
              <a:off x="962406" y="3025140"/>
              <a:ext cx="462229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Segoe UI"/>
                  <a:ea typeface="Microsoft YaHei"/>
                  <a:cs typeface="Segoe UI"/>
                </a:rPr>
                <a:t>低温致密化、两步烧结、冷烧结、超快烧结</a:t>
              </a:r>
            </a:p>
          </p:txBody>
        </p:sp>
        <p:sp>
          <p:nvSpPr>
            <p:cNvPr id="12" name="TextBox 12"/>
            <p:cNvSpPr txBox="1"/>
            <p:nvPr/>
          </p:nvSpPr>
          <p:spPr>
            <a:xfrm>
              <a:off x="962406" y="3329940"/>
              <a:ext cx="486460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Segoe UI"/>
                  <a:ea typeface="Microsoft YaHei"/>
                  <a:cs typeface="Segoe UI"/>
                </a:rPr>
                <a:t>各有先例，文献很多，却没有人把它们整理成</a:t>
              </a:r>
            </a:p>
          </p:txBody>
        </p:sp>
        <p:sp>
          <p:nvSpPr>
            <p:cNvPr id="13" name="TextBox 13"/>
            <p:cNvSpPr txBox="1"/>
            <p:nvPr/>
          </p:nvSpPr>
          <p:spPr>
            <a:xfrm>
              <a:off x="962406" y="3634740"/>
              <a:ext cx="413766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Segoe UI"/>
                  <a:ea typeface="Microsoft YaHei"/>
                  <a:cs typeface="Segoe UI"/>
                </a:rPr>
                <a:t>跨掺杂体系的统一工艺图景；要找的是</a:t>
              </a:r>
            </a:p>
          </p:txBody>
        </p:sp>
        <p:sp>
          <p:nvSpPr>
            <p:cNvPr id="14" name="TextBox 14"/>
            <p:cNvSpPr txBox="1"/>
            <p:nvPr/>
          </p:nvSpPr>
          <p:spPr>
            <a:xfrm>
              <a:off x="962406" y="3939540"/>
              <a:ext cx="437997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Segoe UI"/>
                  <a:ea typeface="Microsoft YaHei"/>
                  <a:cs typeface="Segoe UI"/>
                </a:rPr>
                <a:t>可迁移的有效路线，而非重复已有探索。</a:t>
              </a:r>
            </a:p>
          </p:txBody>
        </p:sp>
        <p:sp>
          <p:nvSpPr>
            <p:cNvPr id="15" name="TextBox 15"/>
            <p:cNvSpPr txBox="1"/>
            <p:nvPr/>
          </p:nvSpPr>
          <p:spPr>
            <a:xfrm>
              <a:off x="964692" y="4331018"/>
              <a:ext cx="2904697"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Segoe UI"/>
                  <a:ea typeface="Microsoft YaHei"/>
                  <a:cs typeface="Segoe UI"/>
                </a:rPr>
                <a:t>文献丰富 · 需要梳理出可迁移路线</a:t>
              </a:r>
            </a:p>
          </p:txBody>
        </p:sp>
      </p:grpSp>
      <p:grpSp>
        <p:nvGrpSpPr>
          <p:cNvPr id="27" name="Group 27"/>
          <p:cNvGrpSpPr/>
          <p:nvPr/>
        </p:nvGrpSpPr>
        <p:grpSpPr>
          <a:xfrm>
            <a:off x="6210300" y="2266950"/>
            <a:ext cx="5348006" cy="2381250"/>
            <a:chOff x="6210300" y="2266950"/>
            <a:chExt cx="5348006" cy="2381250"/>
          </a:xfrm>
        </p:grpSpPr>
        <p:sp>
          <p:nvSpPr>
            <p:cNvPr id="17" name="Rectangle 17"/>
            <p:cNvSpPr/>
            <p:nvPr/>
          </p:nvSpPr>
          <p:spPr>
            <a:xfrm>
              <a:off x="6210300" y="2266950"/>
              <a:ext cx="5295900" cy="2381250"/>
            </a:xfrm>
            <a:prstGeom prst="rect">
              <a:avLst/>
            </a:prstGeom>
            <a:solidFill>
              <a:schemeClr val="lt2"/>
            </a:solidFill>
            <a:ln>
              <a:noFill/>
            </a:ln>
          </p:spPr>
        </p:sp>
        <p:sp>
          <p:nvSpPr>
            <p:cNvPr id="18" name="Rectangle 18"/>
            <p:cNvSpPr/>
            <p:nvPr/>
          </p:nvSpPr>
          <p:spPr>
            <a:xfrm>
              <a:off x="6210300" y="2266950"/>
              <a:ext cx="57150" cy="2381250"/>
            </a:xfrm>
            <a:prstGeom prst="rect">
              <a:avLst/>
            </a:prstGeom>
            <a:solidFill>
              <a:schemeClr val="accent3"/>
            </a:solidFill>
            <a:ln>
              <a:noFill/>
            </a:ln>
          </p:spPr>
        </p:sp>
        <p:sp>
          <p:nvSpPr>
            <p:cNvPr id="19" name="TextBox 19"/>
            <p:cNvSpPr txBox="1"/>
            <p:nvPr/>
          </p:nvSpPr>
          <p:spPr>
            <a:xfrm>
              <a:off x="6486906" y="2453640"/>
              <a:ext cx="507140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Segoe UI"/>
                  <a:ea typeface="Microsoft YaHei"/>
                  <a:cs typeface="Segoe UI"/>
                </a:rPr>
                <a:t>案例 B · Ba5Y12Zn[O(SiO4)]8（BYZSO）</a:t>
              </a:r>
            </a:p>
          </p:txBody>
        </p:sp>
        <p:sp>
          <p:nvSpPr>
            <p:cNvPr id="20" name="TextBox 20"/>
            <p:cNvSpPr txBox="1"/>
            <p:nvPr/>
          </p:nvSpPr>
          <p:spPr>
            <a:xfrm>
              <a:off x="6489192" y="2768918"/>
              <a:ext cx="2376297"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材料领域专家推荐的科学问题</a:t>
              </a:r>
            </a:p>
          </p:txBody>
        </p:sp>
        <p:sp>
          <p:nvSpPr>
            <p:cNvPr id="21" name="TextBox 21"/>
            <p:cNvSpPr txBox="1"/>
            <p:nvPr/>
          </p:nvSpPr>
          <p:spPr>
            <a:xfrm>
              <a:off x="6486906" y="3025140"/>
              <a:ext cx="425881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Segoe UI"/>
                  <a:ea typeface="Microsoft YaHei"/>
                  <a:cs typeface="Segoe UI"/>
                </a:rPr>
                <a:t>2024 年首次报道的非中心对称硅酸盐；</a:t>
              </a:r>
            </a:p>
          </p:txBody>
        </p:sp>
        <p:sp>
          <p:nvSpPr>
            <p:cNvPr id="22" name="TextBox 22"/>
            <p:cNvSpPr txBox="1"/>
            <p:nvPr/>
          </p:nvSpPr>
          <p:spPr>
            <a:xfrm>
              <a:off x="6486906" y="3291840"/>
              <a:ext cx="346947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Segoe UI"/>
                  <a:ea typeface="Microsoft YaHei"/>
                  <a:cs typeface="Segoe UI"/>
                </a:rPr>
                <a:t xml:space="preserve">公开文献仅 </a:t>
              </a:r>
              <a:r>
                <a:rPr lang="zh-CN" sz="1800" b="1" dirty="0">
                  <a:solidFill>
                    <a:schemeClr val="accent1"/>
                  </a:solidFill>
                  <a:latin typeface="Segoe UI"/>
                  <a:ea typeface="Microsoft YaHei"/>
                  <a:cs typeface="Segoe UI"/>
                </a:rPr>
                <a:t>1 篇</a:t>
              </a:r>
              <a:r>
                <a:rPr lang="zh-CN" sz="1800" dirty="0">
                  <a:solidFill>
                    <a:schemeClr val="dk1"/>
                  </a:solidFill>
                  <a:latin typeface="Segoe UI"/>
                  <a:ea typeface="Microsoft YaHei"/>
                  <a:cs typeface="Segoe UI"/>
                </a:rPr>
                <a:t>直接合成报道，</a:t>
              </a:r>
            </a:p>
          </p:txBody>
        </p:sp>
        <p:sp>
          <p:nvSpPr>
            <p:cNvPr id="23" name="TextBox 23"/>
            <p:cNvSpPr txBox="1"/>
            <p:nvPr/>
          </p:nvSpPr>
          <p:spPr>
            <a:xfrm>
              <a:off x="6486906" y="3558540"/>
              <a:ext cx="413766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Segoe UI"/>
                  <a:ea typeface="Microsoft YaHei"/>
                  <a:cs typeface="Segoe UI"/>
                </a:rPr>
                <a:t>投料比、温程与冷却程序仍不可复现；</a:t>
              </a:r>
            </a:p>
          </p:txBody>
        </p:sp>
        <p:sp>
          <p:nvSpPr>
            <p:cNvPr id="24" name="TextBox 24"/>
            <p:cNvSpPr txBox="1"/>
            <p:nvPr/>
          </p:nvSpPr>
          <p:spPr>
            <a:xfrm>
              <a:off x="6486906" y="3825240"/>
              <a:ext cx="393686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Segoe UI"/>
                  <a:ea typeface="Microsoft YaHei"/>
                  <a:cs typeface="Segoe UI"/>
                </a:rPr>
                <a:t>Ba–Y–Si–O、Ba–Zn–Si–O、Y–Si–O</a:t>
              </a:r>
            </a:p>
          </p:txBody>
        </p:sp>
        <p:sp>
          <p:nvSpPr>
            <p:cNvPr id="25" name="TextBox 25"/>
            <p:cNvSpPr txBox="1"/>
            <p:nvPr/>
          </p:nvSpPr>
          <p:spPr>
            <a:xfrm>
              <a:off x="6486906" y="409194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Segoe UI"/>
                  <a:ea typeface="Microsoft YaHei"/>
                  <a:cs typeface="Segoe UI"/>
                </a:rPr>
                <a:t>近邻体系证据丰富。</a:t>
              </a:r>
            </a:p>
          </p:txBody>
        </p:sp>
        <p:sp>
          <p:nvSpPr>
            <p:cNvPr id="26" name="TextBox 26"/>
            <p:cNvSpPr txBox="1"/>
            <p:nvPr/>
          </p:nvSpPr>
          <p:spPr>
            <a:xfrm>
              <a:off x="6489192" y="4331018"/>
              <a:ext cx="175975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Segoe UI"/>
                  <a:ea typeface="Microsoft YaHei"/>
                  <a:cs typeface="Segoe UI"/>
                </a:rPr>
                <a:t>文献稀缺 · 近邻丰富</a:t>
              </a:r>
            </a:p>
          </p:txBody>
        </p:sp>
      </p:grpSp>
      <p:grpSp>
        <p:nvGrpSpPr>
          <p:cNvPr id="47" name="Group 47"/>
          <p:cNvGrpSpPr/>
          <p:nvPr/>
        </p:nvGrpSpPr>
        <p:grpSpPr>
          <a:xfrm>
            <a:off x="678942" y="5029200"/>
            <a:ext cx="11043037" cy="1147001"/>
            <a:chOff x="678942" y="5029200"/>
            <a:chExt cx="11043037" cy="1147001"/>
          </a:xfrm>
        </p:grpSpPr>
        <p:sp>
          <p:nvSpPr>
            <p:cNvPr id="28" name="Line 28"/>
            <p:cNvSpPr/>
            <p:nvPr/>
          </p:nvSpPr>
          <p:spPr>
            <a:xfrm>
              <a:off x="685800" y="5029200"/>
              <a:ext cx="10820400" cy="9525"/>
            </a:xfrm>
            <a:custGeom>
              <a:avLst/>
              <a:gdLst/>
              <a:ahLst/>
              <a:cxnLst/>
              <a:rect l="l" t="t" r="r" b="b"/>
              <a:pathLst>
                <a:path w="10820400" h="9525">
                  <a:moveTo>
                    <a:pt x="0" y="0"/>
                  </a:moveTo>
                  <a:lnTo>
                    <a:pt x="10820400" y="0"/>
                  </a:lnTo>
                </a:path>
              </a:pathLst>
            </a:custGeom>
            <a:noFill/>
            <a:ln w="9525">
              <a:solidFill>
                <a:schemeClr val="accent4"/>
              </a:solidFill>
            </a:ln>
          </p:spPr>
        </p:sp>
        <p:sp>
          <p:nvSpPr>
            <p:cNvPr id="29" name="TextBox 29"/>
            <p:cNvSpPr txBox="1"/>
            <p:nvPr/>
          </p:nvSpPr>
          <p:spPr>
            <a:xfrm>
              <a:off x="678942" y="5188268"/>
              <a:ext cx="1831086"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我们要回答的三个问题</a:t>
              </a:r>
            </a:p>
          </p:txBody>
        </p:sp>
        <p:grpSp>
          <p:nvGrpSpPr>
            <p:cNvPr id="32" name="Group 32"/>
            <p:cNvGrpSpPr/>
            <p:nvPr/>
          </p:nvGrpSpPr>
          <p:grpSpPr>
            <a:xfrm>
              <a:off x="723900" y="5581650"/>
              <a:ext cx="228600" cy="228600"/>
              <a:chOff x="723900" y="5581650"/>
              <a:chExt cx="228600" cy="228600"/>
            </a:xfrm>
          </p:grpSpPr>
          <p:sp>
            <p:nvSpPr>
              <p:cNvPr id="30" name="Freeform 30"/>
              <p:cNvSpPr/>
              <p:nvPr/>
            </p:nvSpPr>
            <p:spPr>
              <a:xfrm>
                <a:off x="723900" y="5581650"/>
                <a:ext cx="177800" cy="177800"/>
              </a:xfrm>
              <a:custGeom>
                <a:avLst/>
                <a:gdLst/>
                <a:ahLst/>
                <a:cxnLst/>
                <a:rect l="l" t="t" r="r" b="b"/>
                <a:pathLst>
                  <a:path w="177800" h="177800">
                    <a:moveTo>
                      <a:pt x="0" y="88900"/>
                    </a:moveTo>
                    <a:cubicBezTo>
                      <a:pt x="0" y="137998"/>
                      <a:pt x="39802" y="177800"/>
                      <a:pt x="88900" y="177800"/>
                    </a:cubicBezTo>
                    <a:cubicBezTo>
                      <a:pt x="137998" y="177800"/>
                      <a:pt x="177800" y="137998"/>
                      <a:pt x="177800" y="88900"/>
                    </a:cubicBezTo>
                    <a:cubicBezTo>
                      <a:pt x="177800" y="39802"/>
                      <a:pt x="137998" y="0"/>
                      <a:pt x="88900" y="0"/>
                    </a:cubicBezTo>
                    <a:cubicBezTo>
                      <a:pt x="39802" y="0"/>
                      <a:pt x="0" y="39802"/>
                      <a:pt x="0" y="88900"/>
                    </a:cubicBezTo>
                  </a:path>
                </a:pathLst>
              </a:custGeom>
              <a:noFill/>
              <a:ln w="19050">
                <a:solidFill>
                  <a:schemeClr val="accent1"/>
                </a:solidFill>
              </a:ln>
            </p:spPr>
          </p:sp>
          <p:sp>
            <p:nvSpPr>
              <p:cNvPr id="31" name="Freeform 31"/>
              <p:cNvSpPr/>
              <p:nvPr/>
            </p:nvSpPr>
            <p:spPr>
              <a:xfrm>
                <a:off x="876300" y="5734050"/>
                <a:ext cx="76200" cy="76200"/>
              </a:xfrm>
              <a:custGeom>
                <a:avLst/>
                <a:gdLst/>
                <a:ahLst/>
                <a:cxnLst/>
                <a:rect l="l" t="t" r="r" b="b"/>
                <a:pathLst>
                  <a:path w="76200" h="76200">
                    <a:moveTo>
                      <a:pt x="76200" y="76200"/>
                    </a:moveTo>
                    <a:lnTo>
                      <a:pt x="0" y="0"/>
                    </a:lnTo>
                  </a:path>
                </a:pathLst>
              </a:custGeom>
              <a:noFill/>
              <a:ln w="19050">
                <a:solidFill>
                  <a:schemeClr val="accent1"/>
                </a:solidFill>
              </a:ln>
            </p:spPr>
          </p:sp>
        </p:grpSp>
        <p:sp>
          <p:nvSpPr>
            <p:cNvPr id="33" name="TextBox 33"/>
            <p:cNvSpPr txBox="1"/>
            <p:nvPr/>
          </p:nvSpPr>
          <p:spPr>
            <a:xfrm>
              <a:off x="1095756" y="5577840"/>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Segoe UI"/>
                  <a:ea typeface="Microsoft YaHei"/>
                  <a:cs typeface="Segoe UI"/>
                </a:rPr>
                <a:t>用哪些文献</a:t>
              </a:r>
            </a:p>
          </p:txBody>
        </p:sp>
        <p:sp>
          <p:nvSpPr>
            <p:cNvPr id="34" name="TextBox 34"/>
            <p:cNvSpPr txBox="1"/>
            <p:nvPr/>
          </p:nvSpPr>
          <p:spPr>
            <a:xfrm>
              <a:off x="1098042" y="5912168"/>
              <a:ext cx="3284982"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按结构近邻判据筛选，而非只看元素相似</a:t>
              </a:r>
            </a:p>
          </p:txBody>
        </p:sp>
        <p:grpSp>
          <p:nvGrpSpPr>
            <p:cNvPr id="38" name="Group 38"/>
            <p:cNvGrpSpPr/>
            <p:nvPr/>
          </p:nvGrpSpPr>
          <p:grpSpPr>
            <a:xfrm>
              <a:off x="4356100" y="5581650"/>
              <a:ext cx="203199" cy="228600"/>
              <a:chOff x="4356100" y="5581650"/>
              <a:chExt cx="203199" cy="228600"/>
            </a:xfrm>
          </p:grpSpPr>
          <p:sp>
            <p:nvSpPr>
              <p:cNvPr id="35" name="Freeform 35"/>
              <p:cNvSpPr/>
              <p:nvPr/>
            </p:nvSpPr>
            <p:spPr>
              <a:xfrm>
                <a:off x="4356100" y="5581650"/>
                <a:ext cx="203199" cy="76200"/>
              </a:xfrm>
              <a:custGeom>
                <a:avLst/>
                <a:gdLst/>
                <a:ahLst/>
                <a:cxnLst/>
                <a:rect l="l" t="t" r="r" b="b"/>
                <a:pathLst>
                  <a:path w="203199" h="76200">
                    <a:moveTo>
                      <a:pt x="0" y="38100"/>
                    </a:moveTo>
                    <a:cubicBezTo>
                      <a:pt x="0" y="59142"/>
                      <a:pt x="45488" y="76200"/>
                      <a:pt x="101600" y="76200"/>
                    </a:cubicBezTo>
                    <a:cubicBezTo>
                      <a:pt x="157712" y="76200"/>
                      <a:pt x="203199" y="59142"/>
                      <a:pt x="203199" y="38100"/>
                    </a:cubicBezTo>
                    <a:cubicBezTo>
                      <a:pt x="203199" y="17058"/>
                      <a:pt x="157712" y="0"/>
                      <a:pt x="101600" y="0"/>
                    </a:cubicBezTo>
                    <a:cubicBezTo>
                      <a:pt x="45488" y="0"/>
                      <a:pt x="0" y="17058"/>
                      <a:pt x="0" y="38100"/>
                    </a:cubicBezTo>
                  </a:path>
                </a:pathLst>
              </a:custGeom>
              <a:noFill/>
              <a:ln w="19050">
                <a:solidFill>
                  <a:schemeClr val="accent1"/>
                </a:solidFill>
              </a:ln>
            </p:spPr>
          </p:sp>
          <p:sp>
            <p:nvSpPr>
              <p:cNvPr id="36" name="Freeform 36"/>
              <p:cNvSpPr/>
              <p:nvPr/>
            </p:nvSpPr>
            <p:spPr>
              <a:xfrm>
                <a:off x="4356100" y="5619750"/>
                <a:ext cx="203199" cy="114300"/>
              </a:xfrm>
              <a:custGeom>
                <a:avLst/>
                <a:gdLst/>
                <a:ahLst/>
                <a:cxnLst/>
                <a:rect l="l" t="t" r="r" b="b"/>
                <a:pathLst>
                  <a:path w="203199" h="114300">
                    <a:moveTo>
                      <a:pt x="0" y="0"/>
                    </a:moveTo>
                    <a:lnTo>
                      <a:pt x="0" y="76200"/>
                    </a:lnTo>
                    <a:cubicBezTo>
                      <a:pt x="0" y="97242"/>
                      <a:pt x="45488" y="114300"/>
                      <a:pt x="101600" y="114300"/>
                    </a:cubicBezTo>
                    <a:cubicBezTo>
                      <a:pt x="157712" y="114300"/>
                      <a:pt x="203199" y="97242"/>
                      <a:pt x="203199" y="76200"/>
                    </a:cubicBezTo>
                    <a:lnTo>
                      <a:pt x="203199" y="0"/>
                    </a:lnTo>
                  </a:path>
                </a:pathLst>
              </a:custGeom>
              <a:noFill/>
              <a:ln w="19050">
                <a:solidFill>
                  <a:schemeClr val="accent1"/>
                </a:solidFill>
              </a:ln>
            </p:spPr>
          </p:sp>
          <p:sp>
            <p:nvSpPr>
              <p:cNvPr id="37" name="Freeform 37"/>
              <p:cNvSpPr/>
              <p:nvPr/>
            </p:nvSpPr>
            <p:spPr>
              <a:xfrm>
                <a:off x="4356100" y="5695950"/>
                <a:ext cx="203199" cy="114300"/>
              </a:xfrm>
              <a:custGeom>
                <a:avLst/>
                <a:gdLst/>
                <a:ahLst/>
                <a:cxnLst/>
                <a:rect l="l" t="t" r="r" b="b"/>
                <a:pathLst>
                  <a:path w="203199" h="114300">
                    <a:moveTo>
                      <a:pt x="0" y="0"/>
                    </a:moveTo>
                    <a:lnTo>
                      <a:pt x="0" y="76200"/>
                    </a:lnTo>
                    <a:cubicBezTo>
                      <a:pt x="0" y="97242"/>
                      <a:pt x="45488" y="114300"/>
                      <a:pt x="101600" y="114300"/>
                    </a:cubicBezTo>
                    <a:cubicBezTo>
                      <a:pt x="157712" y="114300"/>
                      <a:pt x="203199" y="97242"/>
                      <a:pt x="203199" y="76200"/>
                    </a:cubicBezTo>
                    <a:lnTo>
                      <a:pt x="203199" y="0"/>
                    </a:lnTo>
                  </a:path>
                </a:pathLst>
              </a:custGeom>
              <a:noFill/>
              <a:ln w="19050">
                <a:solidFill>
                  <a:schemeClr val="accent1"/>
                </a:solidFill>
              </a:ln>
            </p:spPr>
          </p:sp>
        </p:grpSp>
        <p:sp>
          <p:nvSpPr>
            <p:cNvPr id="39" name="TextBox 39"/>
            <p:cNvSpPr txBox="1"/>
            <p:nvPr/>
          </p:nvSpPr>
          <p:spPr>
            <a:xfrm>
              <a:off x="4715256" y="557784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Segoe UI"/>
                  <a:ea typeface="Microsoft YaHei"/>
                  <a:cs typeface="Segoe UI"/>
                </a:rPr>
                <a:t>怎么找到、怎么核对</a:t>
              </a:r>
            </a:p>
          </p:txBody>
        </p:sp>
        <p:sp>
          <p:nvSpPr>
            <p:cNvPr id="40" name="TextBox 40"/>
            <p:cNvSpPr txBox="1"/>
            <p:nvPr/>
          </p:nvSpPr>
          <p:spPr>
            <a:xfrm>
              <a:off x="4717542" y="5912168"/>
              <a:ext cx="3130506"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全文库 + 在线库检索，逐条核对后再用</a:t>
              </a:r>
            </a:p>
          </p:txBody>
        </p:sp>
        <p:grpSp>
          <p:nvGrpSpPr>
            <p:cNvPr id="44" name="Group 44"/>
            <p:cNvGrpSpPr/>
            <p:nvPr/>
          </p:nvGrpSpPr>
          <p:grpSpPr>
            <a:xfrm>
              <a:off x="7999758" y="5581650"/>
              <a:ext cx="154884" cy="228599"/>
              <a:chOff x="7999758" y="5581650"/>
              <a:chExt cx="154884" cy="228599"/>
            </a:xfrm>
          </p:grpSpPr>
          <p:sp>
            <p:nvSpPr>
              <p:cNvPr id="41" name="Freeform 41"/>
              <p:cNvSpPr/>
              <p:nvPr/>
            </p:nvSpPr>
            <p:spPr>
              <a:xfrm>
                <a:off x="8039100" y="5581650"/>
                <a:ext cx="76200" cy="9525"/>
              </a:xfrm>
              <a:custGeom>
                <a:avLst/>
                <a:gdLst/>
                <a:ahLst/>
                <a:cxnLst/>
                <a:rect l="l" t="t" r="r" b="b"/>
                <a:pathLst>
                  <a:path w="76200" h="9525">
                    <a:moveTo>
                      <a:pt x="0" y="0"/>
                    </a:moveTo>
                    <a:lnTo>
                      <a:pt x="76200" y="0"/>
                    </a:lnTo>
                  </a:path>
                </a:pathLst>
              </a:custGeom>
              <a:noFill/>
              <a:ln w="19050">
                <a:solidFill>
                  <a:schemeClr val="accent1"/>
                </a:solidFill>
              </a:ln>
            </p:spPr>
          </p:sp>
          <p:sp>
            <p:nvSpPr>
              <p:cNvPr id="42" name="Freeform 42"/>
              <p:cNvSpPr/>
              <p:nvPr/>
            </p:nvSpPr>
            <p:spPr>
              <a:xfrm>
                <a:off x="8051800" y="5657850"/>
                <a:ext cx="50800" cy="9525"/>
              </a:xfrm>
              <a:custGeom>
                <a:avLst/>
                <a:gdLst/>
                <a:ahLst/>
                <a:cxnLst/>
                <a:rect l="l" t="t" r="r" b="b"/>
                <a:pathLst>
                  <a:path w="50800" h="9525">
                    <a:moveTo>
                      <a:pt x="0" y="0"/>
                    </a:moveTo>
                    <a:lnTo>
                      <a:pt x="50800" y="0"/>
                    </a:lnTo>
                  </a:path>
                </a:pathLst>
              </a:custGeom>
              <a:noFill/>
              <a:ln w="19050">
                <a:solidFill>
                  <a:schemeClr val="accent1"/>
                </a:solidFill>
              </a:ln>
            </p:spPr>
          </p:sp>
          <p:sp>
            <p:nvSpPr>
              <p:cNvPr id="43" name="Freeform 43"/>
              <p:cNvSpPr/>
              <p:nvPr/>
            </p:nvSpPr>
            <p:spPr>
              <a:xfrm>
                <a:off x="7999758" y="5581650"/>
                <a:ext cx="154884" cy="228599"/>
              </a:xfrm>
              <a:custGeom>
                <a:avLst/>
                <a:gdLst/>
                <a:ahLst/>
                <a:cxnLst/>
                <a:rect l="l" t="t" r="r" b="b"/>
                <a:pathLst>
                  <a:path w="154884" h="228599">
                    <a:moveTo>
                      <a:pt x="52042" y="0"/>
                    </a:moveTo>
                    <a:lnTo>
                      <a:pt x="52042" y="76200"/>
                    </a:lnTo>
                    <a:lnTo>
                      <a:pt x="1242" y="215899"/>
                    </a:lnTo>
                    <a:cubicBezTo>
                      <a:pt x="0" y="218399"/>
                      <a:pt x="3" y="221336"/>
                      <a:pt x="1252" y="223832"/>
                    </a:cubicBezTo>
                    <a:cubicBezTo>
                      <a:pt x="2500" y="226329"/>
                      <a:pt x="4848" y="228094"/>
                      <a:pt x="7592" y="228599"/>
                    </a:cubicBezTo>
                    <a:lnTo>
                      <a:pt x="147292" y="228599"/>
                    </a:lnTo>
                    <a:cubicBezTo>
                      <a:pt x="150037" y="228094"/>
                      <a:pt x="152385" y="226329"/>
                      <a:pt x="153633" y="223832"/>
                    </a:cubicBezTo>
                    <a:cubicBezTo>
                      <a:pt x="154881" y="221336"/>
                      <a:pt x="154884" y="218399"/>
                      <a:pt x="153642" y="215899"/>
                    </a:cubicBezTo>
                    <a:lnTo>
                      <a:pt x="102842" y="76200"/>
                    </a:lnTo>
                    <a:lnTo>
                      <a:pt x="102842" y="0"/>
                    </a:lnTo>
                  </a:path>
                </a:pathLst>
              </a:custGeom>
              <a:noFill/>
              <a:ln w="19050">
                <a:solidFill>
                  <a:schemeClr val="accent1"/>
                </a:solidFill>
              </a:ln>
            </p:spPr>
          </p:sp>
        </p:grpSp>
        <p:sp>
          <p:nvSpPr>
            <p:cNvPr id="45" name="TextBox 45"/>
            <p:cNvSpPr txBox="1"/>
            <p:nvPr/>
          </p:nvSpPr>
          <p:spPr>
            <a:xfrm>
              <a:off x="8334756" y="557784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Segoe UI"/>
                  <a:ea typeface="Microsoft YaHei"/>
                  <a:cs typeface="Segoe UI"/>
                </a:rPr>
                <a:t>新发现在哪里</a:t>
              </a:r>
            </a:p>
          </p:txBody>
        </p:sp>
        <p:sp>
          <p:nvSpPr>
            <p:cNvPr id="46" name="TextBox 46"/>
            <p:cNvSpPr txBox="1"/>
            <p:nvPr/>
          </p:nvSpPr>
          <p:spPr>
            <a:xfrm>
              <a:off x="8337042" y="5912168"/>
              <a:ext cx="3384937"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相图缺口、组成—结构耦合、模型候选路线</a:t>
              </a:r>
            </a:p>
          </p:txBody>
        </p:sp>
      </p:grpSp>
      <p:grpSp>
        <p:nvGrpSpPr>
          <p:cNvPr id="50" name="Group 50"/>
          <p:cNvGrpSpPr/>
          <p:nvPr/>
        </p:nvGrpSpPr>
        <p:grpSpPr>
          <a:xfrm>
            <a:off x="679704" y="6480810"/>
            <a:ext cx="10832592" cy="234696"/>
            <a:chOff x="679704" y="6480810"/>
            <a:chExt cx="10832592" cy="234696"/>
          </a:xfrm>
        </p:grpSpPr>
        <p:sp>
          <p:nvSpPr>
            <p:cNvPr id="48" name="TextBox 48"/>
            <p:cNvSpPr txBox="1"/>
            <p:nvPr/>
          </p:nvSpPr>
          <p:spPr>
            <a:xfrm>
              <a:off x="679704" y="6480810"/>
              <a:ext cx="341757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Segoe UI"/>
                  <a:ea typeface="Microsoft YaHei"/>
                  <a:cs typeface="Segoe UI"/>
                </a:rPr>
                <a:t>SAGE-Mat · GOAI 2026 AI for Research 复赛</a:t>
              </a:r>
            </a:p>
          </p:txBody>
        </p:sp>
        <p:sp>
          <p:nvSpPr>
            <p:cNvPr id="49" name="TextBox 49"/>
            <p:cNvSpPr txBox="1"/>
            <p:nvPr/>
          </p:nvSpPr>
          <p:spPr>
            <a:xfrm>
              <a:off x="11047781" y="6480810"/>
              <a:ext cx="464515"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Segoe UI"/>
                  <a:ea typeface="Segoe UI"/>
                  <a:cs typeface="Segoe UI"/>
                </a:rPr>
                <a:t>3 / 13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70560" y="590550"/>
            <a:ext cx="10292563" cy="586740"/>
            <a:chOff x="670560" y="590550"/>
            <a:chExt cx="10292563" cy="586740"/>
          </a:xfrm>
        </p:grpSpPr>
        <p:sp>
          <p:nvSpPr>
            <p:cNvPr id="2" name="TextBox 2"/>
            <p:cNvSpPr txBox="1"/>
            <p:nvPr/>
          </p:nvSpPr>
          <p:spPr>
            <a:xfrm>
              <a:off x="670560" y="590550"/>
              <a:ext cx="10292563"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Segoe UI"/>
                  <a:ea typeface="Microsoft YaHei"/>
                  <a:cs typeface="Segoe UI"/>
                </a:rPr>
                <a:t>系统把“生成像论文的结论”改为“保存证据与判定过程”</a:t>
              </a:r>
            </a:p>
          </p:txBody>
        </p:sp>
        <p:sp>
          <p:nvSpPr>
            <p:cNvPr id="3" name="Rectangle 3"/>
            <p:cNvSpPr/>
            <p:nvPr/>
          </p:nvSpPr>
          <p:spPr>
            <a:xfrm>
              <a:off x="685800" y="1085850"/>
              <a:ext cx="685800" cy="38100"/>
            </a:xfrm>
            <a:prstGeom prst="rect">
              <a:avLst/>
            </a:prstGeom>
            <a:solidFill>
              <a:schemeClr val="accent1"/>
            </a:solidFill>
            <a:ln>
              <a:noFill/>
            </a:ln>
          </p:spPr>
        </p:sp>
      </p:grpSp>
      <p:grpSp>
        <p:nvGrpSpPr>
          <p:cNvPr id="6" name="Group 6"/>
          <p:cNvGrpSpPr/>
          <p:nvPr/>
        </p:nvGrpSpPr>
        <p:grpSpPr>
          <a:xfrm>
            <a:off x="675894" y="1370648"/>
            <a:ext cx="10006447" cy="381381"/>
            <a:chOff x="675894" y="1370648"/>
            <a:chExt cx="10006447" cy="381381"/>
          </a:xfrm>
        </p:grpSpPr>
        <p:sp>
          <p:nvSpPr>
            <p:cNvPr id="5" name="TextBox 5"/>
            <p:cNvSpPr txBox="1"/>
            <p:nvPr/>
          </p:nvSpPr>
          <p:spPr>
            <a:xfrm>
              <a:off x="675894" y="1370648"/>
              <a:ext cx="10006447" cy="381381"/>
            </a:xfrm>
            <a:prstGeom prst="rect">
              <a:avLst/>
            </a:prstGeom>
            <a:noFill/>
            <a:ln>
              <a:noFill/>
            </a:ln>
          </p:spPr>
          <p:txBody>
            <a:bodyPr wrap="none" lIns="0" tIns="0" rIns="0" bIns="0" anchor="t" anchorCtr="0">
              <a:spAutoFit/>
            </a:bodyPr>
            <a:lstStyle/>
            <a:p>
              <a:pPr algn="l"/>
              <a:r>
                <a:rPr lang="zh-CN" sz="1950" dirty="0">
                  <a:solidFill>
                    <a:schemeClr val="dk1"/>
                  </a:solidFill>
                  <a:latin typeface="Segoe UI"/>
                  <a:ea typeface="Microsoft YaHei"/>
                  <a:cs typeface="Segoe UI"/>
                </a:rPr>
                <a:t>三层分离：认知交给宿主模型，确定性工作进 MCP 服务，</a:t>
              </a:r>
              <a:r>
                <a:rPr lang="zh-CN" sz="1950" b="1" dirty="0">
                  <a:solidFill>
                    <a:schemeClr val="accent2"/>
                  </a:solidFill>
                  <a:latin typeface="Segoe UI"/>
                  <a:ea typeface="Microsoft YaHei"/>
                  <a:cs typeface="Segoe UI"/>
                </a:rPr>
                <a:t>“做完了”由程序检查</a:t>
              </a:r>
              <a:r>
                <a:rPr lang="zh-CN" sz="1950" dirty="0">
                  <a:solidFill>
                    <a:schemeClr val="dk1"/>
                  </a:solidFill>
                  <a:latin typeface="Segoe UI"/>
                  <a:ea typeface="Microsoft YaHei"/>
                  <a:cs typeface="Segoe UI"/>
                </a:rPr>
                <a:t>。</a:t>
              </a:r>
            </a:p>
          </p:txBody>
        </p:sp>
      </p:grpSp>
      <p:grpSp>
        <p:nvGrpSpPr>
          <p:cNvPr id="50" name="Group 50"/>
          <p:cNvGrpSpPr/>
          <p:nvPr/>
        </p:nvGrpSpPr>
        <p:grpSpPr>
          <a:xfrm>
            <a:off x="679704" y="1962150"/>
            <a:ext cx="6758026" cy="3610356"/>
            <a:chOff x="679704" y="1962150"/>
            <a:chExt cx="6758026" cy="3610356"/>
          </a:xfrm>
        </p:grpSpPr>
        <p:sp>
          <p:nvSpPr>
            <p:cNvPr id="7" name="Rectangle 7"/>
            <p:cNvSpPr/>
            <p:nvPr/>
          </p:nvSpPr>
          <p:spPr>
            <a:xfrm>
              <a:off x="685800" y="1962150"/>
              <a:ext cx="6667500" cy="342900"/>
            </a:xfrm>
            <a:prstGeom prst="rect">
              <a:avLst/>
            </a:prstGeom>
            <a:solidFill>
              <a:schemeClr val="accent1"/>
            </a:solidFill>
            <a:ln>
              <a:noFill/>
            </a:ln>
          </p:spPr>
        </p:sp>
        <p:sp>
          <p:nvSpPr>
            <p:cNvPr id="8" name="TextBox 8"/>
            <p:cNvSpPr txBox="1"/>
            <p:nvPr/>
          </p:nvSpPr>
          <p:spPr>
            <a:xfrm>
              <a:off x="794004" y="2061210"/>
              <a:ext cx="6322101" cy="234696"/>
            </a:xfrm>
            <a:prstGeom prst="rect">
              <a:avLst/>
            </a:prstGeom>
            <a:noFill/>
            <a:ln>
              <a:noFill/>
            </a:ln>
          </p:spPr>
          <p:txBody>
            <a:bodyPr wrap="none" lIns="0" tIns="0" rIns="0" bIns="0" anchor="t" anchorCtr="0">
              <a:spAutoFit/>
            </a:bodyPr>
            <a:lstStyle/>
            <a:p>
              <a:pPr algn="l"/>
              <a:r>
                <a:rPr lang="zh-CN" sz="1200" b="1" dirty="0">
                  <a:solidFill>
                    <a:srgbClr val="FFFFFF"/>
                  </a:solidFill>
                  <a:latin typeface="Segoe UI"/>
                  <a:ea typeface="Microsoft YaHei"/>
                  <a:cs typeface="Segoe UI"/>
                </a:rPr>
                <a:t>① 编排器 orchestrator：读共享进度记录 · 分派任务 · 验收每一步产物 · 路由返工</a:t>
              </a:r>
            </a:p>
          </p:txBody>
        </p:sp>
        <p:sp>
          <p:nvSpPr>
            <p:cNvPr id="9" name="Rectangle 9"/>
            <p:cNvSpPr/>
            <p:nvPr/>
          </p:nvSpPr>
          <p:spPr>
            <a:xfrm>
              <a:off x="685800" y="2495550"/>
              <a:ext cx="1524000" cy="419100"/>
            </a:xfrm>
            <a:prstGeom prst="rect">
              <a:avLst/>
            </a:prstGeom>
            <a:solidFill>
              <a:schemeClr val="lt1"/>
            </a:solidFill>
            <a:ln w="14288">
              <a:solidFill>
                <a:schemeClr val="accent1"/>
              </a:solidFill>
            </a:ln>
          </p:spPr>
        </p:sp>
        <p:sp>
          <p:nvSpPr>
            <p:cNvPr id="10" name="TextBox 10"/>
            <p:cNvSpPr txBox="1"/>
            <p:nvPr/>
          </p:nvSpPr>
          <p:spPr>
            <a:xfrm>
              <a:off x="774954" y="2537460"/>
              <a:ext cx="834855"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Segoe UI"/>
                  <a:ea typeface="Microsoft YaHei"/>
                  <a:cs typeface="Segoe UI"/>
                </a:rPr>
                <a:t>② 文献检索</a:t>
              </a:r>
            </a:p>
          </p:txBody>
        </p:sp>
        <p:sp>
          <p:nvSpPr>
            <p:cNvPr id="11" name="TextBox 11"/>
            <p:cNvSpPr txBox="1"/>
            <p:nvPr/>
          </p:nvSpPr>
          <p:spPr>
            <a:xfrm>
              <a:off x="774954" y="2708910"/>
              <a:ext cx="1328776" cy="234696"/>
            </a:xfrm>
            <a:prstGeom prst="rect">
              <a:avLst/>
            </a:prstGeom>
            <a:noFill/>
            <a:ln>
              <a:noFill/>
            </a:ln>
          </p:spPr>
          <p:txBody>
            <a:bodyPr wrap="none" lIns="0" tIns="0" rIns="0" bIns="0" anchor="t" anchorCtr="0">
              <a:spAutoFit/>
            </a:bodyPr>
            <a:lstStyle/>
            <a:p>
              <a:pPr algn="l"/>
              <a:r>
                <a:rPr lang="zh-CN" sz="1200" dirty="0">
                  <a:solidFill>
                    <a:schemeClr val="dk2"/>
                  </a:solidFill>
                  <a:latin typeface="Segoe UI"/>
                  <a:ea typeface="Microsoft YaHei"/>
                  <a:cs typeface="Segoe UI"/>
                </a:rPr>
                <a:t>在线五源 + 本地库</a:t>
              </a:r>
            </a:p>
          </p:txBody>
        </p:sp>
        <p:sp>
          <p:nvSpPr>
            <p:cNvPr id="12" name="Rectangle 12"/>
            <p:cNvSpPr/>
            <p:nvPr/>
          </p:nvSpPr>
          <p:spPr>
            <a:xfrm>
              <a:off x="685800" y="3143250"/>
              <a:ext cx="1524000" cy="419100"/>
            </a:xfrm>
            <a:prstGeom prst="rect">
              <a:avLst/>
            </a:prstGeom>
            <a:solidFill>
              <a:schemeClr val="lt1"/>
            </a:solidFill>
            <a:ln w="14288">
              <a:solidFill>
                <a:schemeClr val="accent1"/>
              </a:solidFill>
            </a:ln>
          </p:spPr>
        </p:sp>
        <p:sp>
          <p:nvSpPr>
            <p:cNvPr id="13" name="TextBox 13"/>
            <p:cNvSpPr txBox="1"/>
            <p:nvPr/>
          </p:nvSpPr>
          <p:spPr>
            <a:xfrm>
              <a:off x="774954" y="3185160"/>
              <a:ext cx="834855"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Segoe UI"/>
                  <a:ea typeface="Microsoft YaHei"/>
                  <a:cs typeface="Segoe UI"/>
                </a:rPr>
                <a:t>④ 引用核对</a:t>
              </a:r>
            </a:p>
          </p:txBody>
        </p:sp>
        <p:sp>
          <p:nvSpPr>
            <p:cNvPr id="14" name="TextBox 14"/>
            <p:cNvSpPr txBox="1"/>
            <p:nvPr/>
          </p:nvSpPr>
          <p:spPr>
            <a:xfrm>
              <a:off x="774954" y="3356610"/>
              <a:ext cx="1466088" cy="234696"/>
            </a:xfrm>
            <a:prstGeom prst="rect">
              <a:avLst/>
            </a:prstGeom>
            <a:noFill/>
            <a:ln>
              <a:noFill/>
            </a:ln>
          </p:spPr>
          <p:txBody>
            <a:bodyPr wrap="none" lIns="0" tIns="0" rIns="0" bIns="0" anchor="t" anchorCtr="0">
              <a:spAutoFit/>
            </a:bodyPr>
            <a:lstStyle/>
            <a:p>
              <a:pPr algn="l"/>
              <a:r>
                <a:rPr lang="zh-CN" sz="1200" dirty="0">
                  <a:solidFill>
                    <a:schemeClr val="dk2"/>
                  </a:solidFill>
                  <a:latin typeface="Segoe UI"/>
                  <a:ea typeface="Microsoft YaHei"/>
                  <a:cs typeface="Segoe UI"/>
                </a:rPr>
                <a:t>题录与作者逐条比对</a:t>
              </a:r>
            </a:p>
          </p:txBody>
        </p:sp>
        <p:sp>
          <p:nvSpPr>
            <p:cNvPr id="15" name="Rectangle 15"/>
            <p:cNvSpPr/>
            <p:nvPr/>
          </p:nvSpPr>
          <p:spPr>
            <a:xfrm>
              <a:off x="685800" y="4000500"/>
              <a:ext cx="1524000" cy="419100"/>
            </a:xfrm>
            <a:prstGeom prst="rect">
              <a:avLst/>
            </a:prstGeom>
            <a:solidFill>
              <a:schemeClr val="lt1"/>
            </a:solidFill>
            <a:ln w="14288">
              <a:solidFill>
                <a:schemeClr val="accent1"/>
              </a:solidFill>
            </a:ln>
          </p:spPr>
        </p:sp>
        <p:sp>
          <p:nvSpPr>
            <p:cNvPr id="16" name="TextBox 16"/>
            <p:cNvSpPr txBox="1"/>
            <p:nvPr/>
          </p:nvSpPr>
          <p:spPr>
            <a:xfrm>
              <a:off x="774954" y="4042410"/>
              <a:ext cx="1174097"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Segoe UI"/>
                  <a:ea typeface="Microsoft YaHei"/>
                  <a:cs typeface="Segoe UI"/>
                </a:rPr>
                <a:t>③ 写作风格学习</a:t>
              </a:r>
            </a:p>
          </p:txBody>
        </p:sp>
        <p:sp>
          <p:nvSpPr>
            <p:cNvPr id="17" name="TextBox 17"/>
            <p:cNvSpPr txBox="1"/>
            <p:nvPr/>
          </p:nvSpPr>
          <p:spPr>
            <a:xfrm>
              <a:off x="774954" y="4213860"/>
              <a:ext cx="1046074" cy="234696"/>
            </a:xfrm>
            <a:prstGeom prst="rect">
              <a:avLst/>
            </a:prstGeom>
            <a:noFill/>
            <a:ln>
              <a:noFill/>
            </a:ln>
          </p:spPr>
          <p:txBody>
            <a:bodyPr wrap="none" lIns="0" tIns="0" rIns="0" bIns="0" anchor="t" anchorCtr="0">
              <a:spAutoFit/>
            </a:bodyPr>
            <a:lstStyle/>
            <a:p>
              <a:pPr algn="l"/>
              <a:r>
                <a:rPr lang="zh-CN" sz="1200" dirty="0">
                  <a:solidFill>
                    <a:schemeClr val="dk2"/>
                  </a:solidFill>
                  <a:latin typeface="Segoe UI"/>
                  <a:ea typeface="Microsoft YaHei"/>
                  <a:cs typeface="Segoe UI"/>
                </a:rPr>
                <a:t>30 篇经典综述</a:t>
              </a:r>
            </a:p>
          </p:txBody>
        </p:sp>
        <p:sp>
          <p:nvSpPr>
            <p:cNvPr id="18" name="Rectangle 18"/>
            <p:cNvSpPr/>
            <p:nvPr/>
          </p:nvSpPr>
          <p:spPr>
            <a:xfrm>
              <a:off x="2495550" y="3143250"/>
              <a:ext cx="1428750" cy="419100"/>
            </a:xfrm>
            <a:prstGeom prst="rect">
              <a:avLst/>
            </a:prstGeom>
            <a:solidFill>
              <a:schemeClr val="lt1"/>
            </a:solidFill>
            <a:ln w="14288">
              <a:solidFill>
                <a:schemeClr val="accent1"/>
              </a:solidFill>
            </a:ln>
          </p:spPr>
        </p:sp>
        <p:sp>
          <p:nvSpPr>
            <p:cNvPr id="19" name="TextBox 19"/>
            <p:cNvSpPr txBox="1"/>
            <p:nvPr/>
          </p:nvSpPr>
          <p:spPr>
            <a:xfrm>
              <a:off x="2584704" y="3185160"/>
              <a:ext cx="1004476"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Segoe UI"/>
                  <a:ea typeface="Microsoft YaHei"/>
                  <a:cs typeface="Segoe UI"/>
                </a:rPr>
                <a:t>⑤ 分类与写作</a:t>
              </a:r>
            </a:p>
          </p:txBody>
        </p:sp>
        <p:sp>
          <p:nvSpPr>
            <p:cNvPr id="20" name="TextBox 20"/>
            <p:cNvSpPr txBox="1"/>
            <p:nvPr/>
          </p:nvSpPr>
          <p:spPr>
            <a:xfrm>
              <a:off x="2584704" y="3356610"/>
              <a:ext cx="1005688" cy="234696"/>
            </a:xfrm>
            <a:prstGeom prst="rect">
              <a:avLst/>
            </a:prstGeom>
            <a:noFill/>
            <a:ln>
              <a:noFill/>
            </a:ln>
          </p:spPr>
          <p:txBody>
            <a:bodyPr wrap="none" lIns="0" tIns="0" rIns="0" bIns="0" anchor="t" anchorCtr="0">
              <a:spAutoFit/>
            </a:bodyPr>
            <a:lstStyle/>
            <a:p>
              <a:pPr algn="l"/>
              <a:r>
                <a:rPr lang="zh-CN" sz="1200" dirty="0">
                  <a:solidFill>
                    <a:schemeClr val="dk2"/>
                  </a:solidFill>
                  <a:latin typeface="Segoe UI"/>
                  <a:ea typeface="Microsoft YaHei"/>
                  <a:cs typeface="Segoe UI"/>
                </a:rPr>
                <a:t>分类法 → 章节</a:t>
              </a:r>
            </a:p>
          </p:txBody>
        </p:sp>
        <p:sp>
          <p:nvSpPr>
            <p:cNvPr id="21" name="Rectangle 21"/>
            <p:cNvSpPr/>
            <p:nvPr/>
          </p:nvSpPr>
          <p:spPr>
            <a:xfrm>
              <a:off x="4210050" y="2495550"/>
              <a:ext cx="1524000" cy="419100"/>
            </a:xfrm>
            <a:prstGeom prst="rect">
              <a:avLst/>
            </a:prstGeom>
            <a:solidFill>
              <a:schemeClr val="lt1"/>
            </a:solidFill>
            <a:ln w="14288">
              <a:solidFill>
                <a:schemeClr val="accent1"/>
              </a:solidFill>
            </a:ln>
          </p:spPr>
        </p:sp>
        <p:sp>
          <p:nvSpPr>
            <p:cNvPr id="22" name="TextBox 22"/>
            <p:cNvSpPr txBox="1"/>
            <p:nvPr/>
          </p:nvSpPr>
          <p:spPr>
            <a:xfrm>
              <a:off x="4299204" y="2537460"/>
              <a:ext cx="1174097"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Segoe UI"/>
                  <a:ea typeface="Microsoft YaHei"/>
                  <a:cs typeface="Segoe UI"/>
                </a:rPr>
                <a:t>⑥ 学术插图绘制</a:t>
              </a:r>
            </a:p>
          </p:txBody>
        </p:sp>
        <p:sp>
          <p:nvSpPr>
            <p:cNvPr id="23" name="TextBox 23"/>
            <p:cNvSpPr txBox="1"/>
            <p:nvPr/>
          </p:nvSpPr>
          <p:spPr>
            <a:xfrm>
              <a:off x="4299204" y="2708910"/>
              <a:ext cx="1005688" cy="234696"/>
            </a:xfrm>
            <a:prstGeom prst="rect">
              <a:avLst/>
            </a:prstGeom>
            <a:noFill/>
            <a:ln>
              <a:noFill/>
            </a:ln>
          </p:spPr>
          <p:txBody>
            <a:bodyPr wrap="none" lIns="0" tIns="0" rIns="0" bIns="0" anchor="t" anchorCtr="0">
              <a:spAutoFit/>
            </a:bodyPr>
            <a:lstStyle/>
            <a:p>
              <a:pPr algn="l"/>
              <a:r>
                <a:rPr lang="zh-CN" sz="1200" dirty="0">
                  <a:solidFill>
                    <a:schemeClr val="dk2"/>
                  </a:solidFill>
                  <a:latin typeface="Segoe UI"/>
                  <a:ea typeface="Microsoft YaHei"/>
                  <a:cs typeface="Segoe UI"/>
                </a:rPr>
                <a:t>图源 → 论文图</a:t>
              </a:r>
            </a:p>
          </p:txBody>
        </p:sp>
        <p:sp>
          <p:nvSpPr>
            <p:cNvPr id="24" name="Rectangle 24"/>
            <p:cNvSpPr/>
            <p:nvPr/>
          </p:nvSpPr>
          <p:spPr>
            <a:xfrm>
              <a:off x="4210050" y="3143250"/>
              <a:ext cx="1524000" cy="419100"/>
            </a:xfrm>
            <a:prstGeom prst="rect">
              <a:avLst/>
            </a:prstGeom>
            <a:solidFill>
              <a:schemeClr val="lt1"/>
            </a:solidFill>
            <a:ln w="14288">
              <a:solidFill>
                <a:schemeClr val="accent1"/>
              </a:solidFill>
            </a:ln>
          </p:spPr>
        </p:sp>
        <p:sp>
          <p:nvSpPr>
            <p:cNvPr id="25" name="TextBox 25"/>
            <p:cNvSpPr txBox="1"/>
            <p:nvPr/>
          </p:nvSpPr>
          <p:spPr>
            <a:xfrm>
              <a:off x="4299204" y="3185160"/>
              <a:ext cx="1174097"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Segoe UI"/>
                  <a:ea typeface="Microsoft YaHei"/>
                  <a:cs typeface="Segoe UI"/>
                </a:rPr>
                <a:t>⑦ 旧图可编辑化</a:t>
              </a:r>
            </a:p>
          </p:txBody>
        </p:sp>
        <p:sp>
          <p:nvSpPr>
            <p:cNvPr id="26" name="TextBox 26"/>
            <p:cNvSpPr txBox="1"/>
            <p:nvPr/>
          </p:nvSpPr>
          <p:spPr>
            <a:xfrm>
              <a:off x="4299204" y="3356610"/>
              <a:ext cx="1134923" cy="234696"/>
            </a:xfrm>
            <a:prstGeom prst="rect">
              <a:avLst/>
            </a:prstGeom>
            <a:noFill/>
            <a:ln>
              <a:noFill/>
            </a:ln>
          </p:spPr>
          <p:txBody>
            <a:bodyPr wrap="none" lIns="0" tIns="0" rIns="0" bIns="0" anchor="t" anchorCtr="0">
              <a:spAutoFit/>
            </a:bodyPr>
            <a:lstStyle/>
            <a:p>
              <a:pPr algn="l"/>
              <a:r>
                <a:rPr lang="zh-CN" sz="1200" dirty="0">
                  <a:solidFill>
                    <a:schemeClr val="dk2"/>
                  </a:solidFill>
                  <a:latin typeface="Segoe UI"/>
                  <a:ea typeface="Microsoft YaHei"/>
                  <a:cs typeface="Segoe UI"/>
                </a:rPr>
                <a:t>位图 → draw.io</a:t>
              </a:r>
            </a:p>
          </p:txBody>
        </p:sp>
        <p:sp>
          <p:nvSpPr>
            <p:cNvPr id="27" name="Rectangle 27"/>
            <p:cNvSpPr/>
            <p:nvPr/>
          </p:nvSpPr>
          <p:spPr>
            <a:xfrm>
              <a:off x="4210050" y="3790950"/>
              <a:ext cx="1524000" cy="419100"/>
            </a:xfrm>
            <a:prstGeom prst="rect">
              <a:avLst/>
            </a:prstGeom>
            <a:solidFill>
              <a:schemeClr val="lt1"/>
            </a:solidFill>
            <a:ln w="14288">
              <a:solidFill>
                <a:schemeClr val="accent1"/>
              </a:solidFill>
            </a:ln>
          </p:spPr>
        </p:sp>
        <p:sp>
          <p:nvSpPr>
            <p:cNvPr id="28" name="TextBox 28"/>
            <p:cNvSpPr txBox="1"/>
            <p:nvPr/>
          </p:nvSpPr>
          <p:spPr>
            <a:xfrm>
              <a:off x="4299204" y="3832860"/>
              <a:ext cx="1343718"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Segoe UI"/>
                  <a:ea typeface="Microsoft YaHei"/>
                  <a:cs typeface="Segoe UI"/>
                </a:rPr>
                <a:t>⑧ 想法与实验方案</a:t>
              </a:r>
            </a:p>
          </p:txBody>
        </p:sp>
        <p:sp>
          <p:nvSpPr>
            <p:cNvPr id="29" name="TextBox 29"/>
            <p:cNvSpPr txBox="1"/>
            <p:nvPr/>
          </p:nvSpPr>
          <p:spPr>
            <a:xfrm>
              <a:off x="4299204" y="4004310"/>
              <a:ext cx="1143000" cy="234696"/>
            </a:xfrm>
            <a:prstGeom prst="rect">
              <a:avLst/>
            </a:prstGeom>
            <a:noFill/>
            <a:ln>
              <a:noFill/>
            </a:ln>
          </p:spPr>
          <p:txBody>
            <a:bodyPr wrap="none" lIns="0" tIns="0" rIns="0" bIns="0" anchor="t" anchorCtr="0">
              <a:spAutoFit/>
            </a:bodyPr>
            <a:lstStyle/>
            <a:p>
              <a:pPr algn="l"/>
              <a:r>
                <a:rPr lang="zh-CN" sz="1200" dirty="0">
                  <a:solidFill>
                    <a:schemeClr val="dk2"/>
                  </a:solidFill>
                  <a:latin typeface="Segoe UI"/>
                  <a:ea typeface="Microsoft YaHei"/>
                  <a:cs typeface="Segoe UI"/>
                </a:rPr>
                <a:t>调用前驱体预测</a:t>
              </a:r>
            </a:p>
          </p:txBody>
        </p:sp>
        <p:sp>
          <p:nvSpPr>
            <p:cNvPr id="30" name="Rectangle 30"/>
            <p:cNvSpPr/>
            <p:nvPr/>
          </p:nvSpPr>
          <p:spPr>
            <a:xfrm>
              <a:off x="6019800" y="3143250"/>
              <a:ext cx="1333500" cy="419100"/>
            </a:xfrm>
            <a:prstGeom prst="rect">
              <a:avLst/>
            </a:prstGeom>
            <a:solidFill>
              <a:schemeClr val="lt1"/>
            </a:solidFill>
            <a:ln w="14288">
              <a:solidFill>
                <a:schemeClr val="accent2"/>
              </a:solidFill>
            </a:ln>
          </p:spPr>
        </p:sp>
        <p:sp>
          <p:nvSpPr>
            <p:cNvPr id="31" name="TextBox 31"/>
            <p:cNvSpPr txBox="1"/>
            <p:nvPr/>
          </p:nvSpPr>
          <p:spPr>
            <a:xfrm>
              <a:off x="6108954" y="3185160"/>
              <a:ext cx="834855"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Segoe UI"/>
                  <a:ea typeface="Microsoft YaHei"/>
                  <a:cs typeface="Segoe UI"/>
                </a:rPr>
                <a:t>⑨ 对抗审稿</a:t>
              </a:r>
            </a:p>
          </p:txBody>
        </p:sp>
        <p:sp>
          <p:nvSpPr>
            <p:cNvPr id="32" name="TextBox 32"/>
            <p:cNvSpPr txBox="1"/>
            <p:nvPr/>
          </p:nvSpPr>
          <p:spPr>
            <a:xfrm>
              <a:off x="6108954" y="3356610"/>
              <a:ext cx="1328776" cy="234696"/>
            </a:xfrm>
            <a:prstGeom prst="rect">
              <a:avLst/>
            </a:prstGeom>
            <a:noFill/>
            <a:ln>
              <a:noFill/>
            </a:ln>
          </p:spPr>
          <p:txBody>
            <a:bodyPr wrap="none" lIns="0" tIns="0" rIns="0" bIns="0" anchor="t" anchorCtr="0">
              <a:spAutoFit/>
            </a:bodyPr>
            <a:lstStyle/>
            <a:p>
              <a:pPr algn="l"/>
              <a:r>
                <a:rPr lang="zh-CN" sz="1200" dirty="0">
                  <a:solidFill>
                    <a:schemeClr val="dk2"/>
                  </a:solidFill>
                  <a:latin typeface="Segoe UI"/>
                  <a:ea typeface="Microsoft YaHei"/>
                  <a:cs typeface="Segoe UI"/>
                </a:rPr>
                <a:t>新上下文 · 三视角</a:t>
              </a:r>
            </a:p>
          </p:txBody>
        </p:sp>
        <p:sp>
          <p:nvSpPr>
            <p:cNvPr id="33" name="Line 33"/>
            <p:cNvSpPr/>
            <p:nvPr/>
          </p:nvSpPr>
          <p:spPr>
            <a:xfrm>
              <a:off x="1447800" y="2933700"/>
              <a:ext cx="1" cy="171450"/>
            </a:xfrm>
            <a:prstGeom prst="line">
              <a:avLst/>
            </a:prstGeom>
            <a:noFill/>
            <a:ln w="19050">
              <a:solidFill>
                <a:schemeClr val="accent1"/>
              </a:solidFill>
              <a:tailEnd type="triangle" w="med" len="med"/>
            </a:ln>
          </p:spPr>
        </p:sp>
        <p:sp>
          <p:nvSpPr>
            <p:cNvPr id="34" name="Freeform 34"/>
            <p:cNvSpPr/>
            <p:nvPr/>
          </p:nvSpPr>
          <p:spPr>
            <a:xfrm>
              <a:off x="2209800" y="3352800"/>
              <a:ext cx="247650" cy="9525"/>
            </a:xfrm>
            <a:custGeom>
              <a:avLst/>
              <a:gdLst/>
              <a:ahLst/>
              <a:cxnLst/>
              <a:rect l="l" t="t" r="r" b="b"/>
              <a:pathLst>
                <a:path w="247650" h="9525">
                  <a:moveTo>
                    <a:pt x="0" y="0"/>
                  </a:moveTo>
                  <a:lnTo>
                    <a:pt x="247650" y="0"/>
                  </a:lnTo>
                </a:path>
              </a:pathLst>
            </a:custGeom>
            <a:noFill/>
            <a:ln w="19050">
              <a:solidFill>
                <a:schemeClr val="accent1"/>
              </a:solidFill>
              <a:tailEnd type="triangle" w="med" len="med"/>
            </a:ln>
          </p:spPr>
        </p:sp>
        <p:sp>
          <p:nvSpPr>
            <p:cNvPr id="35" name="Freeform 35"/>
            <p:cNvSpPr/>
            <p:nvPr/>
          </p:nvSpPr>
          <p:spPr>
            <a:xfrm>
              <a:off x="2209800" y="3352800"/>
              <a:ext cx="142875" cy="857250"/>
            </a:xfrm>
            <a:custGeom>
              <a:avLst/>
              <a:gdLst/>
              <a:ahLst/>
              <a:cxnLst/>
              <a:rect l="l" t="t" r="r" b="b"/>
              <a:pathLst>
                <a:path w="142875" h="857250">
                  <a:moveTo>
                    <a:pt x="0" y="857250"/>
                  </a:moveTo>
                  <a:lnTo>
                    <a:pt x="142875" y="857250"/>
                  </a:lnTo>
                  <a:lnTo>
                    <a:pt x="142875" y="0"/>
                  </a:lnTo>
                </a:path>
              </a:pathLst>
            </a:custGeom>
            <a:noFill/>
            <a:ln w="19050">
              <a:solidFill>
                <a:schemeClr val="accent1"/>
              </a:solidFill>
            </a:ln>
          </p:spPr>
        </p:sp>
        <p:sp>
          <p:nvSpPr>
            <p:cNvPr id="36" name="Freeform 36"/>
            <p:cNvSpPr/>
            <p:nvPr/>
          </p:nvSpPr>
          <p:spPr>
            <a:xfrm>
              <a:off x="3924300" y="2705100"/>
              <a:ext cx="142875" cy="1295400"/>
            </a:xfrm>
            <a:custGeom>
              <a:avLst/>
              <a:gdLst/>
              <a:ahLst/>
              <a:cxnLst/>
              <a:rect l="l" t="t" r="r" b="b"/>
              <a:pathLst>
                <a:path w="142875" h="1295400">
                  <a:moveTo>
                    <a:pt x="0" y="647700"/>
                  </a:moveTo>
                  <a:lnTo>
                    <a:pt x="142875" y="647700"/>
                  </a:lnTo>
                  <a:moveTo>
                    <a:pt x="142875" y="0"/>
                  </a:moveTo>
                  <a:lnTo>
                    <a:pt x="142875" y="1295400"/>
                  </a:lnTo>
                </a:path>
              </a:pathLst>
            </a:custGeom>
            <a:noFill/>
            <a:ln w="19050">
              <a:solidFill>
                <a:schemeClr val="accent1"/>
              </a:solidFill>
            </a:ln>
          </p:spPr>
        </p:sp>
        <p:sp>
          <p:nvSpPr>
            <p:cNvPr id="37" name="Line 37"/>
            <p:cNvSpPr/>
            <p:nvPr/>
          </p:nvSpPr>
          <p:spPr>
            <a:xfrm>
              <a:off x="4067175" y="2705100"/>
              <a:ext cx="104775" cy="1"/>
            </a:xfrm>
            <a:prstGeom prst="line">
              <a:avLst/>
            </a:prstGeom>
            <a:noFill/>
            <a:ln w="19050">
              <a:solidFill>
                <a:schemeClr val="accent1"/>
              </a:solidFill>
              <a:tailEnd type="triangle" w="med" len="med"/>
            </a:ln>
          </p:spPr>
        </p:sp>
        <p:sp>
          <p:nvSpPr>
            <p:cNvPr id="38" name="Line 38"/>
            <p:cNvSpPr/>
            <p:nvPr/>
          </p:nvSpPr>
          <p:spPr>
            <a:xfrm>
              <a:off x="4067175" y="3352800"/>
              <a:ext cx="104775" cy="1"/>
            </a:xfrm>
            <a:prstGeom prst="line">
              <a:avLst/>
            </a:prstGeom>
            <a:noFill/>
            <a:ln w="19050">
              <a:solidFill>
                <a:schemeClr val="accent1"/>
              </a:solidFill>
              <a:tailEnd type="triangle" w="med" len="med"/>
            </a:ln>
          </p:spPr>
        </p:sp>
        <p:sp>
          <p:nvSpPr>
            <p:cNvPr id="39" name="Line 39"/>
            <p:cNvSpPr/>
            <p:nvPr/>
          </p:nvSpPr>
          <p:spPr>
            <a:xfrm>
              <a:off x="4067175" y="4000500"/>
              <a:ext cx="104775" cy="1"/>
            </a:xfrm>
            <a:prstGeom prst="line">
              <a:avLst/>
            </a:prstGeom>
            <a:noFill/>
            <a:ln w="19050">
              <a:solidFill>
                <a:schemeClr val="accent1"/>
              </a:solidFill>
              <a:tailEnd type="triangle" w="med" len="med"/>
            </a:ln>
          </p:spPr>
        </p:sp>
        <p:sp>
          <p:nvSpPr>
            <p:cNvPr id="40" name="Freeform 40"/>
            <p:cNvSpPr/>
            <p:nvPr/>
          </p:nvSpPr>
          <p:spPr>
            <a:xfrm>
              <a:off x="5734050" y="2705100"/>
              <a:ext cx="142875" cy="1295400"/>
            </a:xfrm>
            <a:custGeom>
              <a:avLst/>
              <a:gdLst/>
              <a:ahLst/>
              <a:cxnLst/>
              <a:rect l="l" t="t" r="r" b="b"/>
              <a:pathLst>
                <a:path w="142875" h="1295400">
                  <a:moveTo>
                    <a:pt x="0" y="0"/>
                  </a:moveTo>
                  <a:lnTo>
                    <a:pt x="142875" y="0"/>
                  </a:lnTo>
                  <a:moveTo>
                    <a:pt x="0" y="647700"/>
                  </a:moveTo>
                  <a:lnTo>
                    <a:pt x="142875" y="647700"/>
                  </a:lnTo>
                  <a:moveTo>
                    <a:pt x="0" y="1295400"/>
                  </a:moveTo>
                  <a:lnTo>
                    <a:pt x="142875" y="1295400"/>
                  </a:lnTo>
                  <a:moveTo>
                    <a:pt x="142875" y="0"/>
                  </a:moveTo>
                  <a:lnTo>
                    <a:pt x="142875" y="1295400"/>
                  </a:lnTo>
                </a:path>
              </a:pathLst>
            </a:custGeom>
            <a:noFill/>
            <a:ln w="19050">
              <a:solidFill>
                <a:schemeClr val="accent1"/>
              </a:solidFill>
            </a:ln>
          </p:spPr>
        </p:sp>
        <p:sp>
          <p:nvSpPr>
            <p:cNvPr id="41" name="Line 41"/>
            <p:cNvSpPr/>
            <p:nvPr/>
          </p:nvSpPr>
          <p:spPr>
            <a:xfrm>
              <a:off x="5876925" y="3352800"/>
              <a:ext cx="104775" cy="1"/>
            </a:xfrm>
            <a:prstGeom prst="line">
              <a:avLst/>
            </a:prstGeom>
            <a:noFill/>
            <a:ln w="19050">
              <a:solidFill>
                <a:schemeClr val="accent1"/>
              </a:solidFill>
              <a:tailEnd type="triangle" w="med" len="med"/>
            </a:ln>
          </p:spPr>
        </p:sp>
        <p:sp>
          <p:nvSpPr>
            <p:cNvPr id="42" name="Freeform 42"/>
            <p:cNvSpPr/>
            <p:nvPr/>
          </p:nvSpPr>
          <p:spPr>
            <a:xfrm>
              <a:off x="3209925" y="3562350"/>
              <a:ext cx="3476625" cy="990600"/>
            </a:xfrm>
            <a:custGeom>
              <a:avLst/>
              <a:gdLst/>
              <a:ahLst/>
              <a:cxnLst/>
              <a:rect l="l" t="t" r="r" b="b"/>
              <a:pathLst>
                <a:path w="3476625" h="990600">
                  <a:moveTo>
                    <a:pt x="3476625" y="0"/>
                  </a:moveTo>
                  <a:lnTo>
                    <a:pt x="3476625" y="990600"/>
                  </a:lnTo>
                  <a:lnTo>
                    <a:pt x="0" y="990600"/>
                  </a:lnTo>
                  <a:lnTo>
                    <a:pt x="0" y="38100"/>
                  </a:lnTo>
                </a:path>
              </a:pathLst>
            </a:custGeom>
            <a:noFill/>
            <a:ln w="14288">
              <a:solidFill>
                <a:schemeClr val="accent2"/>
              </a:solidFill>
              <a:custDash>
                <a:ds d="400000" sp="266666"/>
              </a:custDash>
              <a:tailEnd type="triangle" w="med" len="med"/>
            </a:ln>
          </p:spPr>
        </p:sp>
        <p:sp>
          <p:nvSpPr>
            <p:cNvPr id="43" name="TextBox 43"/>
            <p:cNvSpPr txBox="1"/>
            <p:nvPr/>
          </p:nvSpPr>
          <p:spPr>
            <a:xfrm>
              <a:off x="3242615" y="4594860"/>
              <a:ext cx="3420770" cy="234696"/>
            </a:xfrm>
            <a:prstGeom prst="rect">
              <a:avLst/>
            </a:prstGeom>
            <a:noFill/>
            <a:ln>
              <a:noFill/>
            </a:ln>
          </p:spPr>
          <p:txBody>
            <a:bodyPr wrap="none" lIns="0" tIns="0" rIns="0" bIns="0" anchor="t" anchorCtr="0">
              <a:spAutoFit/>
            </a:bodyPr>
            <a:lstStyle/>
            <a:p>
              <a:pPr algn="ctr"/>
              <a:r>
                <a:rPr lang="zh-CN" sz="1200" dirty="0">
                  <a:solidFill>
                    <a:schemeClr val="accent2"/>
                  </a:solidFill>
                  <a:latin typeface="Segoe UI"/>
                  <a:ea typeface="Microsoft YaHei"/>
                  <a:cs typeface="Segoe UI"/>
                </a:rPr>
                <a:t>审稿 issue 沿原路返工（稿件、图、想法方案）</a:t>
              </a:r>
            </a:p>
          </p:txBody>
        </p:sp>
        <p:sp>
          <p:nvSpPr>
            <p:cNvPr id="44" name="TextBox 44"/>
            <p:cNvSpPr txBox="1"/>
            <p:nvPr/>
          </p:nvSpPr>
          <p:spPr>
            <a:xfrm>
              <a:off x="1280160" y="4918710"/>
              <a:ext cx="33528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Segoe UI"/>
                  <a:ea typeface="Microsoft YaHei"/>
                  <a:cs typeface="Segoe UI"/>
                </a:rPr>
                <a:t>发现</a:t>
              </a:r>
            </a:p>
          </p:txBody>
        </p:sp>
        <p:sp>
          <p:nvSpPr>
            <p:cNvPr id="45" name="TextBox 45"/>
            <p:cNvSpPr txBox="1"/>
            <p:nvPr/>
          </p:nvSpPr>
          <p:spPr>
            <a:xfrm>
              <a:off x="3042285" y="4918710"/>
              <a:ext cx="33528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Segoe UI"/>
                  <a:ea typeface="Microsoft YaHei"/>
                  <a:cs typeface="Segoe UI"/>
                </a:rPr>
                <a:t>写作</a:t>
              </a:r>
            </a:p>
          </p:txBody>
        </p:sp>
        <p:sp>
          <p:nvSpPr>
            <p:cNvPr id="46" name="TextBox 46"/>
            <p:cNvSpPr txBox="1"/>
            <p:nvPr/>
          </p:nvSpPr>
          <p:spPr>
            <a:xfrm>
              <a:off x="4481322" y="4918710"/>
              <a:ext cx="981456"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Segoe UI"/>
                  <a:ea typeface="Microsoft YaHei"/>
                  <a:cs typeface="Segoe UI"/>
                </a:rPr>
                <a:t>生产（并行）</a:t>
              </a:r>
            </a:p>
          </p:txBody>
        </p:sp>
        <p:sp>
          <p:nvSpPr>
            <p:cNvPr id="47" name="TextBox 47"/>
            <p:cNvSpPr txBox="1"/>
            <p:nvPr/>
          </p:nvSpPr>
          <p:spPr>
            <a:xfrm>
              <a:off x="6518910" y="4918710"/>
              <a:ext cx="33528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Segoe UI"/>
                  <a:ea typeface="Microsoft YaHei"/>
                  <a:cs typeface="Segoe UI"/>
                </a:rPr>
                <a:t>质量</a:t>
              </a:r>
            </a:p>
          </p:txBody>
        </p:sp>
        <p:sp>
          <p:nvSpPr>
            <p:cNvPr id="48" name="Line 48"/>
            <p:cNvSpPr/>
            <p:nvPr/>
          </p:nvSpPr>
          <p:spPr>
            <a:xfrm>
              <a:off x="685800" y="5200650"/>
              <a:ext cx="6667500" cy="9525"/>
            </a:xfrm>
            <a:custGeom>
              <a:avLst/>
              <a:gdLst/>
              <a:ahLst/>
              <a:cxnLst/>
              <a:rect l="l" t="t" r="r" b="b"/>
              <a:pathLst>
                <a:path w="6667500" h="9525">
                  <a:moveTo>
                    <a:pt x="0" y="0"/>
                  </a:moveTo>
                  <a:lnTo>
                    <a:pt x="6667500" y="0"/>
                  </a:lnTo>
                </a:path>
              </a:pathLst>
            </a:custGeom>
            <a:noFill/>
            <a:ln w="9525">
              <a:solidFill>
                <a:schemeClr val="accent4"/>
              </a:solidFill>
            </a:ln>
          </p:spPr>
        </p:sp>
        <p:sp>
          <p:nvSpPr>
            <p:cNvPr id="49" name="TextBox 49"/>
            <p:cNvSpPr txBox="1"/>
            <p:nvPr/>
          </p:nvSpPr>
          <p:spPr>
            <a:xfrm>
              <a:off x="679704" y="5337810"/>
              <a:ext cx="6284976" cy="234696"/>
            </a:xfrm>
            <a:prstGeom prst="rect">
              <a:avLst/>
            </a:prstGeom>
            <a:noFill/>
            <a:ln>
              <a:noFill/>
            </a:ln>
          </p:spPr>
          <p:txBody>
            <a:bodyPr wrap="none" lIns="0" tIns="0" rIns="0" bIns="0" anchor="t" anchorCtr="0">
              <a:spAutoFit/>
            </a:bodyPr>
            <a:lstStyle/>
            <a:p>
              <a:pPr algn="l"/>
              <a:r>
                <a:rPr lang="zh-CN" sz="1200" dirty="0">
                  <a:solidFill>
                    <a:schemeClr val="dk2"/>
                  </a:solidFill>
                  <a:latin typeface="Segoe UI"/>
                  <a:ea typeface="Microsoft YaHei"/>
                  <a:cs typeface="Segoe UI"/>
                </a:rPr>
                <a:t>4 个自研 MCP 服务：② 文献检索 · ④ 引用核对 · ⑥⑦ 绘图 · ⑧ 前驱体预测（RECIPE）</a:t>
              </a:r>
            </a:p>
          </p:txBody>
        </p:sp>
      </p:grpSp>
      <p:grpSp>
        <p:nvGrpSpPr>
          <p:cNvPr id="60" name="Group 60"/>
          <p:cNvGrpSpPr/>
          <p:nvPr/>
        </p:nvGrpSpPr>
        <p:grpSpPr>
          <a:xfrm>
            <a:off x="7734300" y="1962150"/>
            <a:ext cx="3520187" cy="1428750"/>
            <a:chOff x="7734300" y="1962150"/>
            <a:chExt cx="3520187" cy="1428750"/>
          </a:xfrm>
        </p:grpSpPr>
        <p:sp>
          <p:nvSpPr>
            <p:cNvPr id="51" name="Rectangle 51"/>
            <p:cNvSpPr/>
            <p:nvPr/>
          </p:nvSpPr>
          <p:spPr>
            <a:xfrm>
              <a:off x="7734300" y="1962150"/>
              <a:ext cx="57150" cy="1428750"/>
            </a:xfrm>
            <a:prstGeom prst="rect">
              <a:avLst/>
            </a:prstGeom>
            <a:solidFill>
              <a:schemeClr val="accent1"/>
            </a:solidFill>
            <a:ln>
              <a:noFill/>
            </a:ln>
          </p:spPr>
        </p:sp>
        <p:grpSp>
          <p:nvGrpSpPr>
            <p:cNvPr id="57" name="Group 57"/>
            <p:cNvGrpSpPr/>
            <p:nvPr/>
          </p:nvGrpSpPr>
          <p:grpSpPr>
            <a:xfrm>
              <a:off x="7996238" y="2033588"/>
              <a:ext cx="200025" cy="200025"/>
              <a:chOff x="7996238" y="2033588"/>
              <a:chExt cx="200025" cy="200025"/>
            </a:xfrm>
          </p:grpSpPr>
          <p:sp>
            <p:nvSpPr>
              <p:cNvPr id="52" name="Freeform 52"/>
              <p:cNvSpPr/>
              <p:nvPr/>
            </p:nvSpPr>
            <p:spPr>
              <a:xfrm>
                <a:off x="8074025" y="2033588"/>
                <a:ext cx="44450" cy="44450"/>
              </a:xfrm>
              <a:custGeom>
                <a:avLst/>
                <a:gdLst/>
                <a:ahLst/>
                <a:cxnLst/>
                <a:rect l="l" t="t" r="r" b="b"/>
                <a:pathLst>
                  <a:path w="44450" h="44450">
                    <a:moveTo>
                      <a:pt x="0" y="0"/>
                    </a:moveTo>
                    <a:lnTo>
                      <a:pt x="44450" y="0"/>
                    </a:lnTo>
                    <a:lnTo>
                      <a:pt x="44450" y="44450"/>
                    </a:lnTo>
                    <a:lnTo>
                      <a:pt x="0" y="44450"/>
                    </a:lnTo>
                    <a:lnTo>
                      <a:pt x="0" y="0"/>
                    </a:lnTo>
                  </a:path>
                </a:pathLst>
              </a:custGeom>
              <a:noFill/>
              <a:ln w="19050">
                <a:solidFill>
                  <a:schemeClr val="accent1"/>
                </a:solidFill>
              </a:ln>
            </p:spPr>
          </p:sp>
          <p:sp>
            <p:nvSpPr>
              <p:cNvPr id="53" name="Freeform 53"/>
              <p:cNvSpPr/>
              <p:nvPr/>
            </p:nvSpPr>
            <p:spPr>
              <a:xfrm>
                <a:off x="7996238" y="2189163"/>
                <a:ext cx="44450" cy="44450"/>
              </a:xfrm>
              <a:custGeom>
                <a:avLst/>
                <a:gdLst/>
                <a:ahLst/>
                <a:cxnLst/>
                <a:rect l="l" t="t" r="r" b="b"/>
                <a:pathLst>
                  <a:path w="44450" h="44450">
                    <a:moveTo>
                      <a:pt x="0" y="0"/>
                    </a:moveTo>
                    <a:lnTo>
                      <a:pt x="44450" y="0"/>
                    </a:lnTo>
                    <a:lnTo>
                      <a:pt x="44450" y="44450"/>
                    </a:lnTo>
                    <a:lnTo>
                      <a:pt x="0" y="44450"/>
                    </a:lnTo>
                    <a:lnTo>
                      <a:pt x="0" y="0"/>
                    </a:lnTo>
                  </a:path>
                </a:pathLst>
              </a:custGeom>
              <a:noFill/>
              <a:ln w="19050">
                <a:solidFill>
                  <a:schemeClr val="accent1"/>
                </a:solidFill>
              </a:ln>
            </p:spPr>
          </p:sp>
          <p:sp>
            <p:nvSpPr>
              <p:cNvPr id="54" name="Freeform 54"/>
              <p:cNvSpPr/>
              <p:nvPr/>
            </p:nvSpPr>
            <p:spPr>
              <a:xfrm>
                <a:off x="8151813" y="2189163"/>
                <a:ext cx="44450" cy="44450"/>
              </a:xfrm>
              <a:custGeom>
                <a:avLst/>
                <a:gdLst/>
                <a:ahLst/>
                <a:cxnLst/>
                <a:rect l="l" t="t" r="r" b="b"/>
                <a:pathLst>
                  <a:path w="44450" h="44450">
                    <a:moveTo>
                      <a:pt x="0" y="0"/>
                    </a:moveTo>
                    <a:lnTo>
                      <a:pt x="44450" y="0"/>
                    </a:lnTo>
                    <a:lnTo>
                      <a:pt x="44450" y="44450"/>
                    </a:lnTo>
                    <a:lnTo>
                      <a:pt x="0" y="44450"/>
                    </a:lnTo>
                    <a:lnTo>
                      <a:pt x="0" y="0"/>
                    </a:lnTo>
                  </a:path>
                </a:pathLst>
              </a:custGeom>
              <a:noFill/>
              <a:ln w="19050">
                <a:solidFill>
                  <a:schemeClr val="accent1"/>
                </a:solidFill>
              </a:ln>
            </p:spPr>
          </p:sp>
          <p:sp>
            <p:nvSpPr>
              <p:cNvPr id="55" name="Freeform 55"/>
              <p:cNvSpPr/>
              <p:nvPr/>
            </p:nvSpPr>
            <p:spPr>
              <a:xfrm>
                <a:off x="8040688" y="2144713"/>
                <a:ext cx="111125" cy="44450"/>
              </a:xfrm>
              <a:custGeom>
                <a:avLst/>
                <a:gdLst/>
                <a:ahLst/>
                <a:cxnLst/>
                <a:rect l="l" t="t" r="r" b="b"/>
                <a:pathLst>
                  <a:path w="111125" h="44450">
                    <a:moveTo>
                      <a:pt x="0" y="44450"/>
                    </a:moveTo>
                    <a:lnTo>
                      <a:pt x="55563" y="0"/>
                    </a:lnTo>
                    <a:lnTo>
                      <a:pt x="111125" y="44450"/>
                    </a:lnTo>
                  </a:path>
                </a:pathLst>
              </a:custGeom>
              <a:noFill/>
              <a:ln w="19050">
                <a:solidFill>
                  <a:schemeClr val="accent1"/>
                </a:solidFill>
              </a:ln>
            </p:spPr>
          </p:sp>
          <p:sp>
            <p:nvSpPr>
              <p:cNvPr id="56" name="Freeform 56"/>
              <p:cNvSpPr/>
              <p:nvPr/>
            </p:nvSpPr>
            <p:spPr>
              <a:xfrm>
                <a:off x="8096250" y="2078038"/>
                <a:ext cx="9525" cy="66675"/>
              </a:xfrm>
              <a:custGeom>
                <a:avLst/>
                <a:gdLst/>
                <a:ahLst/>
                <a:cxnLst/>
                <a:rect l="l" t="t" r="r" b="b"/>
                <a:pathLst>
                  <a:path w="9525" h="66675">
                    <a:moveTo>
                      <a:pt x="0" y="0"/>
                    </a:moveTo>
                    <a:lnTo>
                      <a:pt x="0" y="66675"/>
                    </a:lnTo>
                  </a:path>
                </a:pathLst>
              </a:custGeom>
              <a:noFill/>
              <a:ln w="19050">
                <a:solidFill>
                  <a:schemeClr val="accent1"/>
                </a:solidFill>
              </a:ln>
            </p:spPr>
          </p:sp>
        </p:grpSp>
        <p:sp>
          <p:nvSpPr>
            <p:cNvPr id="58" name="TextBox 58"/>
            <p:cNvSpPr txBox="1"/>
            <p:nvPr/>
          </p:nvSpPr>
          <p:spPr>
            <a:xfrm>
              <a:off x="8315706" y="2015490"/>
              <a:ext cx="293878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Segoe UI"/>
                  <a:ea typeface="Microsoft YaHei"/>
                  <a:cs typeface="Segoe UI"/>
                </a:rPr>
                <a:t>认知层 · 9 个 Agent 角色</a:t>
              </a:r>
            </a:p>
          </p:txBody>
        </p:sp>
        <p:sp>
          <p:nvSpPr>
            <p:cNvPr id="59" name="TextBox 59"/>
            <p:cNvSpPr txBox="1"/>
            <p:nvPr/>
          </p:nvSpPr>
          <p:spPr>
            <a:xfrm>
              <a:off x="7956042" y="2368868"/>
              <a:ext cx="3245548" cy="100698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Segoe UI"/>
                  <a:ea typeface="Microsoft YaHei"/>
                  <a:cs typeface="Segoe UI"/>
                </a:rPr>
                <a:t>① 编排 ② 文献检索 ③ 写作风格学习</a:t>
              </a:r>
              <a:r>
                <a:rPr lang="zh-CN" sz="1350" dirty="0">
                  <a:solidFill>
                    <a:schemeClr val="dk1"/>
                  </a:solidFill>
                  <a:latin typeface="Segoe UI"/>
                  <a:ea typeface="Microsoft YaHei"/>
                  <a:cs typeface="Segoe UI"/>
                </a:rPr>
                <a:t>④ 引用核对 ⑤ 分类与写作 ⑥ 学术插图绘制</a:t>
              </a:r>
              <a:r>
                <a:rPr lang="zh-CN" sz="1350" dirty="0">
                  <a:solidFill>
                    <a:schemeClr val="dk1"/>
                  </a:solidFill>
                  <a:latin typeface="Segoe UI"/>
                  <a:ea typeface="Microsoft YaHei"/>
                  <a:cs typeface="Segoe UI"/>
                </a:rPr>
                <a:t>⑦ 旧图可编辑化 ⑧ 想法与实验方案</a:t>
              </a:r>
              <a:r>
                <a:rPr lang="zh-CN" sz="1350" dirty="0">
                  <a:solidFill>
                    <a:schemeClr val="dk1"/>
                  </a:solidFill>
                  <a:latin typeface="Segoe UI"/>
                  <a:ea typeface="Microsoft YaHei"/>
                  <a:cs typeface="Segoe UI"/>
                </a:rPr>
                <a:t>⑨ 对抗审稿（全新上下文，先核对再批评）</a:t>
              </a:r>
            </a:p>
          </p:txBody>
        </p:sp>
      </p:grpSp>
      <p:grpSp>
        <p:nvGrpSpPr>
          <p:cNvPr id="68" name="Group 68"/>
          <p:cNvGrpSpPr/>
          <p:nvPr/>
        </p:nvGrpSpPr>
        <p:grpSpPr>
          <a:xfrm>
            <a:off x="7734300" y="3543300"/>
            <a:ext cx="4215506" cy="1661351"/>
            <a:chOff x="7734300" y="3543300"/>
            <a:chExt cx="4215506" cy="1661351"/>
          </a:xfrm>
        </p:grpSpPr>
        <p:sp>
          <p:nvSpPr>
            <p:cNvPr id="61" name="Rectangle 61"/>
            <p:cNvSpPr/>
            <p:nvPr/>
          </p:nvSpPr>
          <p:spPr>
            <a:xfrm>
              <a:off x="7734300" y="3543300"/>
              <a:ext cx="57150" cy="1428750"/>
            </a:xfrm>
            <a:prstGeom prst="rect">
              <a:avLst/>
            </a:prstGeom>
            <a:solidFill>
              <a:schemeClr val="accent3"/>
            </a:solidFill>
            <a:ln>
              <a:noFill/>
            </a:ln>
          </p:spPr>
        </p:sp>
        <p:grpSp>
          <p:nvGrpSpPr>
            <p:cNvPr id="65" name="Group 65"/>
            <p:cNvGrpSpPr/>
            <p:nvPr/>
          </p:nvGrpSpPr>
          <p:grpSpPr>
            <a:xfrm>
              <a:off x="8007350" y="3614738"/>
              <a:ext cx="177801" cy="200025"/>
              <a:chOff x="8007350" y="3614738"/>
              <a:chExt cx="177801" cy="200025"/>
            </a:xfrm>
          </p:grpSpPr>
          <p:sp>
            <p:nvSpPr>
              <p:cNvPr id="62" name="Freeform 62"/>
              <p:cNvSpPr/>
              <p:nvPr/>
            </p:nvSpPr>
            <p:spPr>
              <a:xfrm>
                <a:off x="8007350" y="3614738"/>
                <a:ext cx="177801" cy="66675"/>
              </a:xfrm>
              <a:custGeom>
                <a:avLst/>
                <a:gdLst/>
                <a:ahLst/>
                <a:cxnLst/>
                <a:rect l="l" t="t" r="r" b="b"/>
                <a:pathLst>
                  <a:path w="177801" h="66675">
                    <a:moveTo>
                      <a:pt x="0" y="33338"/>
                    </a:moveTo>
                    <a:cubicBezTo>
                      <a:pt x="0" y="51749"/>
                      <a:pt x="39802" y="66675"/>
                      <a:pt x="88900" y="66675"/>
                    </a:cubicBezTo>
                    <a:cubicBezTo>
                      <a:pt x="137999" y="66675"/>
                      <a:pt x="177801" y="51749"/>
                      <a:pt x="177801" y="33338"/>
                    </a:cubicBezTo>
                    <a:cubicBezTo>
                      <a:pt x="177801" y="14926"/>
                      <a:pt x="137999" y="0"/>
                      <a:pt x="88900" y="0"/>
                    </a:cubicBezTo>
                    <a:cubicBezTo>
                      <a:pt x="39802" y="0"/>
                      <a:pt x="0" y="14926"/>
                      <a:pt x="0" y="33338"/>
                    </a:cubicBezTo>
                  </a:path>
                </a:pathLst>
              </a:custGeom>
              <a:noFill/>
              <a:ln w="19050">
                <a:solidFill>
                  <a:schemeClr val="accent1"/>
                </a:solidFill>
              </a:ln>
            </p:spPr>
          </p:sp>
          <p:sp>
            <p:nvSpPr>
              <p:cNvPr id="63" name="Freeform 63"/>
              <p:cNvSpPr/>
              <p:nvPr/>
            </p:nvSpPr>
            <p:spPr>
              <a:xfrm>
                <a:off x="8007350" y="3648075"/>
                <a:ext cx="177801" cy="100013"/>
              </a:xfrm>
              <a:custGeom>
                <a:avLst/>
                <a:gdLst/>
                <a:ahLst/>
                <a:cxnLst/>
                <a:rect l="l" t="t" r="r" b="b"/>
                <a:pathLst>
                  <a:path w="177801" h="100013">
                    <a:moveTo>
                      <a:pt x="0" y="0"/>
                    </a:moveTo>
                    <a:lnTo>
                      <a:pt x="0" y="66675"/>
                    </a:lnTo>
                    <a:cubicBezTo>
                      <a:pt x="0" y="85087"/>
                      <a:pt x="39802" y="100013"/>
                      <a:pt x="88900" y="100013"/>
                    </a:cubicBezTo>
                    <a:cubicBezTo>
                      <a:pt x="137999" y="100013"/>
                      <a:pt x="177801" y="85087"/>
                      <a:pt x="177801" y="66675"/>
                    </a:cubicBezTo>
                    <a:lnTo>
                      <a:pt x="177801" y="0"/>
                    </a:lnTo>
                  </a:path>
                </a:pathLst>
              </a:custGeom>
              <a:noFill/>
              <a:ln w="19050">
                <a:solidFill>
                  <a:schemeClr val="accent1"/>
                </a:solidFill>
              </a:ln>
            </p:spPr>
          </p:sp>
          <p:sp>
            <p:nvSpPr>
              <p:cNvPr id="64" name="Freeform 64"/>
              <p:cNvSpPr/>
              <p:nvPr/>
            </p:nvSpPr>
            <p:spPr>
              <a:xfrm>
                <a:off x="8007350" y="3714750"/>
                <a:ext cx="177801" cy="100013"/>
              </a:xfrm>
              <a:custGeom>
                <a:avLst/>
                <a:gdLst/>
                <a:ahLst/>
                <a:cxnLst/>
                <a:rect l="l" t="t" r="r" b="b"/>
                <a:pathLst>
                  <a:path w="177801" h="100013">
                    <a:moveTo>
                      <a:pt x="0" y="0"/>
                    </a:moveTo>
                    <a:lnTo>
                      <a:pt x="0" y="66675"/>
                    </a:lnTo>
                    <a:cubicBezTo>
                      <a:pt x="0" y="85087"/>
                      <a:pt x="39802" y="100013"/>
                      <a:pt x="88900" y="100013"/>
                    </a:cubicBezTo>
                    <a:cubicBezTo>
                      <a:pt x="137999" y="100013"/>
                      <a:pt x="177801" y="85087"/>
                      <a:pt x="177801" y="66675"/>
                    </a:cubicBezTo>
                    <a:lnTo>
                      <a:pt x="177801" y="0"/>
                    </a:lnTo>
                  </a:path>
                </a:pathLst>
              </a:custGeom>
              <a:noFill/>
              <a:ln w="19050">
                <a:solidFill>
                  <a:schemeClr val="accent1"/>
                </a:solidFill>
              </a:ln>
            </p:spPr>
          </p:sp>
        </p:grpSp>
        <p:sp>
          <p:nvSpPr>
            <p:cNvPr id="66" name="TextBox 66"/>
            <p:cNvSpPr txBox="1"/>
            <p:nvPr/>
          </p:nvSpPr>
          <p:spPr>
            <a:xfrm>
              <a:off x="8315706" y="3596640"/>
              <a:ext cx="363410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Segoe UI"/>
                  <a:ea typeface="Microsoft YaHei"/>
                  <a:cs typeface="Segoe UI"/>
                </a:rPr>
                <a:t>确定性层 · 4 个自研 MCP 服务</a:t>
              </a:r>
            </a:p>
          </p:txBody>
        </p:sp>
        <p:sp>
          <p:nvSpPr>
            <p:cNvPr id="67" name="TextBox 67"/>
            <p:cNvSpPr txBox="1"/>
            <p:nvPr/>
          </p:nvSpPr>
          <p:spPr>
            <a:xfrm>
              <a:off x="7956042" y="3950018"/>
              <a:ext cx="3348419" cy="1254633"/>
            </a:xfrm>
            <a:prstGeom prst="rect">
              <a:avLst/>
            </a:prstGeom>
            <a:noFill/>
            <a:ln>
              <a:noFill/>
            </a:ln>
          </p:spPr>
          <p:txBody>
            <a:bodyPr wrap="square" lIns="0" tIns="0" rIns="0" bIns="0" anchor="t" anchorCtr="0"/>
            <a:lstStyle/>
            <a:p>
              <a:pPr algn="l">
                <a:lnSpc>
                  <a:spcPts val="1950"/>
                </a:lnSpc>
              </a:pPr>
              <a:r>
                <a:rPr lang="zh-CN" sz="1350" b="1" dirty="0">
                  <a:solidFill>
                    <a:schemeClr val="accent1"/>
                  </a:solidFill>
                  <a:latin typeface="Segoe UI"/>
                  <a:ea typeface="Microsoft YaHei"/>
                  <a:cs typeface="Segoe UI"/>
                </a:rPr>
                <a:t>文献检索</a:t>
              </a:r>
              <a:r>
                <a:rPr lang="zh-CN" sz="1350" dirty="0">
                  <a:solidFill>
                    <a:schemeClr val="dk1"/>
                  </a:solidFill>
                  <a:latin typeface="Segoe UI"/>
                  <a:ea typeface="Microsoft YaHei"/>
                  <a:cs typeface="Segoe UI"/>
                </a:rPr>
                <a:t>：arXiv、OpenAlex、Crossref、</a:t>
              </a:r>
              <a:r>
                <a:rPr lang="zh-CN" sz="1350" dirty="0">
                  <a:solidFill>
                    <a:schemeClr val="dk1"/>
                  </a:solidFill>
                  <a:latin typeface="Segoe UI"/>
                  <a:ea typeface="Microsoft YaHei"/>
                  <a:cs typeface="Segoe UI"/>
                </a:rPr>
                <a:t>Semantic Scholar 在线库 + 本地全文库</a:t>
              </a:r>
              <a:r>
                <a:rPr lang="zh-CN" sz="1350" b="1" dirty="0">
                  <a:solidFill>
                    <a:schemeClr val="accent1"/>
                  </a:solidFill>
                  <a:latin typeface="Segoe UI"/>
                  <a:ea typeface="Microsoft YaHei"/>
                  <a:cs typeface="Segoe UI"/>
                </a:rPr>
                <a:t>引用核对</a:t>
              </a:r>
              <a:r>
                <a:rPr lang="zh-CN" sz="1350" dirty="0">
                  <a:solidFill>
                    <a:schemeClr val="dk1"/>
                  </a:solidFill>
                  <a:latin typeface="Segoe UI"/>
                  <a:ea typeface="Microsoft YaHei"/>
                  <a:cs typeface="Segoe UI"/>
                </a:rPr>
                <a:t>：逐条比对题录与作者顺序</a:t>
              </a:r>
              <a:r>
                <a:rPr lang="zh-CN" sz="1350" b="1" dirty="0">
                  <a:solidFill>
                    <a:schemeClr val="accent1"/>
                  </a:solidFill>
                  <a:latin typeface="Segoe UI"/>
                  <a:ea typeface="Microsoft YaHei"/>
                  <a:cs typeface="Segoe UI"/>
                </a:rPr>
                <a:t>绘图</a:t>
              </a:r>
              <a:r>
                <a:rPr lang="zh-CN" sz="1350" dirty="0">
                  <a:solidFill>
                    <a:schemeClr val="dk1"/>
                  </a:solidFill>
                  <a:latin typeface="Segoe UI"/>
                  <a:ea typeface="Microsoft YaHei"/>
                  <a:cs typeface="Segoe UI"/>
                </a:rPr>
                <a:t>：一份图源同时出论文图与可编辑图</a:t>
              </a:r>
              <a:r>
                <a:rPr lang="zh-CN" sz="1350" b="1" dirty="0">
                  <a:solidFill>
                    <a:schemeClr val="accent1"/>
                  </a:solidFill>
                  <a:latin typeface="Segoe UI"/>
                  <a:ea typeface="Microsoft YaHei"/>
                  <a:cs typeface="Segoe UI"/>
                </a:rPr>
                <a:t>前驱体预测</a:t>
              </a:r>
              <a:r>
                <a:rPr lang="zh-CN" sz="1350" dirty="0">
                  <a:solidFill>
                    <a:schemeClr val="dk1"/>
                  </a:solidFill>
                  <a:latin typeface="Segoe UI"/>
                  <a:ea typeface="Microsoft YaHei"/>
                  <a:cs typeface="Segoe UI"/>
                </a:rPr>
                <a:t>：RECIPE 两阶段模型</a:t>
              </a:r>
            </a:p>
          </p:txBody>
        </p:sp>
      </p:grpSp>
      <p:grpSp>
        <p:nvGrpSpPr>
          <p:cNvPr id="75" name="Group 75"/>
          <p:cNvGrpSpPr/>
          <p:nvPr/>
        </p:nvGrpSpPr>
        <p:grpSpPr>
          <a:xfrm>
            <a:off x="7734300" y="5295900"/>
            <a:ext cx="3835908" cy="1127951"/>
            <a:chOff x="7734300" y="5295900"/>
            <a:chExt cx="3835908" cy="1127951"/>
          </a:xfrm>
        </p:grpSpPr>
        <p:sp>
          <p:nvSpPr>
            <p:cNvPr id="69" name="Rectangle 69"/>
            <p:cNvSpPr/>
            <p:nvPr/>
          </p:nvSpPr>
          <p:spPr>
            <a:xfrm>
              <a:off x="7734300" y="5295900"/>
              <a:ext cx="57150" cy="1066800"/>
            </a:xfrm>
            <a:prstGeom prst="rect">
              <a:avLst/>
            </a:prstGeom>
            <a:solidFill>
              <a:schemeClr val="accent2"/>
            </a:solidFill>
            <a:ln>
              <a:noFill/>
            </a:ln>
          </p:spPr>
        </p:sp>
        <p:grpSp>
          <p:nvGrpSpPr>
            <p:cNvPr id="72" name="Group 72"/>
            <p:cNvGrpSpPr/>
            <p:nvPr/>
          </p:nvGrpSpPr>
          <p:grpSpPr>
            <a:xfrm>
              <a:off x="8007350" y="5367338"/>
              <a:ext cx="177801" cy="200025"/>
              <a:chOff x="8007350" y="5367338"/>
              <a:chExt cx="177801" cy="200025"/>
            </a:xfrm>
          </p:grpSpPr>
          <p:sp>
            <p:nvSpPr>
              <p:cNvPr id="70" name="Freeform 70"/>
              <p:cNvSpPr/>
              <p:nvPr/>
            </p:nvSpPr>
            <p:spPr>
              <a:xfrm>
                <a:off x="8007350" y="5367338"/>
                <a:ext cx="177801" cy="100013"/>
              </a:xfrm>
              <a:custGeom>
                <a:avLst/>
                <a:gdLst/>
                <a:ahLst/>
                <a:cxnLst/>
                <a:rect l="l" t="t" r="r" b="b"/>
                <a:pathLst>
                  <a:path w="177801" h="100013">
                    <a:moveTo>
                      <a:pt x="0" y="100013"/>
                    </a:moveTo>
                    <a:lnTo>
                      <a:pt x="0" y="66675"/>
                    </a:lnTo>
                    <a:cubicBezTo>
                      <a:pt x="0" y="48263"/>
                      <a:pt x="14926" y="33338"/>
                      <a:pt x="33338" y="33338"/>
                    </a:cubicBezTo>
                    <a:lnTo>
                      <a:pt x="177801" y="33338"/>
                    </a:lnTo>
                    <a:moveTo>
                      <a:pt x="144463" y="0"/>
                    </a:moveTo>
                    <a:lnTo>
                      <a:pt x="177801" y="33338"/>
                    </a:lnTo>
                    <a:lnTo>
                      <a:pt x="144463" y="66675"/>
                    </a:lnTo>
                  </a:path>
                </a:pathLst>
              </a:custGeom>
              <a:noFill/>
              <a:ln w="19050">
                <a:solidFill>
                  <a:schemeClr val="accent1"/>
                </a:solidFill>
              </a:ln>
            </p:spPr>
          </p:sp>
          <p:sp>
            <p:nvSpPr>
              <p:cNvPr id="71" name="Freeform 71"/>
              <p:cNvSpPr/>
              <p:nvPr/>
            </p:nvSpPr>
            <p:spPr>
              <a:xfrm>
                <a:off x="8007350" y="5467350"/>
                <a:ext cx="177801" cy="100013"/>
              </a:xfrm>
              <a:custGeom>
                <a:avLst/>
                <a:gdLst/>
                <a:ahLst/>
                <a:cxnLst/>
                <a:rect l="l" t="t" r="r" b="b"/>
                <a:pathLst>
                  <a:path w="177801" h="100013">
                    <a:moveTo>
                      <a:pt x="177801" y="0"/>
                    </a:moveTo>
                    <a:lnTo>
                      <a:pt x="177801" y="33338"/>
                    </a:lnTo>
                    <a:cubicBezTo>
                      <a:pt x="177801" y="51749"/>
                      <a:pt x="162875" y="66675"/>
                      <a:pt x="144463" y="66675"/>
                    </a:cubicBezTo>
                    <a:lnTo>
                      <a:pt x="0" y="66675"/>
                    </a:lnTo>
                    <a:moveTo>
                      <a:pt x="33338" y="100013"/>
                    </a:moveTo>
                    <a:lnTo>
                      <a:pt x="0" y="66675"/>
                    </a:lnTo>
                    <a:lnTo>
                      <a:pt x="33338" y="33338"/>
                    </a:lnTo>
                  </a:path>
                </a:pathLst>
              </a:custGeom>
              <a:noFill/>
              <a:ln w="19050">
                <a:solidFill>
                  <a:schemeClr val="accent1"/>
                </a:solidFill>
              </a:ln>
            </p:spPr>
          </p:sp>
        </p:grpSp>
        <p:sp>
          <p:nvSpPr>
            <p:cNvPr id="73" name="TextBox 73"/>
            <p:cNvSpPr txBox="1"/>
            <p:nvPr/>
          </p:nvSpPr>
          <p:spPr>
            <a:xfrm>
              <a:off x="8315706" y="5349240"/>
              <a:ext cx="285520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Segoe UI"/>
                  <a:ea typeface="Microsoft YaHei"/>
                  <a:cs typeface="Segoe UI"/>
                </a:rPr>
                <a:t>控制层 · 流程与质量把关</a:t>
              </a:r>
            </a:p>
          </p:txBody>
        </p:sp>
        <p:sp>
          <p:nvSpPr>
            <p:cNvPr id="74" name="TextBox 74"/>
            <p:cNvSpPr txBox="1"/>
            <p:nvPr/>
          </p:nvSpPr>
          <p:spPr>
            <a:xfrm>
              <a:off x="7956042" y="5702618"/>
              <a:ext cx="3614166" cy="7212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Segoe UI"/>
                  <a:ea typeface="Microsoft YaHei"/>
                  <a:cs typeface="Segoe UI"/>
                </a:rPr>
                <a:t>每个阶段有明确完成标准：文献覆盖、引用全部</a:t>
              </a:r>
              <a:r>
                <a:rPr lang="zh-CN" sz="1350" dirty="0">
                  <a:solidFill>
                    <a:schemeClr val="dk1"/>
                  </a:solidFill>
                  <a:latin typeface="Segoe UI"/>
                  <a:ea typeface="Microsoft YaHei"/>
                  <a:cs typeface="Segoe UI"/>
                </a:rPr>
                <a:t>核对、图文齐全、审稿通过；由程序检查，</a:t>
              </a:r>
              <a:r>
                <a:rPr lang="zh-CN" sz="1350" dirty="0">
                  <a:solidFill>
                    <a:schemeClr val="dk1"/>
                  </a:solidFill>
                  <a:latin typeface="Segoe UI"/>
                  <a:ea typeface="Microsoft YaHei"/>
                  <a:cs typeface="Segoe UI"/>
                </a:rPr>
                <a:t>不由模型自己宣布完成；写稿与审稿分离。</a:t>
              </a:r>
            </a:p>
          </p:txBody>
        </p:sp>
      </p:grpSp>
      <p:grpSp>
        <p:nvGrpSpPr>
          <p:cNvPr id="78" name="Group 78"/>
          <p:cNvGrpSpPr/>
          <p:nvPr/>
        </p:nvGrpSpPr>
        <p:grpSpPr>
          <a:xfrm>
            <a:off x="679704" y="6480810"/>
            <a:ext cx="10832592" cy="234696"/>
            <a:chOff x="679704" y="6480810"/>
            <a:chExt cx="10832592" cy="234696"/>
          </a:xfrm>
        </p:grpSpPr>
        <p:sp>
          <p:nvSpPr>
            <p:cNvPr id="76" name="TextBox 76"/>
            <p:cNvSpPr txBox="1"/>
            <p:nvPr/>
          </p:nvSpPr>
          <p:spPr>
            <a:xfrm>
              <a:off x="679704" y="6480810"/>
              <a:ext cx="341757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Segoe UI"/>
                  <a:ea typeface="Microsoft YaHei"/>
                  <a:cs typeface="Segoe UI"/>
                </a:rPr>
                <a:t>SAGE-Mat · GOAI 2026 AI for Research 复赛</a:t>
              </a:r>
            </a:p>
          </p:txBody>
        </p:sp>
        <p:sp>
          <p:nvSpPr>
            <p:cNvPr id="77" name="TextBox 77"/>
            <p:cNvSpPr txBox="1"/>
            <p:nvPr/>
          </p:nvSpPr>
          <p:spPr>
            <a:xfrm>
              <a:off x="11047781" y="6480810"/>
              <a:ext cx="464515"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Segoe UI"/>
                  <a:ea typeface="Segoe UI"/>
                  <a:cs typeface="Segoe UI"/>
                </a:rPr>
                <a:t>4 / 13</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70560" y="590550"/>
            <a:ext cx="11202116" cy="586740"/>
            <a:chOff x="670560" y="590550"/>
            <a:chExt cx="11202116" cy="586740"/>
          </a:xfrm>
        </p:grpSpPr>
        <p:sp>
          <p:nvSpPr>
            <p:cNvPr id="2" name="TextBox 2"/>
            <p:cNvSpPr txBox="1"/>
            <p:nvPr/>
          </p:nvSpPr>
          <p:spPr>
            <a:xfrm>
              <a:off x="670560" y="590550"/>
              <a:ext cx="11202116"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Segoe UI"/>
                  <a:ea typeface="Microsoft YaHei"/>
                  <a:cs typeface="Segoe UI"/>
                </a:rPr>
                <a:t>Agent 通过产物文件与共享进度记录交接，每一步都可审计</a:t>
              </a:r>
            </a:p>
          </p:txBody>
        </p:sp>
        <p:sp>
          <p:nvSpPr>
            <p:cNvPr id="3" name="Rectangle 3"/>
            <p:cNvSpPr/>
            <p:nvPr/>
          </p:nvSpPr>
          <p:spPr>
            <a:xfrm>
              <a:off x="685800" y="1085850"/>
              <a:ext cx="685800" cy="38100"/>
            </a:xfrm>
            <a:prstGeom prst="rect">
              <a:avLst/>
            </a:prstGeom>
            <a:solidFill>
              <a:schemeClr val="accent1"/>
            </a:solidFill>
            <a:ln>
              <a:noFill/>
            </a:ln>
          </p:spPr>
        </p:sp>
      </p:grpSp>
      <p:grpSp>
        <p:nvGrpSpPr>
          <p:cNvPr id="6" name="Group 6"/>
          <p:cNvGrpSpPr/>
          <p:nvPr/>
        </p:nvGrpSpPr>
        <p:grpSpPr>
          <a:xfrm>
            <a:off x="675894" y="1370648"/>
            <a:ext cx="11524050" cy="381381"/>
            <a:chOff x="675894" y="1370648"/>
            <a:chExt cx="11524050" cy="381381"/>
          </a:xfrm>
        </p:grpSpPr>
        <p:sp>
          <p:nvSpPr>
            <p:cNvPr id="5" name="TextBox 5"/>
            <p:cNvSpPr txBox="1"/>
            <p:nvPr/>
          </p:nvSpPr>
          <p:spPr>
            <a:xfrm>
              <a:off x="675894" y="1370648"/>
              <a:ext cx="11524050" cy="381381"/>
            </a:xfrm>
            <a:prstGeom prst="rect">
              <a:avLst/>
            </a:prstGeom>
            <a:noFill/>
            <a:ln>
              <a:noFill/>
            </a:ln>
          </p:spPr>
          <p:txBody>
            <a:bodyPr wrap="none" lIns="0" tIns="0" rIns="0" bIns="0" anchor="t" anchorCtr="0">
              <a:spAutoFit/>
            </a:bodyPr>
            <a:lstStyle/>
            <a:p>
              <a:pPr algn="l"/>
              <a:r>
                <a:rPr lang="zh-CN" sz="1950" dirty="0">
                  <a:solidFill>
                    <a:schemeClr val="dk1"/>
                  </a:solidFill>
                  <a:latin typeface="Segoe UI"/>
                  <a:ea typeface="Microsoft YaHei"/>
                  <a:cs typeface="Segoe UI"/>
                </a:rPr>
                <a:t>产物在 Agent 之间逐级流转：</a:t>
              </a:r>
              <a:r>
                <a:rPr lang="zh-CN" sz="1950" b="1" dirty="0">
                  <a:solidFill>
                    <a:schemeClr val="accent2"/>
                  </a:solidFill>
                  <a:latin typeface="Segoe UI"/>
                  <a:ea typeface="Microsoft YaHei"/>
                  <a:cs typeface="Segoe UI"/>
                </a:rPr>
                <a:t>写作·图纸与想法方案并行</a:t>
              </a:r>
              <a:r>
                <a:rPr lang="zh-CN" sz="1950" dirty="0">
                  <a:solidFill>
                    <a:schemeClr val="dk1"/>
                  </a:solidFill>
                  <a:latin typeface="Segoe UI"/>
                  <a:ea typeface="Microsoft YaHei"/>
                  <a:cs typeface="Segoe UI"/>
                </a:rPr>
                <a:t>，审稿覆盖三者并把 issue 沿原路返工。</a:t>
              </a:r>
            </a:p>
          </p:txBody>
        </p:sp>
      </p:grpSp>
      <p:grpSp>
        <p:nvGrpSpPr>
          <p:cNvPr id="12" name="Group 12"/>
          <p:cNvGrpSpPr/>
          <p:nvPr/>
        </p:nvGrpSpPr>
        <p:grpSpPr>
          <a:xfrm>
            <a:off x="679704" y="2004060"/>
            <a:ext cx="10826496" cy="1777365"/>
            <a:chOff x="679704" y="2004060"/>
            <a:chExt cx="10826496" cy="1777365"/>
          </a:xfrm>
        </p:grpSpPr>
        <p:sp>
          <p:nvSpPr>
            <p:cNvPr id="7" name="TextBox 7"/>
            <p:cNvSpPr txBox="1"/>
            <p:nvPr/>
          </p:nvSpPr>
          <p:spPr>
            <a:xfrm>
              <a:off x="679704" y="2004060"/>
              <a:ext cx="46146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Segoe UI"/>
                  <a:ea typeface="Segoe UI"/>
                  <a:cs typeface="Segoe UI"/>
                </a:rPr>
                <a:t>Agent</a:t>
              </a:r>
            </a:p>
          </p:txBody>
        </p:sp>
        <p:sp>
          <p:nvSpPr>
            <p:cNvPr id="8" name="TextBox 8"/>
            <p:cNvSpPr txBox="1"/>
            <p:nvPr/>
          </p:nvSpPr>
          <p:spPr>
            <a:xfrm>
              <a:off x="679704" y="2194560"/>
              <a:ext cx="120626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Segoe UI"/>
                  <a:ea typeface="Microsoft YaHei"/>
                  <a:cs typeface="Segoe UI"/>
                </a:rPr>
                <a:t>Codex 执行 skill</a:t>
              </a:r>
            </a:p>
          </p:txBody>
        </p:sp>
        <p:sp>
          <p:nvSpPr>
            <p:cNvPr id="9" name="TextBox 9"/>
            <p:cNvSpPr txBox="1"/>
            <p:nvPr/>
          </p:nvSpPr>
          <p:spPr>
            <a:xfrm>
              <a:off x="679704" y="3099435"/>
              <a:ext cx="72054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Segoe UI"/>
                  <a:ea typeface="Microsoft YaHei"/>
                  <a:cs typeface="Segoe UI"/>
                </a:rPr>
                <a:t>MCP 工具</a:t>
              </a:r>
            </a:p>
          </p:txBody>
        </p:sp>
        <p:sp>
          <p:nvSpPr>
            <p:cNvPr id="10" name="TextBox 10"/>
            <p:cNvSpPr txBox="1"/>
            <p:nvPr/>
          </p:nvSpPr>
          <p:spPr>
            <a:xfrm>
              <a:off x="679704" y="3528060"/>
              <a:ext cx="65836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Segoe UI"/>
                  <a:ea typeface="Microsoft YaHei"/>
                  <a:cs typeface="Segoe UI"/>
                </a:rPr>
                <a:t>交接产物</a:t>
              </a:r>
            </a:p>
          </p:txBody>
        </p:sp>
        <p:sp>
          <p:nvSpPr>
            <p:cNvPr id="11" name="Line 11"/>
            <p:cNvSpPr/>
            <p:nvPr/>
          </p:nvSpPr>
          <p:spPr>
            <a:xfrm>
              <a:off x="685800" y="3771900"/>
              <a:ext cx="10820400" cy="9525"/>
            </a:xfrm>
            <a:custGeom>
              <a:avLst/>
              <a:gdLst/>
              <a:ahLst/>
              <a:cxnLst/>
              <a:rect l="l" t="t" r="r" b="b"/>
              <a:pathLst>
                <a:path w="10820400" h="9525">
                  <a:moveTo>
                    <a:pt x="0" y="0"/>
                  </a:moveTo>
                  <a:lnTo>
                    <a:pt x="10820400" y="0"/>
                  </a:lnTo>
                </a:path>
              </a:pathLst>
            </a:custGeom>
            <a:noFill/>
            <a:ln w="9525">
              <a:solidFill>
                <a:schemeClr val="accent4"/>
              </a:solidFill>
            </a:ln>
          </p:spPr>
        </p:sp>
      </p:grpSp>
      <p:grpSp>
        <p:nvGrpSpPr>
          <p:cNvPr id="20" name="Group 20"/>
          <p:cNvGrpSpPr/>
          <p:nvPr/>
        </p:nvGrpSpPr>
        <p:grpSpPr>
          <a:xfrm>
            <a:off x="1905000" y="1905000"/>
            <a:ext cx="1866900" cy="1857756"/>
            <a:chOff x="1905000" y="1905000"/>
            <a:chExt cx="1866900" cy="1857756"/>
          </a:xfrm>
        </p:grpSpPr>
        <p:sp>
          <p:nvSpPr>
            <p:cNvPr id="13" name="Rectangle 13"/>
            <p:cNvSpPr/>
            <p:nvPr/>
          </p:nvSpPr>
          <p:spPr>
            <a:xfrm>
              <a:off x="1905000" y="1905000"/>
              <a:ext cx="1619250" cy="571500"/>
            </a:xfrm>
            <a:prstGeom prst="rect">
              <a:avLst/>
            </a:prstGeom>
            <a:solidFill>
              <a:schemeClr val="accent1"/>
            </a:solidFill>
            <a:ln>
              <a:noFill/>
            </a:ln>
          </p:spPr>
        </p:sp>
        <p:sp>
          <p:nvSpPr>
            <p:cNvPr id="14" name="TextBox 14"/>
            <p:cNvSpPr txBox="1"/>
            <p:nvPr/>
          </p:nvSpPr>
          <p:spPr>
            <a:xfrm>
              <a:off x="2421531" y="2016442"/>
              <a:ext cx="5861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Microsoft YaHei"/>
                  <a:cs typeface="Segoe UI"/>
                </a:rPr>
                <a:t>编排器</a:t>
              </a:r>
            </a:p>
          </p:txBody>
        </p:sp>
        <p:sp>
          <p:nvSpPr>
            <p:cNvPr id="15" name="TextBox 15"/>
            <p:cNvSpPr txBox="1"/>
            <p:nvPr/>
          </p:nvSpPr>
          <p:spPr>
            <a:xfrm>
              <a:off x="2175434" y="2232660"/>
              <a:ext cx="1078382" cy="234696"/>
            </a:xfrm>
            <a:prstGeom prst="rect">
              <a:avLst/>
            </a:prstGeom>
            <a:noFill/>
            <a:ln>
              <a:noFill/>
            </a:ln>
          </p:spPr>
          <p:txBody>
            <a:bodyPr wrap="none" lIns="0" tIns="0" rIns="0" bIns="0" anchor="t" anchorCtr="0">
              <a:spAutoFit/>
            </a:bodyPr>
            <a:lstStyle/>
            <a:p>
              <a:pPr algn="ctr"/>
              <a:r>
                <a:rPr lang="en-US" sz="1200" dirty="0">
                  <a:solidFill>
                    <a:srgbClr val="FFFFFF">
                      <a:alphaMod val="85000"/>
                    </a:srgbClr>
                  </a:solidFill>
                  <a:latin typeface="Segoe UI"/>
                  <a:ea typeface="Segoe UI"/>
                  <a:cs typeface="Segoe UI"/>
                </a:rPr>
                <a:t>orchestrator</a:t>
              </a:r>
            </a:p>
          </p:txBody>
        </p:sp>
        <p:sp>
          <p:nvSpPr>
            <p:cNvPr id="16" name="Rectangle 16"/>
            <p:cNvSpPr/>
            <p:nvPr/>
          </p:nvSpPr>
          <p:spPr>
            <a:xfrm>
              <a:off x="1905000" y="2971800"/>
              <a:ext cx="1619250" cy="419100"/>
            </a:xfrm>
            <a:prstGeom prst="rect">
              <a:avLst/>
            </a:prstGeom>
            <a:solidFill>
              <a:schemeClr val="lt2"/>
            </a:solidFill>
            <a:ln>
              <a:noFill/>
            </a:ln>
          </p:spPr>
        </p:sp>
        <p:sp>
          <p:nvSpPr>
            <p:cNvPr id="17" name="TextBox 17"/>
            <p:cNvSpPr txBox="1"/>
            <p:nvPr/>
          </p:nvSpPr>
          <p:spPr>
            <a:xfrm>
              <a:off x="2050237" y="3099435"/>
              <a:ext cx="1328776"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Segoe UI"/>
                  <a:ea typeface="Microsoft YaHei"/>
                  <a:cs typeface="Segoe UI"/>
                </a:rPr>
                <a:t>读进度 · 分派任务</a:t>
              </a:r>
            </a:p>
          </p:txBody>
        </p:sp>
        <p:sp>
          <p:nvSpPr>
            <p:cNvPr id="18" name="TextBox 18"/>
            <p:cNvSpPr txBox="1"/>
            <p:nvPr/>
          </p:nvSpPr>
          <p:spPr>
            <a:xfrm>
              <a:off x="2051247" y="3528060"/>
              <a:ext cx="1326756" cy="234696"/>
            </a:xfrm>
            <a:prstGeom prst="rect">
              <a:avLst/>
            </a:prstGeom>
            <a:noFill/>
            <a:ln>
              <a:noFill/>
            </a:ln>
          </p:spPr>
          <p:txBody>
            <a:bodyPr wrap="none" lIns="0" tIns="0" rIns="0" bIns="0" anchor="t" anchorCtr="0">
              <a:spAutoFit/>
            </a:bodyPr>
            <a:lstStyle/>
            <a:p>
              <a:pPr algn="ctr"/>
              <a:r>
                <a:rPr lang="zh-CN" sz="1200" b="1" dirty="0">
                  <a:solidFill>
                    <a:schemeClr val="accent2"/>
                  </a:solidFill>
                  <a:latin typeface="Segoe UI"/>
                  <a:ea typeface="Microsoft YaHei"/>
                  <a:cs typeface="Segoe UI"/>
                </a:rPr>
                <a:t>主题 → scope.md</a:t>
              </a:r>
            </a:p>
          </p:txBody>
        </p:sp>
        <p:sp>
          <p:nvSpPr>
            <p:cNvPr id="19" name="Line 19"/>
            <p:cNvSpPr/>
            <p:nvPr/>
          </p:nvSpPr>
          <p:spPr>
            <a:xfrm>
              <a:off x="3543300" y="2190750"/>
              <a:ext cx="228600" cy="1"/>
            </a:xfrm>
            <a:prstGeom prst="line">
              <a:avLst/>
            </a:prstGeom>
            <a:noFill/>
            <a:ln w="19050">
              <a:solidFill>
                <a:schemeClr val="accent1"/>
              </a:solidFill>
              <a:tailEnd type="triangle" w="med" len="med"/>
            </a:ln>
          </p:spPr>
        </p:sp>
      </p:grpSp>
      <p:grpSp>
        <p:nvGrpSpPr>
          <p:cNvPr id="28" name="Group 28"/>
          <p:cNvGrpSpPr/>
          <p:nvPr/>
        </p:nvGrpSpPr>
        <p:grpSpPr>
          <a:xfrm>
            <a:off x="3810000" y="1905000"/>
            <a:ext cx="1866900" cy="1857756"/>
            <a:chOff x="3810000" y="1905000"/>
            <a:chExt cx="1866900" cy="1857756"/>
          </a:xfrm>
        </p:grpSpPr>
        <p:sp>
          <p:nvSpPr>
            <p:cNvPr id="21" name="Rectangle 21"/>
            <p:cNvSpPr/>
            <p:nvPr/>
          </p:nvSpPr>
          <p:spPr>
            <a:xfrm>
              <a:off x="3810000" y="1905000"/>
              <a:ext cx="1619250" cy="571500"/>
            </a:xfrm>
            <a:prstGeom prst="rect">
              <a:avLst/>
            </a:prstGeom>
            <a:solidFill>
              <a:schemeClr val="lt1"/>
            </a:solidFill>
            <a:ln w="14288">
              <a:solidFill>
                <a:schemeClr val="accent1"/>
              </a:solidFill>
            </a:ln>
          </p:spPr>
        </p:sp>
        <p:sp>
          <p:nvSpPr>
            <p:cNvPr id="22" name="TextBox 22"/>
            <p:cNvSpPr txBox="1"/>
            <p:nvPr/>
          </p:nvSpPr>
          <p:spPr>
            <a:xfrm>
              <a:off x="4231119" y="2016442"/>
              <a:ext cx="777011"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Segoe UI"/>
                  <a:ea typeface="Microsoft YaHei"/>
                  <a:cs typeface="Segoe UI"/>
                </a:rPr>
                <a:t>文献检索</a:t>
              </a:r>
            </a:p>
          </p:txBody>
        </p:sp>
        <p:sp>
          <p:nvSpPr>
            <p:cNvPr id="23" name="TextBox 23"/>
            <p:cNvSpPr txBox="1"/>
            <p:nvPr/>
          </p:nvSpPr>
          <p:spPr>
            <a:xfrm>
              <a:off x="4209669" y="2232660"/>
              <a:ext cx="819912" cy="234696"/>
            </a:xfrm>
            <a:prstGeom prst="rect">
              <a:avLst/>
            </a:prstGeom>
            <a:noFill/>
            <a:ln>
              <a:noFill/>
            </a:ln>
          </p:spPr>
          <p:txBody>
            <a:bodyPr wrap="none" lIns="0" tIns="0" rIns="0" bIns="0" anchor="t" anchorCtr="0">
              <a:spAutoFit/>
            </a:bodyPr>
            <a:lstStyle/>
            <a:p>
              <a:pPr algn="ctr"/>
              <a:r>
                <a:rPr lang="en-US" sz="1200" dirty="0">
                  <a:solidFill>
                    <a:schemeClr val="dk2"/>
                  </a:solidFill>
                  <a:latin typeface="Segoe UI"/>
                  <a:ea typeface="Segoe UI"/>
                  <a:cs typeface="Segoe UI"/>
                </a:rPr>
                <a:t>lit-search</a:t>
              </a:r>
            </a:p>
          </p:txBody>
        </p:sp>
        <p:sp>
          <p:nvSpPr>
            <p:cNvPr id="24" name="Rectangle 24"/>
            <p:cNvSpPr/>
            <p:nvPr/>
          </p:nvSpPr>
          <p:spPr>
            <a:xfrm>
              <a:off x="3810000" y="2971800"/>
              <a:ext cx="1619250" cy="419100"/>
            </a:xfrm>
            <a:prstGeom prst="rect">
              <a:avLst/>
            </a:prstGeom>
            <a:solidFill>
              <a:schemeClr val="lt2"/>
            </a:solidFill>
            <a:ln>
              <a:noFill/>
            </a:ln>
          </p:spPr>
        </p:sp>
        <p:sp>
          <p:nvSpPr>
            <p:cNvPr id="25" name="TextBox 25"/>
            <p:cNvSpPr txBox="1"/>
            <p:nvPr/>
          </p:nvSpPr>
          <p:spPr>
            <a:xfrm>
              <a:off x="3955237" y="3099435"/>
              <a:ext cx="1328776"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Segoe UI"/>
                  <a:ea typeface="Microsoft YaHei"/>
                  <a:cs typeface="Segoe UI"/>
                </a:rPr>
                <a:t>五源检索 · 本地库</a:t>
              </a:r>
            </a:p>
          </p:txBody>
        </p:sp>
        <p:sp>
          <p:nvSpPr>
            <p:cNvPr id="26" name="TextBox 26"/>
            <p:cNvSpPr txBox="1"/>
            <p:nvPr/>
          </p:nvSpPr>
          <p:spPr>
            <a:xfrm>
              <a:off x="4096184" y="3528060"/>
              <a:ext cx="1046881"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Segoe UI"/>
                  <a:ea typeface="Segoe UI"/>
                  <a:cs typeface="Segoe UI"/>
                </a:rPr>
                <a:t>papers.jsonl</a:t>
              </a:r>
            </a:p>
          </p:txBody>
        </p:sp>
        <p:sp>
          <p:nvSpPr>
            <p:cNvPr id="27" name="Line 27"/>
            <p:cNvSpPr/>
            <p:nvPr/>
          </p:nvSpPr>
          <p:spPr>
            <a:xfrm>
              <a:off x="5448300" y="2190750"/>
              <a:ext cx="228600" cy="1"/>
            </a:xfrm>
            <a:prstGeom prst="line">
              <a:avLst/>
            </a:prstGeom>
            <a:noFill/>
            <a:ln w="19050">
              <a:solidFill>
                <a:schemeClr val="accent1"/>
              </a:solidFill>
              <a:tailEnd type="triangle" w="med" len="med"/>
            </a:ln>
          </p:spPr>
        </p:sp>
      </p:grpSp>
      <p:grpSp>
        <p:nvGrpSpPr>
          <p:cNvPr id="37" name="Group 37"/>
          <p:cNvGrpSpPr/>
          <p:nvPr/>
        </p:nvGrpSpPr>
        <p:grpSpPr>
          <a:xfrm>
            <a:off x="5715000" y="1905000"/>
            <a:ext cx="1866900" cy="1857756"/>
            <a:chOff x="5715000" y="1905000"/>
            <a:chExt cx="1866900" cy="1857756"/>
          </a:xfrm>
        </p:grpSpPr>
        <p:sp>
          <p:nvSpPr>
            <p:cNvPr id="29" name="Rectangle 29"/>
            <p:cNvSpPr/>
            <p:nvPr/>
          </p:nvSpPr>
          <p:spPr>
            <a:xfrm>
              <a:off x="5715000" y="1905000"/>
              <a:ext cx="1619250" cy="571500"/>
            </a:xfrm>
            <a:prstGeom prst="rect">
              <a:avLst/>
            </a:prstGeom>
            <a:solidFill>
              <a:schemeClr val="lt1"/>
            </a:solidFill>
            <a:ln w="14288">
              <a:solidFill>
                <a:schemeClr val="accent1"/>
              </a:solidFill>
            </a:ln>
          </p:spPr>
        </p:sp>
        <p:sp>
          <p:nvSpPr>
            <p:cNvPr id="30" name="TextBox 30"/>
            <p:cNvSpPr txBox="1"/>
            <p:nvPr/>
          </p:nvSpPr>
          <p:spPr>
            <a:xfrm>
              <a:off x="6136119" y="2016442"/>
              <a:ext cx="777011"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Segoe UI"/>
                  <a:ea typeface="Microsoft YaHei"/>
                  <a:cs typeface="Segoe UI"/>
                </a:rPr>
                <a:t>引用核验</a:t>
              </a:r>
            </a:p>
          </p:txBody>
        </p:sp>
        <p:sp>
          <p:nvSpPr>
            <p:cNvPr id="31" name="TextBox 31"/>
            <p:cNvSpPr txBox="1"/>
            <p:nvPr/>
          </p:nvSpPr>
          <p:spPr>
            <a:xfrm>
              <a:off x="6118708" y="2232660"/>
              <a:ext cx="811835" cy="234696"/>
            </a:xfrm>
            <a:prstGeom prst="rect">
              <a:avLst/>
            </a:prstGeom>
            <a:noFill/>
            <a:ln>
              <a:noFill/>
            </a:ln>
          </p:spPr>
          <p:txBody>
            <a:bodyPr wrap="none" lIns="0" tIns="0" rIns="0" bIns="0" anchor="t" anchorCtr="0">
              <a:spAutoFit/>
            </a:bodyPr>
            <a:lstStyle/>
            <a:p>
              <a:pPr algn="ctr"/>
              <a:r>
                <a:rPr lang="en-US" sz="1200" dirty="0">
                  <a:solidFill>
                    <a:schemeClr val="dk2"/>
                  </a:solidFill>
                  <a:latin typeface="Segoe UI"/>
                  <a:ea typeface="Segoe UI"/>
                  <a:cs typeface="Segoe UI"/>
                </a:rPr>
                <a:t>ref-guard</a:t>
              </a:r>
            </a:p>
          </p:txBody>
        </p:sp>
        <p:sp>
          <p:nvSpPr>
            <p:cNvPr id="32" name="Rectangle 32"/>
            <p:cNvSpPr/>
            <p:nvPr/>
          </p:nvSpPr>
          <p:spPr>
            <a:xfrm>
              <a:off x="5715000" y="2971800"/>
              <a:ext cx="1619250" cy="419100"/>
            </a:xfrm>
            <a:prstGeom prst="rect">
              <a:avLst/>
            </a:prstGeom>
            <a:solidFill>
              <a:schemeClr val="lt2"/>
            </a:solidFill>
            <a:ln>
              <a:noFill/>
            </a:ln>
          </p:spPr>
        </p:sp>
        <p:sp>
          <p:nvSpPr>
            <p:cNvPr id="33" name="TextBox 33"/>
            <p:cNvSpPr txBox="1"/>
            <p:nvPr/>
          </p:nvSpPr>
          <p:spPr>
            <a:xfrm>
              <a:off x="5953125" y="3099435"/>
              <a:ext cx="1143000"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Segoe UI"/>
                  <a:ea typeface="Microsoft YaHei"/>
                  <a:cs typeface="Segoe UI"/>
                </a:rPr>
                <a:t>题录与作者比对</a:t>
              </a:r>
            </a:p>
          </p:txBody>
        </p:sp>
        <p:sp>
          <p:nvSpPr>
            <p:cNvPr id="34" name="TextBox 34"/>
            <p:cNvSpPr txBox="1"/>
            <p:nvPr/>
          </p:nvSpPr>
          <p:spPr>
            <a:xfrm>
              <a:off x="5946057" y="3528060"/>
              <a:ext cx="1157135" cy="234696"/>
            </a:xfrm>
            <a:prstGeom prst="rect">
              <a:avLst/>
            </a:prstGeom>
            <a:noFill/>
            <a:ln>
              <a:noFill/>
            </a:ln>
          </p:spPr>
          <p:txBody>
            <a:bodyPr wrap="none" lIns="0" tIns="0" rIns="0" bIns="0" anchor="t" anchorCtr="0">
              <a:spAutoFit/>
            </a:bodyPr>
            <a:lstStyle/>
            <a:p>
              <a:pPr algn="ctr"/>
              <a:r>
                <a:rPr lang="zh-CN" sz="1200" b="1" dirty="0">
                  <a:solidFill>
                    <a:schemeClr val="accent2"/>
                  </a:solidFill>
                  <a:latin typeface="Segoe UI"/>
                  <a:ea typeface="Microsoft YaHei"/>
                  <a:cs typeface="Segoe UI"/>
                </a:rPr>
                <a:t>bib 51/51 通过</a:t>
              </a:r>
            </a:p>
          </p:txBody>
        </p:sp>
        <p:sp>
          <p:nvSpPr>
            <p:cNvPr id="35" name="Line 35"/>
            <p:cNvSpPr/>
            <p:nvPr/>
          </p:nvSpPr>
          <p:spPr>
            <a:xfrm flipV="1">
              <a:off x="7353300" y="2076450"/>
              <a:ext cx="228600" cy="114300"/>
            </a:xfrm>
            <a:prstGeom prst="line">
              <a:avLst/>
            </a:prstGeom>
            <a:noFill/>
            <a:ln w="19050">
              <a:solidFill>
                <a:schemeClr val="accent1"/>
              </a:solidFill>
              <a:tailEnd type="triangle" w="med" len="med"/>
            </a:ln>
          </p:spPr>
        </p:sp>
        <p:sp>
          <p:nvSpPr>
            <p:cNvPr id="36" name="Line 36"/>
            <p:cNvSpPr/>
            <p:nvPr/>
          </p:nvSpPr>
          <p:spPr>
            <a:xfrm>
              <a:off x="7353300" y="2190750"/>
              <a:ext cx="228600" cy="361950"/>
            </a:xfrm>
            <a:prstGeom prst="line">
              <a:avLst/>
            </a:prstGeom>
            <a:noFill/>
            <a:ln w="19050">
              <a:solidFill>
                <a:schemeClr val="accent1"/>
              </a:solidFill>
              <a:tailEnd type="triangle" w="med" len="med"/>
            </a:ln>
          </p:spPr>
        </p:sp>
      </p:grpSp>
      <p:grpSp>
        <p:nvGrpSpPr>
          <p:cNvPr id="42" name="Group 42"/>
          <p:cNvGrpSpPr/>
          <p:nvPr/>
        </p:nvGrpSpPr>
        <p:grpSpPr>
          <a:xfrm>
            <a:off x="7620000" y="1866900"/>
            <a:ext cx="1866900" cy="467106"/>
            <a:chOff x="7620000" y="1866900"/>
            <a:chExt cx="1866900" cy="467106"/>
          </a:xfrm>
        </p:grpSpPr>
        <p:sp>
          <p:nvSpPr>
            <p:cNvPr id="38" name="Rectangle 38"/>
            <p:cNvSpPr/>
            <p:nvPr/>
          </p:nvSpPr>
          <p:spPr>
            <a:xfrm>
              <a:off x="7620000" y="1866900"/>
              <a:ext cx="1619250" cy="419100"/>
            </a:xfrm>
            <a:prstGeom prst="rect">
              <a:avLst/>
            </a:prstGeom>
            <a:solidFill>
              <a:schemeClr val="lt1"/>
            </a:solidFill>
            <a:ln w="14288">
              <a:solidFill>
                <a:schemeClr val="accent1"/>
              </a:solidFill>
            </a:ln>
          </p:spPr>
        </p:sp>
        <p:sp>
          <p:nvSpPr>
            <p:cNvPr id="39" name="TextBox 39"/>
            <p:cNvSpPr txBox="1"/>
            <p:nvPr/>
          </p:nvSpPr>
          <p:spPr>
            <a:xfrm>
              <a:off x="7931396" y="1892618"/>
              <a:ext cx="996459"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Segoe UI"/>
                  <a:ea typeface="Microsoft YaHei"/>
                  <a:cs typeface="Segoe UI"/>
                </a:rPr>
                <a:t>写作 · 图纸</a:t>
              </a:r>
            </a:p>
          </p:txBody>
        </p:sp>
        <p:sp>
          <p:nvSpPr>
            <p:cNvPr id="40" name="TextBox 40"/>
            <p:cNvSpPr txBox="1"/>
            <p:nvPr/>
          </p:nvSpPr>
          <p:spPr>
            <a:xfrm>
              <a:off x="7821778" y="2099310"/>
              <a:ext cx="1215695" cy="234696"/>
            </a:xfrm>
            <a:prstGeom prst="rect">
              <a:avLst/>
            </a:prstGeom>
            <a:noFill/>
            <a:ln>
              <a:noFill/>
            </a:ln>
          </p:spPr>
          <p:txBody>
            <a:bodyPr wrap="none" lIns="0" tIns="0" rIns="0" bIns="0" anchor="t" anchorCtr="0">
              <a:spAutoFit/>
            </a:bodyPr>
            <a:lstStyle/>
            <a:p>
              <a:pPr algn="ctr"/>
              <a:r>
                <a:rPr lang="en-US" sz="1200" dirty="0">
                  <a:solidFill>
                    <a:schemeClr val="dk2"/>
                  </a:solidFill>
                  <a:latin typeface="Segoe UI"/>
                  <a:ea typeface="Segoe UI"/>
                  <a:cs typeface="Segoe UI"/>
                </a:rPr>
                <a:t>writer · figure</a:t>
              </a:r>
            </a:p>
          </p:txBody>
        </p:sp>
        <p:sp>
          <p:nvSpPr>
            <p:cNvPr id="41" name="Line 41"/>
            <p:cNvSpPr/>
            <p:nvPr/>
          </p:nvSpPr>
          <p:spPr>
            <a:xfrm>
              <a:off x="9258300" y="2076450"/>
              <a:ext cx="228600" cy="114300"/>
            </a:xfrm>
            <a:prstGeom prst="line">
              <a:avLst/>
            </a:prstGeom>
            <a:noFill/>
            <a:ln w="19050">
              <a:solidFill>
                <a:schemeClr val="accent1"/>
              </a:solidFill>
              <a:tailEnd type="triangle" w="med" len="med"/>
            </a:ln>
          </p:spPr>
        </p:sp>
      </p:grpSp>
      <p:grpSp>
        <p:nvGrpSpPr>
          <p:cNvPr id="51" name="Group 51"/>
          <p:cNvGrpSpPr/>
          <p:nvPr/>
        </p:nvGrpSpPr>
        <p:grpSpPr>
          <a:xfrm>
            <a:off x="7579664" y="2190750"/>
            <a:ext cx="1907236" cy="1572006"/>
            <a:chOff x="7579664" y="2190750"/>
            <a:chExt cx="1907236" cy="1572006"/>
          </a:xfrm>
        </p:grpSpPr>
        <p:sp>
          <p:nvSpPr>
            <p:cNvPr id="43" name="Rectangle 43"/>
            <p:cNvSpPr/>
            <p:nvPr/>
          </p:nvSpPr>
          <p:spPr>
            <a:xfrm>
              <a:off x="7620000" y="2343150"/>
              <a:ext cx="1619250" cy="419100"/>
            </a:xfrm>
            <a:prstGeom prst="rect">
              <a:avLst/>
            </a:prstGeom>
            <a:solidFill>
              <a:schemeClr val="lt1"/>
            </a:solidFill>
            <a:ln w="14288">
              <a:solidFill>
                <a:schemeClr val="accent1"/>
              </a:solidFill>
            </a:ln>
          </p:spPr>
        </p:sp>
        <p:sp>
          <p:nvSpPr>
            <p:cNvPr id="44" name="TextBox 44"/>
            <p:cNvSpPr txBox="1"/>
            <p:nvPr/>
          </p:nvSpPr>
          <p:spPr>
            <a:xfrm>
              <a:off x="8041119" y="2368868"/>
              <a:ext cx="777011"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Segoe UI"/>
                  <a:ea typeface="Microsoft YaHei"/>
                  <a:cs typeface="Segoe UI"/>
                </a:rPr>
                <a:t>想法生成</a:t>
              </a:r>
            </a:p>
          </p:txBody>
        </p:sp>
        <p:sp>
          <p:nvSpPr>
            <p:cNvPr id="45" name="TextBox 45"/>
            <p:cNvSpPr txBox="1"/>
            <p:nvPr/>
          </p:nvSpPr>
          <p:spPr>
            <a:xfrm>
              <a:off x="7999476" y="2575560"/>
              <a:ext cx="860298" cy="234696"/>
            </a:xfrm>
            <a:prstGeom prst="rect">
              <a:avLst/>
            </a:prstGeom>
            <a:noFill/>
            <a:ln>
              <a:noFill/>
            </a:ln>
          </p:spPr>
          <p:txBody>
            <a:bodyPr wrap="none" lIns="0" tIns="0" rIns="0" bIns="0" anchor="t" anchorCtr="0">
              <a:spAutoFit/>
            </a:bodyPr>
            <a:lstStyle/>
            <a:p>
              <a:pPr algn="ctr"/>
              <a:r>
                <a:rPr lang="en-US" sz="1200" dirty="0">
                  <a:solidFill>
                    <a:schemeClr val="dk2"/>
                  </a:solidFill>
                  <a:latin typeface="Segoe UI"/>
                  <a:ea typeface="Segoe UI"/>
                  <a:cs typeface="Segoe UI"/>
                </a:rPr>
                <a:t>idea-forge</a:t>
              </a:r>
            </a:p>
          </p:txBody>
        </p:sp>
        <p:sp>
          <p:nvSpPr>
            <p:cNvPr id="46" name="Rectangle 46"/>
            <p:cNvSpPr/>
            <p:nvPr/>
          </p:nvSpPr>
          <p:spPr>
            <a:xfrm>
              <a:off x="7620000" y="2971800"/>
              <a:ext cx="1619250" cy="419100"/>
            </a:xfrm>
            <a:prstGeom prst="rect">
              <a:avLst/>
            </a:prstGeom>
            <a:solidFill>
              <a:schemeClr val="accent3"/>
            </a:solidFill>
            <a:ln>
              <a:noFill/>
            </a:ln>
          </p:spPr>
        </p:sp>
        <p:sp>
          <p:nvSpPr>
            <p:cNvPr id="47" name="TextBox 47"/>
            <p:cNvSpPr txBox="1"/>
            <p:nvPr/>
          </p:nvSpPr>
          <p:spPr>
            <a:xfrm>
              <a:off x="7838336" y="3023235"/>
              <a:ext cx="118257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figspec 双渲染</a:t>
              </a:r>
            </a:p>
          </p:txBody>
        </p:sp>
        <p:sp>
          <p:nvSpPr>
            <p:cNvPr id="48" name="TextBox 48"/>
            <p:cNvSpPr txBox="1"/>
            <p:nvPr/>
          </p:nvSpPr>
          <p:spPr>
            <a:xfrm>
              <a:off x="7675275" y="3204210"/>
              <a:ext cx="1508699"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a:ea typeface="Microsoft YaHei"/>
                  <a:cs typeface="Segoe UI"/>
                </a:rPr>
                <a:t>RECIPE 前驱体预测</a:t>
              </a:r>
            </a:p>
          </p:txBody>
        </p:sp>
        <p:sp>
          <p:nvSpPr>
            <p:cNvPr id="49" name="TextBox 49"/>
            <p:cNvSpPr txBox="1"/>
            <p:nvPr/>
          </p:nvSpPr>
          <p:spPr>
            <a:xfrm>
              <a:off x="7579664" y="3528060"/>
              <a:ext cx="1699923" cy="234696"/>
            </a:xfrm>
            <a:prstGeom prst="rect">
              <a:avLst/>
            </a:prstGeom>
            <a:noFill/>
            <a:ln>
              <a:noFill/>
            </a:ln>
          </p:spPr>
          <p:txBody>
            <a:bodyPr wrap="none" lIns="0" tIns="0" rIns="0" bIns="0" anchor="t" anchorCtr="0">
              <a:spAutoFit/>
            </a:bodyPr>
            <a:lstStyle/>
            <a:p>
              <a:pPr algn="ctr"/>
              <a:r>
                <a:rPr lang="zh-CN" sz="1200" b="1" dirty="0">
                  <a:solidFill>
                    <a:schemeClr val="accent2"/>
                  </a:solidFill>
                  <a:latin typeface="Segoe UI"/>
                  <a:ea typeface="Microsoft YaHei"/>
                  <a:cs typeface="Segoe UI"/>
                </a:rPr>
                <a:t>tex · 图源 · 候选路线</a:t>
              </a:r>
            </a:p>
          </p:txBody>
        </p:sp>
        <p:sp>
          <p:nvSpPr>
            <p:cNvPr id="50" name="Line 50"/>
            <p:cNvSpPr/>
            <p:nvPr/>
          </p:nvSpPr>
          <p:spPr>
            <a:xfrm flipV="1">
              <a:off x="9258300" y="2190750"/>
              <a:ext cx="228600" cy="361950"/>
            </a:xfrm>
            <a:prstGeom prst="line">
              <a:avLst/>
            </a:prstGeom>
            <a:noFill/>
            <a:ln w="19050">
              <a:solidFill>
                <a:schemeClr val="accent1"/>
              </a:solidFill>
              <a:tailEnd type="triangle" w="med" len="med"/>
            </a:ln>
          </p:spPr>
        </p:sp>
      </p:grpSp>
      <p:grpSp>
        <p:nvGrpSpPr>
          <p:cNvPr id="58" name="Group 58"/>
          <p:cNvGrpSpPr/>
          <p:nvPr/>
        </p:nvGrpSpPr>
        <p:grpSpPr>
          <a:xfrm>
            <a:off x="9525000" y="1905000"/>
            <a:ext cx="1619250" cy="1857756"/>
            <a:chOff x="9525000" y="1905000"/>
            <a:chExt cx="1619250" cy="1857756"/>
          </a:xfrm>
        </p:grpSpPr>
        <p:sp>
          <p:nvSpPr>
            <p:cNvPr id="52" name="Rectangle 52"/>
            <p:cNvSpPr/>
            <p:nvPr/>
          </p:nvSpPr>
          <p:spPr>
            <a:xfrm>
              <a:off x="9525000" y="1905000"/>
              <a:ext cx="1619250" cy="571500"/>
            </a:xfrm>
            <a:prstGeom prst="rect">
              <a:avLst/>
            </a:prstGeom>
            <a:solidFill>
              <a:schemeClr val="lt1"/>
            </a:solidFill>
            <a:ln w="14288">
              <a:solidFill>
                <a:schemeClr val="accent2"/>
              </a:solidFill>
            </a:ln>
          </p:spPr>
        </p:sp>
        <p:sp>
          <p:nvSpPr>
            <p:cNvPr id="53" name="TextBox 53"/>
            <p:cNvSpPr txBox="1"/>
            <p:nvPr/>
          </p:nvSpPr>
          <p:spPr>
            <a:xfrm>
              <a:off x="9946119" y="2016442"/>
              <a:ext cx="777011"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Segoe UI"/>
                  <a:ea typeface="Microsoft YaHei"/>
                  <a:cs typeface="Segoe UI"/>
                </a:rPr>
                <a:t>对抗审稿</a:t>
              </a:r>
            </a:p>
          </p:txBody>
        </p:sp>
        <p:sp>
          <p:nvSpPr>
            <p:cNvPr id="54" name="TextBox 54"/>
            <p:cNvSpPr txBox="1"/>
            <p:nvPr/>
          </p:nvSpPr>
          <p:spPr>
            <a:xfrm>
              <a:off x="9977171" y="2232660"/>
              <a:ext cx="714908" cy="234696"/>
            </a:xfrm>
            <a:prstGeom prst="rect">
              <a:avLst/>
            </a:prstGeom>
            <a:noFill/>
            <a:ln>
              <a:noFill/>
            </a:ln>
          </p:spPr>
          <p:txBody>
            <a:bodyPr wrap="none" lIns="0" tIns="0" rIns="0" bIns="0" anchor="t" anchorCtr="0">
              <a:spAutoFit/>
            </a:bodyPr>
            <a:lstStyle/>
            <a:p>
              <a:pPr algn="ctr"/>
              <a:r>
                <a:rPr lang="en-US" sz="1200" dirty="0">
                  <a:solidFill>
                    <a:schemeClr val="dk2"/>
                  </a:solidFill>
                  <a:latin typeface="Segoe UI"/>
                  <a:ea typeface="Segoe UI"/>
                  <a:cs typeface="Segoe UI"/>
                </a:rPr>
                <a:t>reviewer</a:t>
              </a:r>
            </a:p>
          </p:txBody>
        </p:sp>
        <p:sp>
          <p:nvSpPr>
            <p:cNvPr id="55" name="Rectangle 55"/>
            <p:cNvSpPr/>
            <p:nvPr/>
          </p:nvSpPr>
          <p:spPr>
            <a:xfrm>
              <a:off x="9525000" y="2971800"/>
              <a:ext cx="1619250" cy="419100"/>
            </a:xfrm>
            <a:prstGeom prst="rect">
              <a:avLst/>
            </a:prstGeom>
            <a:solidFill>
              <a:schemeClr val="lt2"/>
            </a:solidFill>
            <a:ln>
              <a:noFill/>
            </a:ln>
          </p:spPr>
        </p:sp>
        <p:sp>
          <p:nvSpPr>
            <p:cNvPr id="56" name="TextBox 56"/>
            <p:cNvSpPr txBox="1"/>
            <p:nvPr/>
          </p:nvSpPr>
          <p:spPr>
            <a:xfrm>
              <a:off x="9589465" y="3099435"/>
              <a:ext cx="1490320"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Segoe UI"/>
                  <a:ea typeface="Microsoft YaHei"/>
                  <a:cs typeface="Segoe UI"/>
                </a:rPr>
                <a:t>全新上下文 · 三视角</a:t>
              </a:r>
            </a:p>
          </p:txBody>
        </p:sp>
        <p:sp>
          <p:nvSpPr>
            <p:cNvPr id="57" name="TextBox 57"/>
            <p:cNvSpPr txBox="1"/>
            <p:nvPr/>
          </p:nvSpPr>
          <p:spPr>
            <a:xfrm>
              <a:off x="9679728" y="3528060"/>
              <a:ext cx="1309794" cy="234696"/>
            </a:xfrm>
            <a:prstGeom prst="rect">
              <a:avLst/>
            </a:prstGeom>
            <a:noFill/>
            <a:ln>
              <a:noFill/>
            </a:ln>
          </p:spPr>
          <p:txBody>
            <a:bodyPr wrap="none" lIns="0" tIns="0" rIns="0" bIns="0" anchor="t" anchorCtr="0">
              <a:spAutoFit/>
            </a:bodyPr>
            <a:lstStyle/>
            <a:p>
              <a:pPr algn="ctr"/>
              <a:r>
                <a:rPr lang="zh-CN" sz="1200" b="1" dirty="0">
                  <a:solidFill>
                    <a:schemeClr val="accent2"/>
                  </a:solidFill>
                  <a:latin typeface="Segoe UI"/>
                  <a:ea typeface="Microsoft YaHei"/>
                  <a:cs typeface="Segoe UI"/>
                </a:rPr>
                <a:t>issue · 审稿记录</a:t>
              </a:r>
            </a:p>
          </p:txBody>
        </p:sp>
      </p:grpSp>
      <p:grpSp>
        <p:nvGrpSpPr>
          <p:cNvPr id="60" name="Group 60"/>
          <p:cNvGrpSpPr/>
          <p:nvPr/>
        </p:nvGrpSpPr>
        <p:grpSpPr>
          <a:xfrm>
            <a:off x="8429625" y="2495550"/>
            <a:ext cx="1905000" cy="381000"/>
            <a:chOff x="8429625" y="2495550"/>
            <a:chExt cx="1905000" cy="381000"/>
          </a:xfrm>
        </p:grpSpPr>
        <p:sp>
          <p:nvSpPr>
            <p:cNvPr id="59" name="Freeform 59"/>
            <p:cNvSpPr/>
            <p:nvPr/>
          </p:nvSpPr>
          <p:spPr>
            <a:xfrm>
              <a:off x="8429625" y="2495550"/>
              <a:ext cx="1905000" cy="381000"/>
            </a:xfrm>
            <a:custGeom>
              <a:avLst/>
              <a:gdLst/>
              <a:ahLst/>
              <a:cxnLst/>
              <a:rect l="l" t="t" r="r" b="b"/>
              <a:pathLst>
                <a:path w="1905000" h="381000">
                  <a:moveTo>
                    <a:pt x="1905000" y="0"/>
                  </a:moveTo>
                  <a:lnTo>
                    <a:pt x="1905000" y="381000"/>
                  </a:lnTo>
                  <a:lnTo>
                    <a:pt x="0" y="381000"/>
                  </a:lnTo>
                  <a:lnTo>
                    <a:pt x="0" y="304800"/>
                  </a:lnTo>
                </a:path>
              </a:pathLst>
            </a:custGeom>
            <a:noFill/>
            <a:ln w="14288">
              <a:solidFill>
                <a:schemeClr val="accent2"/>
              </a:solidFill>
              <a:custDash>
                <a:ds d="400000" sp="266666"/>
              </a:custDash>
              <a:tailEnd type="triangle" w="med" len="med"/>
            </a:ln>
          </p:spPr>
        </p:sp>
      </p:grpSp>
      <p:grpSp>
        <p:nvGrpSpPr>
          <p:cNvPr id="73" name="Group 73"/>
          <p:cNvGrpSpPr/>
          <p:nvPr/>
        </p:nvGrpSpPr>
        <p:grpSpPr>
          <a:xfrm>
            <a:off x="685800" y="3905250"/>
            <a:ext cx="10820400" cy="419100"/>
            <a:chOff x="685800" y="3905250"/>
            <a:chExt cx="10820400" cy="419100"/>
          </a:xfrm>
        </p:grpSpPr>
        <p:sp>
          <p:nvSpPr>
            <p:cNvPr id="61" name="Rectangle 61"/>
            <p:cNvSpPr/>
            <p:nvPr/>
          </p:nvSpPr>
          <p:spPr>
            <a:xfrm>
              <a:off x="685800" y="3905250"/>
              <a:ext cx="10820400" cy="419100"/>
            </a:xfrm>
            <a:prstGeom prst="rect">
              <a:avLst/>
            </a:prstGeom>
            <a:solidFill>
              <a:schemeClr val="lt2"/>
            </a:solidFill>
            <a:ln>
              <a:noFill/>
            </a:ln>
          </p:spPr>
        </p:sp>
        <p:sp>
          <p:nvSpPr>
            <p:cNvPr id="62" name="TextBox 62"/>
            <p:cNvSpPr txBox="1"/>
            <p:nvPr/>
          </p:nvSpPr>
          <p:spPr>
            <a:xfrm>
              <a:off x="831342" y="4026218"/>
              <a:ext cx="1158659"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共享进度记录</a:t>
              </a:r>
            </a:p>
          </p:txBody>
        </p:sp>
        <p:sp>
          <p:nvSpPr>
            <p:cNvPr id="63" name="TextBox 63"/>
            <p:cNvSpPr txBox="1"/>
            <p:nvPr/>
          </p:nvSpPr>
          <p:spPr>
            <a:xfrm>
              <a:off x="2356104" y="4042410"/>
              <a:ext cx="518160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Segoe UI"/>
                  <a:ea typeface="Microsoft YaHei"/>
                  <a:cs typeface="Segoe UI"/>
                </a:rPr>
                <a:t>记录每一步是否通过、待返工问题与产物版本；上游一变，下游自动重查</a:t>
              </a:r>
            </a:p>
          </p:txBody>
        </p:sp>
        <p:sp>
          <p:nvSpPr>
            <p:cNvPr id="64" name="Ellipse 64"/>
            <p:cNvSpPr/>
            <p:nvPr/>
          </p:nvSpPr>
          <p:spPr>
            <a:xfrm>
              <a:off x="9467850" y="4057650"/>
              <a:ext cx="114300" cy="114300"/>
            </a:xfrm>
            <a:prstGeom prst="ellipse">
              <a:avLst/>
            </a:prstGeom>
            <a:solidFill>
              <a:schemeClr val="accent1"/>
            </a:solidFill>
            <a:ln>
              <a:noFill/>
            </a:ln>
          </p:spPr>
        </p:sp>
        <p:sp>
          <p:nvSpPr>
            <p:cNvPr id="65" name="Ellipse 65"/>
            <p:cNvSpPr/>
            <p:nvPr/>
          </p:nvSpPr>
          <p:spPr>
            <a:xfrm>
              <a:off x="9696450" y="4057650"/>
              <a:ext cx="114300" cy="114300"/>
            </a:xfrm>
            <a:prstGeom prst="ellipse">
              <a:avLst/>
            </a:prstGeom>
            <a:solidFill>
              <a:schemeClr val="accent2"/>
            </a:solidFill>
            <a:ln>
              <a:noFill/>
            </a:ln>
          </p:spPr>
        </p:sp>
        <p:sp>
          <p:nvSpPr>
            <p:cNvPr id="66" name="Ellipse 66"/>
            <p:cNvSpPr/>
            <p:nvPr/>
          </p:nvSpPr>
          <p:spPr>
            <a:xfrm>
              <a:off x="9925050" y="4057650"/>
              <a:ext cx="114300" cy="114300"/>
            </a:xfrm>
            <a:prstGeom prst="ellipse">
              <a:avLst/>
            </a:prstGeom>
            <a:solidFill>
              <a:schemeClr val="accent2"/>
            </a:solidFill>
            <a:ln>
              <a:noFill/>
            </a:ln>
          </p:spPr>
        </p:sp>
        <p:sp>
          <p:nvSpPr>
            <p:cNvPr id="67" name="Ellipse 67"/>
            <p:cNvSpPr/>
            <p:nvPr/>
          </p:nvSpPr>
          <p:spPr>
            <a:xfrm>
              <a:off x="10153650" y="4057650"/>
              <a:ext cx="114300" cy="114300"/>
            </a:xfrm>
            <a:prstGeom prst="ellipse">
              <a:avLst/>
            </a:prstGeom>
            <a:solidFill>
              <a:schemeClr val="accent1"/>
            </a:solidFill>
            <a:ln>
              <a:noFill/>
            </a:ln>
          </p:spPr>
        </p:sp>
        <p:sp>
          <p:nvSpPr>
            <p:cNvPr id="68" name="Ellipse 68"/>
            <p:cNvSpPr/>
            <p:nvPr/>
          </p:nvSpPr>
          <p:spPr>
            <a:xfrm>
              <a:off x="10382250" y="4057650"/>
              <a:ext cx="114300" cy="114300"/>
            </a:xfrm>
            <a:prstGeom prst="ellipse">
              <a:avLst/>
            </a:prstGeom>
            <a:solidFill>
              <a:schemeClr val="accent1"/>
            </a:solidFill>
            <a:ln>
              <a:noFill/>
            </a:ln>
          </p:spPr>
        </p:sp>
        <p:sp>
          <p:nvSpPr>
            <p:cNvPr id="69" name="Ellipse 69"/>
            <p:cNvSpPr/>
            <p:nvPr/>
          </p:nvSpPr>
          <p:spPr>
            <a:xfrm>
              <a:off x="10610850" y="4057650"/>
              <a:ext cx="114300" cy="114300"/>
            </a:xfrm>
            <a:prstGeom prst="ellipse">
              <a:avLst/>
            </a:prstGeom>
            <a:solidFill>
              <a:schemeClr val="accent1"/>
            </a:solidFill>
            <a:ln>
              <a:noFill/>
            </a:ln>
          </p:spPr>
        </p:sp>
        <p:sp>
          <p:nvSpPr>
            <p:cNvPr id="70" name="Ellipse 70"/>
            <p:cNvSpPr/>
            <p:nvPr/>
          </p:nvSpPr>
          <p:spPr>
            <a:xfrm>
              <a:off x="10839450" y="4057650"/>
              <a:ext cx="114300" cy="114300"/>
            </a:xfrm>
            <a:prstGeom prst="ellipse">
              <a:avLst/>
            </a:prstGeom>
            <a:solidFill>
              <a:schemeClr val="accent1"/>
            </a:solidFill>
            <a:ln>
              <a:noFill/>
            </a:ln>
          </p:spPr>
        </p:sp>
        <p:sp>
          <p:nvSpPr>
            <p:cNvPr id="71" name="Ellipse 71"/>
            <p:cNvSpPr/>
            <p:nvPr/>
          </p:nvSpPr>
          <p:spPr>
            <a:xfrm>
              <a:off x="11068050" y="4057650"/>
              <a:ext cx="114300" cy="114300"/>
            </a:xfrm>
            <a:prstGeom prst="ellipse">
              <a:avLst/>
            </a:prstGeom>
            <a:solidFill>
              <a:schemeClr val="accent2"/>
            </a:solidFill>
            <a:ln>
              <a:noFill/>
            </a:ln>
          </p:spPr>
        </p:sp>
        <p:sp>
          <p:nvSpPr>
            <p:cNvPr id="72" name="Ellipse 72"/>
            <p:cNvSpPr/>
            <p:nvPr/>
          </p:nvSpPr>
          <p:spPr>
            <a:xfrm>
              <a:off x="11296650" y="4057650"/>
              <a:ext cx="114300" cy="114300"/>
            </a:xfrm>
            <a:prstGeom prst="ellipse">
              <a:avLst/>
            </a:prstGeom>
            <a:solidFill>
              <a:schemeClr val="accent1"/>
            </a:solidFill>
            <a:ln>
              <a:noFill/>
            </a:ln>
          </p:spPr>
        </p:sp>
      </p:grpSp>
      <p:grpSp>
        <p:nvGrpSpPr>
          <p:cNvPr id="80" name="Group 80"/>
          <p:cNvGrpSpPr/>
          <p:nvPr/>
        </p:nvGrpSpPr>
        <p:grpSpPr>
          <a:xfrm>
            <a:off x="685800" y="4533900"/>
            <a:ext cx="3733800" cy="848106"/>
            <a:chOff x="685800" y="4533900"/>
            <a:chExt cx="3733800" cy="848106"/>
          </a:xfrm>
        </p:grpSpPr>
        <p:sp>
          <p:nvSpPr>
            <p:cNvPr id="74" name="Rectangle 74"/>
            <p:cNvSpPr/>
            <p:nvPr/>
          </p:nvSpPr>
          <p:spPr>
            <a:xfrm>
              <a:off x="685800" y="4533900"/>
              <a:ext cx="3238500" cy="819150"/>
            </a:xfrm>
            <a:prstGeom prst="rect">
              <a:avLst/>
            </a:prstGeom>
            <a:solidFill>
              <a:schemeClr val="lt1"/>
            </a:solidFill>
            <a:ln w="14288">
              <a:solidFill>
                <a:schemeClr val="accent1"/>
              </a:solidFill>
            </a:ln>
          </p:spPr>
        </p:sp>
        <p:sp>
          <p:nvSpPr>
            <p:cNvPr id="75" name="Rectangle 75"/>
            <p:cNvSpPr/>
            <p:nvPr/>
          </p:nvSpPr>
          <p:spPr>
            <a:xfrm>
              <a:off x="685800" y="4533900"/>
              <a:ext cx="3238500" cy="47625"/>
            </a:xfrm>
            <a:prstGeom prst="rect">
              <a:avLst/>
            </a:prstGeom>
            <a:solidFill>
              <a:schemeClr val="accent1"/>
            </a:solidFill>
            <a:ln>
              <a:noFill/>
            </a:ln>
          </p:spPr>
        </p:sp>
        <p:sp>
          <p:nvSpPr>
            <p:cNvPr id="76" name="TextBox 76"/>
            <p:cNvSpPr txBox="1"/>
            <p:nvPr/>
          </p:nvSpPr>
          <p:spPr>
            <a:xfrm>
              <a:off x="869442" y="4692968"/>
              <a:ext cx="77701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本轮输出</a:t>
              </a:r>
            </a:p>
          </p:txBody>
        </p:sp>
        <p:sp>
          <p:nvSpPr>
            <p:cNvPr id="77" name="TextBox 77"/>
            <p:cNvSpPr txBox="1"/>
            <p:nvPr/>
          </p:nvSpPr>
          <p:spPr>
            <a:xfrm>
              <a:off x="870204" y="4956810"/>
              <a:ext cx="2463089" cy="234696"/>
            </a:xfrm>
            <a:prstGeom prst="rect">
              <a:avLst/>
            </a:prstGeom>
            <a:noFill/>
            <a:ln>
              <a:noFill/>
            </a:ln>
          </p:spPr>
          <p:txBody>
            <a:bodyPr wrap="none" lIns="0" tIns="0" rIns="0" bIns="0" anchor="t" anchorCtr="0">
              <a:spAutoFit/>
            </a:bodyPr>
            <a:lstStyle/>
            <a:p>
              <a:pPr algn="l"/>
              <a:r>
                <a:rPr lang="zh-CN" sz="1200" dirty="0">
                  <a:solidFill>
                    <a:schemeClr val="dk1"/>
                  </a:solidFill>
                  <a:latin typeface="Segoe UI"/>
                  <a:ea typeface="Microsoft YaHei"/>
                  <a:cs typeface="Segoe UI"/>
                </a:rPr>
                <a:t>综述 PDF · claim_evidence.jsonl</a:t>
              </a:r>
            </a:p>
          </p:txBody>
        </p:sp>
        <p:sp>
          <p:nvSpPr>
            <p:cNvPr id="78" name="TextBox 78"/>
            <p:cNvSpPr txBox="1"/>
            <p:nvPr/>
          </p:nvSpPr>
          <p:spPr>
            <a:xfrm>
              <a:off x="870204" y="5147310"/>
              <a:ext cx="2992679" cy="234696"/>
            </a:xfrm>
            <a:prstGeom prst="rect">
              <a:avLst/>
            </a:prstGeom>
            <a:noFill/>
            <a:ln>
              <a:noFill/>
            </a:ln>
          </p:spPr>
          <p:txBody>
            <a:bodyPr wrap="none" lIns="0" tIns="0" rIns="0" bIns="0" anchor="t" anchorCtr="0">
              <a:spAutoFit/>
            </a:bodyPr>
            <a:lstStyle/>
            <a:p>
              <a:pPr algn="l"/>
              <a:r>
                <a:rPr lang="zh-CN" sz="1200" dirty="0">
                  <a:solidFill>
                    <a:schemeClr val="dk1"/>
                  </a:solidFill>
                  <a:latin typeface="Segoe UI"/>
                  <a:ea typeface="Microsoft YaHei"/>
                  <a:cs typeface="Segoe UI"/>
                </a:rPr>
                <a:t>候选路线 + 前驱体 + 表征方案 + 失败判据</a:t>
              </a:r>
            </a:p>
          </p:txBody>
        </p:sp>
        <p:sp>
          <p:nvSpPr>
            <p:cNvPr id="79" name="Line 79"/>
            <p:cNvSpPr/>
            <p:nvPr/>
          </p:nvSpPr>
          <p:spPr>
            <a:xfrm>
              <a:off x="3943350" y="4943475"/>
              <a:ext cx="476250" cy="1"/>
            </a:xfrm>
            <a:prstGeom prst="line">
              <a:avLst/>
            </a:prstGeom>
            <a:noFill/>
            <a:ln w="19050">
              <a:solidFill>
                <a:schemeClr val="accent3"/>
              </a:solidFill>
              <a:tailEnd type="triangle" w="med" len="med"/>
            </a:ln>
          </p:spPr>
        </p:sp>
      </p:grpSp>
      <p:grpSp>
        <p:nvGrpSpPr>
          <p:cNvPr id="87" name="Group 87"/>
          <p:cNvGrpSpPr/>
          <p:nvPr/>
        </p:nvGrpSpPr>
        <p:grpSpPr>
          <a:xfrm>
            <a:off x="4457700" y="4533900"/>
            <a:ext cx="3733800" cy="848106"/>
            <a:chOff x="4457700" y="4533900"/>
            <a:chExt cx="3733800" cy="848106"/>
          </a:xfrm>
        </p:grpSpPr>
        <p:sp>
          <p:nvSpPr>
            <p:cNvPr id="81" name="Rectangle 81"/>
            <p:cNvSpPr/>
            <p:nvPr/>
          </p:nvSpPr>
          <p:spPr>
            <a:xfrm>
              <a:off x="4457700" y="4533900"/>
              <a:ext cx="3238500" cy="819150"/>
            </a:xfrm>
            <a:prstGeom prst="rect">
              <a:avLst/>
            </a:prstGeom>
            <a:solidFill>
              <a:schemeClr val="lt1"/>
            </a:solidFill>
            <a:ln w="14288">
              <a:solidFill>
                <a:schemeClr val="accent3"/>
              </a:solidFill>
              <a:custDash>
                <a:ds d="400000" sp="266666"/>
              </a:custDash>
            </a:ln>
          </p:spPr>
        </p:sp>
        <p:sp>
          <p:nvSpPr>
            <p:cNvPr id="82" name="Rectangle 82"/>
            <p:cNvSpPr/>
            <p:nvPr/>
          </p:nvSpPr>
          <p:spPr>
            <a:xfrm>
              <a:off x="4457700" y="4533900"/>
              <a:ext cx="3238500" cy="47625"/>
            </a:xfrm>
            <a:prstGeom prst="rect">
              <a:avLst/>
            </a:prstGeom>
            <a:solidFill>
              <a:schemeClr val="accent3"/>
            </a:solidFill>
            <a:ln>
              <a:noFill/>
            </a:ln>
          </p:spPr>
        </p:sp>
        <p:sp>
          <p:nvSpPr>
            <p:cNvPr id="83" name="TextBox 83"/>
            <p:cNvSpPr txBox="1"/>
            <p:nvPr/>
          </p:nvSpPr>
          <p:spPr>
            <a:xfrm>
              <a:off x="4641342" y="4692968"/>
              <a:ext cx="2112778"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Segoe UI"/>
                  <a:ea typeface="Microsoft YaHei"/>
                  <a:cs typeface="Segoe UI"/>
                </a:rPr>
                <a:t>自动化实验室（下一环）</a:t>
              </a:r>
            </a:p>
          </p:txBody>
        </p:sp>
        <p:sp>
          <p:nvSpPr>
            <p:cNvPr id="84" name="TextBox 84"/>
            <p:cNvSpPr txBox="1"/>
            <p:nvPr/>
          </p:nvSpPr>
          <p:spPr>
            <a:xfrm>
              <a:off x="4642104" y="4956810"/>
              <a:ext cx="2845613" cy="234696"/>
            </a:xfrm>
            <a:prstGeom prst="rect">
              <a:avLst/>
            </a:prstGeom>
            <a:noFill/>
            <a:ln>
              <a:noFill/>
            </a:ln>
          </p:spPr>
          <p:txBody>
            <a:bodyPr wrap="none" lIns="0" tIns="0" rIns="0" bIns="0" anchor="t" anchorCtr="0">
              <a:spAutoFit/>
            </a:bodyPr>
            <a:lstStyle/>
            <a:p>
              <a:pPr algn="l"/>
              <a:r>
                <a:rPr lang="zh-CN" sz="1200" dirty="0">
                  <a:solidFill>
                    <a:schemeClr val="dk1"/>
                  </a:solidFill>
                  <a:latin typeface="Segoe UI"/>
                  <a:ea typeface="Microsoft YaHei"/>
                  <a:cs typeface="Segoe UI"/>
                </a:rPr>
                <a:t>按方案合成 · PXRD / 单晶 / EDS 表征</a:t>
              </a:r>
            </a:p>
          </p:txBody>
        </p:sp>
        <p:sp>
          <p:nvSpPr>
            <p:cNvPr id="85" name="TextBox 85"/>
            <p:cNvSpPr txBox="1"/>
            <p:nvPr/>
          </p:nvSpPr>
          <p:spPr>
            <a:xfrm>
              <a:off x="4642104" y="5147310"/>
              <a:ext cx="243535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Segoe UI"/>
                  <a:ea typeface="Microsoft YaHei"/>
                  <a:cs typeface="Segoe UI"/>
                </a:rPr>
                <a:t>结构化结果与失败判据同格式记录</a:t>
              </a:r>
            </a:p>
          </p:txBody>
        </p:sp>
        <p:sp>
          <p:nvSpPr>
            <p:cNvPr id="86" name="Line 86"/>
            <p:cNvSpPr/>
            <p:nvPr/>
          </p:nvSpPr>
          <p:spPr>
            <a:xfrm>
              <a:off x="7715250" y="4943475"/>
              <a:ext cx="476250" cy="1"/>
            </a:xfrm>
            <a:prstGeom prst="line">
              <a:avLst/>
            </a:prstGeom>
            <a:noFill/>
            <a:ln w="19050">
              <a:solidFill>
                <a:schemeClr val="accent3"/>
              </a:solidFill>
              <a:tailEnd type="triangle" w="med" len="med"/>
            </a:ln>
          </p:spPr>
        </p:sp>
      </p:grpSp>
      <p:grpSp>
        <p:nvGrpSpPr>
          <p:cNvPr id="95" name="Group 95"/>
          <p:cNvGrpSpPr/>
          <p:nvPr/>
        </p:nvGrpSpPr>
        <p:grpSpPr>
          <a:xfrm>
            <a:off x="533400" y="1790700"/>
            <a:ext cx="10972800" cy="4029456"/>
            <a:chOff x="533400" y="1790700"/>
            <a:chExt cx="10972800" cy="4029456"/>
          </a:xfrm>
        </p:grpSpPr>
        <p:sp>
          <p:nvSpPr>
            <p:cNvPr id="88" name="Rectangle 88"/>
            <p:cNvSpPr/>
            <p:nvPr/>
          </p:nvSpPr>
          <p:spPr>
            <a:xfrm>
              <a:off x="8229600" y="4533900"/>
              <a:ext cx="3276600" cy="819150"/>
            </a:xfrm>
            <a:prstGeom prst="rect">
              <a:avLst/>
            </a:prstGeom>
            <a:solidFill>
              <a:schemeClr val="lt1"/>
            </a:solidFill>
            <a:ln w="14288">
              <a:solidFill>
                <a:schemeClr val="accent3"/>
              </a:solidFill>
              <a:custDash>
                <a:ds d="400000" sp="266666"/>
              </a:custDash>
            </a:ln>
          </p:spPr>
        </p:sp>
        <p:sp>
          <p:nvSpPr>
            <p:cNvPr id="89" name="Rectangle 89"/>
            <p:cNvSpPr/>
            <p:nvPr/>
          </p:nvSpPr>
          <p:spPr>
            <a:xfrm>
              <a:off x="8229600" y="4533900"/>
              <a:ext cx="3276600" cy="47625"/>
            </a:xfrm>
            <a:prstGeom prst="rect">
              <a:avLst/>
            </a:prstGeom>
            <a:solidFill>
              <a:schemeClr val="accent3"/>
            </a:solidFill>
            <a:ln>
              <a:noFill/>
            </a:ln>
          </p:spPr>
        </p:sp>
        <p:sp>
          <p:nvSpPr>
            <p:cNvPr id="90" name="TextBox 90"/>
            <p:cNvSpPr txBox="1"/>
            <p:nvPr/>
          </p:nvSpPr>
          <p:spPr>
            <a:xfrm>
              <a:off x="8413242" y="4692968"/>
              <a:ext cx="1349483"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Segoe UI"/>
                  <a:ea typeface="Microsoft YaHei"/>
                  <a:cs typeface="Segoe UI"/>
                </a:rPr>
                <a:t>结果回写为证据</a:t>
              </a:r>
            </a:p>
          </p:txBody>
        </p:sp>
        <p:sp>
          <p:nvSpPr>
            <p:cNvPr id="91" name="TextBox 91"/>
            <p:cNvSpPr txBox="1"/>
            <p:nvPr/>
          </p:nvSpPr>
          <p:spPr>
            <a:xfrm>
              <a:off x="8414004" y="4956810"/>
              <a:ext cx="259689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Segoe UI"/>
                  <a:ea typeface="Microsoft YaHei"/>
                  <a:cs typeface="Segoe UI"/>
                </a:rPr>
                <a:t>实验记录进入证据库与共享进度记录</a:t>
              </a:r>
            </a:p>
          </p:txBody>
        </p:sp>
        <p:sp>
          <p:nvSpPr>
            <p:cNvPr id="92" name="TextBox 92"/>
            <p:cNvSpPr txBox="1"/>
            <p:nvPr/>
          </p:nvSpPr>
          <p:spPr>
            <a:xfrm>
              <a:off x="8414004" y="5147310"/>
              <a:ext cx="243535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Segoe UI"/>
                  <a:ea typeface="Microsoft YaHei"/>
                  <a:cs typeface="Segoe UI"/>
                </a:rPr>
                <a:t>触发新一轮检索、假设与路线更新</a:t>
              </a:r>
            </a:p>
          </p:txBody>
        </p:sp>
        <p:sp>
          <p:nvSpPr>
            <p:cNvPr id="93" name="Freeform 93"/>
            <p:cNvSpPr/>
            <p:nvPr/>
          </p:nvSpPr>
          <p:spPr>
            <a:xfrm>
              <a:off x="533400" y="1790700"/>
              <a:ext cx="9334500" cy="3733800"/>
            </a:xfrm>
            <a:custGeom>
              <a:avLst/>
              <a:gdLst/>
              <a:ahLst/>
              <a:cxnLst/>
              <a:rect l="l" t="t" r="r" b="b"/>
              <a:pathLst>
                <a:path w="9334500" h="3733800">
                  <a:moveTo>
                    <a:pt x="9334500" y="3581400"/>
                  </a:moveTo>
                  <a:lnTo>
                    <a:pt x="9334500" y="3733800"/>
                  </a:lnTo>
                  <a:lnTo>
                    <a:pt x="0" y="3733800"/>
                  </a:lnTo>
                  <a:lnTo>
                    <a:pt x="0" y="0"/>
                  </a:lnTo>
                  <a:lnTo>
                    <a:pt x="2181225" y="0"/>
                  </a:lnTo>
                  <a:lnTo>
                    <a:pt x="2181225" y="76200"/>
                  </a:lnTo>
                </a:path>
              </a:pathLst>
            </a:custGeom>
            <a:noFill/>
            <a:ln w="14288">
              <a:solidFill>
                <a:schemeClr val="accent3"/>
              </a:solidFill>
              <a:custDash>
                <a:ds d="400000" sp="266666"/>
              </a:custDash>
              <a:tailEnd type="triangle" w="med" len="med"/>
            </a:ln>
          </p:spPr>
        </p:sp>
        <p:sp>
          <p:nvSpPr>
            <p:cNvPr id="94" name="TextBox 94"/>
            <p:cNvSpPr txBox="1"/>
            <p:nvPr/>
          </p:nvSpPr>
          <p:spPr>
            <a:xfrm>
              <a:off x="4070604" y="5585460"/>
              <a:ext cx="4050792" cy="234696"/>
            </a:xfrm>
            <a:prstGeom prst="rect">
              <a:avLst/>
            </a:prstGeom>
            <a:noFill/>
            <a:ln>
              <a:noFill/>
            </a:ln>
          </p:spPr>
          <p:txBody>
            <a:bodyPr wrap="none" lIns="0" tIns="0" rIns="0" bIns="0" anchor="t" anchorCtr="0">
              <a:spAutoFit/>
            </a:bodyPr>
            <a:lstStyle/>
            <a:p>
              <a:pPr algn="ctr"/>
              <a:r>
                <a:rPr lang="zh-CN" sz="1200" dirty="0">
                  <a:solidFill>
                    <a:schemeClr val="accent3"/>
                  </a:solidFill>
                  <a:latin typeface="Segoe UI"/>
                  <a:ea typeface="Microsoft YaHei"/>
                  <a:cs typeface="Segoe UI"/>
                </a:rPr>
                <a:t>闭环：新证据回到编排器，开启下一轮检索、核验与假设</a:t>
              </a:r>
            </a:p>
          </p:txBody>
        </p:sp>
      </p:grpSp>
      <p:grpSp>
        <p:nvGrpSpPr>
          <p:cNvPr id="99" name="Group 99"/>
          <p:cNvGrpSpPr/>
          <p:nvPr/>
        </p:nvGrpSpPr>
        <p:grpSpPr>
          <a:xfrm>
            <a:off x="685800" y="5848350"/>
            <a:ext cx="9449524" cy="575501"/>
            <a:chOff x="685800" y="5848350"/>
            <a:chExt cx="9449524" cy="575501"/>
          </a:xfrm>
        </p:grpSpPr>
        <p:sp>
          <p:nvSpPr>
            <p:cNvPr id="96" name="Rectangle 96"/>
            <p:cNvSpPr/>
            <p:nvPr/>
          </p:nvSpPr>
          <p:spPr>
            <a:xfrm>
              <a:off x="685800" y="5848350"/>
              <a:ext cx="57150" cy="495300"/>
            </a:xfrm>
            <a:prstGeom prst="rect">
              <a:avLst/>
            </a:prstGeom>
            <a:solidFill>
              <a:schemeClr val="accent2"/>
            </a:solidFill>
            <a:ln>
              <a:noFill/>
            </a:ln>
          </p:spPr>
        </p:sp>
        <p:sp>
          <p:nvSpPr>
            <p:cNvPr id="97" name="TextBox 97"/>
            <p:cNvSpPr txBox="1"/>
            <p:nvPr/>
          </p:nvSpPr>
          <p:spPr>
            <a:xfrm>
              <a:off x="907542" y="5893118"/>
              <a:ext cx="7219588"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解决的科学问题</a:t>
              </a:r>
              <a:r>
                <a:rPr lang="zh-CN" sz="1350" dirty="0">
                  <a:solidFill>
                    <a:schemeClr val="dk1"/>
                  </a:solidFill>
                  <a:latin typeface="Segoe UI"/>
                  <a:ea typeface="Microsoft YaHei"/>
                  <a:cs typeface="Segoe UI"/>
                </a:rPr>
                <a:t xml:space="preserve"> 文献能限定什么、哪些近邻条件可迁移、下一步做什么实验最有发现价值</a:t>
              </a:r>
            </a:p>
          </p:txBody>
        </p:sp>
        <p:sp>
          <p:nvSpPr>
            <p:cNvPr id="98" name="TextBox 98"/>
            <p:cNvSpPr txBox="1"/>
            <p:nvPr/>
          </p:nvSpPr>
          <p:spPr>
            <a:xfrm>
              <a:off x="907542" y="6159818"/>
              <a:ext cx="9227782"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对闭环探索的关键</a:t>
              </a:r>
              <a:r>
                <a:rPr lang="zh-CN" sz="1350" dirty="0">
                  <a:solidFill>
                    <a:schemeClr val="dk1"/>
                  </a:solidFill>
                  <a:latin typeface="Segoe UI"/>
                  <a:ea typeface="Microsoft YaHei"/>
                  <a:cs typeface="Segoe UI"/>
                </a:rPr>
                <a:t xml:space="preserve"> 每条建议都带证据、可执行、可回写；需要人确认的节点与程序质量检查保证可信而不失自动化</a:t>
              </a:r>
            </a:p>
          </p:txBody>
        </p:sp>
      </p:grpSp>
      <p:grpSp>
        <p:nvGrpSpPr>
          <p:cNvPr id="102" name="Group 102"/>
          <p:cNvGrpSpPr/>
          <p:nvPr/>
        </p:nvGrpSpPr>
        <p:grpSpPr>
          <a:xfrm>
            <a:off x="679704" y="6480810"/>
            <a:ext cx="10832592" cy="234696"/>
            <a:chOff x="679704" y="6480810"/>
            <a:chExt cx="10832592" cy="234696"/>
          </a:xfrm>
        </p:grpSpPr>
        <p:sp>
          <p:nvSpPr>
            <p:cNvPr id="100" name="TextBox 100"/>
            <p:cNvSpPr txBox="1"/>
            <p:nvPr/>
          </p:nvSpPr>
          <p:spPr>
            <a:xfrm>
              <a:off x="679704" y="6480810"/>
              <a:ext cx="341757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Segoe UI"/>
                  <a:ea typeface="Microsoft YaHei"/>
                  <a:cs typeface="Segoe UI"/>
                </a:rPr>
                <a:t>SAGE-Mat · GOAI 2026 AI for Research 复赛</a:t>
              </a:r>
            </a:p>
          </p:txBody>
        </p:sp>
        <p:sp>
          <p:nvSpPr>
            <p:cNvPr id="101" name="TextBox 101"/>
            <p:cNvSpPr txBox="1"/>
            <p:nvPr/>
          </p:nvSpPr>
          <p:spPr>
            <a:xfrm>
              <a:off x="11047781" y="6480810"/>
              <a:ext cx="464515"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Segoe UI"/>
                  <a:ea typeface="Segoe UI"/>
                  <a:cs typeface="Segoe UI"/>
                </a:rPr>
                <a:t>5 / 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850"/>
                            </p:stCondLst>
                            <p:childTnLst>
                              <p:par>
                                <p:cTn id="9" presetID="22" presetClass="entr" presetSubtype="1"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450"/>
                                        <p:tgtEl>
                                          <p:spTgt spid="20"/>
                                        </p:tgtEl>
                                      </p:cBhvr>
                                    </p:animEffect>
                                  </p:childTnLst>
                                </p:cTn>
                              </p:par>
                            </p:childTnLst>
                          </p:cTn>
                        </p:par>
                        <p:par>
                          <p:cTn id="12" fill="hold">
                            <p:stCondLst>
                              <p:cond delay="1650"/>
                            </p:stCondLst>
                            <p:childTnLst>
                              <p:par>
                                <p:cTn id="13" presetID="22" presetClass="entr" presetSubtype="1"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wipe(left)">
                                      <p:cBhvr>
                                        <p:cTn id="15" dur="450"/>
                                        <p:tgtEl>
                                          <p:spTgt spid="28"/>
                                        </p:tgtEl>
                                      </p:cBhvr>
                                    </p:animEffect>
                                  </p:childTnLst>
                                </p:cTn>
                              </p:par>
                            </p:childTnLst>
                          </p:cTn>
                        </p:par>
                        <p:par>
                          <p:cTn id="16" fill="hold">
                            <p:stCondLst>
                              <p:cond delay="2450"/>
                            </p:stCondLst>
                            <p:childTnLst>
                              <p:par>
                                <p:cTn id="17" presetID="22" presetClass="entr" presetSubtype="1"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wipe(left)">
                                      <p:cBhvr>
                                        <p:cTn id="19" dur="450"/>
                                        <p:tgtEl>
                                          <p:spTgt spid="37"/>
                                        </p:tgtEl>
                                      </p:cBhvr>
                                    </p:animEffect>
                                  </p:childTnLst>
                                </p:cTn>
                              </p:par>
                            </p:childTnLst>
                          </p:cTn>
                        </p:par>
                        <p:par>
                          <p:cTn id="20" fill="hold">
                            <p:stCondLst>
                              <p:cond delay="3250"/>
                            </p:stCondLst>
                            <p:childTnLst>
                              <p:par>
                                <p:cTn id="21" presetID="22" presetClass="entr" presetSubtype="1" fill="hold" nodeType="after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wipe(left)">
                                      <p:cBhvr>
                                        <p:cTn id="23" dur="450"/>
                                        <p:tgtEl>
                                          <p:spTgt spid="42"/>
                                        </p:tgtEl>
                                      </p:cBhvr>
                                    </p:animEffect>
                                  </p:childTnLst>
                                </p:cTn>
                              </p:par>
                            </p:childTnLst>
                          </p:cTn>
                        </p:par>
                        <p:par>
                          <p:cTn id="24" fill="hold">
                            <p:stCondLst>
                              <p:cond delay="4050"/>
                            </p:stCondLst>
                            <p:childTnLst>
                              <p:par>
                                <p:cTn id="25" presetID="22" presetClass="entr" presetSubtype="1" fill="hold" nodeType="after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wipe(left)">
                                      <p:cBhvr>
                                        <p:cTn id="27" dur="450"/>
                                        <p:tgtEl>
                                          <p:spTgt spid="51"/>
                                        </p:tgtEl>
                                      </p:cBhvr>
                                    </p:animEffect>
                                  </p:childTnLst>
                                </p:cTn>
                              </p:par>
                            </p:childTnLst>
                          </p:cTn>
                        </p:par>
                        <p:par>
                          <p:cTn id="28" fill="hold">
                            <p:stCondLst>
                              <p:cond delay="4850"/>
                            </p:stCondLst>
                            <p:childTnLst>
                              <p:par>
                                <p:cTn id="29" presetID="22" presetClass="entr" presetSubtype="1" fill="hold" nodeType="afterEffect">
                                  <p:stCondLst>
                                    <p:cond delay="0"/>
                                  </p:stCondLst>
                                  <p:childTnLst>
                                    <p:set>
                                      <p:cBhvr>
                                        <p:cTn id="30" dur="1" fill="hold">
                                          <p:stCondLst>
                                            <p:cond delay="0"/>
                                          </p:stCondLst>
                                        </p:cTn>
                                        <p:tgtEl>
                                          <p:spTgt spid="58"/>
                                        </p:tgtEl>
                                        <p:attrNameLst>
                                          <p:attrName>style.visibility</p:attrName>
                                        </p:attrNameLst>
                                      </p:cBhvr>
                                      <p:to>
                                        <p:strVal val="visible"/>
                                      </p:to>
                                    </p:set>
                                    <p:animEffect transition="in" filter="wipe(left)">
                                      <p:cBhvr>
                                        <p:cTn id="31" dur="450"/>
                                        <p:tgtEl>
                                          <p:spTgt spid="58"/>
                                        </p:tgtEl>
                                      </p:cBhvr>
                                    </p:animEffect>
                                  </p:childTnLst>
                                </p:cTn>
                              </p:par>
                            </p:childTnLst>
                          </p:cTn>
                        </p:par>
                        <p:par>
                          <p:cTn id="32" fill="hold">
                            <p:stCondLst>
                              <p:cond delay="5500"/>
                            </p:stCondLst>
                            <p:childTnLst>
                              <p:par>
                                <p:cTn id="33" presetID="10" presetClass="entr" presetSubtype="0" fill="hold" nodeType="after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fade">
                                      <p:cBhvr>
                                        <p:cTn id="35" dur="500"/>
                                        <p:tgtEl>
                                          <p:spTgt spid="60"/>
                                        </p:tgtEl>
                                      </p:cBhvr>
                                    </p:animEffect>
                                  </p:childTnLst>
                                </p:cTn>
                              </p:par>
                            </p:childTnLst>
                          </p:cTn>
                        </p:par>
                        <p:par>
                          <p:cTn id="36" fill="hold">
                            <p:stCondLst>
                              <p:cond delay="6350"/>
                            </p:stCondLst>
                            <p:childTnLst>
                              <p:par>
                                <p:cTn id="37" presetID="22" presetClass="entr" presetSubtype="1" fill="hold" nodeType="afterEffect">
                                  <p:stCondLst>
                                    <p:cond delay="0"/>
                                  </p:stCondLst>
                                  <p:childTnLst>
                                    <p:set>
                                      <p:cBhvr>
                                        <p:cTn id="38" dur="1" fill="hold">
                                          <p:stCondLst>
                                            <p:cond delay="0"/>
                                          </p:stCondLst>
                                        </p:cTn>
                                        <p:tgtEl>
                                          <p:spTgt spid="73"/>
                                        </p:tgtEl>
                                        <p:attrNameLst>
                                          <p:attrName>style.visibility</p:attrName>
                                        </p:attrNameLst>
                                      </p:cBhvr>
                                      <p:to>
                                        <p:strVal val="visible"/>
                                      </p:to>
                                    </p:set>
                                    <p:animEffect transition="in" filter="wipe(left)">
                                      <p:cBhvr>
                                        <p:cTn id="39" dur="500"/>
                                        <p:tgtEl>
                                          <p:spTgt spid="73"/>
                                        </p:tgtEl>
                                      </p:cBhvr>
                                    </p:animEffect>
                                  </p:childTnLst>
                                </p:cTn>
                              </p:par>
                            </p:childTnLst>
                          </p:cTn>
                        </p:par>
                        <p:par>
                          <p:cTn id="40" fill="hold">
                            <p:stCondLst>
                              <p:cond delay="7200"/>
                            </p:stCondLst>
                            <p:childTnLst>
                              <p:par>
                                <p:cTn id="41" presetID="2" presetClass="entr" presetSubtype="4" fill="hold" nodeType="afterEffect">
                                  <p:stCondLst>
                                    <p:cond delay="0"/>
                                  </p:stCondLst>
                                  <p:childTnLst>
                                    <p:set>
                                      <p:cBhvr>
                                        <p:cTn id="42" dur="1" fill="hold">
                                          <p:stCondLst>
                                            <p:cond delay="0"/>
                                          </p:stCondLst>
                                        </p:cTn>
                                        <p:tgtEl>
                                          <p:spTgt spid="80"/>
                                        </p:tgtEl>
                                        <p:attrNameLst>
                                          <p:attrName>style.visibility</p:attrName>
                                        </p:attrNameLst>
                                      </p:cBhvr>
                                      <p:to>
                                        <p:strVal val="visible"/>
                                      </p:to>
                                    </p:set>
                                    <p:animEffect transition="in" filter="slide(fromBottom)">
                                      <p:cBhvr>
                                        <p:cTn id="43" dur="500"/>
                                        <p:tgtEl>
                                          <p:spTgt spid="80"/>
                                        </p:tgtEl>
                                      </p:cBhvr>
                                    </p:animEffect>
                                  </p:childTnLst>
                                </p:cTn>
                              </p:par>
                            </p:childTnLst>
                          </p:cTn>
                        </p:par>
                        <p:par>
                          <p:cTn id="44" fill="hold">
                            <p:stCondLst>
                              <p:cond delay="8050"/>
                            </p:stCondLst>
                            <p:childTnLst>
                              <p:par>
                                <p:cTn id="45" presetID="2" presetClass="entr" presetSubtype="4" fill="hold" nodeType="afterEffect">
                                  <p:stCondLst>
                                    <p:cond delay="0"/>
                                  </p:stCondLst>
                                  <p:childTnLst>
                                    <p:set>
                                      <p:cBhvr>
                                        <p:cTn id="46" dur="1" fill="hold">
                                          <p:stCondLst>
                                            <p:cond delay="0"/>
                                          </p:stCondLst>
                                        </p:cTn>
                                        <p:tgtEl>
                                          <p:spTgt spid="87"/>
                                        </p:tgtEl>
                                        <p:attrNameLst>
                                          <p:attrName>style.visibility</p:attrName>
                                        </p:attrNameLst>
                                      </p:cBhvr>
                                      <p:to>
                                        <p:strVal val="visible"/>
                                      </p:to>
                                    </p:set>
                                    <p:animEffect transition="in" filter="slide(fromBottom)">
                                      <p:cBhvr>
                                        <p:cTn id="47" dur="500"/>
                                        <p:tgtEl>
                                          <p:spTgt spid="87"/>
                                        </p:tgtEl>
                                      </p:cBhvr>
                                    </p:animEffect>
                                  </p:childTnLst>
                                </p:cTn>
                              </p:par>
                            </p:childTnLst>
                          </p:cTn>
                        </p:par>
                        <p:par>
                          <p:cTn id="48" fill="hold">
                            <p:stCondLst>
                              <p:cond delay="8900"/>
                            </p:stCondLst>
                            <p:childTnLst>
                              <p:par>
                                <p:cTn id="49" presetID="2" presetClass="entr" presetSubtype="4" fill="hold" nodeType="afterEffect">
                                  <p:stCondLst>
                                    <p:cond delay="0"/>
                                  </p:stCondLst>
                                  <p:childTnLst>
                                    <p:set>
                                      <p:cBhvr>
                                        <p:cTn id="50" dur="1" fill="hold">
                                          <p:stCondLst>
                                            <p:cond delay="0"/>
                                          </p:stCondLst>
                                        </p:cTn>
                                        <p:tgtEl>
                                          <p:spTgt spid="95"/>
                                        </p:tgtEl>
                                        <p:attrNameLst>
                                          <p:attrName>style.visibility</p:attrName>
                                        </p:attrNameLst>
                                      </p:cBhvr>
                                      <p:to>
                                        <p:strVal val="visible"/>
                                      </p:to>
                                    </p:set>
                                    <p:animEffect transition="in" filter="slide(fromBottom)">
                                      <p:cBhvr>
                                        <p:cTn id="51" dur="500"/>
                                        <p:tgtEl>
                                          <p:spTgt spid="95"/>
                                        </p:tgtEl>
                                      </p:cBhvr>
                                    </p:animEffect>
                                  </p:childTnLst>
                                </p:cTn>
                              </p:par>
                            </p:childTnLst>
                          </p:cTn>
                        </p:par>
                        <p:par>
                          <p:cTn id="52" fill="hold">
                            <p:stCondLst>
                              <p:cond delay="9700"/>
                            </p:stCondLst>
                            <p:childTnLst>
                              <p:par>
                                <p:cTn id="53" presetID="10" presetClass="entr" presetSubtype="0" fill="hold" nodeType="afterEffect">
                                  <p:stCondLst>
                                    <p:cond delay="0"/>
                                  </p:stCondLst>
                                  <p:childTnLst>
                                    <p:set>
                                      <p:cBhvr>
                                        <p:cTn id="54" dur="1" fill="hold">
                                          <p:stCondLst>
                                            <p:cond delay="0"/>
                                          </p:stCondLst>
                                        </p:cTn>
                                        <p:tgtEl>
                                          <p:spTgt spid="99"/>
                                        </p:tgtEl>
                                        <p:attrNameLst>
                                          <p:attrName>style.visibility</p:attrName>
                                        </p:attrNameLst>
                                      </p:cBhvr>
                                      <p:to>
                                        <p:strVal val="visible"/>
                                      </p:to>
                                    </p:set>
                                    <p:animEffect transition="in" filter="fade">
                                      <p:cBhvr>
                                        <p:cTn id="55" dur="7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0" grpId="0"/>
      <p:bldP spid="28" grpId="0"/>
      <p:bldP spid="37" grpId="0"/>
      <p:bldP spid="42" grpId="0"/>
      <p:bldP spid="51" grpId="0"/>
      <p:bldP spid="58" grpId="0"/>
      <p:bldP spid="60" grpId="0"/>
      <p:bldP spid="73" grpId="0"/>
      <p:bldP spid="80" grpId="0"/>
      <p:bldP spid="87" grpId="0"/>
      <p:bldP spid="95" grpId="0"/>
      <p:bldP spid="9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70560" y="590550"/>
            <a:ext cx="8087487" cy="586740"/>
            <a:chOff x="670560" y="590550"/>
            <a:chExt cx="8087487" cy="586740"/>
          </a:xfrm>
        </p:grpSpPr>
        <p:sp>
          <p:nvSpPr>
            <p:cNvPr id="2" name="TextBox 2"/>
            <p:cNvSpPr txBox="1"/>
            <p:nvPr/>
          </p:nvSpPr>
          <p:spPr>
            <a:xfrm>
              <a:off x="670560" y="590550"/>
              <a:ext cx="8087487"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Segoe UI"/>
                  <a:ea typeface="Microsoft YaHei"/>
                  <a:cs typeface="Segoe UI"/>
                </a:rPr>
                <a:t>九道质量关卡由程序检查，写稿与审稿分离</a:t>
              </a:r>
            </a:p>
          </p:txBody>
        </p:sp>
        <p:sp>
          <p:nvSpPr>
            <p:cNvPr id="3" name="Rectangle 3"/>
            <p:cNvSpPr/>
            <p:nvPr/>
          </p:nvSpPr>
          <p:spPr>
            <a:xfrm>
              <a:off x="685800" y="1085850"/>
              <a:ext cx="685800" cy="38100"/>
            </a:xfrm>
            <a:prstGeom prst="rect">
              <a:avLst/>
            </a:prstGeom>
            <a:solidFill>
              <a:schemeClr val="accent1"/>
            </a:solidFill>
            <a:ln>
              <a:noFill/>
            </a:ln>
          </p:spPr>
        </p:sp>
      </p:grpSp>
      <p:grpSp>
        <p:nvGrpSpPr>
          <p:cNvPr id="6" name="Group 6"/>
          <p:cNvGrpSpPr/>
          <p:nvPr/>
        </p:nvGrpSpPr>
        <p:grpSpPr>
          <a:xfrm>
            <a:off x="675894" y="1370648"/>
            <a:ext cx="8217027" cy="743331"/>
            <a:chOff x="675894" y="1370648"/>
            <a:chExt cx="8217027" cy="743331"/>
          </a:xfrm>
        </p:grpSpPr>
        <p:sp>
          <p:nvSpPr>
            <p:cNvPr id="5" name="TextBox 5"/>
            <p:cNvSpPr txBox="1"/>
            <p:nvPr/>
          </p:nvSpPr>
          <p:spPr>
            <a:xfrm>
              <a:off x="675894" y="1370648"/>
              <a:ext cx="8217027" cy="743331"/>
            </a:xfrm>
            <a:prstGeom prst="rect">
              <a:avLst/>
            </a:prstGeom>
            <a:noFill/>
            <a:ln>
              <a:noFill/>
            </a:ln>
          </p:spPr>
          <p:txBody>
            <a:bodyPr wrap="square" lIns="0" tIns="0" rIns="0" bIns="0" anchor="t" anchorCtr="0"/>
            <a:lstStyle/>
            <a:p>
              <a:pPr algn="l">
                <a:lnSpc>
                  <a:spcPts val="2850"/>
                </a:lnSpc>
              </a:pPr>
              <a:r>
                <a:rPr lang="zh-CN" sz="1950" dirty="0">
                  <a:solidFill>
                    <a:schemeClr val="dk1"/>
                  </a:solidFill>
                  <a:latin typeface="Segoe UI"/>
                  <a:ea typeface="Microsoft YaHei"/>
                  <a:cs typeface="Segoe UI"/>
                </a:rPr>
                <a:t>“做完了”不由模型自己宣布：九道关卡全部通过、没有未关闭的严重问题、</a:t>
              </a:r>
              <a:r>
                <a:rPr lang="zh-CN" sz="1950" dirty="0">
                  <a:solidFill>
                    <a:schemeClr val="dk1"/>
                  </a:solidFill>
                  <a:latin typeface="Segoe UI"/>
                  <a:ea typeface="Microsoft YaHei"/>
                  <a:cs typeface="Segoe UI"/>
                </a:rPr>
                <a:t>终审有审稿记录，程序才放行交付。</a:t>
              </a:r>
            </a:p>
          </p:txBody>
        </p:sp>
      </p:grpSp>
      <p:grpSp>
        <p:nvGrpSpPr>
          <p:cNvPr id="48" name="Group 48"/>
          <p:cNvGrpSpPr/>
          <p:nvPr/>
        </p:nvGrpSpPr>
        <p:grpSpPr>
          <a:xfrm>
            <a:off x="685800" y="2286000"/>
            <a:ext cx="10826496" cy="1200531"/>
            <a:chOff x="685800" y="2286000"/>
            <a:chExt cx="10826496" cy="1200531"/>
          </a:xfrm>
        </p:grpSpPr>
        <p:sp>
          <p:nvSpPr>
            <p:cNvPr id="7" name="Line 7"/>
            <p:cNvSpPr/>
            <p:nvPr/>
          </p:nvSpPr>
          <p:spPr>
            <a:xfrm>
              <a:off x="1200150" y="2590800"/>
              <a:ext cx="9791700" cy="9525"/>
            </a:xfrm>
            <a:custGeom>
              <a:avLst/>
              <a:gdLst/>
              <a:ahLst/>
              <a:cxnLst/>
              <a:rect l="l" t="t" r="r" b="b"/>
              <a:pathLst>
                <a:path w="9791700" h="9525">
                  <a:moveTo>
                    <a:pt x="0" y="0"/>
                  </a:moveTo>
                  <a:lnTo>
                    <a:pt x="9791700" y="0"/>
                  </a:lnTo>
                </a:path>
              </a:pathLst>
            </a:custGeom>
            <a:noFill/>
            <a:ln w="19050">
              <a:solidFill>
                <a:schemeClr val="accent4"/>
              </a:solidFill>
            </a:ln>
          </p:spPr>
        </p:sp>
        <p:sp>
          <p:nvSpPr>
            <p:cNvPr id="8" name="Rectangle 8"/>
            <p:cNvSpPr/>
            <p:nvPr/>
          </p:nvSpPr>
          <p:spPr>
            <a:xfrm>
              <a:off x="685800" y="2286000"/>
              <a:ext cx="1028700" cy="609600"/>
            </a:xfrm>
            <a:prstGeom prst="rect">
              <a:avLst/>
            </a:prstGeom>
            <a:solidFill>
              <a:schemeClr val="lt1"/>
            </a:solidFill>
            <a:ln w="14288">
              <a:solidFill>
                <a:schemeClr val="accent1"/>
              </a:solidFill>
            </a:ln>
          </p:spPr>
        </p:sp>
        <p:sp>
          <p:nvSpPr>
            <p:cNvPr id="9" name="Rectangle 9"/>
            <p:cNvSpPr/>
            <p:nvPr/>
          </p:nvSpPr>
          <p:spPr>
            <a:xfrm>
              <a:off x="685800" y="2286000"/>
              <a:ext cx="1028700" cy="47625"/>
            </a:xfrm>
            <a:prstGeom prst="rect">
              <a:avLst/>
            </a:prstGeom>
            <a:solidFill>
              <a:schemeClr val="accent1"/>
            </a:solidFill>
            <a:ln>
              <a:noFill/>
            </a:ln>
          </p:spPr>
        </p:sp>
        <p:sp>
          <p:nvSpPr>
            <p:cNvPr id="10" name="TextBox 10"/>
            <p:cNvSpPr txBox="1"/>
            <p:nvPr/>
          </p:nvSpPr>
          <p:spPr>
            <a:xfrm>
              <a:off x="829818" y="2521268"/>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Segoe UI"/>
                  <a:ea typeface="Microsoft YaHei"/>
                  <a:cs typeface="Segoe UI"/>
                </a:rPr>
                <a:t>范围确认</a:t>
              </a:r>
            </a:p>
          </p:txBody>
        </p:sp>
        <p:sp>
          <p:nvSpPr>
            <p:cNvPr id="11" name="Rectangle 11"/>
            <p:cNvSpPr/>
            <p:nvPr/>
          </p:nvSpPr>
          <p:spPr>
            <a:xfrm>
              <a:off x="1909762" y="2286000"/>
              <a:ext cx="1028700" cy="609600"/>
            </a:xfrm>
            <a:prstGeom prst="rect">
              <a:avLst/>
            </a:prstGeom>
            <a:solidFill>
              <a:schemeClr val="lt1"/>
            </a:solidFill>
            <a:ln w="14288">
              <a:solidFill>
                <a:schemeClr val="accent1"/>
              </a:solidFill>
            </a:ln>
          </p:spPr>
        </p:sp>
        <p:sp>
          <p:nvSpPr>
            <p:cNvPr id="12" name="Rectangle 12"/>
            <p:cNvSpPr/>
            <p:nvPr/>
          </p:nvSpPr>
          <p:spPr>
            <a:xfrm>
              <a:off x="1909762" y="2286000"/>
              <a:ext cx="1028700" cy="47625"/>
            </a:xfrm>
            <a:prstGeom prst="rect">
              <a:avLst/>
            </a:prstGeom>
            <a:solidFill>
              <a:schemeClr val="accent2"/>
            </a:solidFill>
            <a:ln>
              <a:noFill/>
            </a:ln>
          </p:spPr>
        </p:sp>
        <p:sp>
          <p:nvSpPr>
            <p:cNvPr id="13" name="TextBox 13"/>
            <p:cNvSpPr txBox="1"/>
            <p:nvPr/>
          </p:nvSpPr>
          <p:spPr>
            <a:xfrm>
              <a:off x="2053780" y="2521268"/>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Segoe UI"/>
                  <a:ea typeface="Microsoft YaHei"/>
                  <a:cs typeface="Segoe UI"/>
                </a:rPr>
                <a:t>文献覆盖</a:t>
              </a:r>
            </a:p>
          </p:txBody>
        </p:sp>
        <p:sp>
          <p:nvSpPr>
            <p:cNvPr id="14" name="Rectangle 14"/>
            <p:cNvSpPr/>
            <p:nvPr/>
          </p:nvSpPr>
          <p:spPr>
            <a:xfrm>
              <a:off x="3133725" y="2286000"/>
              <a:ext cx="1028700" cy="609600"/>
            </a:xfrm>
            <a:prstGeom prst="rect">
              <a:avLst/>
            </a:prstGeom>
            <a:solidFill>
              <a:schemeClr val="lt1"/>
            </a:solidFill>
            <a:ln w="14288">
              <a:solidFill>
                <a:schemeClr val="accent1"/>
              </a:solidFill>
            </a:ln>
          </p:spPr>
        </p:sp>
        <p:sp>
          <p:nvSpPr>
            <p:cNvPr id="15" name="Rectangle 15"/>
            <p:cNvSpPr/>
            <p:nvPr/>
          </p:nvSpPr>
          <p:spPr>
            <a:xfrm>
              <a:off x="3133725" y="2286000"/>
              <a:ext cx="1028700" cy="47625"/>
            </a:xfrm>
            <a:prstGeom prst="rect">
              <a:avLst/>
            </a:prstGeom>
            <a:solidFill>
              <a:schemeClr val="accent2"/>
            </a:solidFill>
            <a:ln>
              <a:noFill/>
            </a:ln>
          </p:spPr>
        </p:sp>
        <p:sp>
          <p:nvSpPr>
            <p:cNvPr id="16" name="TextBox 16"/>
            <p:cNvSpPr txBox="1"/>
            <p:nvPr/>
          </p:nvSpPr>
          <p:spPr>
            <a:xfrm>
              <a:off x="3368611" y="2521268"/>
              <a:ext cx="558927"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Segoe UI"/>
                  <a:ea typeface="Microsoft YaHei"/>
                  <a:cs typeface="Segoe UI"/>
                </a:rPr>
                <a:t>风格库</a:t>
              </a:r>
            </a:p>
          </p:txBody>
        </p:sp>
        <p:sp>
          <p:nvSpPr>
            <p:cNvPr id="17" name="Rectangle 17"/>
            <p:cNvSpPr/>
            <p:nvPr/>
          </p:nvSpPr>
          <p:spPr>
            <a:xfrm>
              <a:off x="4357688" y="2286000"/>
              <a:ext cx="1028700" cy="609600"/>
            </a:xfrm>
            <a:prstGeom prst="rect">
              <a:avLst/>
            </a:prstGeom>
            <a:solidFill>
              <a:schemeClr val="lt1"/>
            </a:solidFill>
            <a:ln w="14288">
              <a:solidFill>
                <a:schemeClr val="accent1"/>
              </a:solidFill>
            </a:ln>
          </p:spPr>
        </p:sp>
        <p:sp>
          <p:nvSpPr>
            <p:cNvPr id="18" name="Rectangle 18"/>
            <p:cNvSpPr/>
            <p:nvPr/>
          </p:nvSpPr>
          <p:spPr>
            <a:xfrm>
              <a:off x="4357688" y="2286000"/>
              <a:ext cx="1028700" cy="47625"/>
            </a:xfrm>
            <a:prstGeom prst="rect">
              <a:avLst/>
            </a:prstGeom>
            <a:solidFill>
              <a:schemeClr val="accent1"/>
            </a:solidFill>
            <a:ln>
              <a:noFill/>
            </a:ln>
          </p:spPr>
        </p:sp>
        <p:sp>
          <p:nvSpPr>
            <p:cNvPr id="19" name="TextBox 19"/>
            <p:cNvSpPr txBox="1"/>
            <p:nvPr/>
          </p:nvSpPr>
          <p:spPr>
            <a:xfrm>
              <a:off x="4410837" y="2521268"/>
              <a:ext cx="922401"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Segoe UI"/>
                  <a:ea typeface="Microsoft YaHei"/>
                  <a:cs typeface="Segoe UI"/>
                </a:rPr>
                <a:t>引用完整性</a:t>
              </a:r>
            </a:p>
          </p:txBody>
        </p:sp>
        <p:sp>
          <p:nvSpPr>
            <p:cNvPr id="20" name="Rectangle 20"/>
            <p:cNvSpPr/>
            <p:nvPr/>
          </p:nvSpPr>
          <p:spPr>
            <a:xfrm>
              <a:off x="5581650" y="2286000"/>
              <a:ext cx="1028700" cy="609600"/>
            </a:xfrm>
            <a:prstGeom prst="rect">
              <a:avLst/>
            </a:prstGeom>
            <a:solidFill>
              <a:schemeClr val="lt1"/>
            </a:solidFill>
            <a:ln w="14288">
              <a:solidFill>
                <a:schemeClr val="accent1"/>
              </a:solidFill>
            </a:ln>
          </p:spPr>
        </p:sp>
        <p:sp>
          <p:nvSpPr>
            <p:cNvPr id="21" name="Rectangle 21"/>
            <p:cNvSpPr/>
            <p:nvPr/>
          </p:nvSpPr>
          <p:spPr>
            <a:xfrm>
              <a:off x="5581650" y="2286000"/>
              <a:ext cx="1028700" cy="47625"/>
            </a:xfrm>
            <a:prstGeom prst="rect">
              <a:avLst/>
            </a:prstGeom>
            <a:solidFill>
              <a:schemeClr val="accent1"/>
            </a:solidFill>
            <a:ln>
              <a:noFill/>
            </a:ln>
          </p:spPr>
        </p:sp>
        <p:sp>
          <p:nvSpPr>
            <p:cNvPr id="22" name="TextBox 22"/>
            <p:cNvSpPr txBox="1"/>
            <p:nvPr/>
          </p:nvSpPr>
          <p:spPr>
            <a:xfrm>
              <a:off x="5816536" y="2521268"/>
              <a:ext cx="558927"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Segoe UI"/>
                  <a:ea typeface="Microsoft YaHei"/>
                  <a:cs typeface="Segoe UI"/>
                </a:rPr>
                <a:t>分类法</a:t>
              </a:r>
            </a:p>
          </p:txBody>
        </p:sp>
        <p:sp>
          <p:nvSpPr>
            <p:cNvPr id="23" name="Rectangle 23"/>
            <p:cNvSpPr/>
            <p:nvPr/>
          </p:nvSpPr>
          <p:spPr>
            <a:xfrm>
              <a:off x="6805612" y="2286000"/>
              <a:ext cx="1028700" cy="609600"/>
            </a:xfrm>
            <a:prstGeom prst="rect">
              <a:avLst/>
            </a:prstGeom>
            <a:solidFill>
              <a:schemeClr val="lt1"/>
            </a:solidFill>
            <a:ln w="14288">
              <a:solidFill>
                <a:schemeClr val="accent1"/>
              </a:solidFill>
            </a:ln>
          </p:spPr>
        </p:sp>
        <p:sp>
          <p:nvSpPr>
            <p:cNvPr id="24" name="Rectangle 24"/>
            <p:cNvSpPr/>
            <p:nvPr/>
          </p:nvSpPr>
          <p:spPr>
            <a:xfrm>
              <a:off x="6805612" y="2286000"/>
              <a:ext cx="1028700" cy="47625"/>
            </a:xfrm>
            <a:prstGeom prst="rect">
              <a:avLst/>
            </a:prstGeom>
            <a:solidFill>
              <a:schemeClr val="accent1"/>
            </a:solidFill>
            <a:ln>
              <a:noFill/>
            </a:ln>
          </p:spPr>
        </p:sp>
        <p:sp>
          <p:nvSpPr>
            <p:cNvPr id="25" name="TextBox 25"/>
            <p:cNvSpPr txBox="1"/>
            <p:nvPr/>
          </p:nvSpPr>
          <p:spPr>
            <a:xfrm>
              <a:off x="7131367" y="2521268"/>
              <a:ext cx="377190"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Segoe UI"/>
                  <a:ea typeface="Microsoft YaHei"/>
                  <a:cs typeface="Segoe UI"/>
                </a:rPr>
                <a:t>图纸</a:t>
              </a:r>
            </a:p>
          </p:txBody>
        </p:sp>
        <p:sp>
          <p:nvSpPr>
            <p:cNvPr id="26" name="Rectangle 26"/>
            <p:cNvSpPr/>
            <p:nvPr/>
          </p:nvSpPr>
          <p:spPr>
            <a:xfrm>
              <a:off x="8029575" y="2286000"/>
              <a:ext cx="1028700" cy="609600"/>
            </a:xfrm>
            <a:prstGeom prst="rect">
              <a:avLst/>
            </a:prstGeom>
            <a:solidFill>
              <a:schemeClr val="lt1"/>
            </a:solidFill>
            <a:ln w="14288">
              <a:solidFill>
                <a:schemeClr val="accent1"/>
              </a:solidFill>
            </a:ln>
          </p:spPr>
        </p:sp>
        <p:sp>
          <p:nvSpPr>
            <p:cNvPr id="27" name="Rectangle 27"/>
            <p:cNvSpPr/>
            <p:nvPr/>
          </p:nvSpPr>
          <p:spPr>
            <a:xfrm>
              <a:off x="8029575" y="2286000"/>
              <a:ext cx="1028700" cy="47625"/>
            </a:xfrm>
            <a:prstGeom prst="rect">
              <a:avLst/>
            </a:prstGeom>
            <a:solidFill>
              <a:schemeClr val="accent1"/>
            </a:solidFill>
            <a:ln>
              <a:noFill/>
            </a:ln>
          </p:spPr>
        </p:sp>
        <p:sp>
          <p:nvSpPr>
            <p:cNvPr id="28" name="TextBox 28"/>
            <p:cNvSpPr txBox="1"/>
            <p:nvPr/>
          </p:nvSpPr>
          <p:spPr>
            <a:xfrm>
              <a:off x="8355330" y="2521268"/>
              <a:ext cx="377190"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Segoe UI"/>
                  <a:ea typeface="Microsoft YaHei"/>
                  <a:cs typeface="Segoe UI"/>
                </a:rPr>
                <a:t>稿件</a:t>
              </a:r>
            </a:p>
          </p:txBody>
        </p:sp>
        <p:sp>
          <p:nvSpPr>
            <p:cNvPr id="29" name="Rectangle 29"/>
            <p:cNvSpPr/>
            <p:nvPr/>
          </p:nvSpPr>
          <p:spPr>
            <a:xfrm>
              <a:off x="9253538" y="2286000"/>
              <a:ext cx="1028700" cy="609600"/>
            </a:xfrm>
            <a:prstGeom prst="rect">
              <a:avLst/>
            </a:prstGeom>
            <a:solidFill>
              <a:schemeClr val="lt1"/>
            </a:solidFill>
            <a:ln w="14288">
              <a:solidFill>
                <a:schemeClr val="accent1"/>
              </a:solidFill>
            </a:ln>
          </p:spPr>
        </p:sp>
        <p:sp>
          <p:nvSpPr>
            <p:cNvPr id="30" name="Rectangle 30"/>
            <p:cNvSpPr/>
            <p:nvPr/>
          </p:nvSpPr>
          <p:spPr>
            <a:xfrm>
              <a:off x="9253538" y="2286000"/>
              <a:ext cx="1028700" cy="47625"/>
            </a:xfrm>
            <a:prstGeom prst="rect">
              <a:avLst/>
            </a:prstGeom>
            <a:solidFill>
              <a:schemeClr val="accent2"/>
            </a:solidFill>
            <a:ln>
              <a:noFill/>
            </a:ln>
          </p:spPr>
        </p:sp>
        <p:sp>
          <p:nvSpPr>
            <p:cNvPr id="31" name="TextBox 31"/>
            <p:cNvSpPr txBox="1"/>
            <p:nvPr/>
          </p:nvSpPr>
          <p:spPr>
            <a:xfrm>
              <a:off x="9397556" y="2521268"/>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Segoe UI"/>
                  <a:ea typeface="Microsoft YaHei"/>
                  <a:cs typeface="Segoe UI"/>
                </a:rPr>
                <a:t>想法审稿</a:t>
              </a:r>
            </a:p>
          </p:txBody>
        </p:sp>
        <p:sp>
          <p:nvSpPr>
            <p:cNvPr id="32" name="Rectangle 32"/>
            <p:cNvSpPr/>
            <p:nvPr/>
          </p:nvSpPr>
          <p:spPr>
            <a:xfrm>
              <a:off x="10477500" y="2286000"/>
              <a:ext cx="1028700" cy="609600"/>
            </a:xfrm>
            <a:prstGeom prst="rect">
              <a:avLst/>
            </a:prstGeom>
            <a:solidFill>
              <a:schemeClr val="accent1"/>
            </a:solidFill>
            <a:ln w="14288">
              <a:solidFill>
                <a:schemeClr val="accent1"/>
              </a:solidFill>
            </a:ln>
          </p:spPr>
        </p:sp>
        <p:sp>
          <p:nvSpPr>
            <p:cNvPr id="33" name="TextBox 33"/>
            <p:cNvSpPr txBox="1"/>
            <p:nvPr/>
          </p:nvSpPr>
          <p:spPr>
            <a:xfrm>
              <a:off x="10794168" y="2521268"/>
              <a:ext cx="3953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Microsoft YaHei"/>
                  <a:cs typeface="Segoe UI"/>
                </a:rPr>
                <a:t>终审</a:t>
              </a:r>
            </a:p>
          </p:txBody>
        </p:sp>
        <p:sp>
          <p:nvSpPr>
            <p:cNvPr id="34" name="TextBox 34"/>
            <p:cNvSpPr txBox="1"/>
            <p:nvPr/>
          </p:nvSpPr>
          <p:spPr>
            <a:xfrm>
              <a:off x="963854" y="2956560"/>
              <a:ext cx="472592" cy="234696"/>
            </a:xfrm>
            <a:prstGeom prst="rect">
              <a:avLst/>
            </a:prstGeom>
            <a:noFill/>
            <a:ln>
              <a:noFill/>
            </a:ln>
          </p:spPr>
          <p:txBody>
            <a:bodyPr wrap="none" lIns="0" tIns="0" rIns="0" bIns="0" anchor="t" anchorCtr="0">
              <a:spAutoFit/>
            </a:bodyPr>
            <a:lstStyle/>
            <a:p>
              <a:pPr algn="ctr"/>
              <a:r>
                <a:rPr lang="zh-CN" sz="1200" dirty="0">
                  <a:solidFill>
                    <a:schemeClr val="accent3"/>
                  </a:solidFill>
                  <a:latin typeface="Segoe UI"/>
                  <a:ea typeface="Microsoft YaHei"/>
                  <a:cs typeface="Segoe UI"/>
                </a:rPr>
                <a:t>① 编排</a:t>
              </a:r>
            </a:p>
          </p:txBody>
        </p:sp>
        <p:sp>
          <p:nvSpPr>
            <p:cNvPr id="35" name="TextBox 35"/>
            <p:cNvSpPr txBox="1"/>
            <p:nvPr/>
          </p:nvSpPr>
          <p:spPr>
            <a:xfrm>
              <a:off x="2026272" y="2956560"/>
              <a:ext cx="795680" cy="234696"/>
            </a:xfrm>
            <a:prstGeom prst="rect">
              <a:avLst/>
            </a:prstGeom>
            <a:noFill/>
            <a:ln>
              <a:noFill/>
            </a:ln>
          </p:spPr>
          <p:txBody>
            <a:bodyPr wrap="none" lIns="0" tIns="0" rIns="0" bIns="0" anchor="t" anchorCtr="0">
              <a:spAutoFit/>
            </a:bodyPr>
            <a:lstStyle/>
            <a:p>
              <a:pPr algn="ctr"/>
              <a:r>
                <a:rPr lang="zh-CN" sz="1200" dirty="0">
                  <a:solidFill>
                    <a:schemeClr val="accent3"/>
                  </a:solidFill>
                  <a:latin typeface="Segoe UI"/>
                  <a:ea typeface="Microsoft YaHei"/>
                  <a:cs typeface="Segoe UI"/>
                </a:rPr>
                <a:t>② 文献检索</a:t>
              </a:r>
            </a:p>
          </p:txBody>
        </p:sp>
        <p:sp>
          <p:nvSpPr>
            <p:cNvPr id="36" name="TextBox 36"/>
            <p:cNvSpPr txBox="1"/>
            <p:nvPr/>
          </p:nvSpPr>
          <p:spPr>
            <a:xfrm>
              <a:off x="3250235" y="2956560"/>
              <a:ext cx="795680" cy="234696"/>
            </a:xfrm>
            <a:prstGeom prst="rect">
              <a:avLst/>
            </a:prstGeom>
            <a:noFill/>
            <a:ln>
              <a:noFill/>
            </a:ln>
          </p:spPr>
          <p:txBody>
            <a:bodyPr wrap="none" lIns="0" tIns="0" rIns="0" bIns="0" anchor="t" anchorCtr="0">
              <a:spAutoFit/>
            </a:bodyPr>
            <a:lstStyle/>
            <a:p>
              <a:pPr algn="ctr"/>
              <a:r>
                <a:rPr lang="zh-CN" sz="1200" dirty="0">
                  <a:solidFill>
                    <a:schemeClr val="accent3"/>
                  </a:solidFill>
                  <a:latin typeface="Segoe UI"/>
                  <a:ea typeface="Microsoft YaHei"/>
                  <a:cs typeface="Segoe UI"/>
                </a:rPr>
                <a:t>③ 风格学习</a:t>
              </a:r>
            </a:p>
          </p:txBody>
        </p:sp>
        <p:sp>
          <p:nvSpPr>
            <p:cNvPr id="37" name="TextBox 37"/>
            <p:cNvSpPr txBox="1"/>
            <p:nvPr/>
          </p:nvSpPr>
          <p:spPr>
            <a:xfrm>
              <a:off x="4474197" y="2956560"/>
              <a:ext cx="795680" cy="234696"/>
            </a:xfrm>
            <a:prstGeom prst="rect">
              <a:avLst/>
            </a:prstGeom>
            <a:noFill/>
            <a:ln>
              <a:noFill/>
            </a:ln>
          </p:spPr>
          <p:txBody>
            <a:bodyPr wrap="none" lIns="0" tIns="0" rIns="0" bIns="0" anchor="t" anchorCtr="0">
              <a:spAutoFit/>
            </a:bodyPr>
            <a:lstStyle/>
            <a:p>
              <a:pPr algn="ctr"/>
              <a:r>
                <a:rPr lang="zh-CN" sz="1200" dirty="0">
                  <a:solidFill>
                    <a:schemeClr val="accent3"/>
                  </a:solidFill>
                  <a:latin typeface="Segoe UI"/>
                  <a:ea typeface="Microsoft YaHei"/>
                  <a:cs typeface="Segoe UI"/>
                </a:rPr>
                <a:t>④ 引用核对</a:t>
              </a:r>
            </a:p>
          </p:txBody>
        </p:sp>
        <p:sp>
          <p:nvSpPr>
            <p:cNvPr id="38" name="TextBox 38"/>
            <p:cNvSpPr txBox="1"/>
            <p:nvPr/>
          </p:nvSpPr>
          <p:spPr>
            <a:xfrm>
              <a:off x="5859704" y="2956560"/>
              <a:ext cx="472592" cy="234696"/>
            </a:xfrm>
            <a:prstGeom prst="rect">
              <a:avLst/>
            </a:prstGeom>
            <a:noFill/>
            <a:ln>
              <a:noFill/>
            </a:ln>
          </p:spPr>
          <p:txBody>
            <a:bodyPr wrap="none" lIns="0" tIns="0" rIns="0" bIns="0" anchor="t" anchorCtr="0">
              <a:spAutoFit/>
            </a:bodyPr>
            <a:lstStyle/>
            <a:p>
              <a:pPr algn="ctr"/>
              <a:r>
                <a:rPr lang="zh-CN" sz="1200" dirty="0">
                  <a:solidFill>
                    <a:schemeClr val="accent3"/>
                  </a:solidFill>
                  <a:latin typeface="Segoe UI"/>
                  <a:ea typeface="Microsoft YaHei"/>
                  <a:cs typeface="Segoe UI"/>
                </a:rPr>
                <a:t>⑤ 写作</a:t>
              </a:r>
            </a:p>
          </p:txBody>
        </p:sp>
        <p:sp>
          <p:nvSpPr>
            <p:cNvPr id="39" name="TextBox 39"/>
            <p:cNvSpPr txBox="1"/>
            <p:nvPr/>
          </p:nvSpPr>
          <p:spPr>
            <a:xfrm>
              <a:off x="7039242" y="2956560"/>
              <a:ext cx="561442" cy="234696"/>
            </a:xfrm>
            <a:prstGeom prst="rect">
              <a:avLst/>
            </a:prstGeom>
            <a:noFill/>
            <a:ln>
              <a:noFill/>
            </a:ln>
          </p:spPr>
          <p:txBody>
            <a:bodyPr wrap="none" lIns="0" tIns="0" rIns="0" bIns="0" anchor="t" anchorCtr="0">
              <a:spAutoFit/>
            </a:bodyPr>
            <a:lstStyle/>
            <a:p>
              <a:pPr algn="ctr"/>
              <a:r>
                <a:rPr lang="zh-CN" sz="1200" dirty="0">
                  <a:solidFill>
                    <a:schemeClr val="accent3"/>
                  </a:solidFill>
                  <a:latin typeface="Segoe UI"/>
                  <a:ea typeface="Microsoft YaHei"/>
                  <a:cs typeface="Segoe UI"/>
                </a:rPr>
                <a:t>⑥⑦ 绘图</a:t>
              </a:r>
            </a:p>
          </p:txBody>
        </p:sp>
        <p:sp>
          <p:nvSpPr>
            <p:cNvPr id="40" name="TextBox 40"/>
            <p:cNvSpPr txBox="1"/>
            <p:nvPr/>
          </p:nvSpPr>
          <p:spPr>
            <a:xfrm>
              <a:off x="8307629" y="2956560"/>
              <a:ext cx="472592" cy="234696"/>
            </a:xfrm>
            <a:prstGeom prst="rect">
              <a:avLst/>
            </a:prstGeom>
            <a:noFill/>
            <a:ln>
              <a:noFill/>
            </a:ln>
          </p:spPr>
          <p:txBody>
            <a:bodyPr wrap="none" lIns="0" tIns="0" rIns="0" bIns="0" anchor="t" anchorCtr="0">
              <a:spAutoFit/>
            </a:bodyPr>
            <a:lstStyle/>
            <a:p>
              <a:pPr algn="ctr"/>
              <a:r>
                <a:rPr lang="zh-CN" sz="1200" dirty="0">
                  <a:solidFill>
                    <a:schemeClr val="accent3"/>
                  </a:solidFill>
                  <a:latin typeface="Segoe UI"/>
                  <a:ea typeface="Microsoft YaHei"/>
                  <a:cs typeface="Segoe UI"/>
                </a:rPr>
                <a:t>⑤ 写作</a:t>
              </a:r>
            </a:p>
          </p:txBody>
        </p:sp>
        <p:sp>
          <p:nvSpPr>
            <p:cNvPr id="41" name="TextBox 41"/>
            <p:cNvSpPr txBox="1"/>
            <p:nvPr/>
          </p:nvSpPr>
          <p:spPr>
            <a:xfrm>
              <a:off x="9208503" y="2956560"/>
              <a:ext cx="1118768" cy="234696"/>
            </a:xfrm>
            <a:prstGeom prst="rect">
              <a:avLst/>
            </a:prstGeom>
            <a:noFill/>
            <a:ln>
              <a:noFill/>
            </a:ln>
          </p:spPr>
          <p:txBody>
            <a:bodyPr wrap="none" lIns="0" tIns="0" rIns="0" bIns="0" anchor="t" anchorCtr="0">
              <a:spAutoFit/>
            </a:bodyPr>
            <a:lstStyle/>
            <a:p>
              <a:pPr algn="ctr"/>
              <a:r>
                <a:rPr lang="zh-CN" sz="1200" dirty="0">
                  <a:solidFill>
                    <a:schemeClr val="accent3"/>
                  </a:solidFill>
                  <a:latin typeface="Segoe UI"/>
                  <a:ea typeface="Microsoft YaHei"/>
                  <a:cs typeface="Segoe UI"/>
                </a:rPr>
                <a:t>⑧ 想法 · ⑨ 审稿</a:t>
              </a:r>
            </a:p>
          </p:txBody>
        </p:sp>
        <p:sp>
          <p:nvSpPr>
            <p:cNvPr id="42" name="TextBox 42"/>
            <p:cNvSpPr txBox="1"/>
            <p:nvPr/>
          </p:nvSpPr>
          <p:spPr>
            <a:xfrm>
              <a:off x="10594010" y="2956560"/>
              <a:ext cx="795680" cy="234696"/>
            </a:xfrm>
            <a:prstGeom prst="rect">
              <a:avLst/>
            </a:prstGeom>
            <a:noFill/>
            <a:ln>
              <a:noFill/>
            </a:ln>
          </p:spPr>
          <p:txBody>
            <a:bodyPr wrap="none" lIns="0" tIns="0" rIns="0" bIns="0" anchor="t" anchorCtr="0">
              <a:spAutoFit/>
            </a:bodyPr>
            <a:lstStyle/>
            <a:p>
              <a:pPr algn="ctr"/>
              <a:r>
                <a:rPr lang="zh-CN" sz="1200" dirty="0">
                  <a:solidFill>
                    <a:schemeClr val="accent3"/>
                  </a:solidFill>
                  <a:latin typeface="Segoe UI"/>
                  <a:ea typeface="Microsoft YaHei"/>
                  <a:cs typeface="Segoe UI"/>
                </a:rPr>
                <a:t>⑨ 对抗审稿</a:t>
              </a:r>
            </a:p>
          </p:txBody>
        </p:sp>
        <p:sp>
          <p:nvSpPr>
            <p:cNvPr id="43" name="Rectangle 43"/>
            <p:cNvSpPr/>
            <p:nvPr/>
          </p:nvSpPr>
          <p:spPr>
            <a:xfrm>
              <a:off x="685800" y="3295650"/>
              <a:ext cx="133350" cy="47625"/>
            </a:xfrm>
            <a:prstGeom prst="rect">
              <a:avLst/>
            </a:prstGeom>
            <a:solidFill>
              <a:schemeClr val="accent1"/>
            </a:solidFill>
            <a:ln>
              <a:noFill/>
            </a:ln>
          </p:spPr>
        </p:sp>
        <p:sp>
          <p:nvSpPr>
            <p:cNvPr id="44" name="TextBox 44"/>
            <p:cNvSpPr txBox="1"/>
            <p:nvPr/>
          </p:nvSpPr>
          <p:spPr>
            <a:xfrm>
              <a:off x="889254" y="3251835"/>
              <a:ext cx="335280" cy="234696"/>
            </a:xfrm>
            <a:prstGeom prst="rect">
              <a:avLst/>
            </a:prstGeom>
            <a:noFill/>
            <a:ln>
              <a:noFill/>
            </a:ln>
          </p:spPr>
          <p:txBody>
            <a:bodyPr wrap="none" lIns="0" tIns="0" rIns="0" bIns="0" anchor="t" anchorCtr="0">
              <a:spAutoFit/>
            </a:bodyPr>
            <a:lstStyle/>
            <a:p>
              <a:pPr algn="l"/>
              <a:r>
                <a:rPr lang="zh-CN" sz="1200" dirty="0">
                  <a:solidFill>
                    <a:schemeClr val="dk2"/>
                  </a:solidFill>
                  <a:latin typeface="Segoe UI"/>
                  <a:ea typeface="Microsoft YaHei"/>
                  <a:cs typeface="Segoe UI"/>
                </a:rPr>
                <a:t>通过</a:t>
              </a:r>
            </a:p>
          </p:txBody>
        </p:sp>
        <p:sp>
          <p:nvSpPr>
            <p:cNvPr id="45" name="Rectangle 45"/>
            <p:cNvSpPr/>
            <p:nvPr/>
          </p:nvSpPr>
          <p:spPr>
            <a:xfrm>
              <a:off x="2209800" y="3295650"/>
              <a:ext cx="133350" cy="47625"/>
            </a:xfrm>
            <a:prstGeom prst="rect">
              <a:avLst/>
            </a:prstGeom>
            <a:solidFill>
              <a:schemeClr val="accent2"/>
            </a:solidFill>
            <a:ln>
              <a:noFill/>
            </a:ln>
          </p:spPr>
        </p:sp>
        <p:sp>
          <p:nvSpPr>
            <p:cNvPr id="46" name="TextBox 46"/>
            <p:cNvSpPr txBox="1"/>
            <p:nvPr/>
          </p:nvSpPr>
          <p:spPr>
            <a:xfrm>
              <a:off x="2413254" y="3251835"/>
              <a:ext cx="4535424" cy="234696"/>
            </a:xfrm>
            <a:prstGeom prst="rect">
              <a:avLst/>
            </a:prstGeom>
            <a:noFill/>
            <a:ln>
              <a:noFill/>
            </a:ln>
          </p:spPr>
          <p:txBody>
            <a:bodyPr wrap="none" lIns="0" tIns="0" rIns="0" bIns="0" anchor="t" anchorCtr="0">
              <a:spAutoFit/>
            </a:bodyPr>
            <a:lstStyle/>
            <a:p>
              <a:pPr algn="l"/>
              <a:r>
                <a:rPr lang="zh-CN" sz="1200" dirty="0">
                  <a:solidFill>
                    <a:schemeClr val="dk2"/>
                  </a:solidFill>
                  <a:latin typeface="Segoe UI"/>
                  <a:ea typeface="Microsoft YaHei"/>
                  <a:cs typeface="Segoe UI"/>
                </a:rPr>
                <a:t>有备注的降级（文献规模档、写作风格样本数、想法为诊断级）</a:t>
              </a:r>
            </a:p>
          </p:txBody>
        </p:sp>
        <p:sp>
          <p:nvSpPr>
            <p:cNvPr id="47" name="TextBox 47"/>
            <p:cNvSpPr txBox="1"/>
            <p:nvPr/>
          </p:nvSpPr>
          <p:spPr>
            <a:xfrm>
              <a:off x="7358604" y="3251835"/>
              <a:ext cx="4153692" cy="234696"/>
            </a:xfrm>
            <a:prstGeom prst="rect">
              <a:avLst/>
            </a:prstGeom>
            <a:noFill/>
            <a:ln>
              <a:noFill/>
            </a:ln>
          </p:spPr>
          <p:txBody>
            <a:bodyPr wrap="none" lIns="0" tIns="0" rIns="0" bIns="0" anchor="t" anchorCtr="0">
              <a:spAutoFit/>
            </a:bodyPr>
            <a:lstStyle/>
            <a:p>
              <a:pPr algn="r"/>
              <a:r>
                <a:rPr lang="zh-CN" sz="1200" dirty="0">
                  <a:solidFill>
                    <a:schemeClr val="accent3"/>
                  </a:solidFill>
                  <a:latin typeface="Segoe UI"/>
                  <a:ea typeface="Microsoft YaHei"/>
                  <a:cs typeface="Segoe UI"/>
                </a:rPr>
                <a:t>节点下方：负责该关卡的 Agent 编号（对应系统能力页）</a:t>
              </a:r>
            </a:p>
          </p:txBody>
        </p:sp>
      </p:grpSp>
      <p:grpSp>
        <p:nvGrpSpPr>
          <p:cNvPr id="57" name="Group 57"/>
          <p:cNvGrpSpPr/>
          <p:nvPr/>
        </p:nvGrpSpPr>
        <p:grpSpPr>
          <a:xfrm>
            <a:off x="685800" y="3543300"/>
            <a:ext cx="5295900" cy="2571750"/>
            <a:chOff x="685800" y="3543300"/>
            <a:chExt cx="5295900" cy="2571750"/>
          </a:xfrm>
        </p:grpSpPr>
        <p:sp>
          <p:nvSpPr>
            <p:cNvPr id="49" name="Rectangle 49"/>
            <p:cNvSpPr/>
            <p:nvPr/>
          </p:nvSpPr>
          <p:spPr>
            <a:xfrm>
              <a:off x="685800" y="3543300"/>
              <a:ext cx="5295900" cy="2571750"/>
            </a:xfrm>
            <a:prstGeom prst="rect">
              <a:avLst/>
            </a:prstGeom>
            <a:solidFill>
              <a:schemeClr val="lt2"/>
            </a:solidFill>
            <a:ln>
              <a:noFill/>
            </a:ln>
          </p:spPr>
        </p:sp>
        <p:grpSp>
          <p:nvGrpSpPr>
            <p:cNvPr id="54" name="Group 54"/>
            <p:cNvGrpSpPr/>
            <p:nvPr/>
          </p:nvGrpSpPr>
          <p:grpSpPr>
            <a:xfrm>
              <a:off x="947738" y="3767138"/>
              <a:ext cx="200026" cy="200025"/>
              <a:chOff x="947738" y="3767138"/>
              <a:chExt cx="200026" cy="200025"/>
            </a:xfrm>
          </p:grpSpPr>
          <p:sp>
            <p:nvSpPr>
              <p:cNvPr id="50" name="Freeform 50"/>
              <p:cNvSpPr/>
              <p:nvPr/>
            </p:nvSpPr>
            <p:spPr>
              <a:xfrm>
                <a:off x="969963" y="3767138"/>
                <a:ext cx="88900" cy="88900"/>
              </a:xfrm>
              <a:custGeom>
                <a:avLst/>
                <a:gdLst/>
                <a:ahLst/>
                <a:cxnLst/>
                <a:rect l="l" t="t" r="r" b="b"/>
                <a:pathLst>
                  <a:path w="88900" h="88900">
                    <a:moveTo>
                      <a:pt x="0" y="44450"/>
                    </a:moveTo>
                    <a:cubicBezTo>
                      <a:pt x="0" y="68999"/>
                      <a:pt x="19901" y="88900"/>
                      <a:pt x="44450" y="88900"/>
                    </a:cubicBezTo>
                    <a:cubicBezTo>
                      <a:pt x="68999" y="88900"/>
                      <a:pt x="88900" y="68999"/>
                      <a:pt x="88900" y="44450"/>
                    </a:cubicBezTo>
                    <a:cubicBezTo>
                      <a:pt x="88900" y="19901"/>
                      <a:pt x="68999" y="0"/>
                      <a:pt x="44450" y="0"/>
                    </a:cubicBezTo>
                    <a:cubicBezTo>
                      <a:pt x="19901" y="0"/>
                      <a:pt x="0" y="19901"/>
                      <a:pt x="0" y="44450"/>
                    </a:cubicBezTo>
                  </a:path>
                </a:pathLst>
              </a:custGeom>
              <a:noFill/>
              <a:ln w="19050">
                <a:solidFill>
                  <a:schemeClr val="accent1"/>
                </a:solidFill>
              </a:ln>
            </p:spPr>
          </p:sp>
          <p:sp>
            <p:nvSpPr>
              <p:cNvPr id="51" name="Freeform 51"/>
              <p:cNvSpPr/>
              <p:nvPr/>
            </p:nvSpPr>
            <p:spPr>
              <a:xfrm>
                <a:off x="947738" y="3900488"/>
                <a:ext cx="133350" cy="66675"/>
              </a:xfrm>
              <a:custGeom>
                <a:avLst/>
                <a:gdLst/>
                <a:ahLst/>
                <a:cxnLst/>
                <a:rect l="l" t="t" r="r" b="b"/>
                <a:pathLst>
                  <a:path w="133350" h="66675">
                    <a:moveTo>
                      <a:pt x="0" y="66675"/>
                    </a:moveTo>
                    <a:lnTo>
                      <a:pt x="0" y="44450"/>
                    </a:lnTo>
                    <a:cubicBezTo>
                      <a:pt x="0" y="19901"/>
                      <a:pt x="19901" y="0"/>
                      <a:pt x="44450" y="0"/>
                    </a:cubicBezTo>
                    <a:lnTo>
                      <a:pt x="88900" y="0"/>
                    </a:lnTo>
                    <a:cubicBezTo>
                      <a:pt x="113449" y="0"/>
                      <a:pt x="133350" y="19901"/>
                      <a:pt x="133350" y="44450"/>
                    </a:cubicBezTo>
                    <a:lnTo>
                      <a:pt x="133350" y="66675"/>
                    </a:lnTo>
                  </a:path>
                </a:pathLst>
              </a:custGeom>
              <a:noFill/>
              <a:ln w="19050">
                <a:solidFill>
                  <a:schemeClr val="accent1"/>
                </a:solidFill>
              </a:ln>
            </p:spPr>
          </p:sp>
          <p:sp>
            <p:nvSpPr>
              <p:cNvPr id="52" name="Freeform 52"/>
              <p:cNvSpPr/>
              <p:nvPr/>
            </p:nvSpPr>
            <p:spPr>
              <a:xfrm>
                <a:off x="1092201" y="3768582"/>
                <a:ext cx="33425" cy="86122"/>
              </a:xfrm>
              <a:custGeom>
                <a:avLst/>
                <a:gdLst/>
                <a:ahLst/>
                <a:cxnLst/>
                <a:rect l="l" t="t" r="r" b="b"/>
                <a:pathLst>
                  <a:path w="33425" h="86122">
                    <a:moveTo>
                      <a:pt x="0" y="0"/>
                    </a:moveTo>
                    <a:cubicBezTo>
                      <a:pt x="19668" y="5036"/>
                      <a:pt x="33425" y="22758"/>
                      <a:pt x="33425" y="43061"/>
                    </a:cubicBezTo>
                    <a:cubicBezTo>
                      <a:pt x="33425" y="63364"/>
                      <a:pt x="19668" y="81086"/>
                      <a:pt x="0" y="86122"/>
                    </a:cubicBezTo>
                  </a:path>
                </a:pathLst>
              </a:custGeom>
              <a:noFill/>
              <a:ln w="19050">
                <a:solidFill>
                  <a:schemeClr val="accent1"/>
                </a:solidFill>
              </a:ln>
            </p:spPr>
          </p:sp>
          <p:sp>
            <p:nvSpPr>
              <p:cNvPr id="53" name="Freeform 53"/>
              <p:cNvSpPr/>
              <p:nvPr/>
            </p:nvSpPr>
            <p:spPr>
              <a:xfrm>
                <a:off x="1114426" y="3902155"/>
                <a:ext cx="33338" cy="65008"/>
              </a:xfrm>
              <a:custGeom>
                <a:avLst/>
                <a:gdLst/>
                <a:ahLst/>
                <a:cxnLst/>
                <a:rect l="l" t="t" r="r" b="b"/>
                <a:pathLst>
                  <a:path w="33338" h="65008">
                    <a:moveTo>
                      <a:pt x="33338" y="65008"/>
                    </a:moveTo>
                    <a:lnTo>
                      <a:pt x="33338" y="42783"/>
                    </a:lnTo>
                    <a:cubicBezTo>
                      <a:pt x="33222" y="22609"/>
                      <a:pt x="19534" y="5043"/>
                      <a:pt x="0" y="0"/>
                    </a:cubicBezTo>
                  </a:path>
                </a:pathLst>
              </a:custGeom>
              <a:noFill/>
              <a:ln w="19050">
                <a:solidFill>
                  <a:schemeClr val="accent1"/>
                </a:solidFill>
              </a:ln>
            </p:spPr>
          </p:sp>
        </p:grpSp>
        <p:sp>
          <p:nvSpPr>
            <p:cNvPr id="55" name="TextBox 55"/>
            <p:cNvSpPr txBox="1"/>
            <p:nvPr/>
          </p:nvSpPr>
          <p:spPr>
            <a:xfrm>
              <a:off x="1267206" y="3749040"/>
              <a:ext cx="463622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Segoe UI"/>
                  <a:ea typeface="Microsoft YaHei"/>
                  <a:cs typeface="Segoe UI"/>
                </a:rPr>
                <a:t>需要人确认的节点（正式运行出现 4 次）</a:t>
              </a:r>
            </a:p>
          </p:txBody>
        </p:sp>
        <p:sp>
          <p:nvSpPr>
            <p:cNvPr id="56" name="TextBox 56"/>
            <p:cNvSpPr txBox="1"/>
            <p:nvPr/>
          </p:nvSpPr>
          <p:spPr>
            <a:xfrm>
              <a:off x="907542" y="4197668"/>
              <a:ext cx="4977194" cy="1235583"/>
            </a:xfrm>
            <a:prstGeom prst="rect">
              <a:avLst/>
            </a:prstGeom>
            <a:noFill/>
            <a:ln>
              <a:noFill/>
            </a:ln>
          </p:spPr>
          <p:txBody>
            <a:bodyPr wrap="square" lIns="0" tIns="0" rIns="0" bIns="0" anchor="t" anchorCtr="0"/>
            <a:lstStyle/>
            <a:p>
              <a:pPr algn="l">
                <a:lnSpc>
                  <a:spcPts val="2550"/>
                </a:lnSpc>
              </a:pPr>
              <a:r>
                <a:rPr lang="zh-CN" sz="1350" dirty="0">
                  <a:solidFill>
                    <a:schemeClr val="dk1"/>
                  </a:solidFill>
                  <a:latin typeface="Segoe UI"/>
                  <a:ea typeface="Microsoft YaHei"/>
                  <a:cs typeface="Segoe UI"/>
                </a:rPr>
                <a:t>① 范围草案由人确认（裸主题且范围无实质歧义）</a:t>
              </a:r>
              <a:r>
                <a:rPr lang="zh-CN" sz="1350" dirty="0">
                  <a:solidFill>
                    <a:schemeClr val="dk1"/>
                  </a:solidFill>
                  <a:latin typeface="Segoe UI"/>
                  <a:ea typeface="Microsoft YaHei"/>
                  <a:cs typeface="Segoe UI"/>
                </a:rPr>
                <a:t>② 5 条作者名不匹配三轮未收敛，交人决定后删除</a:t>
              </a:r>
              <a:r>
                <a:rPr lang="zh-CN" sz="1350" dirty="0">
                  <a:solidFill>
                    <a:schemeClr val="dk1"/>
                  </a:solidFill>
                  <a:latin typeface="Segoe UI"/>
                  <a:ea typeface="Microsoft YaHei"/>
                  <a:cs typeface="Segoe UI"/>
                </a:rPr>
                <a:t>③ 贡献结构由人确认：身份谱系、路线—变量—验证矩阵、迁移边界</a:t>
              </a:r>
              <a:r>
                <a:rPr lang="zh-CN" sz="1350" dirty="0">
                  <a:solidFill>
                    <a:schemeClr val="dk1"/>
                  </a:solidFill>
                  <a:latin typeface="Segoe UI"/>
                  <a:ea typeface="Microsoft YaHei"/>
                  <a:cs typeface="Segoe UI"/>
                </a:rPr>
                <a:t>④ 终审由人确认：没有严重问题，且有审稿记录</a:t>
              </a:r>
            </a:p>
          </p:txBody>
        </p:sp>
      </p:grpSp>
      <p:grpSp>
        <p:nvGrpSpPr>
          <p:cNvPr id="64" name="Group 64"/>
          <p:cNvGrpSpPr/>
          <p:nvPr/>
        </p:nvGrpSpPr>
        <p:grpSpPr>
          <a:xfrm>
            <a:off x="6210300" y="3543300"/>
            <a:ext cx="5295900" cy="2632901"/>
            <a:chOff x="6210300" y="3543300"/>
            <a:chExt cx="5295900" cy="2632901"/>
          </a:xfrm>
        </p:grpSpPr>
        <p:sp>
          <p:nvSpPr>
            <p:cNvPr id="58" name="Rectangle 58"/>
            <p:cNvSpPr/>
            <p:nvPr/>
          </p:nvSpPr>
          <p:spPr>
            <a:xfrm>
              <a:off x="6210300" y="3543300"/>
              <a:ext cx="5295900" cy="2571750"/>
            </a:xfrm>
            <a:prstGeom prst="rect">
              <a:avLst/>
            </a:prstGeom>
            <a:solidFill>
              <a:schemeClr val="lt2"/>
            </a:solidFill>
            <a:ln>
              <a:noFill/>
            </a:ln>
          </p:spPr>
        </p:sp>
        <p:grpSp>
          <p:nvGrpSpPr>
            <p:cNvPr id="61" name="Group 61"/>
            <p:cNvGrpSpPr/>
            <p:nvPr/>
          </p:nvGrpSpPr>
          <p:grpSpPr>
            <a:xfrm>
              <a:off x="6457241" y="3767138"/>
              <a:ext cx="217008" cy="200025"/>
              <a:chOff x="6457241" y="3767138"/>
              <a:chExt cx="217008" cy="200025"/>
            </a:xfrm>
          </p:grpSpPr>
          <p:sp>
            <p:nvSpPr>
              <p:cNvPr id="59" name="Freeform 59"/>
              <p:cNvSpPr/>
              <p:nvPr/>
            </p:nvSpPr>
            <p:spPr>
              <a:xfrm>
                <a:off x="6457241" y="3767138"/>
                <a:ext cx="217008" cy="198314"/>
              </a:xfrm>
              <a:custGeom>
                <a:avLst/>
                <a:gdLst/>
                <a:ahLst/>
                <a:cxnLst/>
                <a:rect l="l" t="t" r="r" b="b"/>
                <a:pathLst>
                  <a:path w="217008" h="198314">
                    <a:moveTo>
                      <a:pt x="109009" y="198314"/>
                    </a:moveTo>
                    <a:cubicBezTo>
                      <a:pt x="39394" y="176735"/>
                      <a:pt x="0" y="103262"/>
                      <a:pt x="20553" y="33338"/>
                    </a:cubicBezTo>
                    <a:cubicBezTo>
                      <a:pt x="55175" y="34922"/>
                      <a:pt x="89053" y="22965"/>
                      <a:pt x="115010" y="0"/>
                    </a:cubicBezTo>
                    <a:cubicBezTo>
                      <a:pt x="140967" y="22965"/>
                      <a:pt x="174845" y="34922"/>
                      <a:pt x="209466" y="33338"/>
                    </a:cubicBezTo>
                    <a:cubicBezTo>
                      <a:pt x="217008" y="58998"/>
                      <a:pt x="216660" y="86333"/>
                      <a:pt x="208466" y="111792"/>
                    </a:cubicBezTo>
                  </a:path>
                </a:pathLst>
              </a:custGeom>
              <a:noFill/>
              <a:ln w="19050">
                <a:solidFill>
                  <a:schemeClr val="accent1"/>
                </a:solidFill>
              </a:ln>
            </p:spPr>
          </p:sp>
          <p:sp>
            <p:nvSpPr>
              <p:cNvPr id="60" name="Freeform 60"/>
              <p:cNvSpPr/>
              <p:nvPr/>
            </p:nvSpPr>
            <p:spPr>
              <a:xfrm>
                <a:off x="6605588" y="3922713"/>
                <a:ext cx="66675" cy="44450"/>
              </a:xfrm>
              <a:custGeom>
                <a:avLst/>
                <a:gdLst/>
                <a:ahLst/>
                <a:cxnLst/>
                <a:rect l="l" t="t" r="r" b="b"/>
                <a:pathLst>
                  <a:path w="66675" h="44450">
                    <a:moveTo>
                      <a:pt x="0" y="22225"/>
                    </a:moveTo>
                    <a:lnTo>
                      <a:pt x="22225" y="44450"/>
                    </a:lnTo>
                    <a:lnTo>
                      <a:pt x="66675" y="0"/>
                    </a:lnTo>
                  </a:path>
                </a:pathLst>
              </a:custGeom>
              <a:noFill/>
              <a:ln w="19050">
                <a:solidFill>
                  <a:schemeClr val="accent1"/>
                </a:solidFill>
              </a:ln>
            </p:spPr>
          </p:sp>
        </p:grpSp>
        <p:sp>
          <p:nvSpPr>
            <p:cNvPr id="62" name="TextBox 62"/>
            <p:cNvSpPr txBox="1"/>
            <p:nvPr/>
          </p:nvSpPr>
          <p:spPr>
            <a:xfrm>
              <a:off x="6791706" y="3749040"/>
              <a:ext cx="307147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Segoe UI"/>
                  <a:ea typeface="Microsoft YaHei"/>
                  <a:cs typeface="Segoe UI"/>
                </a:rPr>
                <a:t>对抗审稿：审与做永远分离</a:t>
              </a:r>
            </a:p>
          </p:txBody>
        </p:sp>
        <p:sp>
          <p:nvSpPr>
            <p:cNvPr id="63" name="TextBox 63"/>
            <p:cNvSpPr txBox="1"/>
            <p:nvPr/>
          </p:nvSpPr>
          <p:spPr>
            <a:xfrm>
              <a:off x="6432042" y="4197668"/>
              <a:ext cx="4214241" cy="1978533"/>
            </a:xfrm>
            <a:prstGeom prst="rect">
              <a:avLst/>
            </a:prstGeom>
            <a:noFill/>
            <a:ln>
              <a:noFill/>
            </a:ln>
          </p:spPr>
          <p:txBody>
            <a:bodyPr wrap="square" lIns="0" tIns="0" rIns="0" bIns="0" anchor="t" anchorCtr="0"/>
            <a:lstStyle/>
            <a:p>
              <a:pPr algn="l" marL="145732" indent="-145732">
                <a:lnSpc>
                  <a:spcPts val="1950"/>
                </a:lnSpc>
                <a:buClr>
                  <a:schemeClr val="dk1"/>
                </a:buClr>
                <a:buSzTx/>
                <a:buFontTx/>
                <a:buChar char="•"/>
              </a:pPr>
              <a:r>
                <a:rPr lang="zh-CN" sz="1350" dirty="0">
                  <a:solidFill>
                    <a:schemeClr val="dk1"/>
                  </a:solidFill>
                  <a:latin typeface="Segoe UI"/>
                  <a:ea typeface="Microsoft YaHei"/>
                  <a:cs typeface="Segoe UI"/>
                </a:rPr>
                <a:t>全新上下文的独立 reviewer；先核对引用是否真实，</a:t>
              </a:r>
              <a:r>
                <a:rPr lang="zh-CN" sz="1350" dirty="0">
                  <a:solidFill>
                    <a:schemeClr val="dk1"/>
                  </a:solidFill>
                  <a:latin typeface="Segoe UI"/>
                  <a:ea typeface="Microsoft YaHei"/>
                  <a:cs typeface="Segoe UI"/>
                </a:rPr>
                <a:t>再提出批评</a:t>
              </a:r>
            </a:p>
            <a:p>
              <a:pPr algn="l" marL="145732" indent="-145732">
                <a:lnSpc>
                  <a:spcPts val="1950"/>
                </a:lnSpc>
                <a:spcBef>
                  <a:spcPts val="600"/>
                </a:spcBef>
                <a:buClr>
                  <a:schemeClr val="dk1"/>
                </a:buClr>
                <a:buSzTx/>
                <a:buFontTx/>
                <a:buChar char="•"/>
              </a:pPr>
              <a:r>
                <a:rPr lang="zh-CN" sz="1350" dirty="0">
                  <a:solidFill>
                    <a:schemeClr val="dk1"/>
                  </a:solidFill>
                  <a:latin typeface="Segoe UI"/>
                  <a:ea typeface="Microsoft YaHei"/>
                  <a:cs typeface="Segoe UI"/>
                </a:rPr>
                <a:t>三视角裁决：领域专家 / 方法严谨派 / 期刊编辑</a:t>
              </a:r>
            </a:p>
            <a:p>
              <a:pPr algn="l" marL="145732" indent="-145732">
                <a:lnSpc>
                  <a:spcPts val="1950"/>
                </a:lnSpc>
                <a:spcBef>
                  <a:spcPts val="600"/>
                </a:spcBef>
                <a:buClr>
                  <a:schemeClr val="dk1"/>
                </a:buClr>
                <a:buSzTx/>
                <a:buFontTx/>
                <a:buChar char="•"/>
              </a:pPr>
              <a:r>
                <a:rPr lang="zh-CN" sz="1350" dirty="0">
                  <a:solidFill>
                    <a:schemeClr val="dk1"/>
                  </a:solidFill>
                  <a:latin typeface="Segoe UI"/>
                  <a:ea typeface="Microsoft YaHei"/>
                  <a:cs typeface="Segoe UI"/>
                </a:rPr>
                <a:t>结构化 issue 带 target 阶段，路由回属主返工，</a:t>
              </a:r>
              <a:r>
                <a:rPr lang="zh-CN" sz="1350" dirty="0">
                  <a:solidFill>
                    <a:schemeClr val="dk1"/>
                  </a:solidFill>
                  <a:latin typeface="Segoe UI"/>
                  <a:ea typeface="Microsoft YaHei"/>
                  <a:cs typeface="Segoe UI"/>
                </a:rPr>
                <a:t>上游变更后，下游自动重新检查</a:t>
              </a:r>
            </a:p>
            <a:p>
              <a:pPr algn="l" marL="145732" indent="-145732">
                <a:lnSpc>
                  <a:spcPts val="1950"/>
                </a:lnSpc>
                <a:spcBef>
                  <a:spcPts val="600"/>
                </a:spcBef>
                <a:buClr>
                  <a:schemeClr val="dk1"/>
                </a:buClr>
                <a:buSzTx/>
                <a:buFontTx/>
                <a:buChar char="•"/>
              </a:pPr>
              <a:r>
                <a:rPr lang="zh-CN" sz="1350" dirty="0">
                  <a:solidFill>
                    <a:schemeClr val="dk1"/>
                  </a:solidFill>
                  <a:latin typeface="Segoe UI"/>
                  <a:ea typeface="Microsoft YaHei"/>
                  <a:cs typeface="Segoe UI"/>
                </a:rPr>
                <a:t>同一 issue 三轮未收敛升级人类；没有审稿记录的</a:t>
              </a:r>
              <a:r>
                <a:rPr lang="zh-CN" sz="1350" dirty="0">
                  <a:solidFill>
                    <a:schemeClr val="dk1"/>
                  </a:solidFill>
                  <a:latin typeface="Segoe UI"/>
                  <a:ea typeface="Microsoft YaHei"/>
                  <a:cs typeface="Segoe UI"/>
                </a:rPr>
                <a:t>“通过”不算通过</a:t>
              </a:r>
            </a:p>
          </p:txBody>
        </p:sp>
      </p:grpSp>
      <p:grpSp>
        <p:nvGrpSpPr>
          <p:cNvPr id="67" name="Group 67"/>
          <p:cNvGrpSpPr/>
          <p:nvPr/>
        </p:nvGrpSpPr>
        <p:grpSpPr>
          <a:xfrm>
            <a:off x="679704" y="6480810"/>
            <a:ext cx="10832592" cy="234696"/>
            <a:chOff x="679704" y="6480810"/>
            <a:chExt cx="10832592" cy="234696"/>
          </a:xfrm>
        </p:grpSpPr>
        <p:sp>
          <p:nvSpPr>
            <p:cNvPr id="65" name="TextBox 65"/>
            <p:cNvSpPr txBox="1"/>
            <p:nvPr/>
          </p:nvSpPr>
          <p:spPr>
            <a:xfrm>
              <a:off x="679704" y="6480810"/>
              <a:ext cx="341757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Segoe UI"/>
                  <a:ea typeface="Microsoft YaHei"/>
                  <a:cs typeface="Segoe UI"/>
                </a:rPr>
                <a:t>SAGE-Mat · GOAI 2026 AI for Research 复赛</a:t>
              </a:r>
            </a:p>
          </p:txBody>
        </p:sp>
        <p:sp>
          <p:nvSpPr>
            <p:cNvPr id="66" name="TextBox 66"/>
            <p:cNvSpPr txBox="1"/>
            <p:nvPr/>
          </p:nvSpPr>
          <p:spPr>
            <a:xfrm>
              <a:off x="11047781" y="6480810"/>
              <a:ext cx="464515"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Segoe UI"/>
                  <a:ea typeface="Segoe UI"/>
                  <a:cs typeface="Segoe UI"/>
                </a:rPr>
                <a:t>6 / 13</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70560" y="590550"/>
            <a:ext cx="12195200" cy="586740"/>
            <a:chOff x="670560" y="590550"/>
            <a:chExt cx="12195200" cy="586740"/>
          </a:xfrm>
        </p:grpSpPr>
        <p:sp>
          <p:nvSpPr>
            <p:cNvPr id="2" name="TextBox 2"/>
            <p:cNvSpPr txBox="1"/>
            <p:nvPr/>
          </p:nvSpPr>
          <p:spPr>
            <a:xfrm>
              <a:off x="670560" y="590550"/>
              <a:ext cx="12195200"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Segoe UI"/>
                  <a:ea typeface="Microsoft YaHei"/>
                  <a:cs typeface="Segoe UI"/>
                </a:rPr>
                <a:t>合成方案建模：AI 预测前驱体，合成条件由近邻体系类比推理</a:t>
              </a:r>
            </a:p>
          </p:txBody>
        </p:sp>
        <p:sp>
          <p:nvSpPr>
            <p:cNvPr id="3" name="Rectangle 3"/>
            <p:cNvSpPr/>
            <p:nvPr/>
          </p:nvSpPr>
          <p:spPr>
            <a:xfrm>
              <a:off x="685800" y="1085850"/>
              <a:ext cx="685800" cy="38100"/>
            </a:xfrm>
            <a:prstGeom prst="rect">
              <a:avLst/>
            </a:prstGeom>
            <a:solidFill>
              <a:schemeClr val="accent1"/>
            </a:solidFill>
            <a:ln>
              <a:noFill/>
            </a:ln>
          </p:spPr>
        </p:sp>
      </p:grpSp>
      <p:grpSp>
        <p:nvGrpSpPr>
          <p:cNvPr id="6" name="Group 6"/>
          <p:cNvGrpSpPr/>
          <p:nvPr/>
        </p:nvGrpSpPr>
        <p:grpSpPr>
          <a:xfrm>
            <a:off x="675894" y="1370648"/>
            <a:ext cx="11659362" cy="705231"/>
            <a:chOff x="675894" y="1370648"/>
            <a:chExt cx="11659362" cy="705231"/>
          </a:xfrm>
        </p:grpSpPr>
        <p:sp>
          <p:nvSpPr>
            <p:cNvPr id="5" name="TextBox 5"/>
            <p:cNvSpPr txBox="1"/>
            <p:nvPr/>
          </p:nvSpPr>
          <p:spPr>
            <a:xfrm>
              <a:off x="675894" y="1370648"/>
              <a:ext cx="11659362" cy="705231"/>
            </a:xfrm>
            <a:prstGeom prst="rect">
              <a:avLst/>
            </a:prstGeom>
            <a:noFill/>
            <a:ln>
              <a:noFill/>
            </a:ln>
          </p:spPr>
          <p:txBody>
            <a:bodyPr wrap="square" lIns="0" tIns="0" rIns="0" bIns="0" anchor="t" anchorCtr="0"/>
            <a:lstStyle/>
            <a:p>
              <a:pPr algn="l">
                <a:lnSpc>
                  <a:spcPts val="2550"/>
                </a:lnSpc>
              </a:pPr>
              <a:r>
                <a:rPr lang="zh-CN" sz="1950" dirty="0">
                  <a:solidFill>
                    <a:schemeClr val="dk1"/>
                  </a:solidFill>
                  <a:latin typeface="Segoe UI"/>
                  <a:ea typeface="Microsoft YaHei"/>
                  <a:cs typeface="Segoe UI"/>
                </a:rPr>
                <a:t>前驱体交给 RECIPE：把无机逆合成重述为</a:t>
              </a:r>
              <a:r>
                <a:rPr lang="zh-CN" sz="1950" b="1" dirty="0">
                  <a:solidFill>
                    <a:schemeClr val="accent2"/>
                  </a:solidFill>
                  <a:latin typeface="Segoe UI"/>
                  <a:ea typeface="Microsoft YaHei"/>
                  <a:cs typeface="Segoe UI"/>
                </a:rPr>
                <a:t>变长前驱体集合的排序问题</a:t>
              </a:r>
              <a:r>
                <a:rPr lang="zh-CN" sz="1950" dirty="0">
                  <a:solidFill>
                    <a:schemeClr val="dk1"/>
                  </a:solidFill>
                  <a:latin typeface="Segoe UI"/>
                  <a:ea typeface="Microsoft YaHei"/>
                  <a:cs typeface="Segoe UI"/>
                </a:rPr>
                <a:t>（团队 NeurIPS 2026 投稿）；</a:t>
              </a:r>
              <a:r>
                <a:rPr lang="zh-CN" sz="1950" dirty="0">
                  <a:solidFill>
                    <a:schemeClr val="dk1"/>
                  </a:solidFill>
                  <a:latin typeface="Segoe UI"/>
                  <a:ea typeface="Microsoft YaHei"/>
                  <a:cs typeface="Segoe UI"/>
                </a:rPr>
                <a:t>温度、气氛、助熔剂不由模型臆造，而从结构近邻的实验记录中按证据等级类比，并标出不可迁移的边界。</a:t>
              </a:r>
            </a:p>
          </p:txBody>
        </p:sp>
      </p:grpSp>
      <p:grpSp>
        <p:nvGrpSpPr>
          <p:cNvPr id="10" name="Group 10"/>
          <p:cNvGrpSpPr/>
          <p:nvPr/>
        </p:nvGrpSpPr>
        <p:grpSpPr>
          <a:xfrm>
            <a:off x="679704" y="2038350"/>
            <a:ext cx="5533116" cy="3934206"/>
            <a:chOff x="679704" y="2038350"/>
            <a:chExt cx="5533116" cy="3934206"/>
          </a:xfrm>
        </p:grpSpPr>
        <p:sp>
          <p:nvSpPr>
            <p:cNvPr id="7" name="Rectangle 7"/>
            <p:cNvSpPr/>
            <p:nvPr/>
          </p:nvSpPr>
          <p:spPr>
            <a:xfrm>
              <a:off x="685800" y="2038350"/>
              <a:ext cx="5334000" cy="3638550"/>
            </a:xfrm>
            <a:prstGeom prst="rect">
              <a:avLst/>
            </a:prstGeom>
            <a:solidFill>
              <a:schemeClr val="lt1"/>
            </a:solidFill>
            <a:ln w="9525">
              <a:solidFill>
                <a:schemeClr val="accent4"/>
              </a:solidFill>
            </a:ln>
          </p:spPr>
        </p:sp>
        <p:pic>
          <p:nvPicPr>
            <p:cNvPr id="8" name="Image 8"/>
            <p:cNvPicPr>
              <a:picLocks noChangeAspect="1"/>
            </p:cNvPicPr>
            <p:nvPr/>
          </p:nvPicPr>
          <p:blipFill>
            <a:blip r:embed="rId2"/>
            <a:stretch>
              <a:fillRect/>
            </a:stretch>
          </p:blipFill>
          <p:spPr>
            <a:xfrm>
              <a:off x="726488" y="2076450"/>
              <a:ext cx="5252624" cy="3562350"/>
            </a:xfrm>
            <a:prstGeom prst="rect">
              <a:avLst/>
            </a:prstGeom>
          </p:spPr>
        </p:pic>
        <p:sp>
          <p:nvSpPr>
            <p:cNvPr id="9" name="TextBox 9"/>
            <p:cNvSpPr txBox="1"/>
            <p:nvPr/>
          </p:nvSpPr>
          <p:spPr>
            <a:xfrm>
              <a:off x="679704" y="5737860"/>
              <a:ext cx="5533116" cy="234696"/>
            </a:xfrm>
            <a:prstGeom prst="rect">
              <a:avLst/>
            </a:prstGeom>
            <a:noFill/>
            <a:ln>
              <a:noFill/>
            </a:ln>
          </p:spPr>
          <p:txBody>
            <a:bodyPr wrap="none" lIns="0" tIns="0" rIns="0" bIns="0" anchor="t" anchorCtr="0">
              <a:spAutoFit/>
            </a:bodyPr>
            <a:lstStyle/>
            <a:p>
              <a:pPr algn="l"/>
              <a:r>
                <a:rPr lang="zh-CN" sz="1200" dirty="0">
                  <a:solidFill>
                    <a:schemeClr val="dk2"/>
                  </a:solidFill>
                  <a:latin typeface="Segoe UI"/>
                  <a:ea typeface="Microsoft YaHei"/>
                  <a:cs typeface="Segoe UI"/>
                </a:rPr>
                <a:t>RECIPE 两阶段架构（NeurIPS 2026 投稿图 1）：候选生成 → 候选集合重排</a:t>
              </a:r>
            </a:p>
          </p:txBody>
        </p:sp>
      </p:grpSp>
      <p:grpSp>
        <p:nvGrpSpPr>
          <p:cNvPr id="14" name="Group 14"/>
          <p:cNvGrpSpPr/>
          <p:nvPr/>
        </p:nvGrpSpPr>
        <p:grpSpPr>
          <a:xfrm>
            <a:off x="685800" y="5981700"/>
            <a:ext cx="6168133" cy="457581"/>
            <a:chOff x="685800" y="5981700"/>
            <a:chExt cx="6168133" cy="457581"/>
          </a:xfrm>
        </p:grpSpPr>
        <p:sp>
          <p:nvSpPr>
            <p:cNvPr id="11" name="Rectangle 11"/>
            <p:cNvSpPr/>
            <p:nvPr/>
          </p:nvSpPr>
          <p:spPr>
            <a:xfrm>
              <a:off x="685800" y="5981700"/>
              <a:ext cx="5334000" cy="419100"/>
            </a:xfrm>
            <a:prstGeom prst="rect">
              <a:avLst/>
            </a:prstGeom>
            <a:solidFill>
              <a:schemeClr val="lt2"/>
            </a:solidFill>
            <a:ln>
              <a:noFill/>
            </a:ln>
          </p:spPr>
        </p:sp>
        <p:sp>
          <p:nvSpPr>
            <p:cNvPr id="12" name="TextBox 12"/>
            <p:cNvSpPr txBox="1"/>
            <p:nvPr/>
          </p:nvSpPr>
          <p:spPr>
            <a:xfrm>
              <a:off x="794004" y="6023610"/>
              <a:ext cx="6059929" cy="234696"/>
            </a:xfrm>
            <a:prstGeom prst="rect">
              <a:avLst/>
            </a:prstGeom>
            <a:noFill/>
            <a:ln>
              <a:noFill/>
            </a:ln>
          </p:spPr>
          <p:txBody>
            <a:bodyPr wrap="none" lIns="0" tIns="0" rIns="0" bIns="0" anchor="t" anchorCtr="0">
              <a:spAutoFit/>
            </a:bodyPr>
            <a:lstStyle/>
            <a:p>
              <a:pPr algn="l"/>
              <a:r>
                <a:rPr lang="zh-CN" sz="1200" dirty="0">
                  <a:solidFill>
                    <a:schemeClr val="dk2"/>
                  </a:solidFill>
                  <a:latin typeface="Segoe UI"/>
                  <a:ea typeface="Microsoft YaHei"/>
                  <a:cs typeface="Segoe UI"/>
                </a:rPr>
                <a:t>Retro 留出测试集 2,558 条（RECIPE / Retrieval-Retro，checkpoint 评测汇总）</a:t>
              </a:r>
            </a:p>
          </p:txBody>
        </p:sp>
        <p:sp>
          <p:nvSpPr>
            <p:cNvPr id="13" name="TextBox 13"/>
            <p:cNvSpPr txBox="1"/>
            <p:nvPr/>
          </p:nvSpPr>
          <p:spPr>
            <a:xfrm>
              <a:off x="794004" y="6204585"/>
              <a:ext cx="563458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Segoe UI"/>
                  <a:ea typeface="Segoe UI"/>
                  <a:cs typeface="Segoe UI"/>
                </a:rPr>
                <a:t xml:space="preserve">Combo@1 </a:t>
              </a:r>
              <a:r>
                <a:rPr lang="en-US" sz="1200" b="1" dirty="0">
                  <a:solidFill>
                    <a:schemeClr val="accent1"/>
                  </a:solidFill>
                  <a:latin typeface="Segoe UI"/>
                  <a:ea typeface="Segoe UI"/>
                  <a:cs typeface="Segoe UI"/>
                </a:rPr>
                <a:t>71.81</a:t>
              </a:r>
              <a:r>
                <a:rPr lang="en-US" sz="1200" dirty="0">
                  <a:solidFill>
                    <a:schemeClr val="dk1"/>
                  </a:solidFill>
                  <a:latin typeface="Segoe UI"/>
                  <a:ea typeface="Segoe UI"/>
                  <a:cs typeface="Segoe UI"/>
                </a:rPr>
                <a:t xml:space="preserve"> / 60.40 · Combo@20 </a:t>
              </a:r>
              <a:r>
                <a:rPr lang="en-US" sz="1200" b="1" dirty="0">
                  <a:solidFill>
                    <a:schemeClr val="accent1"/>
                  </a:solidFill>
                  <a:latin typeface="Segoe UI"/>
                  <a:ea typeface="Segoe UI"/>
                  <a:cs typeface="Segoe UI"/>
                </a:rPr>
                <a:t>89.21</a:t>
              </a:r>
              <a:r>
                <a:rPr lang="en-US" sz="1200" dirty="0">
                  <a:solidFill>
                    <a:schemeClr val="dk1"/>
                  </a:solidFill>
                  <a:latin typeface="Segoe UI"/>
                  <a:ea typeface="Segoe UI"/>
                  <a:cs typeface="Segoe UI"/>
                </a:rPr>
                <a:t xml:space="preserve"> / 69.00 · MRR </a:t>
              </a:r>
              <a:r>
                <a:rPr lang="en-US" sz="1200" b="1" dirty="0">
                  <a:solidFill>
                    <a:schemeClr val="accent1"/>
                  </a:solidFill>
                  <a:latin typeface="Segoe UI"/>
                  <a:ea typeface="Segoe UI"/>
                  <a:cs typeface="Segoe UI"/>
                </a:rPr>
                <a:t>77.48</a:t>
              </a:r>
              <a:r>
                <a:rPr lang="en-US" sz="1200" dirty="0">
                  <a:solidFill>
                    <a:schemeClr val="dk1"/>
                  </a:solidFill>
                  <a:latin typeface="Segoe UI"/>
                  <a:ea typeface="Segoe UI"/>
                  <a:cs typeface="Segoe UI"/>
                </a:rPr>
                <a:t xml:space="preserve"> / 63.29</a:t>
              </a:r>
            </a:p>
          </p:txBody>
        </p:sp>
      </p:grpSp>
      <p:grpSp>
        <p:nvGrpSpPr>
          <p:cNvPr id="18" name="Group 18"/>
          <p:cNvGrpSpPr/>
          <p:nvPr/>
        </p:nvGrpSpPr>
        <p:grpSpPr>
          <a:xfrm>
            <a:off x="6324600" y="2038350"/>
            <a:ext cx="5018913" cy="1619250"/>
            <a:chOff x="6324600" y="2038350"/>
            <a:chExt cx="5018913" cy="1619250"/>
          </a:xfrm>
        </p:grpSpPr>
        <p:sp>
          <p:nvSpPr>
            <p:cNvPr id="15" name="Rectangle 15"/>
            <p:cNvSpPr/>
            <p:nvPr/>
          </p:nvSpPr>
          <p:spPr>
            <a:xfrm>
              <a:off x="6324600" y="2038350"/>
              <a:ext cx="57150" cy="1619250"/>
            </a:xfrm>
            <a:prstGeom prst="rect">
              <a:avLst/>
            </a:prstGeom>
            <a:solidFill>
              <a:schemeClr val="accent1"/>
            </a:solidFill>
            <a:ln>
              <a:noFill/>
            </a:ln>
          </p:spPr>
        </p:sp>
        <p:sp>
          <p:nvSpPr>
            <p:cNvPr id="16" name="TextBox 16"/>
            <p:cNvSpPr txBox="1"/>
            <p:nvPr/>
          </p:nvSpPr>
          <p:spPr>
            <a:xfrm>
              <a:off x="6544056" y="2091690"/>
              <a:ext cx="251844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Segoe UI"/>
                  <a:ea typeface="Microsoft YaHei"/>
                  <a:cs typeface="Segoe UI"/>
                </a:rPr>
                <a:t>① 前驱体：让 AI 预测</a:t>
              </a:r>
            </a:p>
          </p:txBody>
        </p:sp>
        <p:sp>
          <p:nvSpPr>
            <p:cNvPr id="17" name="TextBox 17"/>
            <p:cNvSpPr txBox="1"/>
            <p:nvPr/>
          </p:nvSpPr>
          <p:spPr>
            <a:xfrm>
              <a:off x="6546342" y="2464118"/>
              <a:ext cx="4797171" cy="108318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Segoe UI"/>
                  <a:ea typeface="Microsoft YaHei"/>
                  <a:cs typeface="Segoe UI"/>
                </a:rPr>
                <a:t>Top-30 候选池 → 2–5 元集合枚举 → 学习到的集合重排 Top-K；</a:t>
              </a:r>
              <a:r>
                <a:rPr lang="zh-CN" sz="1350" dirty="0">
                  <a:solidFill>
                    <a:schemeClr val="dk1"/>
                  </a:solidFill>
                  <a:latin typeface="Segoe UI"/>
                  <a:ea typeface="Microsoft YaHei"/>
                  <a:cs typeface="Segoe UI"/>
                </a:rPr>
                <a:t>每条路线附分数与校验值，标注“模型候选、未经实验验证”</a:t>
              </a:r>
            </a:p>
            <a:p>
              <a:pPr algn="l">
                <a:lnSpc>
                  <a:spcPts val="1950"/>
                </a:lnSpc>
                <a:spcBef>
                  <a:spcPts val="600"/>
                </a:spcBef>
              </a:pPr>
              <a:r>
                <a:rPr lang="zh-CN" sz="1350" b="1" dirty="0">
                  <a:solidFill>
                    <a:schemeClr val="dk1"/>
                  </a:solidFill>
                  <a:latin typeface="Segoe UI"/>
                  <a:ea typeface="Microsoft YaHei"/>
                  <a:cs typeface="Segoe UI"/>
                </a:rPr>
                <a:t>Zn 目标 Top-1</a:t>
              </a:r>
              <a:r>
                <a:rPr lang="en-US" sz="1350" dirty="0">
                  <a:solidFill>
                    <a:schemeClr val="dk1"/>
                  </a:solidFill>
                  <a:latin typeface="Segoe UI"/>
                  <a:ea typeface="Segoe UI"/>
                  <a:cs typeface="Segoe UI"/>
                </a:rPr>
                <a:t xml:space="preserve"> ZnO + Y2O3 + SiO2 + BaCO3 · </a:t>
              </a:r>
              <a:r>
                <a:rPr lang="en-US" sz="1350" b="1" dirty="0">
                  <a:solidFill>
                    <a:schemeClr val="accent2"/>
                  </a:solidFill>
                  <a:latin typeface="Segoe UI"/>
                  <a:ea typeface="Segoe UI"/>
                  <a:cs typeface="Segoe UI"/>
                </a:rPr>
                <a:t xml:space="preserve">0.594 </a:t>
              </a:r>
              <a:r>
                <a:rPr lang="zh-CN" sz="1350" b="1" dirty="0">
                  <a:solidFill>
                    <a:schemeClr val="dk1"/>
                  </a:solidFill>
                  <a:latin typeface="Segoe UI"/>
                  <a:ea typeface="Microsoft YaHei"/>
                  <a:cs typeface="Segoe UI"/>
                </a:rPr>
                <a:t>Mg / Co 类比</a:t>
              </a:r>
              <a:r>
                <a:rPr lang="zh-CN" sz="1350" dirty="0">
                  <a:solidFill>
                    <a:schemeClr val="dk1"/>
                  </a:solidFill>
                  <a:latin typeface="Segoe UI"/>
                  <a:ea typeface="Microsoft YaHei"/>
                  <a:cs typeface="Segoe UI"/>
                </a:rPr>
                <a:t xml:space="preserve"> MgO · Co3O4 分别为首选 Zn 位替代源</a:t>
              </a:r>
            </a:p>
          </p:txBody>
        </p:sp>
      </p:grpSp>
      <p:grpSp>
        <p:nvGrpSpPr>
          <p:cNvPr id="22" name="Group 22"/>
          <p:cNvGrpSpPr/>
          <p:nvPr/>
        </p:nvGrpSpPr>
        <p:grpSpPr>
          <a:xfrm>
            <a:off x="6324600" y="3848100"/>
            <a:ext cx="5661850" cy="2514600"/>
            <a:chOff x="6324600" y="3848100"/>
            <a:chExt cx="5661850" cy="2514600"/>
          </a:xfrm>
        </p:grpSpPr>
        <p:sp>
          <p:nvSpPr>
            <p:cNvPr id="19" name="Rectangle 19"/>
            <p:cNvSpPr/>
            <p:nvPr/>
          </p:nvSpPr>
          <p:spPr>
            <a:xfrm>
              <a:off x="6324600" y="3848100"/>
              <a:ext cx="57150" cy="2514600"/>
            </a:xfrm>
            <a:prstGeom prst="rect">
              <a:avLst/>
            </a:prstGeom>
            <a:solidFill>
              <a:schemeClr val="accent2"/>
            </a:solidFill>
            <a:ln>
              <a:noFill/>
            </a:ln>
          </p:spPr>
        </p:sp>
        <p:sp>
          <p:nvSpPr>
            <p:cNvPr id="20" name="TextBox 20"/>
            <p:cNvSpPr txBox="1"/>
            <p:nvPr/>
          </p:nvSpPr>
          <p:spPr>
            <a:xfrm>
              <a:off x="6544056" y="3901440"/>
              <a:ext cx="35421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Segoe UI"/>
                  <a:ea typeface="Microsoft YaHei"/>
                  <a:cs typeface="Segoe UI"/>
                </a:rPr>
                <a:t>② 合成条件：近邻体系类比推理</a:t>
              </a:r>
            </a:p>
          </p:txBody>
        </p:sp>
        <p:sp>
          <p:nvSpPr>
            <p:cNvPr id="21" name="TextBox 21"/>
            <p:cNvSpPr txBox="1"/>
            <p:nvPr/>
          </p:nvSpPr>
          <p:spPr>
            <a:xfrm>
              <a:off x="6546342" y="4273868"/>
              <a:ext cx="5440108" cy="1730883"/>
            </a:xfrm>
            <a:prstGeom prst="rect">
              <a:avLst/>
            </a:prstGeom>
            <a:noFill/>
            <a:ln>
              <a:noFill/>
            </a:ln>
          </p:spPr>
          <p:txBody>
            <a:bodyPr wrap="square" lIns="0" tIns="0" rIns="0" bIns="0" anchor="t" anchorCtr="0"/>
            <a:lstStyle/>
            <a:p>
              <a:pPr algn="l">
                <a:lnSpc>
                  <a:spcPts val="1950"/>
                </a:lnSpc>
              </a:pPr>
              <a:r>
                <a:rPr lang="zh-CN" sz="1350" b="1" dirty="0">
                  <a:solidFill>
                    <a:schemeClr val="dk1"/>
                  </a:solidFill>
                  <a:latin typeface="Segoe UI"/>
                  <a:ea typeface="Microsoft YaHei"/>
                  <a:cs typeface="Segoe UI"/>
                </a:rPr>
                <a:t>固相成相</a:t>
              </a:r>
              <a:r>
                <a:rPr lang="zh-CN" sz="1350" dirty="0">
                  <a:solidFill>
                    <a:schemeClr val="dk1"/>
                  </a:solidFill>
                  <a:latin typeface="Segoe UI"/>
                  <a:ea typeface="Microsoft YaHei"/>
                  <a:cs typeface="Segoe UI"/>
                </a:rPr>
                <a:t xml:space="preserve"> 1300 °C 预烧 → 1600 °C 烧成（Ba–Y–Si–O 陶瓷系列）</a:t>
              </a:r>
            </a:p>
            <a:p>
              <a:pPr algn="l">
                <a:lnSpc>
                  <a:spcPts val="1950"/>
                </a:lnSpc>
                <a:spcBef>
                  <a:spcPts val="150"/>
                </a:spcBef>
              </a:pPr>
              <a:r>
                <a:rPr lang="zh-CN" sz="1350" b="1" dirty="0">
                  <a:solidFill>
                    <a:schemeClr val="dk1"/>
                  </a:solidFill>
                  <a:latin typeface="Segoe UI"/>
                  <a:ea typeface="Microsoft YaHei"/>
                  <a:cs typeface="Segoe UI"/>
                </a:rPr>
                <a:t>助熔生长</a:t>
              </a:r>
              <a:r>
                <a:rPr lang="zh-CN" sz="1350" dirty="0">
                  <a:solidFill>
                    <a:schemeClr val="dk1"/>
                  </a:solidFill>
                  <a:latin typeface="Segoe UI"/>
                  <a:ea typeface="Microsoft YaHei"/>
                  <a:cs typeface="Segoe UI"/>
                </a:rPr>
                <a:t xml:space="preserve"> MoO3 助熔 · Pt 坩埚 · 1150 °C · 2 K/h 慢冷（同谱系单晶）</a:t>
              </a:r>
            </a:p>
            <a:p>
              <a:pPr algn="l">
                <a:lnSpc>
                  <a:spcPts val="1950"/>
                </a:lnSpc>
                <a:spcBef>
                  <a:spcPts val="150"/>
                </a:spcBef>
              </a:pPr>
              <a:r>
                <a:rPr lang="zh-CN" sz="1350" b="1" dirty="0">
                  <a:solidFill>
                    <a:schemeClr val="dk1"/>
                  </a:solidFill>
                  <a:latin typeface="Segoe UI"/>
                  <a:ea typeface="Microsoft YaHei"/>
                  <a:cs typeface="Segoe UI"/>
                </a:rPr>
                <a:t>相场筛查</a:t>
              </a:r>
              <a:r>
                <a:rPr lang="zh-CN" sz="1350" dirty="0">
                  <a:solidFill>
                    <a:schemeClr val="dk1"/>
                  </a:solidFill>
                  <a:latin typeface="Segoe UI"/>
                  <a:ea typeface="Microsoft YaHei"/>
                  <a:cs typeface="Segoe UI"/>
                </a:rPr>
                <a:t xml:space="preserve"> 1273 K 预烧 + 1573 K 三次退火（粉体相场研究）</a:t>
              </a:r>
            </a:p>
            <a:p>
              <a:pPr algn="l">
                <a:lnSpc>
                  <a:spcPts val="1950"/>
                </a:lnSpc>
                <a:spcBef>
                  <a:spcPts val="750"/>
                </a:spcBef>
              </a:pPr>
              <a:r>
                <a:rPr lang="zh-CN" sz="1350" b="1" dirty="0">
                  <a:solidFill>
                    <a:schemeClr val="accent2"/>
                  </a:solidFill>
                  <a:latin typeface="Segoe UI"/>
                  <a:ea typeface="Microsoft YaHei"/>
                  <a:cs typeface="Segoe UI"/>
                </a:rPr>
                <a:t>边界</a:t>
              </a:r>
              <a:r>
                <a:rPr lang="zh-CN" sz="1350" dirty="0">
                  <a:solidFill>
                    <a:schemeClr val="dk1"/>
                  </a:solidFill>
                  <a:latin typeface="Segoe UI"/>
                  <a:ea typeface="Microsoft YaHei"/>
                  <a:cs typeface="Segoe UI"/>
                </a:rPr>
                <a:t xml:space="preserve"> 以上数值来自无 Zn 谱系，不得无条件迁移到含 Zn 目标，</a:t>
              </a:r>
              <a:r>
                <a:rPr lang="zh-CN" sz="1350" dirty="0">
                  <a:solidFill>
                    <a:schemeClr val="dk1"/>
                  </a:solidFill>
                  <a:latin typeface="Segoe UI"/>
                  <a:ea typeface="Microsoft YaHei"/>
                  <a:cs typeface="Segoe UI"/>
                </a:rPr>
                <a:t>因此第一步实验是目标组成附近的局部相图</a:t>
              </a:r>
            </a:p>
            <a:p>
              <a:pPr algn="l">
                <a:lnSpc>
                  <a:spcPts val="1950"/>
                </a:lnSpc>
                <a:spcBef>
                  <a:spcPts val="750"/>
                </a:spcBef>
              </a:pPr>
              <a:r>
                <a:rPr lang="zh-CN" sz="1350" b="1" dirty="0">
                  <a:solidFill>
                    <a:schemeClr val="accent1"/>
                  </a:solidFill>
                  <a:latin typeface="Segoe UI"/>
                  <a:ea typeface="Microsoft YaHei"/>
                  <a:cs typeface="Segoe UI"/>
                </a:rPr>
                <a:t>方案</a:t>
              </a:r>
              <a:r>
                <a:rPr lang="zh-CN" sz="1350" dirty="0">
                  <a:solidFill>
                    <a:schemeClr val="dk1"/>
                  </a:solidFill>
                  <a:latin typeface="Segoe UI"/>
                  <a:ea typeface="Microsoft YaHei"/>
                  <a:cs typeface="Segoe UI"/>
                </a:rPr>
                <a:t xml:space="preserve"> = 前驱体 + 条件 + 表征（PXRD / 单晶 / EDS）+ 失败判据</a:t>
              </a:r>
            </a:p>
          </p:txBody>
        </p:sp>
      </p:grpSp>
      <p:grpSp>
        <p:nvGrpSpPr>
          <p:cNvPr id="25" name="Group 25"/>
          <p:cNvGrpSpPr/>
          <p:nvPr/>
        </p:nvGrpSpPr>
        <p:grpSpPr>
          <a:xfrm>
            <a:off x="679704" y="6480810"/>
            <a:ext cx="10832592" cy="234696"/>
            <a:chOff x="679704" y="6480810"/>
            <a:chExt cx="10832592" cy="234696"/>
          </a:xfrm>
        </p:grpSpPr>
        <p:sp>
          <p:nvSpPr>
            <p:cNvPr id="23" name="TextBox 23"/>
            <p:cNvSpPr txBox="1"/>
            <p:nvPr/>
          </p:nvSpPr>
          <p:spPr>
            <a:xfrm>
              <a:off x="679704" y="6480810"/>
              <a:ext cx="341757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Segoe UI"/>
                  <a:ea typeface="Microsoft YaHei"/>
                  <a:cs typeface="Segoe UI"/>
                </a:rPr>
                <a:t>SAGE-Mat · GOAI 2026 AI for Research 复赛</a:t>
              </a:r>
            </a:p>
          </p:txBody>
        </p:sp>
        <p:sp>
          <p:nvSpPr>
            <p:cNvPr id="24" name="TextBox 24"/>
            <p:cNvSpPr txBox="1"/>
            <p:nvPr/>
          </p:nvSpPr>
          <p:spPr>
            <a:xfrm>
              <a:off x="11047781" y="6480810"/>
              <a:ext cx="464515"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Segoe UI"/>
                  <a:ea typeface="Segoe UI"/>
                  <a:cs typeface="Segoe UI"/>
                </a:rPr>
                <a:t>7 / 13</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70560" y="590550"/>
            <a:ext cx="11204277" cy="586740"/>
            <a:chOff x="670560" y="590550"/>
            <a:chExt cx="11204277" cy="586740"/>
          </a:xfrm>
        </p:grpSpPr>
        <p:sp>
          <p:nvSpPr>
            <p:cNvPr id="2" name="TextBox 2"/>
            <p:cNvSpPr txBox="1"/>
            <p:nvPr/>
          </p:nvSpPr>
          <p:spPr>
            <a:xfrm>
              <a:off x="670560" y="590550"/>
              <a:ext cx="11204277"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Segoe UI"/>
                  <a:ea typeface="Microsoft YaHei"/>
                  <a:cs typeface="Segoe UI"/>
                </a:rPr>
                <a:t>纯主题冷启动：51 篇文献全部核验、100 条结论全部可追溯</a:t>
              </a:r>
            </a:p>
          </p:txBody>
        </p:sp>
        <p:sp>
          <p:nvSpPr>
            <p:cNvPr id="3" name="Rectangle 3"/>
            <p:cNvSpPr/>
            <p:nvPr/>
          </p:nvSpPr>
          <p:spPr>
            <a:xfrm>
              <a:off x="685800" y="1085850"/>
              <a:ext cx="685800" cy="38100"/>
            </a:xfrm>
            <a:prstGeom prst="rect">
              <a:avLst/>
            </a:prstGeom>
            <a:solidFill>
              <a:schemeClr val="accent1"/>
            </a:solidFill>
            <a:ln>
              <a:noFill/>
            </a:ln>
          </p:spPr>
        </p:sp>
      </p:grpSp>
      <p:grpSp>
        <p:nvGrpSpPr>
          <p:cNvPr id="6" name="Group 6"/>
          <p:cNvGrpSpPr/>
          <p:nvPr/>
        </p:nvGrpSpPr>
        <p:grpSpPr>
          <a:xfrm>
            <a:off x="675894" y="1370648"/>
            <a:ext cx="9881235" cy="743331"/>
            <a:chOff x="675894" y="1370648"/>
            <a:chExt cx="9881235" cy="743331"/>
          </a:xfrm>
        </p:grpSpPr>
        <p:sp>
          <p:nvSpPr>
            <p:cNvPr id="5" name="TextBox 5"/>
            <p:cNvSpPr txBox="1"/>
            <p:nvPr/>
          </p:nvSpPr>
          <p:spPr>
            <a:xfrm>
              <a:off x="675894" y="1370648"/>
              <a:ext cx="9881235" cy="743331"/>
            </a:xfrm>
            <a:prstGeom prst="rect">
              <a:avLst/>
            </a:prstGeom>
            <a:noFill/>
            <a:ln>
              <a:noFill/>
            </a:ln>
          </p:spPr>
          <p:txBody>
            <a:bodyPr wrap="square" lIns="0" tIns="0" rIns="0" bIns="0" anchor="t" anchorCtr="0"/>
            <a:lstStyle/>
            <a:p>
              <a:pPr algn="l">
                <a:lnSpc>
                  <a:spcPts val="2850"/>
                </a:lnSpc>
              </a:pPr>
              <a:r>
                <a:rPr lang="zh-CN" sz="1950" dirty="0">
                  <a:solidFill>
                    <a:schemeClr val="dk1"/>
                  </a:solidFill>
                  <a:latin typeface="Segoe UI"/>
                  <a:ea typeface="Microsoft YaHei"/>
                  <a:cs typeface="Segoe UI"/>
                </a:rPr>
                <a:t>唯一输入是一行主题“Ba5Y12Zn[O(SiO4)]8 及其结构相近化合物的合成条件”；</a:t>
              </a:r>
              <a:r>
                <a:rPr lang="zh-CN" sz="1950" dirty="0">
                  <a:solidFill>
                    <a:schemeClr val="dk1"/>
                  </a:solidFill>
                  <a:latin typeface="Segoe UI"/>
                  <a:ea typeface="Microsoft YaHei"/>
                  <a:cs typeface="Segoe UI"/>
                </a:rPr>
                <a:t xml:space="preserve">在需要人确认的节点续跑后交出 20 页综述，再按材料专家 8 条意见修订为 </a:t>
              </a:r>
              <a:r>
                <a:rPr lang="zh-CN" sz="1950" b="1" dirty="0">
                  <a:solidFill>
                    <a:schemeClr val="accent2"/>
                  </a:solidFill>
                  <a:latin typeface="Segoe UI"/>
                  <a:ea typeface="Microsoft YaHei"/>
                  <a:cs typeface="Segoe UI"/>
                </a:rPr>
                <a:t>23 页正式稿</a:t>
              </a:r>
              <a:r>
                <a:rPr lang="zh-CN" sz="1950" dirty="0">
                  <a:solidFill>
                    <a:schemeClr val="dk1"/>
                  </a:solidFill>
                  <a:latin typeface="Segoe UI"/>
                  <a:ea typeface="Microsoft YaHei"/>
                  <a:cs typeface="Segoe UI"/>
                </a:rPr>
                <a:t>。</a:t>
              </a:r>
            </a:p>
          </p:txBody>
        </p:sp>
      </p:grpSp>
      <p:grpSp>
        <p:nvGrpSpPr>
          <p:cNvPr id="11" name="Group 11"/>
          <p:cNvGrpSpPr/>
          <p:nvPr/>
        </p:nvGrpSpPr>
        <p:grpSpPr>
          <a:xfrm>
            <a:off x="685800" y="2247900"/>
            <a:ext cx="2590800" cy="1085850"/>
            <a:chOff x="685800" y="2247900"/>
            <a:chExt cx="2590800" cy="1085850"/>
          </a:xfrm>
        </p:grpSpPr>
        <p:sp>
          <p:nvSpPr>
            <p:cNvPr id="7" name="Rectangle 7"/>
            <p:cNvSpPr/>
            <p:nvPr/>
          </p:nvSpPr>
          <p:spPr>
            <a:xfrm>
              <a:off x="685800" y="2247900"/>
              <a:ext cx="2590800" cy="1085850"/>
            </a:xfrm>
            <a:prstGeom prst="rect">
              <a:avLst/>
            </a:prstGeom>
            <a:solidFill>
              <a:schemeClr val="lt2"/>
            </a:solidFill>
            <a:ln>
              <a:noFill/>
            </a:ln>
          </p:spPr>
        </p:sp>
        <p:sp>
          <p:nvSpPr>
            <p:cNvPr id="8" name="Rectangle 8"/>
            <p:cNvSpPr/>
            <p:nvPr/>
          </p:nvSpPr>
          <p:spPr>
            <a:xfrm>
              <a:off x="685800" y="2247900"/>
              <a:ext cx="2590800" cy="38100"/>
            </a:xfrm>
            <a:prstGeom prst="rect">
              <a:avLst/>
            </a:prstGeom>
            <a:solidFill>
              <a:schemeClr val="accent1"/>
            </a:solidFill>
            <a:ln>
              <a:noFill/>
            </a:ln>
          </p:spPr>
        </p:sp>
        <p:sp>
          <p:nvSpPr>
            <p:cNvPr id="9" name="TextBox 9"/>
            <p:cNvSpPr txBox="1"/>
            <p:nvPr/>
          </p:nvSpPr>
          <p:spPr>
            <a:xfrm>
              <a:off x="857250" y="2404110"/>
              <a:ext cx="2026909" cy="819150"/>
            </a:xfrm>
            <a:prstGeom prst="rect">
              <a:avLst/>
            </a:prstGeom>
            <a:noFill/>
            <a:ln>
              <a:noFill/>
            </a:ln>
          </p:spPr>
          <p:txBody>
            <a:bodyPr wrap="none" lIns="0" tIns="0" rIns="0" bIns="0" anchor="t" anchorCtr="0">
              <a:spAutoFit/>
            </a:bodyPr>
            <a:lstStyle/>
            <a:p>
              <a:pPr algn="l"/>
              <a:r>
                <a:rPr lang="en-US" sz="4200" b="1" dirty="0">
                  <a:solidFill>
                    <a:schemeClr val="accent1"/>
                  </a:solidFill>
                  <a:latin typeface="Segoe UI"/>
                  <a:ea typeface="Segoe UI"/>
                  <a:cs typeface="Segoe UI"/>
                </a:rPr>
                <a:t>51 / 51</a:t>
              </a:r>
            </a:p>
          </p:txBody>
        </p:sp>
        <p:sp>
          <p:nvSpPr>
            <p:cNvPr id="10" name="TextBox 10"/>
            <p:cNvSpPr txBox="1"/>
            <p:nvPr/>
          </p:nvSpPr>
          <p:spPr>
            <a:xfrm>
              <a:off x="869442" y="3016568"/>
              <a:ext cx="1831086"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参考文献逐条核对通过</a:t>
              </a:r>
            </a:p>
          </p:txBody>
        </p:sp>
      </p:grpSp>
      <p:grpSp>
        <p:nvGrpSpPr>
          <p:cNvPr id="16" name="Group 16"/>
          <p:cNvGrpSpPr/>
          <p:nvPr/>
        </p:nvGrpSpPr>
        <p:grpSpPr>
          <a:xfrm>
            <a:off x="3429000" y="2247900"/>
            <a:ext cx="2590800" cy="1085850"/>
            <a:chOff x="3429000" y="2247900"/>
            <a:chExt cx="2590800" cy="1085850"/>
          </a:xfrm>
        </p:grpSpPr>
        <p:sp>
          <p:nvSpPr>
            <p:cNvPr id="12" name="Rectangle 12"/>
            <p:cNvSpPr/>
            <p:nvPr/>
          </p:nvSpPr>
          <p:spPr>
            <a:xfrm>
              <a:off x="3429000" y="2247900"/>
              <a:ext cx="2590800" cy="1085850"/>
            </a:xfrm>
            <a:prstGeom prst="rect">
              <a:avLst/>
            </a:prstGeom>
            <a:solidFill>
              <a:schemeClr val="lt2"/>
            </a:solidFill>
            <a:ln>
              <a:noFill/>
            </a:ln>
          </p:spPr>
        </p:sp>
        <p:sp>
          <p:nvSpPr>
            <p:cNvPr id="13" name="Rectangle 13"/>
            <p:cNvSpPr/>
            <p:nvPr/>
          </p:nvSpPr>
          <p:spPr>
            <a:xfrm>
              <a:off x="3429000" y="2247900"/>
              <a:ext cx="2590800" cy="38100"/>
            </a:xfrm>
            <a:prstGeom prst="rect">
              <a:avLst/>
            </a:prstGeom>
            <a:solidFill>
              <a:schemeClr val="accent1"/>
            </a:solidFill>
            <a:ln>
              <a:noFill/>
            </a:ln>
          </p:spPr>
        </p:sp>
        <p:sp>
          <p:nvSpPr>
            <p:cNvPr id="14" name="TextBox 14"/>
            <p:cNvSpPr txBox="1"/>
            <p:nvPr/>
          </p:nvSpPr>
          <p:spPr>
            <a:xfrm>
              <a:off x="3600450" y="2404110"/>
              <a:ext cx="1017662" cy="819150"/>
            </a:xfrm>
            <a:prstGeom prst="rect">
              <a:avLst/>
            </a:prstGeom>
            <a:noFill/>
            <a:ln>
              <a:noFill/>
            </a:ln>
          </p:spPr>
          <p:txBody>
            <a:bodyPr wrap="none" lIns="0" tIns="0" rIns="0" bIns="0" anchor="t" anchorCtr="0">
              <a:spAutoFit/>
            </a:bodyPr>
            <a:lstStyle/>
            <a:p>
              <a:pPr algn="l"/>
              <a:r>
                <a:rPr lang="en-US" sz="4200" b="1" dirty="0">
                  <a:solidFill>
                    <a:schemeClr val="accent1"/>
                  </a:solidFill>
                  <a:latin typeface="Segoe UI"/>
                  <a:ea typeface="Segoe UI"/>
                  <a:cs typeface="Segoe UI"/>
                </a:rPr>
                <a:t>219</a:t>
              </a:r>
            </a:p>
          </p:txBody>
        </p:sp>
        <p:sp>
          <p:nvSpPr>
            <p:cNvPr id="15" name="TextBox 15"/>
            <p:cNvSpPr txBox="1"/>
            <p:nvPr/>
          </p:nvSpPr>
          <p:spPr>
            <a:xfrm>
              <a:off x="3612642" y="3016568"/>
              <a:ext cx="1776565"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次引用，整合率 100%</a:t>
              </a:r>
            </a:p>
          </p:txBody>
        </p:sp>
      </p:grpSp>
      <p:grpSp>
        <p:nvGrpSpPr>
          <p:cNvPr id="21" name="Group 21"/>
          <p:cNvGrpSpPr/>
          <p:nvPr/>
        </p:nvGrpSpPr>
        <p:grpSpPr>
          <a:xfrm>
            <a:off x="6172200" y="2247900"/>
            <a:ext cx="2590800" cy="1085850"/>
            <a:chOff x="6172200" y="2247900"/>
            <a:chExt cx="2590800" cy="1085850"/>
          </a:xfrm>
        </p:grpSpPr>
        <p:sp>
          <p:nvSpPr>
            <p:cNvPr id="17" name="Rectangle 17"/>
            <p:cNvSpPr/>
            <p:nvPr/>
          </p:nvSpPr>
          <p:spPr>
            <a:xfrm>
              <a:off x="6172200" y="2247900"/>
              <a:ext cx="2590800" cy="1085850"/>
            </a:xfrm>
            <a:prstGeom prst="rect">
              <a:avLst/>
            </a:prstGeom>
            <a:solidFill>
              <a:schemeClr val="lt2"/>
            </a:solidFill>
            <a:ln>
              <a:noFill/>
            </a:ln>
          </p:spPr>
        </p:sp>
        <p:sp>
          <p:nvSpPr>
            <p:cNvPr id="18" name="Rectangle 18"/>
            <p:cNvSpPr/>
            <p:nvPr/>
          </p:nvSpPr>
          <p:spPr>
            <a:xfrm>
              <a:off x="6172200" y="2247900"/>
              <a:ext cx="2590800" cy="38100"/>
            </a:xfrm>
            <a:prstGeom prst="rect">
              <a:avLst/>
            </a:prstGeom>
            <a:solidFill>
              <a:schemeClr val="accent1"/>
            </a:solidFill>
            <a:ln>
              <a:noFill/>
            </a:ln>
          </p:spPr>
        </p:sp>
        <p:sp>
          <p:nvSpPr>
            <p:cNvPr id="19" name="TextBox 19"/>
            <p:cNvSpPr txBox="1"/>
            <p:nvPr/>
          </p:nvSpPr>
          <p:spPr>
            <a:xfrm>
              <a:off x="6343650" y="2404110"/>
              <a:ext cx="1136397" cy="819150"/>
            </a:xfrm>
            <a:prstGeom prst="rect">
              <a:avLst/>
            </a:prstGeom>
            <a:noFill/>
            <a:ln>
              <a:noFill/>
            </a:ln>
          </p:spPr>
          <p:txBody>
            <a:bodyPr wrap="none" lIns="0" tIns="0" rIns="0" bIns="0" anchor="t" anchorCtr="0">
              <a:spAutoFit/>
            </a:bodyPr>
            <a:lstStyle/>
            <a:p>
              <a:pPr algn="l"/>
              <a:r>
                <a:rPr lang="zh-CN" sz="4200" b="1" dirty="0">
                  <a:solidFill>
                    <a:schemeClr val="accent1"/>
                  </a:solidFill>
                  <a:latin typeface="Segoe UI"/>
                  <a:ea typeface="Microsoft YaHei"/>
                  <a:cs typeface="Segoe UI"/>
                </a:rPr>
                <a:t>3 张</a:t>
              </a:r>
            </a:p>
          </p:txBody>
        </p:sp>
        <p:sp>
          <p:nvSpPr>
            <p:cNvPr id="20" name="TextBox 20"/>
            <p:cNvSpPr txBox="1"/>
            <p:nvPr/>
          </p:nvSpPr>
          <p:spPr>
            <a:xfrm>
              <a:off x="6355842" y="3016568"/>
              <a:ext cx="1812912"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figspec 同源可编辑图</a:t>
              </a:r>
            </a:p>
          </p:txBody>
        </p:sp>
      </p:grpSp>
      <p:grpSp>
        <p:nvGrpSpPr>
          <p:cNvPr id="26" name="Group 26"/>
          <p:cNvGrpSpPr/>
          <p:nvPr/>
        </p:nvGrpSpPr>
        <p:grpSpPr>
          <a:xfrm>
            <a:off x="8915400" y="2247900"/>
            <a:ext cx="2590800" cy="1085850"/>
            <a:chOff x="8915400" y="2247900"/>
            <a:chExt cx="2590800" cy="1085850"/>
          </a:xfrm>
        </p:grpSpPr>
        <p:sp>
          <p:nvSpPr>
            <p:cNvPr id="22" name="Rectangle 22"/>
            <p:cNvSpPr/>
            <p:nvPr/>
          </p:nvSpPr>
          <p:spPr>
            <a:xfrm>
              <a:off x="8915400" y="2247900"/>
              <a:ext cx="2590800" cy="1085850"/>
            </a:xfrm>
            <a:prstGeom prst="rect">
              <a:avLst/>
            </a:prstGeom>
            <a:solidFill>
              <a:schemeClr val="lt2"/>
            </a:solidFill>
            <a:ln>
              <a:noFill/>
            </a:ln>
          </p:spPr>
        </p:sp>
        <p:sp>
          <p:nvSpPr>
            <p:cNvPr id="23" name="Rectangle 23"/>
            <p:cNvSpPr/>
            <p:nvPr/>
          </p:nvSpPr>
          <p:spPr>
            <a:xfrm>
              <a:off x="8915400" y="2247900"/>
              <a:ext cx="2590800" cy="38100"/>
            </a:xfrm>
            <a:prstGeom prst="rect">
              <a:avLst/>
            </a:prstGeom>
            <a:solidFill>
              <a:schemeClr val="accent2"/>
            </a:solidFill>
            <a:ln>
              <a:noFill/>
            </a:ln>
          </p:spPr>
        </p:sp>
        <p:sp>
          <p:nvSpPr>
            <p:cNvPr id="24" name="TextBox 24"/>
            <p:cNvSpPr txBox="1"/>
            <p:nvPr/>
          </p:nvSpPr>
          <p:spPr>
            <a:xfrm>
              <a:off x="9086850" y="2404110"/>
              <a:ext cx="364621" cy="819150"/>
            </a:xfrm>
            <a:prstGeom prst="rect">
              <a:avLst/>
            </a:prstGeom>
            <a:noFill/>
            <a:ln>
              <a:noFill/>
            </a:ln>
          </p:spPr>
          <p:txBody>
            <a:bodyPr wrap="none" lIns="0" tIns="0" rIns="0" bIns="0" anchor="t" anchorCtr="0">
              <a:spAutoFit/>
            </a:bodyPr>
            <a:lstStyle/>
            <a:p>
              <a:pPr algn="l"/>
              <a:r>
                <a:rPr lang="en-US" sz="4200" b="1" dirty="0">
                  <a:solidFill>
                    <a:schemeClr val="accent1"/>
                  </a:solidFill>
                  <a:latin typeface="Segoe UI"/>
                  <a:ea typeface="Segoe UI"/>
                  <a:cs typeface="Segoe UI"/>
                </a:rPr>
                <a:t>0</a:t>
              </a:r>
            </a:p>
          </p:txBody>
        </p:sp>
        <p:sp>
          <p:nvSpPr>
            <p:cNvPr id="25" name="TextBox 25"/>
            <p:cNvSpPr txBox="1"/>
            <p:nvPr/>
          </p:nvSpPr>
          <p:spPr>
            <a:xfrm>
              <a:off x="9099042" y="3016568"/>
              <a:ext cx="2394471"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两轮对抗审稿的终审 issue 数</a:t>
              </a:r>
            </a:p>
          </p:txBody>
        </p:sp>
      </p:grpSp>
      <p:grpSp>
        <p:nvGrpSpPr>
          <p:cNvPr id="29" name="Group 29"/>
          <p:cNvGrpSpPr/>
          <p:nvPr/>
        </p:nvGrpSpPr>
        <p:grpSpPr>
          <a:xfrm>
            <a:off x="685800" y="3581400"/>
            <a:ext cx="4543425" cy="2552700"/>
            <a:chOff x="685800" y="3581400"/>
            <a:chExt cx="4543425" cy="2552700"/>
          </a:xfrm>
        </p:grpSpPr>
        <p:sp>
          <p:nvSpPr>
            <p:cNvPr id="27" name="Rectangle 27"/>
            <p:cNvSpPr/>
            <p:nvPr/>
          </p:nvSpPr>
          <p:spPr>
            <a:xfrm>
              <a:off x="685800" y="3581400"/>
              <a:ext cx="4543425" cy="2552700"/>
            </a:xfrm>
            <a:prstGeom prst="rect">
              <a:avLst/>
            </a:prstGeom>
            <a:solidFill>
              <a:schemeClr val="lt1"/>
            </a:solidFill>
            <a:ln w="9525">
              <a:solidFill>
                <a:schemeClr val="accent4"/>
              </a:solidFill>
            </a:ln>
          </p:spPr>
        </p:sp>
        <p:pic>
          <p:nvPicPr>
            <p:cNvPr id="28" name="Image 28"/>
            <p:cNvPicPr>
              <a:picLocks noChangeAspect="1"/>
            </p:cNvPicPr>
            <p:nvPr/>
          </p:nvPicPr>
          <p:blipFill>
            <a:blip r:embed="rId2"/>
            <a:stretch>
              <a:fillRect/>
            </a:stretch>
          </p:blipFill>
          <p:spPr>
            <a:xfrm>
              <a:off x="688446" y="3581400"/>
              <a:ext cx="4538133" cy="2552700"/>
            </a:xfrm>
            <a:prstGeom prst="rect">
              <a:avLst/>
            </a:prstGeom>
          </p:spPr>
        </p:pic>
      </p:grpSp>
      <p:grpSp>
        <p:nvGrpSpPr>
          <p:cNvPr id="33" name="Group 33"/>
          <p:cNvGrpSpPr/>
          <p:nvPr/>
        </p:nvGrpSpPr>
        <p:grpSpPr>
          <a:xfrm>
            <a:off x="5591556" y="3653790"/>
            <a:ext cx="5305234" cy="2484311"/>
            <a:chOff x="5591556" y="3653790"/>
            <a:chExt cx="5305234" cy="2484311"/>
          </a:xfrm>
        </p:grpSpPr>
        <p:sp>
          <p:nvSpPr>
            <p:cNvPr id="30" name="TextBox 30"/>
            <p:cNvSpPr txBox="1"/>
            <p:nvPr/>
          </p:nvSpPr>
          <p:spPr>
            <a:xfrm>
              <a:off x="5591556" y="3653790"/>
              <a:ext cx="307147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Segoe UI"/>
                  <a:ea typeface="Microsoft YaHei"/>
                  <a:cs typeface="Segoe UI"/>
                </a:rPr>
                <a:t>运行事实（全部过程留痕）</a:t>
              </a:r>
            </a:p>
          </p:txBody>
        </p:sp>
        <p:sp>
          <p:nvSpPr>
            <p:cNvPr id="31" name="TextBox 31"/>
            <p:cNvSpPr txBox="1"/>
            <p:nvPr/>
          </p:nvSpPr>
          <p:spPr>
            <a:xfrm>
              <a:off x="5593842" y="4064318"/>
              <a:ext cx="5302948" cy="1654683"/>
            </a:xfrm>
            <a:prstGeom prst="rect">
              <a:avLst/>
            </a:prstGeom>
            <a:noFill/>
            <a:ln>
              <a:noFill/>
            </a:ln>
          </p:spPr>
          <p:txBody>
            <a:bodyPr wrap="square" lIns="0" tIns="0" rIns="0" bIns="0" anchor="t" anchorCtr="0"/>
            <a:lstStyle/>
            <a:p>
              <a:pPr algn="l" marL="145732" indent="-145732">
                <a:lnSpc>
                  <a:spcPts val="1950"/>
                </a:lnSpc>
                <a:buClr>
                  <a:schemeClr val="dk1"/>
                </a:buClr>
                <a:buSzTx/>
                <a:buFontTx/>
                <a:buChar char="•"/>
              </a:pPr>
              <a:r>
                <a:rPr lang="zh-CN" sz="1350" dirty="0">
                  <a:solidFill>
                    <a:schemeClr val="dk1"/>
                  </a:solidFill>
                  <a:latin typeface="Segoe UI"/>
                  <a:ea typeface="Microsoft YaHei"/>
                  <a:cs typeface="Segoe UI"/>
                </a:rPr>
                <a:t>顶层编排器 5 次调用（首轮 + 4 次续跑），29 批 / 40 个子任务</a:t>
              </a:r>
            </a:p>
            <a:p>
              <a:pPr algn="l" marL="145732" indent="-145732">
                <a:lnSpc>
                  <a:spcPts val="1950"/>
                </a:lnSpc>
                <a:spcBef>
                  <a:spcPts val="300"/>
                </a:spcBef>
                <a:buClr>
                  <a:schemeClr val="dk1"/>
                </a:buClr>
                <a:buSzTx/>
                <a:buFontTx/>
                <a:buChar char="•"/>
              </a:pPr>
              <a:r>
                <a:rPr lang="zh-CN" sz="1350" dirty="0">
                  <a:solidFill>
                    <a:schemeClr val="dk1"/>
                  </a:solidFill>
                  <a:latin typeface="Segoe UI"/>
                  <a:ea typeface="Microsoft YaHei"/>
                  <a:cs typeface="Segoe UI"/>
                </a:rPr>
                <a:t>63 条候选 → 51 篇入库；5 条作者名不匹配经人确认后删除</a:t>
              </a:r>
            </a:p>
            <a:p>
              <a:pPr algn="l" marL="145732" indent="-145732">
                <a:lnSpc>
                  <a:spcPts val="1950"/>
                </a:lnSpc>
                <a:spcBef>
                  <a:spcPts val="300"/>
                </a:spcBef>
                <a:buClr>
                  <a:schemeClr val="dk1"/>
                </a:buClr>
                <a:buSzTx/>
                <a:buFontTx/>
                <a:buChar char="•"/>
              </a:pPr>
              <a:r>
                <a:rPr lang="zh-CN" sz="1350" dirty="0">
                  <a:solidFill>
                    <a:schemeClr val="dk1"/>
                  </a:solidFill>
                  <a:latin typeface="Segoe UI"/>
                  <a:ea typeface="Microsoft YaHei"/>
                  <a:cs typeface="Segoe UI"/>
                </a:rPr>
                <a:t>两轮对抗审稿：首轮 7 项 issue 路由返工，第二轮 0 / 0 / 0</a:t>
              </a:r>
            </a:p>
            <a:p>
              <a:pPr algn="l" marL="145732" indent="-145732">
                <a:lnSpc>
                  <a:spcPts val="1950"/>
                </a:lnSpc>
                <a:spcBef>
                  <a:spcPts val="300"/>
                </a:spcBef>
                <a:buClr>
                  <a:schemeClr val="dk1"/>
                </a:buClr>
                <a:buSzTx/>
                <a:buFontTx/>
                <a:buChar char="•"/>
              </a:pPr>
              <a:r>
                <a:rPr lang="zh-CN" sz="1350" dirty="0">
                  <a:solidFill>
                    <a:schemeClr val="dk1"/>
                  </a:solidFill>
                  <a:latin typeface="Segoe UI"/>
                  <a:ea typeface="Microsoft YaHei"/>
                  <a:cs typeface="Segoe UI"/>
                </a:rPr>
                <a:t>正式报告调用前驱体预测 3 次（Zn / Mg / Co 目标）</a:t>
              </a:r>
            </a:p>
            <a:p>
              <a:pPr algn="l" marL="145732" indent="-145732">
                <a:lnSpc>
                  <a:spcPts val="1950"/>
                </a:lnSpc>
                <a:spcBef>
                  <a:spcPts val="300"/>
                </a:spcBef>
                <a:buClr>
                  <a:schemeClr val="dk1"/>
                </a:buClr>
                <a:buSzTx/>
                <a:buFontTx/>
                <a:buChar char="•"/>
              </a:pPr>
              <a:r>
                <a:rPr lang="zh-CN" sz="1350" dirty="0">
                  <a:solidFill>
                    <a:schemeClr val="dk1"/>
                  </a:solidFill>
                  <a:latin typeface="Segoe UI"/>
                  <a:ea typeface="Microsoft YaHei"/>
                  <a:cs typeface="Segoe UI"/>
                </a:rPr>
                <a:t>专家反馈修订：正规论文语言、同类体系单独成节、前人结论汇总、</a:t>
              </a:r>
              <a:r>
                <a:rPr lang="zh-CN" sz="1350" dirty="0">
                  <a:solidFill>
                    <a:schemeClr val="dk1"/>
                  </a:solidFill>
                  <a:latin typeface="Segoe UI"/>
                  <a:ea typeface="Microsoft YaHei"/>
                  <a:cs typeface="Segoe UI"/>
                </a:rPr>
                <a:t>方向落到工艺与前驱体、相图讨论、学术排版图、去除工程术语</a:t>
              </a:r>
            </a:p>
          </p:txBody>
        </p:sp>
        <p:sp>
          <p:nvSpPr>
            <p:cNvPr id="32" name="TextBox 32"/>
            <p:cNvSpPr txBox="1"/>
            <p:nvPr/>
          </p:nvSpPr>
          <p:spPr>
            <a:xfrm>
              <a:off x="5593842" y="5874068"/>
              <a:ext cx="4011930"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左图：正式报告研究路线图（第三轮学术化重绘）</a:t>
              </a:r>
            </a:p>
          </p:txBody>
        </p:sp>
      </p:grpSp>
      <p:grpSp>
        <p:nvGrpSpPr>
          <p:cNvPr id="36" name="Group 36"/>
          <p:cNvGrpSpPr/>
          <p:nvPr/>
        </p:nvGrpSpPr>
        <p:grpSpPr>
          <a:xfrm>
            <a:off x="679704" y="6480810"/>
            <a:ext cx="10832592" cy="234696"/>
            <a:chOff x="679704" y="6480810"/>
            <a:chExt cx="10832592" cy="234696"/>
          </a:xfrm>
        </p:grpSpPr>
        <p:sp>
          <p:nvSpPr>
            <p:cNvPr id="34" name="TextBox 34"/>
            <p:cNvSpPr txBox="1"/>
            <p:nvPr/>
          </p:nvSpPr>
          <p:spPr>
            <a:xfrm>
              <a:off x="679704" y="6480810"/>
              <a:ext cx="341757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Segoe UI"/>
                  <a:ea typeface="Microsoft YaHei"/>
                  <a:cs typeface="Segoe UI"/>
                </a:rPr>
                <a:t>SAGE-Mat · GOAI 2026 AI for Research 复赛</a:t>
              </a:r>
            </a:p>
          </p:txBody>
        </p:sp>
        <p:sp>
          <p:nvSpPr>
            <p:cNvPr id="35" name="TextBox 35"/>
            <p:cNvSpPr txBox="1"/>
            <p:nvPr/>
          </p:nvSpPr>
          <p:spPr>
            <a:xfrm>
              <a:off x="11047781" y="6480810"/>
              <a:ext cx="464515"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Segoe UI"/>
                  <a:ea typeface="Segoe UI"/>
                  <a:cs typeface="Segoe UI"/>
                </a:rPr>
                <a:t>8 / 13</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70560" y="590550"/>
            <a:ext cx="11479911" cy="586740"/>
            <a:chOff x="670560" y="590550"/>
            <a:chExt cx="11479911" cy="586740"/>
          </a:xfrm>
        </p:grpSpPr>
        <p:sp>
          <p:nvSpPr>
            <p:cNvPr id="2" name="TextBox 2"/>
            <p:cNvSpPr txBox="1"/>
            <p:nvPr/>
          </p:nvSpPr>
          <p:spPr>
            <a:xfrm>
              <a:off x="670560" y="590550"/>
              <a:ext cx="11479911"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Segoe UI"/>
                  <a:ea typeface="Microsoft YaHei"/>
                  <a:cs typeface="Segoe UI"/>
                </a:rPr>
                <a:t>目标相只有一篇直接报道；组成坐标比单一温度更能解释成相</a:t>
              </a:r>
            </a:p>
          </p:txBody>
        </p:sp>
        <p:sp>
          <p:nvSpPr>
            <p:cNvPr id="3" name="Rectangle 3"/>
            <p:cNvSpPr/>
            <p:nvPr/>
          </p:nvSpPr>
          <p:spPr>
            <a:xfrm>
              <a:off x="685800" y="1085850"/>
              <a:ext cx="685800" cy="38100"/>
            </a:xfrm>
            <a:prstGeom prst="rect">
              <a:avLst/>
            </a:prstGeom>
            <a:solidFill>
              <a:schemeClr val="accent1"/>
            </a:solidFill>
            <a:ln>
              <a:noFill/>
            </a:ln>
          </p:spPr>
        </p:sp>
      </p:grpSp>
      <p:grpSp>
        <p:nvGrpSpPr>
          <p:cNvPr id="6" name="Group 6"/>
          <p:cNvGrpSpPr/>
          <p:nvPr/>
        </p:nvGrpSpPr>
        <p:grpSpPr>
          <a:xfrm>
            <a:off x="675894" y="1370648"/>
            <a:ext cx="9640767" cy="381381"/>
            <a:chOff x="675894" y="1370648"/>
            <a:chExt cx="9640767" cy="381381"/>
          </a:xfrm>
        </p:grpSpPr>
        <p:sp>
          <p:nvSpPr>
            <p:cNvPr id="5" name="TextBox 5"/>
            <p:cNvSpPr txBox="1"/>
            <p:nvPr/>
          </p:nvSpPr>
          <p:spPr>
            <a:xfrm>
              <a:off x="675894" y="1370648"/>
              <a:ext cx="9640767" cy="381381"/>
            </a:xfrm>
            <a:prstGeom prst="rect">
              <a:avLst/>
            </a:prstGeom>
            <a:noFill/>
            <a:ln>
              <a:noFill/>
            </a:ln>
          </p:spPr>
          <p:txBody>
            <a:bodyPr wrap="none" lIns="0" tIns="0" rIns="0" bIns="0" anchor="t" anchorCtr="0">
              <a:spAutoFit/>
            </a:bodyPr>
            <a:lstStyle/>
            <a:p>
              <a:pPr algn="l"/>
              <a:r>
                <a:rPr lang="zh-CN" sz="1950" dirty="0">
                  <a:solidFill>
                    <a:schemeClr val="dk1"/>
                  </a:solidFill>
                  <a:latin typeface="Segoe UI"/>
                  <a:ea typeface="Microsoft YaHei"/>
                  <a:cs typeface="Segoe UI"/>
                </a:rPr>
                <a:t>系统给出的不是配方，而是文献证据限定的</a:t>
              </a:r>
              <a:r>
                <a:rPr lang="zh-CN" sz="1950" b="1" dirty="0">
                  <a:solidFill>
                    <a:schemeClr val="accent2"/>
                  </a:solidFill>
                  <a:latin typeface="Segoe UI"/>
                  <a:ea typeface="Microsoft YaHei"/>
                  <a:cs typeface="Segoe UI"/>
                </a:rPr>
                <a:t>可迁移范围</a:t>
              </a:r>
              <a:r>
                <a:rPr lang="zh-CN" sz="1950" dirty="0">
                  <a:solidFill>
                    <a:schemeClr val="dk1"/>
                  </a:solidFill>
                  <a:latin typeface="Segoe UI"/>
                  <a:ea typeface="Microsoft YaHei"/>
                  <a:cs typeface="Segoe UI"/>
                </a:rPr>
                <a:t>与四类</a:t>
              </a:r>
              <a:r>
                <a:rPr lang="zh-CN" sz="1950" b="1" dirty="0">
                  <a:solidFill>
                    <a:schemeClr val="accent2"/>
                  </a:solidFill>
                  <a:latin typeface="Segoe UI"/>
                  <a:ea typeface="Microsoft YaHei"/>
                  <a:cs typeface="Segoe UI"/>
                </a:rPr>
                <a:t>可检验的实验方向</a:t>
              </a:r>
              <a:r>
                <a:rPr lang="zh-CN" sz="1950" dirty="0">
                  <a:solidFill>
                    <a:schemeClr val="dk1"/>
                  </a:solidFill>
                  <a:latin typeface="Segoe UI"/>
                  <a:ea typeface="Microsoft YaHei"/>
                  <a:cs typeface="Segoe UI"/>
                </a:rPr>
                <a:t>。</a:t>
              </a:r>
            </a:p>
          </p:txBody>
        </p:sp>
      </p:grpSp>
      <p:grpSp>
        <p:nvGrpSpPr>
          <p:cNvPr id="16" name="Group 16"/>
          <p:cNvGrpSpPr/>
          <p:nvPr/>
        </p:nvGrpSpPr>
        <p:grpSpPr>
          <a:xfrm>
            <a:off x="676656" y="1920240"/>
            <a:ext cx="5361432" cy="3551111"/>
            <a:chOff x="676656" y="1920240"/>
            <a:chExt cx="5361432" cy="3551111"/>
          </a:xfrm>
        </p:grpSpPr>
        <p:sp>
          <p:nvSpPr>
            <p:cNvPr id="7" name="TextBox 7"/>
            <p:cNvSpPr txBox="1"/>
            <p:nvPr/>
          </p:nvSpPr>
          <p:spPr>
            <a:xfrm>
              <a:off x="676656" y="1920240"/>
              <a:ext cx="256260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Segoe UI"/>
                  <a:ea typeface="Microsoft YaHei"/>
                  <a:cs typeface="Segoe UI"/>
                </a:rPr>
                <a:t>既有文献能够确认什么</a:t>
              </a:r>
            </a:p>
          </p:txBody>
        </p:sp>
        <p:sp>
          <p:nvSpPr>
            <p:cNvPr id="8" name="TextBox 8"/>
            <p:cNvSpPr txBox="1"/>
            <p:nvPr/>
          </p:nvSpPr>
          <p:spPr>
            <a:xfrm>
              <a:off x="676656" y="2377440"/>
              <a:ext cx="158225"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Segoe UI"/>
                  <a:ea typeface="Segoe UI"/>
                  <a:cs typeface="Segoe UI"/>
                </a:rPr>
                <a:t>1</a:t>
              </a:r>
            </a:p>
          </p:txBody>
        </p:sp>
        <p:sp>
          <p:nvSpPr>
            <p:cNvPr id="9" name="TextBox 9"/>
            <p:cNvSpPr txBox="1"/>
            <p:nvPr/>
          </p:nvSpPr>
          <p:spPr>
            <a:xfrm>
              <a:off x="983742" y="2426018"/>
              <a:ext cx="5054346" cy="51168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Segoe UI"/>
                  <a:ea typeface="Microsoft YaHei"/>
                  <a:cs typeface="Segoe UI"/>
                </a:rPr>
                <a:t>公开证据只能确认“开放体系高温溶液法 + 单晶 X 射线衍射鉴定”，</a:t>
              </a:r>
              <a:r>
                <a:rPr lang="zh-CN" sz="1350" dirty="0">
                  <a:solidFill>
                    <a:schemeClr val="dk1"/>
                  </a:solidFill>
                  <a:latin typeface="Segoe UI"/>
                  <a:ea typeface="Microsoft YaHei"/>
                  <a:cs typeface="Segoe UI"/>
                </a:rPr>
                <a:t>不足以给出经验证的目标相复现配方。</a:t>
              </a:r>
            </a:p>
          </p:txBody>
        </p:sp>
        <p:sp>
          <p:nvSpPr>
            <p:cNvPr id="10" name="TextBox 10"/>
            <p:cNvSpPr txBox="1"/>
            <p:nvPr/>
          </p:nvSpPr>
          <p:spPr>
            <a:xfrm>
              <a:off x="676656" y="3044190"/>
              <a:ext cx="158225"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Segoe UI"/>
                  <a:ea typeface="Segoe UI"/>
                  <a:cs typeface="Segoe UI"/>
                </a:rPr>
                <a:t>2</a:t>
              </a:r>
            </a:p>
          </p:txBody>
        </p:sp>
        <p:sp>
          <p:nvSpPr>
            <p:cNvPr id="11" name="TextBox 11"/>
            <p:cNvSpPr txBox="1"/>
            <p:nvPr/>
          </p:nvSpPr>
          <p:spPr>
            <a:xfrm>
              <a:off x="983742" y="3092768"/>
              <a:ext cx="4917186" cy="75933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Segoe UI"/>
                  <a:ea typeface="Microsoft YaHei"/>
                  <a:cs typeface="Segoe UI"/>
                </a:rPr>
                <a:t>无 Zn 谱系提供三类可比路线：MoO3 助熔（Pt 坩埚、1150 °C、</a:t>
              </a:r>
              <a:r>
                <a:rPr lang="zh-CN" sz="1350" dirty="0">
                  <a:solidFill>
                    <a:schemeClr val="dk1"/>
                  </a:solidFill>
                  <a:latin typeface="Segoe UI"/>
                  <a:ea typeface="Microsoft YaHei"/>
                  <a:cs typeface="Segoe UI"/>
                </a:rPr>
                <a:t>2 K/h）、x:26:16 固相陶瓷（1300 / 1600 °C）、5:13:8 粉体</a:t>
              </a:r>
              <a:r>
                <a:rPr lang="zh-CN" sz="1350" dirty="0">
                  <a:solidFill>
                    <a:schemeClr val="dk1"/>
                  </a:solidFill>
                  <a:latin typeface="Segoe UI"/>
                  <a:ea typeface="Microsoft YaHei"/>
                  <a:cs typeface="Segoe UI"/>
                </a:rPr>
                <a:t>相场筛查（1273 / 1573 K）；</a:t>
              </a:r>
              <a:r>
                <a:rPr lang="zh-CN" sz="1350" b="1" dirty="0">
                  <a:solidFill>
                    <a:schemeClr val="dk1"/>
                  </a:solidFill>
                  <a:latin typeface="Segoe UI"/>
                  <a:ea typeface="Microsoft YaHei"/>
                  <a:cs typeface="Segoe UI"/>
                </a:rPr>
                <a:t>具体数值不得无条件迁移</a:t>
              </a:r>
              <a:r>
                <a:rPr lang="zh-CN" sz="1350" dirty="0">
                  <a:solidFill>
                    <a:schemeClr val="dk1"/>
                  </a:solidFill>
                  <a:latin typeface="Segoe UI"/>
                  <a:ea typeface="Microsoft YaHei"/>
                  <a:cs typeface="Segoe UI"/>
                </a:rPr>
                <a:t>。</a:t>
              </a:r>
            </a:p>
          </p:txBody>
        </p:sp>
        <p:sp>
          <p:nvSpPr>
            <p:cNvPr id="12" name="TextBox 12"/>
            <p:cNvSpPr txBox="1"/>
            <p:nvPr/>
          </p:nvSpPr>
          <p:spPr>
            <a:xfrm>
              <a:off x="676656" y="3958590"/>
              <a:ext cx="158225"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Segoe UI"/>
                  <a:ea typeface="Segoe UI"/>
                  <a:cs typeface="Segoe UI"/>
                </a:rPr>
                <a:t>3</a:t>
              </a:r>
            </a:p>
          </p:txBody>
        </p:sp>
        <p:sp>
          <p:nvSpPr>
            <p:cNvPr id="13" name="TextBox 13"/>
            <p:cNvSpPr txBox="1"/>
            <p:nvPr/>
          </p:nvSpPr>
          <p:spPr>
            <a:xfrm>
              <a:off x="983742" y="4007168"/>
              <a:ext cx="3477006" cy="51168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Segoe UI"/>
                  <a:ea typeface="Microsoft YaHei"/>
                  <a:cs typeface="Segoe UI"/>
                </a:rPr>
                <a:t>“获得单晶”不等于“建立批量相纯窗口”；</a:t>
              </a:r>
              <a:r>
                <a:rPr lang="zh-CN" sz="1350" b="1" dirty="0">
                  <a:solidFill>
                    <a:schemeClr val="dk1"/>
                  </a:solidFill>
                  <a:latin typeface="Segoe UI"/>
                  <a:ea typeface="Microsoft YaHei"/>
                  <a:cs typeface="Segoe UI"/>
                </a:rPr>
                <a:t>局部相图</a:t>
              </a:r>
              <a:r>
                <a:rPr lang="zh-CN" sz="1350" dirty="0">
                  <a:solidFill>
                    <a:schemeClr val="dk1"/>
                  </a:solidFill>
                  <a:latin typeface="Segoe UI"/>
                  <a:ea typeface="Microsoft YaHei"/>
                  <a:cs typeface="Segoe UI"/>
                </a:rPr>
                <a:t>是连接复现与科学发现的核心实验。</a:t>
              </a:r>
            </a:p>
          </p:txBody>
        </p:sp>
        <p:sp>
          <p:nvSpPr>
            <p:cNvPr id="14" name="Line 14"/>
            <p:cNvSpPr/>
            <p:nvPr/>
          </p:nvSpPr>
          <p:spPr>
            <a:xfrm>
              <a:off x="685800" y="4762500"/>
              <a:ext cx="5295900" cy="9525"/>
            </a:xfrm>
            <a:custGeom>
              <a:avLst/>
              <a:gdLst/>
              <a:ahLst/>
              <a:cxnLst/>
              <a:rect l="l" t="t" r="r" b="b"/>
              <a:pathLst>
                <a:path w="5295900" h="9525">
                  <a:moveTo>
                    <a:pt x="0" y="0"/>
                  </a:moveTo>
                  <a:lnTo>
                    <a:pt x="5295900" y="0"/>
                  </a:lnTo>
                </a:path>
              </a:pathLst>
            </a:custGeom>
            <a:noFill/>
            <a:ln w="9525">
              <a:solidFill>
                <a:schemeClr val="accent4"/>
              </a:solidFill>
            </a:ln>
          </p:spPr>
        </p:sp>
        <p:sp>
          <p:nvSpPr>
            <p:cNvPr id="15" name="TextBox 15"/>
            <p:cNvSpPr txBox="1"/>
            <p:nvPr/>
          </p:nvSpPr>
          <p:spPr>
            <a:xfrm>
              <a:off x="678942" y="4959668"/>
              <a:ext cx="3991356" cy="511683"/>
            </a:xfrm>
            <a:prstGeom prst="rect">
              <a:avLst/>
            </a:prstGeom>
            <a:noFill/>
            <a:ln>
              <a:noFill/>
            </a:ln>
          </p:spPr>
          <p:txBody>
            <a:bodyPr wrap="square" lIns="0" tIns="0" rIns="0" bIns="0" anchor="t" anchorCtr="0"/>
            <a:lstStyle/>
            <a:p>
              <a:pPr algn="l">
                <a:lnSpc>
                  <a:spcPts val="1950"/>
                </a:lnSpc>
              </a:pPr>
              <a:r>
                <a:rPr lang="zh-CN" sz="1350" dirty="0">
                  <a:solidFill>
                    <a:schemeClr val="dk2"/>
                  </a:solidFill>
                  <a:latin typeface="Segoe UI"/>
                  <a:ea typeface="Microsoft YaHei"/>
                  <a:cs typeface="Segoe UI"/>
                </a:rPr>
                <a:t>合成条件表逐字段区分“原文可支持”与“不可支持”，</a:t>
              </a:r>
              <a:r>
                <a:rPr lang="zh-CN" sz="1350" dirty="0">
                  <a:solidFill>
                    <a:schemeClr val="dk2"/>
                  </a:solidFill>
                  <a:latin typeface="Segoe UI"/>
                  <a:ea typeface="Microsoft YaHei"/>
                  <a:cs typeface="Segoe UI"/>
                </a:rPr>
                <a:t>36 条结论带原文页码定位</a:t>
              </a:r>
            </a:p>
          </p:txBody>
        </p:sp>
      </p:grpSp>
      <p:grpSp>
        <p:nvGrpSpPr>
          <p:cNvPr id="29" name="Group 29"/>
          <p:cNvGrpSpPr/>
          <p:nvPr/>
        </p:nvGrpSpPr>
        <p:grpSpPr>
          <a:xfrm>
            <a:off x="6210300" y="1905000"/>
            <a:ext cx="5311750" cy="4233101"/>
            <a:chOff x="6210300" y="1905000"/>
            <a:chExt cx="5311750" cy="4233101"/>
          </a:xfrm>
        </p:grpSpPr>
        <p:sp>
          <p:nvSpPr>
            <p:cNvPr id="17" name="Rectangle 17"/>
            <p:cNvSpPr/>
            <p:nvPr/>
          </p:nvSpPr>
          <p:spPr>
            <a:xfrm>
              <a:off x="6210300" y="1905000"/>
              <a:ext cx="5295900" cy="4229100"/>
            </a:xfrm>
            <a:prstGeom prst="rect">
              <a:avLst/>
            </a:prstGeom>
            <a:solidFill>
              <a:schemeClr val="lt2"/>
            </a:solidFill>
            <a:ln>
              <a:noFill/>
            </a:ln>
          </p:spPr>
        </p:sp>
        <p:sp>
          <p:nvSpPr>
            <p:cNvPr id="18" name="TextBox 18"/>
            <p:cNvSpPr txBox="1"/>
            <p:nvPr/>
          </p:nvSpPr>
          <p:spPr>
            <a:xfrm>
              <a:off x="6429756" y="2053590"/>
              <a:ext cx="485249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Segoe UI"/>
                  <a:ea typeface="Microsoft YaHei"/>
                  <a:cs typeface="Segoe UI"/>
                </a:rPr>
                <a:t>四个值得探索的方向（各配工艺与前驱体）</a:t>
              </a:r>
            </a:p>
          </p:txBody>
        </p:sp>
        <p:sp>
          <p:nvSpPr>
            <p:cNvPr id="19" name="TextBox 19"/>
            <p:cNvSpPr txBox="1"/>
            <p:nvPr/>
          </p:nvSpPr>
          <p:spPr>
            <a:xfrm>
              <a:off x="6429756" y="2491740"/>
              <a:ext cx="2896396"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Segoe UI"/>
                  <a:ea typeface="Segoe UI"/>
                  <a:cs typeface="Segoe UI"/>
                </a:rPr>
                <a:t>①</a:t>
              </a:r>
              <a:r>
                <a:rPr lang="zh-CN" sz="1800" dirty="0">
                  <a:solidFill>
                    <a:schemeClr val="dk1"/>
                  </a:solidFill>
                  <a:latin typeface="Segoe UI"/>
                  <a:ea typeface="Microsoft YaHei"/>
                  <a:cs typeface="Segoe UI"/>
                </a:rPr>
                <a:t xml:space="preserve"> 目标组成附近的局部相图</a:t>
              </a:r>
            </a:p>
          </p:txBody>
        </p:sp>
        <p:sp>
          <p:nvSpPr>
            <p:cNvPr id="20" name="TextBox 20"/>
            <p:cNvSpPr txBox="1"/>
            <p:nvPr/>
          </p:nvSpPr>
          <p:spPr>
            <a:xfrm>
              <a:off x="6774942" y="2807018"/>
              <a:ext cx="4106227"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固相成相组成系列 + 定量 PXRD / Rietveld 相分数</a:t>
              </a:r>
            </a:p>
          </p:txBody>
        </p:sp>
        <p:sp>
          <p:nvSpPr>
            <p:cNvPr id="21" name="TextBox 21"/>
            <p:cNvSpPr txBox="1"/>
            <p:nvPr/>
          </p:nvSpPr>
          <p:spPr>
            <a:xfrm>
              <a:off x="6429756" y="3158490"/>
              <a:ext cx="2187759"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Segoe UI"/>
                  <a:ea typeface="Segoe UI"/>
                  <a:cs typeface="Segoe UI"/>
                </a:rPr>
                <a:t>②</a:t>
              </a:r>
              <a:r>
                <a:rPr lang="zh-CN" sz="1800" dirty="0">
                  <a:solidFill>
                    <a:schemeClr val="dk1"/>
                  </a:solidFill>
                  <a:latin typeface="Segoe UI"/>
                  <a:ea typeface="Microsoft YaHei"/>
                  <a:cs typeface="Segoe UI"/>
                </a:rPr>
                <a:t xml:space="preserve"> Zn–Y–氧计量耦合</a:t>
              </a:r>
            </a:p>
          </p:txBody>
        </p:sp>
        <p:sp>
          <p:nvSpPr>
            <p:cNvPr id="22" name="TextBox 22"/>
            <p:cNvSpPr txBox="1"/>
            <p:nvPr/>
          </p:nvSpPr>
          <p:spPr>
            <a:xfrm>
              <a:off x="6774942" y="3473768"/>
              <a:ext cx="4747108"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名义 / 实际化学计量对照，EDS / EPMA 与结构模型互证</a:t>
              </a:r>
            </a:p>
          </p:txBody>
        </p:sp>
        <p:sp>
          <p:nvSpPr>
            <p:cNvPr id="23" name="TextBox 23"/>
            <p:cNvSpPr txBox="1"/>
            <p:nvPr/>
          </p:nvSpPr>
          <p:spPr>
            <a:xfrm>
              <a:off x="6429756" y="3825240"/>
              <a:ext cx="3381028"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Segoe UI"/>
                  <a:ea typeface="Segoe UI"/>
                  <a:cs typeface="Segoe UI"/>
                </a:rPr>
                <a:t>③</a:t>
              </a:r>
              <a:r>
                <a:rPr lang="zh-CN" sz="1800" dirty="0">
                  <a:solidFill>
                    <a:schemeClr val="dk1"/>
                  </a:solidFill>
                  <a:latin typeface="Segoe UI"/>
                  <a:ea typeface="Microsoft YaHei"/>
                  <a:cs typeface="Segoe UI"/>
                </a:rPr>
                <a:t xml:space="preserve"> 固相成相与高温溶液长晶并行</a:t>
              </a:r>
            </a:p>
          </p:txBody>
        </p:sp>
        <p:sp>
          <p:nvSpPr>
            <p:cNvPr id="24" name="TextBox 24"/>
            <p:cNvSpPr txBox="1"/>
            <p:nvPr/>
          </p:nvSpPr>
          <p:spPr>
            <a:xfrm>
              <a:off x="6774942" y="4140518"/>
              <a:ext cx="3648456"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单晶确认结构模型，批量样品测定目标相比例</a:t>
              </a:r>
            </a:p>
          </p:txBody>
        </p:sp>
        <p:sp>
          <p:nvSpPr>
            <p:cNvPr id="25" name="TextBox 25"/>
            <p:cNvSpPr txBox="1"/>
            <p:nvPr/>
          </p:nvSpPr>
          <p:spPr>
            <a:xfrm>
              <a:off x="6429756" y="4491990"/>
              <a:ext cx="3189650"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Segoe UI"/>
                  <a:ea typeface="Segoe UI"/>
                  <a:cs typeface="Segoe UI"/>
                </a:rPr>
                <a:t>④</a:t>
              </a:r>
              <a:r>
                <a:rPr lang="zh-CN" sz="1800" dirty="0">
                  <a:solidFill>
                    <a:schemeClr val="dk1"/>
                  </a:solidFill>
                  <a:latin typeface="Segoe UI"/>
                  <a:ea typeface="Microsoft YaHei"/>
                  <a:cs typeface="Segoe UI"/>
                </a:rPr>
                <a:t xml:space="preserve"> Mg / Co 类比与模型前驱体</a:t>
              </a:r>
            </a:p>
          </p:txBody>
        </p:sp>
        <p:sp>
          <p:nvSpPr>
            <p:cNvPr id="26" name="TextBox 26"/>
            <p:cNvSpPr txBox="1"/>
            <p:nvPr/>
          </p:nvSpPr>
          <p:spPr>
            <a:xfrm>
              <a:off x="6774942" y="4807268"/>
              <a:ext cx="3854110"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位点 / 价态探针；Co 需联测氧分压与烧后价态</a:t>
              </a:r>
            </a:p>
          </p:txBody>
        </p:sp>
        <p:sp>
          <p:nvSpPr>
            <p:cNvPr id="27" name="Line 27"/>
            <p:cNvSpPr/>
            <p:nvPr/>
          </p:nvSpPr>
          <p:spPr>
            <a:xfrm>
              <a:off x="6438900" y="5219700"/>
              <a:ext cx="4838700" cy="9525"/>
            </a:xfrm>
            <a:custGeom>
              <a:avLst/>
              <a:gdLst/>
              <a:ahLst/>
              <a:cxnLst/>
              <a:rect l="l" t="t" r="r" b="b"/>
              <a:pathLst>
                <a:path w="4838700" h="9525">
                  <a:moveTo>
                    <a:pt x="0" y="0"/>
                  </a:moveTo>
                  <a:lnTo>
                    <a:pt x="4838700" y="0"/>
                  </a:lnTo>
                </a:path>
              </a:pathLst>
            </a:custGeom>
            <a:noFill/>
            <a:ln w="9525">
              <a:solidFill>
                <a:schemeClr val="accent4"/>
              </a:solidFill>
            </a:ln>
          </p:spPr>
        </p:sp>
        <p:sp>
          <p:nvSpPr>
            <p:cNvPr id="28" name="TextBox 28"/>
            <p:cNvSpPr txBox="1"/>
            <p:nvPr/>
          </p:nvSpPr>
          <p:spPr>
            <a:xfrm>
              <a:off x="6432042" y="5378768"/>
              <a:ext cx="4600004" cy="759333"/>
            </a:xfrm>
            <a:prstGeom prst="rect">
              <a:avLst/>
            </a:prstGeom>
            <a:noFill/>
            <a:ln>
              <a:noFill/>
            </a:ln>
          </p:spPr>
          <p:txBody>
            <a:bodyPr wrap="square" lIns="0" tIns="0" rIns="0" bIns="0" anchor="t" anchorCtr="0"/>
            <a:lstStyle/>
            <a:p>
              <a:pPr algn="l">
                <a:lnSpc>
                  <a:spcPts val="1950"/>
                </a:lnSpc>
              </a:pPr>
              <a:r>
                <a:rPr lang="zh-CN" sz="1350" b="1" dirty="0">
                  <a:solidFill>
                    <a:schemeClr val="accent1"/>
                  </a:solidFill>
                  <a:latin typeface="Segoe UI"/>
                  <a:ea typeface="Microsoft YaHei"/>
                  <a:cs typeface="Segoe UI"/>
                </a:rPr>
                <a:t>模型候选（待实验验证）</a:t>
              </a:r>
              <a:r>
                <a:rPr lang="zh-CN" sz="1350" dirty="0">
                  <a:solidFill>
                    <a:schemeClr val="dk1"/>
                  </a:solidFill>
                  <a:latin typeface="Segoe UI"/>
                  <a:ea typeface="Microsoft YaHei"/>
                  <a:cs typeface="Segoe UI"/>
                </a:rPr>
                <a:t xml:space="preserve"> Zn：ZnO + Y2O3 + SiO2 + BaCO3 </a:t>
              </a:r>
              <a:r>
                <a:rPr lang="zh-CN" sz="1350" dirty="0">
                  <a:solidFill>
                    <a:schemeClr val="dk1"/>
                  </a:solidFill>
                  <a:latin typeface="Segoe UI"/>
                  <a:ea typeface="Microsoft YaHei"/>
                  <a:cs typeface="Segoe UI"/>
                </a:rPr>
                <a:t xml:space="preserve">Mg：MgO + Y2O3 + BaCO3 + SiO2 </a:t>
              </a:r>
              <a:r>
                <a:rPr lang="zh-CN" sz="1350" dirty="0">
                  <a:solidFill>
                    <a:schemeClr val="dk1"/>
                  </a:solidFill>
                  <a:latin typeface="Segoe UI"/>
                  <a:ea typeface="Microsoft YaHei"/>
                  <a:cs typeface="Segoe UI"/>
                </a:rPr>
                <a:t>Co：Co3O4 + Y2O3 + BaCO3 + SiO2</a:t>
              </a:r>
            </a:p>
          </p:txBody>
        </p:sp>
      </p:grpSp>
      <p:grpSp>
        <p:nvGrpSpPr>
          <p:cNvPr id="32" name="Group 32"/>
          <p:cNvGrpSpPr/>
          <p:nvPr/>
        </p:nvGrpSpPr>
        <p:grpSpPr>
          <a:xfrm>
            <a:off x="679704" y="6480810"/>
            <a:ext cx="10832592" cy="234696"/>
            <a:chOff x="679704" y="6480810"/>
            <a:chExt cx="10832592" cy="234696"/>
          </a:xfrm>
        </p:grpSpPr>
        <p:sp>
          <p:nvSpPr>
            <p:cNvPr id="30" name="TextBox 30"/>
            <p:cNvSpPr txBox="1"/>
            <p:nvPr/>
          </p:nvSpPr>
          <p:spPr>
            <a:xfrm>
              <a:off x="679704" y="6480810"/>
              <a:ext cx="341757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Segoe UI"/>
                  <a:ea typeface="Microsoft YaHei"/>
                  <a:cs typeface="Segoe UI"/>
                </a:rPr>
                <a:t>SAGE-Mat · GOAI 2026 AI for Research 复赛</a:t>
              </a:r>
            </a:p>
          </p:txBody>
        </p:sp>
        <p:sp>
          <p:nvSpPr>
            <p:cNvPr id="31" name="TextBox 31"/>
            <p:cNvSpPr txBox="1"/>
            <p:nvPr/>
          </p:nvSpPr>
          <p:spPr>
            <a:xfrm>
              <a:off x="11047781" y="6480810"/>
              <a:ext cx="464515"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Segoe UI"/>
                  <a:ea typeface="Segoe UI"/>
                  <a:cs typeface="Segoe UI"/>
                </a:rPr>
                <a:t>9 / 13</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70560" y="590550"/>
            <a:ext cx="12800076" cy="586740"/>
            <a:chOff x="670560" y="590550"/>
            <a:chExt cx="12800076" cy="586740"/>
          </a:xfrm>
        </p:grpSpPr>
        <p:sp>
          <p:nvSpPr>
            <p:cNvPr id="2" name="TextBox 2"/>
            <p:cNvSpPr txBox="1"/>
            <p:nvPr/>
          </p:nvSpPr>
          <p:spPr>
            <a:xfrm>
              <a:off x="670560" y="590550"/>
              <a:ext cx="12800076"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Segoe UI"/>
                  <a:ea typeface="Microsoft YaHei"/>
                  <a:cs typeface="Segoe UI"/>
                </a:rPr>
                <a:t>LLZO 主题端到端跑通：46 篇文献、10 页综述、路线与文献一致</a:t>
              </a:r>
            </a:p>
          </p:txBody>
        </p:sp>
        <p:sp>
          <p:nvSpPr>
            <p:cNvPr id="3" name="Rectangle 3"/>
            <p:cNvSpPr/>
            <p:nvPr/>
          </p:nvSpPr>
          <p:spPr>
            <a:xfrm>
              <a:off x="685800" y="1085850"/>
              <a:ext cx="685800" cy="38100"/>
            </a:xfrm>
            <a:prstGeom prst="rect">
              <a:avLst/>
            </a:prstGeom>
            <a:solidFill>
              <a:schemeClr val="accent1"/>
            </a:solidFill>
            <a:ln>
              <a:noFill/>
            </a:ln>
          </p:spPr>
        </p:sp>
      </p:grpSp>
      <p:grpSp>
        <p:nvGrpSpPr>
          <p:cNvPr id="6" name="Group 6"/>
          <p:cNvGrpSpPr/>
          <p:nvPr/>
        </p:nvGrpSpPr>
        <p:grpSpPr>
          <a:xfrm>
            <a:off x="675894" y="1370648"/>
            <a:ext cx="9281922" cy="743331"/>
            <a:chOff x="675894" y="1370648"/>
            <a:chExt cx="9281922" cy="743331"/>
          </a:xfrm>
        </p:grpSpPr>
        <p:sp>
          <p:nvSpPr>
            <p:cNvPr id="5" name="TextBox 5"/>
            <p:cNvSpPr txBox="1"/>
            <p:nvPr/>
          </p:nvSpPr>
          <p:spPr>
            <a:xfrm>
              <a:off x="675894" y="1370648"/>
              <a:ext cx="9281922" cy="743331"/>
            </a:xfrm>
            <a:prstGeom prst="rect">
              <a:avLst/>
            </a:prstGeom>
            <a:noFill/>
            <a:ln>
              <a:noFill/>
            </a:ln>
          </p:spPr>
          <p:txBody>
            <a:bodyPr wrap="square" lIns="0" tIns="0" rIns="0" bIns="0" anchor="t" anchorCtr="0"/>
            <a:lstStyle/>
            <a:p>
              <a:pPr algn="l">
                <a:lnSpc>
                  <a:spcPts val="2850"/>
                </a:lnSpc>
              </a:pPr>
              <a:r>
                <a:rPr lang="zh-CN" sz="1950" dirty="0">
                  <a:solidFill>
                    <a:schemeClr val="dk1"/>
                  </a:solidFill>
                  <a:latin typeface="Segoe UI"/>
                  <a:ea typeface="Microsoft YaHei"/>
                  <a:cs typeface="Segoe UI"/>
                </a:rPr>
                <a:t>初赛承诺的主题交出 46 篇文献、六个子主题覆盖与 10 页综述；模型首选前驱体路线</a:t>
              </a:r>
              <a:r>
                <a:rPr lang="zh-CN" sz="1950" dirty="0">
                  <a:solidFill>
                    <a:schemeClr val="dk1"/>
                  </a:solidFill>
                  <a:latin typeface="Segoe UI"/>
                  <a:ea typeface="Microsoft YaHei"/>
                  <a:cs typeface="Segoe UI"/>
                </a:rPr>
                <a:t>与文献一致，系统把每一步都留在</a:t>
              </a:r>
              <a:r>
                <a:rPr lang="zh-CN" sz="1950" b="1" dirty="0">
                  <a:solidFill>
                    <a:schemeClr val="accent2"/>
                  </a:solidFill>
                  <a:latin typeface="Segoe UI"/>
                  <a:ea typeface="Microsoft YaHei"/>
                  <a:cs typeface="Segoe UI"/>
                </a:rPr>
                <a:t>可追溯的质量回环</a:t>
              </a:r>
              <a:r>
                <a:rPr lang="zh-CN" sz="1950" dirty="0">
                  <a:solidFill>
                    <a:schemeClr val="dk1"/>
                  </a:solidFill>
                  <a:latin typeface="Segoe UI"/>
                  <a:ea typeface="Microsoft YaHei"/>
                  <a:cs typeface="Segoe UI"/>
                </a:rPr>
                <a:t>里。</a:t>
              </a:r>
            </a:p>
          </p:txBody>
        </p:sp>
      </p:grpSp>
      <p:grpSp>
        <p:nvGrpSpPr>
          <p:cNvPr id="13" name="Group 13"/>
          <p:cNvGrpSpPr/>
          <p:nvPr/>
        </p:nvGrpSpPr>
        <p:grpSpPr>
          <a:xfrm>
            <a:off x="666750" y="2270760"/>
            <a:ext cx="3426104" cy="2952941"/>
            <a:chOff x="666750" y="2270760"/>
            <a:chExt cx="3426104" cy="2952941"/>
          </a:xfrm>
        </p:grpSpPr>
        <p:sp>
          <p:nvSpPr>
            <p:cNvPr id="7" name="TextBox 7"/>
            <p:cNvSpPr txBox="1"/>
            <p:nvPr/>
          </p:nvSpPr>
          <p:spPr>
            <a:xfrm>
              <a:off x="666750" y="2270760"/>
              <a:ext cx="691142" cy="819150"/>
            </a:xfrm>
            <a:prstGeom prst="rect">
              <a:avLst/>
            </a:prstGeom>
            <a:noFill/>
            <a:ln>
              <a:noFill/>
            </a:ln>
          </p:spPr>
          <p:txBody>
            <a:bodyPr wrap="none" lIns="0" tIns="0" rIns="0" bIns="0" anchor="t" anchorCtr="0">
              <a:spAutoFit/>
            </a:bodyPr>
            <a:lstStyle/>
            <a:p>
              <a:pPr algn="l"/>
              <a:r>
                <a:rPr lang="en-US" sz="4200" b="1" dirty="0">
                  <a:solidFill>
                    <a:schemeClr val="accent1"/>
                  </a:solidFill>
                  <a:latin typeface="Segoe UI"/>
                  <a:ea typeface="Segoe UI"/>
                  <a:cs typeface="Segoe UI"/>
                </a:rPr>
                <a:t>46</a:t>
              </a:r>
            </a:p>
          </p:txBody>
        </p:sp>
        <p:sp>
          <p:nvSpPr>
            <p:cNvPr id="8" name="TextBox 8"/>
            <p:cNvSpPr txBox="1"/>
            <p:nvPr/>
          </p:nvSpPr>
          <p:spPr>
            <a:xfrm>
              <a:off x="678942" y="2864168"/>
              <a:ext cx="3103245"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篇文献覆盖六个子主题，逐条核对通过</a:t>
              </a:r>
            </a:p>
          </p:txBody>
        </p:sp>
        <p:sp>
          <p:nvSpPr>
            <p:cNvPr id="9" name="TextBox 9"/>
            <p:cNvSpPr txBox="1"/>
            <p:nvPr/>
          </p:nvSpPr>
          <p:spPr>
            <a:xfrm>
              <a:off x="666750" y="3318510"/>
              <a:ext cx="2026909" cy="819150"/>
            </a:xfrm>
            <a:prstGeom prst="rect">
              <a:avLst/>
            </a:prstGeom>
            <a:noFill/>
            <a:ln>
              <a:noFill/>
            </a:ln>
          </p:spPr>
          <p:txBody>
            <a:bodyPr wrap="none" lIns="0" tIns="0" rIns="0" bIns="0" anchor="t" anchorCtr="0">
              <a:spAutoFit/>
            </a:bodyPr>
            <a:lstStyle/>
            <a:p>
              <a:pPr algn="l"/>
              <a:r>
                <a:rPr lang="en-US" sz="4200" b="1" dirty="0">
                  <a:solidFill>
                    <a:schemeClr val="accent1"/>
                  </a:solidFill>
                  <a:latin typeface="Segoe UI"/>
                  <a:ea typeface="Segoe UI"/>
                  <a:cs typeface="Segoe UI"/>
                </a:rPr>
                <a:t>21 · 49</a:t>
              </a:r>
            </a:p>
          </p:txBody>
        </p:sp>
        <p:sp>
          <p:nvSpPr>
            <p:cNvPr id="10" name="TextBox 10"/>
            <p:cNvSpPr txBox="1"/>
            <p:nvPr/>
          </p:nvSpPr>
          <p:spPr>
            <a:xfrm>
              <a:off x="678942" y="3911918"/>
              <a:ext cx="3413912"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个 Agent 任务 · 次工具调用，全过程留痕</a:t>
              </a:r>
            </a:p>
          </p:txBody>
        </p:sp>
        <p:sp>
          <p:nvSpPr>
            <p:cNvPr id="11" name="TextBox 11"/>
            <p:cNvSpPr txBox="1"/>
            <p:nvPr/>
          </p:nvSpPr>
          <p:spPr>
            <a:xfrm>
              <a:off x="666750" y="4366260"/>
              <a:ext cx="1462918" cy="819150"/>
            </a:xfrm>
            <a:prstGeom prst="rect">
              <a:avLst/>
            </a:prstGeom>
            <a:noFill/>
            <a:ln>
              <a:noFill/>
            </a:ln>
          </p:spPr>
          <p:txBody>
            <a:bodyPr wrap="none" lIns="0" tIns="0" rIns="0" bIns="0" anchor="t" anchorCtr="0">
              <a:spAutoFit/>
            </a:bodyPr>
            <a:lstStyle/>
            <a:p>
              <a:pPr algn="l"/>
              <a:r>
                <a:rPr lang="zh-CN" sz="4200" b="1" dirty="0">
                  <a:solidFill>
                    <a:schemeClr val="accent1"/>
                  </a:solidFill>
                  <a:latin typeface="Segoe UI"/>
                  <a:ea typeface="Microsoft YaHei"/>
                  <a:cs typeface="Segoe UI"/>
                </a:rPr>
                <a:t>10 页</a:t>
              </a:r>
            </a:p>
          </p:txBody>
        </p:sp>
        <p:sp>
          <p:nvSpPr>
            <p:cNvPr id="12" name="TextBox 12"/>
            <p:cNvSpPr txBox="1"/>
            <p:nvPr/>
          </p:nvSpPr>
          <p:spPr>
            <a:xfrm>
              <a:off x="678942" y="4959668"/>
              <a:ext cx="2462022" cy="264033"/>
            </a:xfrm>
            <a:prstGeom prst="rect">
              <a:avLst/>
            </a:prstGeom>
            <a:noFill/>
            <a:ln>
              <a:noFill/>
            </a:ln>
          </p:spPr>
          <p:txBody>
            <a:bodyPr wrap="none" lIns="0" tIns="0" rIns="0" bIns="0" anchor="t" anchorCtr="0">
              <a:spAutoFit/>
            </a:bodyPr>
            <a:lstStyle/>
            <a:p>
              <a:pPr algn="l"/>
              <a:r>
                <a:rPr lang="zh-CN" sz="1350" dirty="0">
                  <a:solidFill>
                    <a:schemeClr val="dk2"/>
                  </a:solidFill>
                  <a:latin typeface="Segoe UI"/>
                  <a:ea typeface="Microsoft YaHei"/>
                  <a:cs typeface="Segoe UI"/>
                </a:rPr>
                <a:t>A4 综述 PDF，46 篇全部整合</a:t>
              </a:r>
            </a:p>
          </p:txBody>
        </p:sp>
      </p:grpSp>
      <p:grpSp>
        <p:nvGrpSpPr>
          <p:cNvPr id="18" name="Group 18"/>
          <p:cNvGrpSpPr/>
          <p:nvPr/>
        </p:nvGrpSpPr>
        <p:grpSpPr>
          <a:xfrm>
            <a:off x="685800" y="5391150"/>
            <a:ext cx="4267200" cy="762000"/>
            <a:chOff x="685800" y="5391150"/>
            <a:chExt cx="4267200" cy="762000"/>
          </a:xfrm>
        </p:grpSpPr>
        <p:sp>
          <p:nvSpPr>
            <p:cNvPr id="14" name="Rectangle 14"/>
            <p:cNvSpPr/>
            <p:nvPr/>
          </p:nvSpPr>
          <p:spPr>
            <a:xfrm>
              <a:off x="685800" y="5391150"/>
              <a:ext cx="4267200" cy="762000"/>
            </a:xfrm>
            <a:prstGeom prst="rect">
              <a:avLst/>
            </a:prstGeom>
            <a:solidFill>
              <a:schemeClr val="lt2"/>
            </a:solidFill>
            <a:ln>
              <a:noFill/>
            </a:ln>
          </p:spPr>
        </p:sp>
        <p:sp>
          <p:nvSpPr>
            <p:cNvPr id="15" name="Rectangle 15"/>
            <p:cNvSpPr/>
            <p:nvPr/>
          </p:nvSpPr>
          <p:spPr>
            <a:xfrm>
              <a:off x="685800" y="5391150"/>
              <a:ext cx="57150" cy="762000"/>
            </a:xfrm>
            <a:prstGeom prst="rect">
              <a:avLst/>
            </a:prstGeom>
            <a:solidFill>
              <a:schemeClr val="accent1"/>
            </a:solidFill>
            <a:ln>
              <a:noFill/>
            </a:ln>
          </p:spPr>
        </p:sp>
        <p:sp>
          <p:nvSpPr>
            <p:cNvPr id="16" name="TextBox 16"/>
            <p:cNvSpPr txBox="1"/>
            <p:nvPr/>
          </p:nvSpPr>
          <p:spPr>
            <a:xfrm>
              <a:off x="907542" y="5531168"/>
              <a:ext cx="3971965"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Segoe UI"/>
                  <a:ea typeface="Microsoft YaHei"/>
                  <a:cs typeface="Segoe UI"/>
                </a:rPr>
                <a:t>首选路线</a:t>
              </a:r>
              <a:r>
                <a:rPr lang="en-US" sz="1350" dirty="0">
                  <a:solidFill>
                    <a:schemeClr val="dk1"/>
                  </a:solidFill>
                  <a:latin typeface="Segoe UI"/>
                  <a:ea typeface="Segoe UI"/>
                  <a:cs typeface="Segoe UI"/>
                </a:rPr>
                <a:t xml:space="preserve"> ZrO2 + La2O3 + Li2CO3 </a:t>
              </a:r>
              <a:r>
                <a:rPr lang="zh-CN" sz="1350" b="1" dirty="0">
                  <a:solidFill>
                    <a:srgbClr val="2E7D32"/>
                  </a:solidFill>
                  <a:latin typeface="Segoe UI"/>
                  <a:ea typeface="Microsoft YaHei"/>
                  <a:cs typeface="Segoe UI"/>
                </a:rPr>
                <a:t>与文献一致</a:t>
              </a:r>
            </a:p>
          </p:txBody>
        </p:sp>
        <p:sp>
          <p:nvSpPr>
            <p:cNvPr id="17" name="TextBox 17"/>
            <p:cNvSpPr txBox="1"/>
            <p:nvPr/>
          </p:nvSpPr>
          <p:spPr>
            <a:xfrm>
              <a:off x="907542" y="5816918"/>
              <a:ext cx="3557588"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Segoe UI"/>
                  <a:ea typeface="Microsoft YaHei"/>
                  <a:cs typeface="Segoe UI"/>
                </a:rPr>
                <a:t>质量把关</a:t>
              </a:r>
              <a:r>
                <a:rPr lang="zh-CN" sz="1350" dirty="0">
                  <a:solidFill>
                    <a:schemeClr val="dk1"/>
                  </a:solidFill>
                  <a:latin typeface="Segoe UI"/>
                  <a:ea typeface="Microsoft YaHei"/>
                  <a:cs typeface="Segoe UI"/>
                </a:rPr>
                <a:t xml:space="preserve"> 次选命名可疑，持续执行四步核对</a:t>
              </a:r>
            </a:p>
          </p:txBody>
        </p:sp>
      </p:grpSp>
      <p:grpSp>
        <p:nvGrpSpPr>
          <p:cNvPr id="25" name="Group 25"/>
          <p:cNvGrpSpPr/>
          <p:nvPr/>
        </p:nvGrpSpPr>
        <p:grpSpPr>
          <a:xfrm>
            <a:off x="5295900" y="2247900"/>
            <a:ext cx="6210300" cy="3143250"/>
            <a:chOff x="5295900" y="2247900"/>
            <a:chExt cx="6210300" cy="3143250"/>
          </a:xfrm>
        </p:grpSpPr>
        <p:sp>
          <p:nvSpPr>
            <p:cNvPr id="19" name="Rectangle 19"/>
            <p:cNvSpPr/>
            <p:nvPr/>
          </p:nvSpPr>
          <p:spPr>
            <a:xfrm>
              <a:off x="5295900" y="2247900"/>
              <a:ext cx="6210300" cy="3143250"/>
            </a:xfrm>
            <a:prstGeom prst="rect">
              <a:avLst/>
            </a:prstGeom>
            <a:solidFill>
              <a:schemeClr val="lt2"/>
            </a:solidFill>
            <a:ln>
              <a:noFill/>
            </a:ln>
          </p:spPr>
        </p:sp>
        <p:grpSp>
          <p:nvGrpSpPr>
            <p:cNvPr id="22" name="Group 22"/>
            <p:cNvGrpSpPr/>
            <p:nvPr/>
          </p:nvGrpSpPr>
          <p:grpSpPr>
            <a:xfrm>
              <a:off x="5542841" y="2471738"/>
              <a:ext cx="217008" cy="200025"/>
              <a:chOff x="5542841" y="2471738"/>
              <a:chExt cx="217008" cy="200025"/>
            </a:xfrm>
          </p:grpSpPr>
          <p:sp>
            <p:nvSpPr>
              <p:cNvPr id="20" name="Freeform 20"/>
              <p:cNvSpPr/>
              <p:nvPr/>
            </p:nvSpPr>
            <p:spPr>
              <a:xfrm>
                <a:off x="5542841" y="2471738"/>
                <a:ext cx="217008" cy="198314"/>
              </a:xfrm>
              <a:custGeom>
                <a:avLst/>
                <a:gdLst/>
                <a:ahLst/>
                <a:cxnLst/>
                <a:rect l="l" t="t" r="r" b="b"/>
                <a:pathLst>
                  <a:path w="217008" h="198314">
                    <a:moveTo>
                      <a:pt x="109009" y="198314"/>
                    </a:moveTo>
                    <a:cubicBezTo>
                      <a:pt x="39394" y="176735"/>
                      <a:pt x="0" y="103262"/>
                      <a:pt x="20553" y="33338"/>
                    </a:cubicBezTo>
                    <a:cubicBezTo>
                      <a:pt x="55175" y="34922"/>
                      <a:pt x="89053" y="22965"/>
                      <a:pt x="115010" y="0"/>
                    </a:cubicBezTo>
                    <a:cubicBezTo>
                      <a:pt x="140967" y="22965"/>
                      <a:pt x="174845" y="34922"/>
                      <a:pt x="209466" y="33338"/>
                    </a:cubicBezTo>
                    <a:cubicBezTo>
                      <a:pt x="217008" y="58998"/>
                      <a:pt x="216660" y="86333"/>
                      <a:pt x="208466" y="111792"/>
                    </a:cubicBezTo>
                  </a:path>
                </a:pathLst>
              </a:custGeom>
              <a:noFill/>
              <a:ln w="19050">
                <a:solidFill>
                  <a:schemeClr val="accent1"/>
                </a:solidFill>
              </a:ln>
            </p:spPr>
          </p:sp>
          <p:sp>
            <p:nvSpPr>
              <p:cNvPr id="21" name="Freeform 21"/>
              <p:cNvSpPr/>
              <p:nvPr/>
            </p:nvSpPr>
            <p:spPr>
              <a:xfrm>
                <a:off x="5691188" y="2627313"/>
                <a:ext cx="66675" cy="44450"/>
              </a:xfrm>
              <a:custGeom>
                <a:avLst/>
                <a:gdLst/>
                <a:ahLst/>
                <a:cxnLst/>
                <a:rect l="l" t="t" r="r" b="b"/>
                <a:pathLst>
                  <a:path w="66675" h="44450">
                    <a:moveTo>
                      <a:pt x="0" y="22225"/>
                    </a:moveTo>
                    <a:lnTo>
                      <a:pt x="22225" y="44450"/>
                    </a:lnTo>
                    <a:lnTo>
                      <a:pt x="66675" y="0"/>
                    </a:lnTo>
                  </a:path>
                </a:pathLst>
              </a:custGeom>
              <a:noFill/>
              <a:ln w="19050">
                <a:solidFill>
                  <a:schemeClr val="accent1"/>
                </a:solidFill>
              </a:ln>
            </p:spPr>
          </p:sp>
        </p:grpSp>
        <p:sp>
          <p:nvSpPr>
            <p:cNvPr id="23" name="TextBox 23"/>
            <p:cNvSpPr txBox="1"/>
            <p:nvPr/>
          </p:nvSpPr>
          <p:spPr>
            <a:xfrm>
              <a:off x="5877306" y="2453640"/>
              <a:ext cx="332590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Segoe UI"/>
                  <a:ea typeface="Microsoft YaHei"/>
                  <a:cs typeface="Segoe UI"/>
                </a:rPr>
                <a:t>四步把关，让模型建议可审查</a:t>
              </a:r>
            </a:p>
          </p:txBody>
        </p:sp>
        <p:sp>
          <p:nvSpPr>
            <p:cNvPr id="24" name="TextBox 24"/>
            <p:cNvSpPr txBox="1"/>
            <p:nvPr/>
          </p:nvSpPr>
          <p:spPr>
            <a:xfrm>
              <a:off x="5517642" y="2902268"/>
              <a:ext cx="4694301" cy="1407033"/>
            </a:xfrm>
            <a:prstGeom prst="rect">
              <a:avLst/>
            </a:prstGeom>
            <a:noFill/>
            <a:ln>
              <a:noFill/>
            </a:ln>
          </p:spPr>
          <p:txBody>
            <a:bodyPr wrap="square" lIns="0" tIns="0" rIns="0" bIns="0" anchor="t" anchorCtr="0"/>
            <a:lstStyle/>
            <a:p>
              <a:pPr algn="l" marL="145732" indent="-145732">
                <a:lnSpc>
                  <a:spcPts val="2250"/>
                </a:lnSpc>
                <a:buClr>
                  <a:schemeClr val="dk1"/>
                </a:buClr>
                <a:buSzTx/>
                <a:buFontTx/>
                <a:buChar char="•"/>
              </a:pPr>
              <a:r>
                <a:rPr lang="zh-CN" sz="1350" dirty="0">
                  <a:solidFill>
                    <a:schemeClr val="dk1"/>
                  </a:solidFill>
                  <a:latin typeface="Segoe UI"/>
                  <a:ea typeface="Microsoft YaHei"/>
                  <a:cs typeface="Segoe UI"/>
                </a:rPr>
                <a:t>模型首选前驱体路线 ZrO2 + La2O3 + Li2CO3 与文献一致</a:t>
              </a:r>
            </a:p>
            <a:p>
              <a:pPr algn="l" marL="145732" indent="-145732">
                <a:lnSpc>
                  <a:spcPts val="2250"/>
                </a:lnSpc>
                <a:buClr>
                  <a:schemeClr val="dk1"/>
                </a:buClr>
                <a:buSzTx/>
                <a:buFontTx/>
                <a:buChar char="•"/>
              </a:pPr>
              <a:r>
                <a:rPr lang="zh-CN" sz="1350" dirty="0">
                  <a:solidFill>
                    <a:schemeClr val="dk1"/>
                  </a:solidFill>
                  <a:latin typeface="Segoe UI"/>
                  <a:ea typeface="Microsoft YaHei"/>
                  <a:cs typeface="Segoe UI"/>
                </a:rPr>
                <a:t>系统始终坚持：模型生成 → 化学式规范化 → 文献复核 → 审稿</a:t>
              </a:r>
            </a:p>
            <a:p>
              <a:pPr algn="l" marL="145732" indent="-145732">
                <a:lnSpc>
                  <a:spcPts val="2250"/>
                </a:lnSpc>
                <a:buClr>
                  <a:schemeClr val="dk1"/>
                </a:buClr>
                <a:buSzTx/>
                <a:buFontTx/>
                <a:buChar char="•"/>
              </a:pPr>
              <a:r>
                <a:rPr lang="zh-CN" sz="1350" dirty="0">
                  <a:solidFill>
                    <a:schemeClr val="dk1"/>
                  </a:solidFill>
                  <a:latin typeface="Segoe UI"/>
                  <a:ea typeface="Microsoft YaHei"/>
                  <a:cs typeface="Segoe UI"/>
                </a:rPr>
                <a:t>次选命名可疑也不直接采信，四步把关</a:t>
              </a:r>
            </a:p>
            <a:p>
              <a:pPr algn="l" marL="145732" indent="-145732">
                <a:lnSpc>
                  <a:spcPts val="2250"/>
                </a:lnSpc>
                <a:buClr>
                  <a:schemeClr val="dk1"/>
                </a:buClr>
                <a:buSzTx/>
                <a:buFontTx/>
                <a:buChar char="•"/>
              </a:pPr>
              <a:r>
                <a:rPr lang="zh-CN" sz="1350" dirty="0">
                  <a:solidFill>
                    <a:schemeClr val="dk1"/>
                  </a:solidFill>
                  <a:latin typeface="Segoe UI"/>
                  <a:ea typeface="Microsoft YaHei"/>
                  <a:cs typeface="Segoe UI"/>
                </a:rPr>
                <a:t>多源检索 + 逐条核对，模型与文献互证</a:t>
              </a:r>
            </a:p>
            <a:p>
              <a:pPr algn="l" marL="145732" indent="-145732">
                <a:lnSpc>
                  <a:spcPts val="2250"/>
                </a:lnSpc>
                <a:buClr>
                  <a:schemeClr val="dk1"/>
                </a:buClr>
                <a:buSzTx/>
                <a:buFontTx/>
                <a:buChar char="•"/>
              </a:pPr>
              <a:r>
                <a:rPr lang="zh-CN" sz="1350" dirty="0">
                  <a:solidFill>
                    <a:schemeClr val="dk1"/>
                  </a:solidFill>
                  <a:latin typeface="Segoe UI"/>
                  <a:ea typeface="Microsoft YaHei"/>
                  <a:cs typeface="Segoe UI"/>
                </a:rPr>
                <a:t>每一步可追溯，建议不被直接采信</a:t>
              </a:r>
            </a:p>
          </p:txBody>
        </p:sp>
      </p:grpSp>
      <p:grpSp>
        <p:nvGrpSpPr>
          <p:cNvPr id="27" name="Group 27"/>
          <p:cNvGrpSpPr/>
          <p:nvPr/>
        </p:nvGrpSpPr>
        <p:grpSpPr>
          <a:xfrm>
            <a:off x="5289042" y="5626418"/>
            <a:ext cx="5560124" cy="511683"/>
            <a:chOff x="5289042" y="5626418"/>
            <a:chExt cx="5560124" cy="511683"/>
          </a:xfrm>
        </p:grpSpPr>
        <p:sp>
          <p:nvSpPr>
            <p:cNvPr id="26" name="TextBox 26"/>
            <p:cNvSpPr txBox="1"/>
            <p:nvPr/>
          </p:nvSpPr>
          <p:spPr>
            <a:xfrm>
              <a:off x="5289042" y="5626418"/>
              <a:ext cx="5560124" cy="511683"/>
            </a:xfrm>
            <a:prstGeom prst="rect">
              <a:avLst/>
            </a:prstGeom>
            <a:noFill/>
            <a:ln>
              <a:noFill/>
            </a:ln>
          </p:spPr>
          <p:txBody>
            <a:bodyPr wrap="square" lIns="0" tIns="0" rIns="0" bIns="0" anchor="t" anchorCtr="0"/>
            <a:lstStyle/>
            <a:p>
              <a:pPr algn="l">
                <a:lnSpc>
                  <a:spcPts val="1950"/>
                </a:lnSpc>
              </a:pPr>
              <a:r>
                <a:rPr lang="zh-CN" sz="1350" b="1" dirty="0">
                  <a:solidFill>
                    <a:schemeClr val="accent1"/>
                  </a:solidFill>
                  <a:latin typeface="Segoe UI"/>
                  <a:ea typeface="Microsoft YaHei"/>
                  <a:cs typeface="Segoe UI"/>
                </a:rPr>
                <a:t>替代材料分析</a:t>
              </a:r>
              <a:r>
                <a:rPr lang="zh-CN" sz="1350" dirty="0">
                  <a:solidFill>
                    <a:schemeClr val="dk1"/>
                  </a:solidFill>
                  <a:latin typeface="Segoe UI"/>
                  <a:ea typeface="Microsoft YaHei"/>
                  <a:cs typeface="Segoe UI"/>
                </a:rPr>
                <a:t xml:space="preserve"> Li6PS5Cl、Li3YCl6、LATP 的模型首选路线均通过文献复核</a:t>
              </a:r>
              <a:r>
                <a:rPr lang="zh-CN" sz="1350" dirty="0">
                  <a:solidFill>
                    <a:schemeClr val="dk1"/>
                  </a:solidFill>
                  <a:latin typeface="Segoe UI"/>
                  <a:ea typeface="Microsoft YaHei"/>
                  <a:cs typeface="Segoe UI"/>
                </a:rPr>
                <a:t>分别对应高电导冷压、高电压正极侧、低成本空气中操作三种场景。</a:t>
              </a:r>
            </a:p>
          </p:txBody>
        </p:sp>
      </p:grpSp>
      <p:grpSp>
        <p:nvGrpSpPr>
          <p:cNvPr id="30" name="Group 30"/>
          <p:cNvGrpSpPr/>
          <p:nvPr/>
        </p:nvGrpSpPr>
        <p:grpSpPr>
          <a:xfrm>
            <a:off x="679704" y="6480810"/>
            <a:ext cx="10832592" cy="234696"/>
            <a:chOff x="679704" y="6480810"/>
            <a:chExt cx="10832592" cy="234696"/>
          </a:xfrm>
        </p:grpSpPr>
        <p:sp>
          <p:nvSpPr>
            <p:cNvPr id="28" name="TextBox 28"/>
            <p:cNvSpPr txBox="1"/>
            <p:nvPr/>
          </p:nvSpPr>
          <p:spPr>
            <a:xfrm>
              <a:off x="679704" y="6480810"/>
              <a:ext cx="341757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Segoe UI"/>
                  <a:ea typeface="Microsoft YaHei"/>
                  <a:cs typeface="Segoe UI"/>
                </a:rPr>
                <a:t>SAGE-Mat · GOAI 2026 AI for Research 复赛</a:t>
              </a:r>
            </a:p>
          </p:txBody>
        </p:sp>
        <p:sp>
          <p:nvSpPr>
            <p:cNvPr id="29" name="TextBox 29"/>
            <p:cNvSpPr txBox="1"/>
            <p:nvPr/>
          </p:nvSpPr>
          <p:spPr>
            <a:xfrm>
              <a:off x="10958932" y="6480810"/>
              <a:ext cx="553364"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Segoe UI"/>
                  <a:ea typeface="Segoe UI"/>
                  <a:cs typeface="Segoe UI"/>
                </a:rPr>
                <a:t>10 / 13</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70560" y="590550"/>
            <a:ext cx="9359646" cy="586740"/>
            <a:chOff x="670560" y="590550"/>
            <a:chExt cx="9359646" cy="586740"/>
          </a:xfrm>
        </p:grpSpPr>
        <p:sp>
          <p:nvSpPr>
            <p:cNvPr id="2" name="TextBox 2"/>
            <p:cNvSpPr txBox="1"/>
            <p:nvPr/>
          </p:nvSpPr>
          <p:spPr>
            <a:xfrm>
              <a:off x="670560" y="590550"/>
              <a:ext cx="9359646"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Segoe UI"/>
                  <a:ea typeface="Microsoft YaHei"/>
                  <a:cs typeface="Segoe UI"/>
                </a:rPr>
                <a:t>冷启动只输入一行主题，各类角色各自交出了什么</a:t>
              </a:r>
            </a:p>
          </p:txBody>
        </p:sp>
        <p:sp>
          <p:nvSpPr>
            <p:cNvPr id="3" name="Rectangle 3"/>
            <p:cNvSpPr/>
            <p:nvPr/>
          </p:nvSpPr>
          <p:spPr>
            <a:xfrm>
              <a:off x="685800" y="1085850"/>
              <a:ext cx="685800" cy="38100"/>
            </a:xfrm>
            <a:prstGeom prst="rect">
              <a:avLst/>
            </a:prstGeom>
            <a:solidFill>
              <a:schemeClr val="accent1"/>
            </a:solidFill>
            <a:ln>
              <a:noFill/>
            </a:ln>
          </p:spPr>
        </p:sp>
      </p:grpSp>
      <p:grpSp>
        <p:nvGrpSpPr>
          <p:cNvPr id="6" name="Group 6"/>
          <p:cNvGrpSpPr/>
          <p:nvPr/>
        </p:nvGrpSpPr>
        <p:grpSpPr>
          <a:xfrm>
            <a:off x="675894" y="1370648"/>
            <a:ext cx="7632573" cy="381381"/>
            <a:chOff x="675894" y="1370648"/>
            <a:chExt cx="7632573" cy="381381"/>
          </a:xfrm>
        </p:grpSpPr>
        <p:sp>
          <p:nvSpPr>
            <p:cNvPr id="5" name="TextBox 5"/>
            <p:cNvSpPr txBox="1"/>
            <p:nvPr/>
          </p:nvSpPr>
          <p:spPr>
            <a:xfrm>
              <a:off x="675894" y="1370648"/>
              <a:ext cx="7632573" cy="381381"/>
            </a:xfrm>
            <a:prstGeom prst="rect">
              <a:avLst/>
            </a:prstGeom>
            <a:noFill/>
            <a:ln>
              <a:noFill/>
            </a:ln>
          </p:spPr>
          <p:txBody>
            <a:bodyPr wrap="none" lIns="0" tIns="0" rIns="0" bIns="0" anchor="t" anchorCtr="0">
              <a:spAutoFit/>
            </a:bodyPr>
            <a:lstStyle/>
            <a:p>
              <a:pPr algn="l"/>
              <a:r>
                <a:rPr lang="zh-CN" sz="1950" dirty="0">
                  <a:solidFill>
                    <a:schemeClr val="dk1"/>
                  </a:solidFill>
                  <a:latin typeface="Segoe UI"/>
                  <a:ea typeface="Microsoft YaHei"/>
                  <a:cs typeface="Segoe UI"/>
                </a:rPr>
                <a:t>唯一输入是一行主题，下面展示各角色交付的亮点与可核对结果。</a:t>
              </a:r>
            </a:p>
          </p:txBody>
        </p:sp>
      </p:grpSp>
      <p:grpSp>
        <p:nvGrpSpPr>
          <p:cNvPr id="11" name="Group 11"/>
          <p:cNvGrpSpPr/>
          <p:nvPr/>
        </p:nvGrpSpPr>
        <p:grpSpPr>
          <a:xfrm>
            <a:off x="685800" y="1943100"/>
            <a:ext cx="10820400" cy="710184"/>
            <a:chOff x="685800" y="1943100"/>
            <a:chExt cx="10820400" cy="710184"/>
          </a:xfrm>
        </p:grpSpPr>
        <p:sp>
          <p:nvSpPr>
            <p:cNvPr id="7" name="Rectangle 7"/>
            <p:cNvSpPr/>
            <p:nvPr/>
          </p:nvSpPr>
          <p:spPr>
            <a:xfrm>
              <a:off x="685800" y="1943100"/>
              <a:ext cx="10820400" cy="685800"/>
            </a:xfrm>
            <a:prstGeom prst="rect">
              <a:avLst/>
            </a:prstGeom>
            <a:solidFill>
              <a:schemeClr val="lt2"/>
            </a:solidFill>
            <a:ln>
              <a:noFill/>
            </a:ln>
          </p:spPr>
        </p:sp>
        <p:sp>
          <p:nvSpPr>
            <p:cNvPr id="8" name="Rectangle 8"/>
            <p:cNvSpPr/>
            <p:nvPr/>
          </p:nvSpPr>
          <p:spPr>
            <a:xfrm>
              <a:off x="685800" y="1943100"/>
              <a:ext cx="57150" cy="685800"/>
            </a:xfrm>
            <a:prstGeom prst="rect">
              <a:avLst/>
            </a:prstGeom>
            <a:solidFill>
              <a:schemeClr val="accent1"/>
            </a:solidFill>
            <a:ln>
              <a:noFill/>
            </a:ln>
          </p:spPr>
        </p:sp>
        <p:sp>
          <p:nvSpPr>
            <p:cNvPr id="9" name="TextBox 9"/>
            <p:cNvSpPr txBox="1"/>
            <p:nvPr/>
          </p:nvSpPr>
          <p:spPr>
            <a:xfrm>
              <a:off x="907542" y="2064068"/>
              <a:ext cx="77701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唯一输入</a:t>
              </a:r>
            </a:p>
          </p:txBody>
        </p:sp>
        <p:sp>
          <p:nvSpPr>
            <p:cNvPr id="10" name="TextBox 10"/>
            <p:cNvSpPr txBox="1"/>
            <p:nvPr/>
          </p:nvSpPr>
          <p:spPr>
            <a:xfrm>
              <a:off x="905256" y="2301240"/>
              <a:ext cx="732320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Segoe UI"/>
                  <a:ea typeface="Microsoft YaHei"/>
                  <a:cs typeface="Segoe UI"/>
                </a:rPr>
                <a:t>调研主题：Ba5Y12Zn[O(SiO4)]8及其结构相近化合物的合成条件</a:t>
              </a:r>
            </a:p>
          </p:txBody>
        </p:sp>
      </p:grpSp>
      <p:grpSp>
        <p:nvGrpSpPr>
          <p:cNvPr id="22" name="Group 22"/>
          <p:cNvGrpSpPr/>
          <p:nvPr/>
        </p:nvGrpSpPr>
        <p:grpSpPr>
          <a:xfrm>
            <a:off x="685800" y="2857500"/>
            <a:ext cx="10820400" cy="914400"/>
            <a:chOff x="685800" y="2857500"/>
            <a:chExt cx="10820400" cy="914400"/>
          </a:xfrm>
        </p:grpSpPr>
        <p:sp>
          <p:nvSpPr>
            <p:cNvPr id="12" name="Rectangle 12"/>
            <p:cNvSpPr/>
            <p:nvPr/>
          </p:nvSpPr>
          <p:spPr>
            <a:xfrm>
              <a:off x="685800" y="2857500"/>
              <a:ext cx="5295900" cy="914400"/>
            </a:xfrm>
            <a:prstGeom prst="rect">
              <a:avLst/>
            </a:prstGeom>
            <a:solidFill>
              <a:schemeClr val="lt2"/>
            </a:solidFill>
            <a:ln>
              <a:noFill/>
            </a:ln>
          </p:spPr>
        </p:sp>
        <p:sp>
          <p:nvSpPr>
            <p:cNvPr id="13" name="Rectangle 13"/>
            <p:cNvSpPr/>
            <p:nvPr/>
          </p:nvSpPr>
          <p:spPr>
            <a:xfrm>
              <a:off x="685800" y="2857500"/>
              <a:ext cx="57150" cy="914400"/>
            </a:xfrm>
            <a:prstGeom prst="rect">
              <a:avLst/>
            </a:prstGeom>
            <a:solidFill>
              <a:schemeClr val="accent1"/>
            </a:solidFill>
            <a:ln>
              <a:noFill/>
            </a:ln>
          </p:spPr>
        </p:sp>
        <p:sp>
          <p:nvSpPr>
            <p:cNvPr id="14" name="TextBox 14"/>
            <p:cNvSpPr txBox="1"/>
            <p:nvPr/>
          </p:nvSpPr>
          <p:spPr>
            <a:xfrm>
              <a:off x="907542" y="2997518"/>
              <a:ext cx="586188"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编排器</a:t>
              </a:r>
            </a:p>
          </p:txBody>
        </p:sp>
        <p:sp>
          <p:nvSpPr>
            <p:cNvPr id="15" name="TextBox 15"/>
            <p:cNvSpPr txBox="1"/>
            <p:nvPr/>
          </p:nvSpPr>
          <p:spPr>
            <a:xfrm>
              <a:off x="907542" y="3245168"/>
              <a:ext cx="367571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Segoe UI"/>
                  <a:ea typeface="Microsoft YaHei"/>
                  <a:cs typeface="Segoe UI"/>
                </a:rPr>
                <a:t>自动确认范围；在需要人确认的节点续跑 4 次</a:t>
              </a:r>
            </a:p>
          </p:txBody>
        </p:sp>
        <p:sp>
          <p:nvSpPr>
            <p:cNvPr id="16" name="TextBox 16"/>
            <p:cNvSpPr txBox="1"/>
            <p:nvPr/>
          </p:nvSpPr>
          <p:spPr>
            <a:xfrm>
              <a:off x="907542" y="3473768"/>
              <a:ext cx="37120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Segoe UI"/>
                  <a:ea typeface="Microsoft YaHei"/>
                  <a:cs typeface="Segoe UI"/>
                </a:rPr>
                <a:t>29 批 / 40 个子任务，约 7,084 万输入 token</a:t>
              </a:r>
            </a:p>
          </p:txBody>
        </p:sp>
        <p:sp>
          <p:nvSpPr>
            <p:cNvPr id="17" name="Rectangle 17"/>
            <p:cNvSpPr/>
            <p:nvPr/>
          </p:nvSpPr>
          <p:spPr>
            <a:xfrm>
              <a:off x="6210300" y="2857500"/>
              <a:ext cx="5295900" cy="914400"/>
            </a:xfrm>
            <a:prstGeom prst="rect">
              <a:avLst/>
            </a:prstGeom>
            <a:solidFill>
              <a:schemeClr val="lt2"/>
            </a:solidFill>
            <a:ln>
              <a:noFill/>
            </a:ln>
          </p:spPr>
        </p:sp>
        <p:sp>
          <p:nvSpPr>
            <p:cNvPr id="18" name="Rectangle 18"/>
            <p:cNvSpPr/>
            <p:nvPr/>
          </p:nvSpPr>
          <p:spPr>
            <a:xfrm>
              <a:off x="6210300" y="2857500"/>
              <a:ext cx="57150" cy="914400"/>
            </a:xfrm>
            <a:prstGeom prst="rect">
              <a:avLst/>
            </a:prstGeom>
            <a:solidFill>
              <a:schemeClr val="accent1"/>
            </a:solidFill>
            <a:ln>
              <a:noFill/>
            </a:ln>
          </p:spPr>
        </p:sp>
        <p:sp>
          <p:nvSpPr>
            <p:cNvPr id="19" name="TextBox 19"/>
            <p:cNvSpPr txBox="1"/>
            <p:nvPr/>
          </p:nvSpPr>
          <p:spPr>
            <a:xfrm>
              <a:off x="6432042" y="2997518"/>
              <a:ext cx="77701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文献检索</a:t>
              </a:r>
            </a:p>
          </p:txBody>
        </p:sp>
        <p:sp>
          <p:nvSpPr>
            <p:cNvPr id="20" name="TextBox 20"/>
            <p:cNvSpPr txBox="1"/>
            <p:nvPr/>
          </p:nvSpPr>
          <p:spPr>
            <a:xfrm>
              <a:off x="6432042" y="3245168"/>
              <a:ext cx="292150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Segoe UI"/>
                  <a:ea typeface="Microsoft YaHei"/>
                  <a:cs typeface="Segoe UI"/>
                </a:rPr>
                <a:t>8 个子主题；在线五源 + 本地全文库</a:t>
              </a:r>
            </a:p>
          </p:txBody>
        </p:sp>
        <p:sp>
          <p:nvSpPr>
            <p:cNvPr id="21" name="TextBox 21"/>
            <p:cNvSpPr txBox="1"/>
            <p:nvPr/>
          </p:nvSpPr>
          <p:spPr>
            <a:xfrm>
              <a:off x="6432042" y="3473768"/>
              <a:ext cx="117683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Segoe UI"/>
                  <a:ea typeface="Microsoft YaHei"/>
                  <a:cs typeface="Segoe UI"/>
                </a:rPr>
                <a:t>63 条候选文献</a:t>
              </a:r>
            </a:p>
          </p:txBody>
        </p:sp>
      </p:grpSp>
      <p:grpSp>
        <p:nvGrpSpPr>
          <p:cNvPr id="33" name="Group 33"/>
          <p:cNvGrpSpPr/>
          <p:nvPr/>
        </p:nvGrpSpPr>
        <p:grpSpPr>
          <a:xfrm>
            <a:off x="685800" y="3905250"/>
            <a:ext cx="10820400" cy="914400"/>
            <a:chOff x="685800" y="3905250"/>
            <a:chExt cx="10820400" cy="914400"/>
          </a:xfrm>
        </p:grpSpPr>
        <p:sp>
          <p:nvSpPr>
            <p:cNvPr id="23" name="Rectangle 23"/>
            <p:cNvSpPr/>
            <p:nvPr/>
          </p:nvSpPr>
          <p:spPr>
            <a:xfrm>
              <a:off x="685800" y="3905250"/>
              <a:ext cx="5295900" cy="914400"/>
            </a:xfrm>
            <a:prstGeom prst="rect">
              <a:avLst/>
            </a:prstGeom>
            <a:solidFill>
              <a:schemeClr val="lt2"/>
            </a:solidFill>
            <a:ln>
              <a:noFill/>
            </a:ln>
          </p:spPr>
        </p:sp>
        <p:sp>
          <p:nvSpPr>
            <p:cNvPr id="24" name="Rectangle 24"/>
            <p:cNvSpPr/>
            <p:nvPr/>
          </p:nvSpPr>
          <p:spPr>
            <a:xfrm>
              <a:off x="685800" y="3905250"/>
              <a:ext cx="57150" cy="914400"/>
            </a:xfrm>
            <a:prstGeom prst="rect">
              <a:avLst/>
            </a:prstGeom>
            <a:solidFill>
              <a:schemeClr val="accent2"/>
            </a:solidFill>
            <a:ln>
              <a:noFill/>
            </a:ln>
          </p:spPr>
        </p:sp>
        <p:sp>
          <p:nvSpPr>
            <p:cNvPr id="25" name="TextBox 25"/>
            <p:cNvSpPr txBox="1"/>
            <p:nvPr/>
          </p:nvSpPr>
          <p:spPr>
            <a:xfrm>
              <a:off x="907542" y="4045268"/>
              <a:ext cx="77701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引用核对</a:t>
              </a:r>
            </a:p>
          </p:txBody>
        </p:sp>
        <p:sp>
          <p:nvSpPr>
            <p:cNvPr id="26" name="TextBox 26"/>
            <p:cNvSpPr txBox="1"/>
            <p:nvPr/>
          </p:nvSpPr>
          <p:spPr>
            <a:xfrm>
              <a:off x="907542" y="4292918"/>
              <a:ext cx="333041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Segoe UI"/>
                  <a:ea typeface="Microsoft YaHei"/>
                  <a:cs typeface="Segoe UI"/>
                </a:rPr>
                <a:t>51 篇全部通过；5 条作者名不匹配的文献</a:t>
              </a:r>
            </a:p>
          </p:txBody>
        </p:sp>
        <p:sp>
          <p:nvSpPr>
            <p:cNvPr id="27" name="TextBox 27"/>
            <p:cNvSpPr txBox="1"/>
            <p:nvPr/>
          </p:nvSpPr>
          <p:spPr>
            <a:xfrm>
              <a:off x="907542" y="4521518"/>
              <a:ext cx="237629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Segoe UI"/>
                  <a:ea typeface="Microsoft YaHei"/>
                  <a:cs typeface="Segoe UI"/>
                </a:rPr>
                <a:t>三轮未收敛，交人决定后删除</a:t>
              </a:r>
            </a:p>
          </p:txBody>
        </p:sp>
        <p:sp>
          <p:nvSpPr>
            <p:cNvPr id="28" name="Rectangle 28"/>
            <p:cNvSpPr/>
            <p:nvPr/>
          </p:nvSpPr>
          <p:spPr>
            <a:xfrm>
              <a:off x="6210300" y="3905250"/>
              <a:ext cx="5295900" cy="914400"/>
            </a:xfrm>
            <a:prstGeom prst="rect">
              <a:avLst/>
            </a:prstGeom>
            <a:solidFill>
              <a:schemeClr val="lt2"/>
            </a:solidFill>
            <a:ln>
              <a:noFill/>
            </a:ln>
          </p:spPr>
        </p:sp>
        <p:sp>
          <p:nvSpPr>
            <p:cNvPr id="29" name="Rectangle 29"/>
            <p:cNvSpPr/>
            <p:nvPr/>
          </p:nvSpPr>
          <p:spPr>
            <a:xfrm>
              <a:off x="6210300" y="3905250"/>
              <a:ext cx="57150" cy="914400"/>
            </a:xfrm>
            <a:prstGeom prst="rect">
              <a:avLst/>
            </a:prstGeom>
            <a:solidFill>
              <a:schemeClr val="accent2"/>
            </a:solidFill>
            <a:ln>
              <a:noFill/>
            </a:ln>
          </p:spPr>
        </p:sp>
        <p:sp>
          <p:nvSpPr>
            <p:cNvPr id="30" name="TextBox 30"/>
            <p:cNvSpPr txBox="1"/>
            <p:nvPr/>
          </p:nvSpPr>
          <p:spPr>
            <a:xfrm>
              <a:off x="6432042" y="4045268"/>
              <a:ext cx="39536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写作</a:t>
              </a:r>
            </a:p>
          </p:txBody>
        </p:sp>
        <p:sp>
          <p:nvSpPr>
            <p:cNvPr id="31" name="TextBox 31"/>
            <p:cNvSpPr txBox="1"/>
            <p:nvPr/>
          </p:nvSpPr>
          <p:spPr>
            <a:xfrm>
              <a:off x="6432042" y="4292918"/>
              <a:ext cx="274885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Segoe UI"/>
                  <a:ea typeface="Microsoft YaHei"/>
                  <a:cs typeface="Segoe UI"/>
                </a:rPr>
                <a:t>11 章、219 次引用、整合率 100%</a:t>
              </a:r>
            </a:p>
          </p:txBody>
        </p:sp>
        <p:sp>
          <p:nvSpPr>
            <p:cNvPr id="32" name="TextBox 32"/>
            <p:cNvSpPr txBox="1"/>
            <p:nvPr/>
          </p:nvSpPr>
          <p:spPr>
            <a:xfrm>
              <a:off x="6432042" y="4521518"/>
              <a:ext cx="273977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Segoe UI"/>
                  <a:ea typeface="Microsoft YaHei"/>
                  <a:cs typeface="Segoe UI"/>
                </a:rPr>
                <a:t>同类体系单独成节，前人结论汇总</a:t>
              </a:r>
            </a:p>
          </p:txBody>
        </p:sp>
      </p:grpSp>
      <p:grpSp>
        <p:nvGrpSpPr>
          <p:cNvPr id="49" name="Group 49"/>
          <p:cNvGrpSpPr/>
          <p:nvPr/>
        </p:nvGrpSpPr>
        <p:grpSpPr>
          <a:xfrm>
            <a:off x="685800" y="4953000"/>
            <a:ext cx="10820400" cy="914400"/>
            <a:chOff x="685800" y="4953000"/>
            <a:chExt cx="10820400" cy="914400"/>
          </a:xfrm>
        </p:grpSpPr>
        <p:sp>
          <p:nvSpPr>
            <p:cNvPr id="34" name="Rectangle 34"/>
            <p:cNvSpPr/>
            <p:nvPr/>
          </p:nvSpPr>
          <p:spPr>
            <a:xfrm>
              <a:off x="685800" y="4953000"/>
              <a:ext cx="3429000" cy="914400"/>
            </a:xfrm>
            <a:prstGeom prst="rect">
              <a:avLst/>
            </a:prstGeom>
            <a:solidFill>
              <a:schemeClr val="lt2"/>
            </a:solidFill>
            <a:ln>
              <a:noFill/>
            </a:ln>
          </p:spPr>
        </p:sp>
        <p:sp>
          <p:nvSpPr>
            <p:cNvPr id="35" name="Rectangle 35"/>
            <p:cNvSpPr/>
            <p:nvPr/>
          </p:nvSpPr>
          <p:spPr>
            <a:xfrm>
              <a:off x="685800" y="4953000"/>
              <a:ext cx="57150" cy="914400"/>
            </a:xfrm>
            <a:prstGeom prst="rect">
              <a:avLst/>
            </a:prstGeom>
            <a:solidFill>
              <a:schemeClr val="accent3"/>
            </a:solidFill>
            <a:ln>
              <a:noFill/>
            </a:ln>
          </p:spPr>
        </p:sp>
        <p:sp>
          <p:nvSpPr>
            <p:cNvPr id="36" name="TextBox 36"/>
            <p:cNvSpPr txBox="1"/>
            <p:nvPr/>
          </p:nvSpPr>
          <p:spPr>
            <a:xfrm>
              <a:off x="907542" y="5093018"/>
              <a:ext cx="39536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绘图</a:t>
              </a:r>
            </a:p>
          </p:txBody>
        </p:sp>
        <p:sp>
          <p:nvSpPr>
            <p:cNvPr id="37" name="TextBox 37"/>
            <p:cNvSpPr txBox="1"/>
            <p:nvPr/>
          </p:nvSpPr>
          <p:spPr>
            <a:xfrm>
              <a:off x="907542" y="5340668"/>
              <a:ext cx="271251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Segoe UI"/>
                  <a:ea typeface="Microsoft YaHei"/>
                  <a:cs typeface="Segoe UI"/>
                </a:rPr>
                <a:t>3 张图先生成视觉参照，再重建为</a:t>
              </a:r>
            </a:p>
          </p:txBody>
        </p:sp>
        <p:sp>
          <p:nvSpPr>
            <p:cNvPr id="38" name="TextBox 38"/>
            <p:cNvSpPr txBox="1"/>
            <p:nvPr/>
          </p:nvSpPr>
          <p:spPr>
            <a:xfrm>
              <a:off x="907542" y="5569268"/>
              <a:ext cx="237629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Segoe UI"/>
                  <a:ea typeface="Microsoft YaHei"/>
                  <a:cs typeface="Segoe UI"/>
                </a:rPr>
                <a:t>可编辑图，全部通过排版检查</a:t>
              </a:r>
            </a:p>
          </p:txBody>
        </p:sp>
        <p:sp>
          <p:nvSpPr>
            <p:cNvPr id="39" name="Rectangle 39"/>
            <p:cNvSpPr/>
            <p:nvPr/>
          </p:nvSpPr>
          <p:spPr>
            <a:xfrm>
              <a:off x="4381500" y="4953000"/>
              <a:ext cx="3429000" cy="914400"/>
            </a:xfrm>
            <a:prstGeom prst="rect">
              <a:avLst/>
            </a:prstGeom>
            <a:solidFill>
              <a:schemeClr val="lt2"/>
            </a:solidFill>
            <a:ln>
              <a:noFill/>
            </a:ln>
          </p:spPr>
        </p:sp>
        <p:sp>
          <p:nvSpPr>
            <p:cNvPr id="40" name="Rectangle 40"/>
            <p:cNvSpPr/>
            <p:nvPr/>
          </p:nvSpPr>
          <p:spPr>
            <a:xfrm>
              <a:off x="4381500" y="4953000"/>
              <a:ext cx="57150" cy="914400"/>
            </a:xfrm>
            <a:prstGeom prst="rect">
              <a:avLst/>
            </a:prstGeom>
            <a:solidFill>
              <a:schemeClr val="accent3"/>
            </a:solidFill>
            <a:ln>
              <a:noFill/>
            </a:ln>
          </p:spPr>
        </p:sp>
        <p:sp>
          <p:nvSpPr>
            <p:cNvPr id="41" name="TextBox 41"/>
            <p:cNvSpPr txBox="1"/>
            <p:nvPr/>
          </p:nvSpPr>
          <p:spPr>
            <a:xfrm>
              <a:off x="4603242" y="5093018"/>
              <a:ext cx="77701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想法生成</a:t>
              </a:r>
            </a:p>
          </p:txBody>
        </p:sp>
        <p:sp>
          <p:nvSpPr>
            <p:cNvPr id="42" name="TextBox 42"/>
            <p:cNvSpPr txBox="1"/>
            <p:nvPr/>
          </p:nvSpPr>
          <p:spPr>
            <a:xfrm>
              <a:off x="4603242" y="5340668"/>
              <a:ext cx="291233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Segoe UI"/>
                  <a:ea typeface="Microsoft YaHei"/>
                  <a:cs typeface="Segoe UI"/>
                </a:rPr>
                <a:t>调用 RECIPE 3 次（Zn / Mg / Co）</a:t>
              </a:r>
            </a:p>
          </p:txBody>
        </p:sp>
        <p:sp>
          <p:nvSpPr>
            <p:cNvPr id="43" name="TextBox 43"/>
            <p:cNvSpPr txBox="1"/>
            <p:nvPr/>
          </p:nvSpPr>
          <p:spPr>
            <a:xfrm>
              <a:off x="4603242" y="5569268"/>
              <a:ext cx="255803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Segoe UI"/>
                  <a:ea typeface="Microsoft YaHei"/>
                  <a:cs typeface="Segoe UI"/>
                </a:rPr>
                <a:t>给出四个实验方向及前驱体候选</a:t>
              </a:r>
            </a:p>
          </p:txBody>
        </p:sp>
        <p:sp>
          <p:nvSpPr>
            <p:cNvPr id="44" name="Rectangle 44"/>
            <p:cNvSpPr/>
            <p:nvPr/>
          </p:nvSpPr>
          <p:spPr>
            <a:xfrm>
              <a:off x="8077200" y="4953000"/>
              <a:ext cx="3429000" cy="914400"/>
            </a:xfrm>
            <a:prstGeom prst="rect">
              <a:avLst/>
            </a:prstGeom>
            <a:solidFill>
              <a:schemeClr val="lt2"/>
            </a:solidFill>
            <a:ln>
              <a:noFill/>
            </a:ln>
          </p:spPr>
        </p:sp>
        <p:sp>
          <p:nvSpPr>
            <p:cNvPr id="45" name="Rectangle 45"/>
            <p:cNvSpPr/>
            <p:nvPr/>
          </p:nvSpPr>
          <p:spPr>
            <a:xfrm>
              <a:off x="8077200" y="4953000"/>
              <a:ext cx="57150" cy="914400"/>
            </a:xfrm>
            <a:prstGeom prst="rect">
              <a:avLst/>
            </a:prstGeom>
            <a:solidFill>
              <a:schemeClr val="accent3"/>
            </a:solidFill>
            <a:ln>
              <a:noFill/>
            </a:ln>
          </p:spPr>
        </p:sp>
        <p:sp>
          <p:nvSpPr>
            <p:cNvPr id="46" name="TextBox 46"/>
            <p:cNvSpPr txBox="1"/>
            <p:nvPr/>
          </p:nvSpPr>
          <p:spPr>
            <a:xfrm>
              <a:off x="8298942" y="5093018"/>
              <a:ext cx="77701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对抗审稿</a:t>
              </a:r>
            </a:p>
          </p:txBody>
        </p:sp>
        <p:sp>
          <p:nvSpPr>
            <p:cNvPr id="47" name="TextBox 47"/>
            <p:cNvSpPr txBox="1"/>
            <p:nvPr/>
          </p:nvSpPr>
          <p:spPr>
            <a:xfrm>
              <a:off x="8298942" y="5340668"/>
              <a:ext cx="240355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Segoe UI"/>
                  <a:ea typeface="Microsoft YaHei"/>
                  <a:cs typeface="Segoe UI"/>
                </a:rPr>
                <a:t>两轮；首轮 7 项问题全部关闭</a:t>
              </a:r>
            </a:p>
          </p:txBody>
        </p:sp>
        <p:sp>
          <p:nvSpPr>
            <p:cNvPr id="48" name="TextBox 48"/>
            <p:cNvSpPr txBox="1"/>
            <p:nvPr/>
          </p:nvSpPr>
          <p:spPr>
            <a:xfrm>
              <a:off x="8298942" y="5569268"/>
              <a:ext cx="94966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Segoe UI"/>
                  <a:ea typeface="Microsoft YaHei"/>
                  <a:cs typeface="Segoe UI"/>
                </a:rPr>
                <a:t>终审 0 问题</a:t>
              </a:r>
            </a:p>
          </p:txBody>
        </p:sp>
      </p:grpSp>
      <p:grpSp>
        <p:nvGrpSpPr>
          <p:cNvPr id="52" name="Group 52"/>
          <p:cNvGrpSpPr/>
          <p:nvPr/>
        </p:nvGrpSpPr>
        <p:grpSpPr>
          <a:xfrm>
            <a:off x="679704" y="6038850"/>
            <a:ext cx="10826496" cy="352806"/>
            <a:chOff x="679704" y="6038850"/>
            <a:chExt cx="10826496" cy="352806"/>
          </a:xfrm>
        </p:grpSpPr>
        <p:sp>
          <p:nvSpPr>
            <p:cNvPr id="50" name="Line 50"/>
            <p:cNvSpPr/>
            <p:nvPr/>
          </p:nvSpPr>
          <p:spPr>
            <a:xfrm>
              <a:off x="685800" y="6038850"/>
              <a:ext cx="10820400" cy="9525"/>
            </a:xfrm>
            <a:custGeom>
              <a:avLst/>
              <a:gdLst/>
              <a:ahLst/>
              <a:cxnLst/>
              <a:rect l="l" t="t" r="r" b="b"/>
              <a:pathLst>
                <a:path w="10820400" h="9525">
                  <a:moveTo>
                    <a:pt x="0" y="0"/>
                  </a:moveTo>
                  <a:lnTo>
                    <a:pt x="10820400" y="0"/>
                  </a:lnTo>
                </a:path>
              </a:pathLst>
            </a:custGeom>
            <a:noFill/>
            <a:ln w="9525">
              <a:solidFill>
                <a:schemeClr val="accent4"/>
              </a:solidFill>
            </a:ln>
          </p:spPr>
        </p:sp>
        <p:sp>
          <p:nvSpPr>
            <p:cNvPr id="51" name="TextBox 51"/>
            <p:cNvSpPr txBox="1"/>
            <p:nvPr/>
          </p:nvSpPr>
          <p:spPr>
            <a:xfrm>
              <a:off x="679704" y="6156960"/>
              <a:ext cx="6958584" cy="234696"/>
            </a:xfrm>
            <a:prstGeom prst="rect">
              <a:avLst/>
            </a:prstGeom>
            <a:noFill/>
            <a:ln>
              <a:noFill/>
            </a:ln>
          </p:spPr>
          <p:txBody>
            <a:bodyPr wrap="none" lIns="0" tIns="0" rIns="0" bIns="0" anchor="t" anchorCtr="0">
              <a:spAutoFit/>
            </a:bodyPr>
            <a:lstStyle/>
            <a:p>
              <a:pPr algn="l"/>
              <a:r>
                <a:rPr lang="zh-CN" sz="1200" dirty="0">
                  <a:solidFill>
                    <a:schemeClr val="dk2"/>
                  </a:solidFill>
                  <a:latin typeface="Segoe UI"/>
                  <a:ea typeface="Microsoft YaHei"/>
                  <a:cs typeface="Segoe UI"/>
                </a:rPr>
                <a:t>七类角色共同交付：从一行主题开始，把检索、核对、写作、绘图、想法与审稿串成可复查结果。</a:t>
              </a:r>
            </a:p>
          </p:txBody>
        </p:sp>
      </p:grpSp>
      <p:grpSp>
        <p:nvGrpSpPr>
          <p:cNvPr id="55" name="Group 55"/>
          <p:cNvGrpSpPr/>
          <p:nvPr/>
        </p:nvGrpSpPr>
        <p:grpSpPr>
          <a:xfrm>
            <a:off x="679704" y="6480810"/>
            <a:ext cx="10832592" cy="234696"/>
            <a:chOff x="679704" y="6480810"/>
            <a:chExt cx="10832592" cy="234696"/>
          </a:xfrm>
        </p:grpSpPr>
        <p:sp>
          <p:nvSpPr>
            <p:cNvPr id="53" name="TextBox 53"/>
            <p:cNvSpPr txBox="1"/>
            <p:nvPr/>
          </p:nvSpPr>
          <p:spPr>
            <a:xfrm>
              <a:off x="679704" y="6480810"/>
              <a:ext cx="341757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Segoe UI"/>
                  <a:ea typeface="Microsoft YaHei"/>
                  <a:cs typeface="Segoe UI"/>
                </a:rPr>
                <a:t>SAGE-Mat · GOAI 2026 AI for Research 复赛</a:t>
              </a:r>
            </a:p>
          </p:txBody>
        </p:sp>
        <p:sp>
          <p:nvSpPr>
            <p:cNvPr id="54" name="TextBox 54"/>
            <p:cNvSpPr txBox="1"/>
            <p:nvPr/>
          </p:nvSpPr>
          <p:spPr>
            <a:xfrm>
              <a:off x="10958932" y="6480810"/>
              <a:ext cx="553364"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Segoe UI"/>
                  <a:ea typeface="Segoe UI"/>
                  <a:cs typeface="Segoe UI"/>
                </a:rPr>
                <a:t>11 / 13</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70560" y="590550"/>
            <a:ext cx="11585924" cy="586740"/>
            <a:chOff x="670560" y="590550"/>
            <a:chExt cx="11585924" cy="586740"/>
          </a:xfrm>
        </p:grpSpPr>
        <p:sp>
          <p:nvSpPr>
            <p:cNvPr id="2" name="TextBox 2"/>
            <p:cNvSpPr txBox="1"/>
            <p:nvPr/>
          </p:nvSpPr>
          <p:spPr>
            <a:xfrm>
              <a:off x="670560" y="590550"/>
              <a:ext cx="11585924"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Segoe UI"/>
                  <a:ea typeface="Microsoft YaHei"/>
                  <a:cs typeface="Segoe UI"/>
                </a:rPr>
                <a:t>复用开源 Codex，自研并开源 MCP 与绘图工具，仓库全开源</a:t>
              </a:r>
            </a:p>
          </p:txBody>
        </p:sp>
        <p:sp>
          <p:nvSpPr>
            <p:cNvPr id="3" name="Rectangle 3"/>
            <p:cNvSpPr/>
            <p:nvPr/>
          </p:nvSpPr>
          <p:spPr>
            <a:xfrm>
              <a:off x="685800" y="1085850"/>
              <a:ext cx="685800" cy="38100"/>
            </a:xfrm>
            <a:prstGeom prst="rect">
              <a:avLst/>
            </a:prstGeom>
            <a:solidFill>
              <a:schemeClr val="accent1"/>
            </a:solidFill>
            <a:ln>
              <a:noFill/>
            </a:ln>
          </p:spPr>
        </p:sp>
      </p:grpSp>
      <p:grpSp>
        <p:nvGrpSpPr>
          <p:cNvPr id="6" name="Group 6"/>
          <p:cNvGrpSpPr/>
          <p:nvPr/>
        </p:nvGrpSpPr>
        <p:grpSpPr>
          <a:xfrm>
            <a:off x="675894" y="1370648"/>
            <a:ext cx="9430512" cy="743331"/>
            <a:chOff x="675894" y="1370648"/>
            <a:chExt cx="9430512" cy="743331"/>
          </a:xfrm>
        </p:grpSpPr>
        <p:sp>
          <p:nvSpPr>
            <p:cNvPr id="5" name="TextBox 5"/>
            <p:cNvSpPr txBox="1"/>
            <p:nvPr/>
          </p:nvSpPr>
          <p:spPr>
            <a:xfrm>
              <a:off x="675894" y="1370648"/>
              <a:ext cx="9430512" cy="743331"/>
            </a:xfrm>
            <a:prstGeom prst="rect">
              <a:avLst/>
            </a:prstGeom>
            <a:noFill/>
            <a:ln>
              <a:noFill/>
            </a:ln>
          </p:spPr>
          <p:txBody>
            <a:bodyPr wrap="square" lIns="0" tIns="0" rIns="0" bIns="0" anchor="t" anchorCtr="0"/>
            <a:lstStyle/>
            <a:p>
              <a:pPr algn="l">
                <a:lnSpc>
                  <a:spcPts val="2850"/>
                </a:lnSpc>
              </a:pPr>
              <a:r>
                <a:rPr lang="zh-CN" sz="1950" dirty="0">
                  <a:solidFill>
                    <a:schemeClr val="dk1"/>
                  </a:solidFill>
                  <a:latin typeface="Segoe UI"/>
                  <a:ea typeface="Microsoft YaHei"/>
                  <a:cs typeface="Segoe UI"/>
                </a:rPr>
                <a:t>复现依靠可读的角色说明、可运行的工具和开源产物；同一主题可以重跑整条流水线，</a:t>
              </a:r>
              <a:r>
                <a:rPr lang="zh-CN" sz="1950" dirty="0">
                  <a:solidFill>
                    <a:schemeClr val="dk1"/>
                  </a:solidFill>
                  <a:latin typeface="Segoe UI"/>
                  <a:ea typeface="Microsoft YaHei"/>
                  <a:cs typeface="Segoe UI"/>
                </a:rPr>
                <a:t>并以所有质量关卡通过作为判据。</a:t>
              </a:r>
            </a:p>
          </p:txBody>
        </p:sp>
      </p:grpSp>
      <p:grpSp>
        <p:nvGrpSpPr>
          <p:cNvPr id="16" name="Group 16"/>
          <p:cNvGrpSpPr/>
          <p:nvPr/>
        </p:nvGrpSpPr>
        <p:grpSpPr>
          <a:xfrm>
            <a:off x="685800" y="2190750"/>
            <a:ext cx="5295900" cy="3829050"/>
            <a:chOff x="685800" y="2190750"/>
            <a:chExt cx="5295900" cy="3829050"/>
          </a:xfrm>
        </p:grpSpPr>
        <p:sp>
          <p:nvSpPr>
            <p:cNvPr id="7" name="Rectangle 7"/>
            <p:cNvSpPr/>
            <p:nvPr/>
          </p:nvSpPr>
          <p:spPr>
            <a:xfrm>
              <a:off x="685800" y="2190750"/>
              <a:ext cx="5295900" cy="3829050"/>
            </a:xfrm>
            <a:prstGeom prst="rect">
              <a:avLst/>
            </a:prstGeom>
            <a:solidFill>
              <a:schemeClr val="lt2"/>
            </a:solidFill>
            <a:ln>
              <a:noFill/>
            </a:ln>
          </p:spPr>
        </p:sp>
        <p:sp>
          <p:nvSpPr>
            <p:cNvPr id="8" name="TextBox 8"/>
            <p:cNvSpPr txBox="1"/>
            <p:nvPr/>
          </p:nvSpPr>
          <p:spPr>
            <a:xfrm>
              <a:off x="907542" y="2387918"/>
              <a:ext cx="2093696"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1 复用开源的 Codex CLI</a:t>
              </a:r>
            </a:p>
          </p:txBody>
        </p:sp>
        <p:sp>
          <p:nvSpPr>
            <p:cNvPr id="9" name="TextBox 9"/>
            <p:cNvSpPr txBox="1"/>
            <p:nvPr/>
          </p:nvSpPr>
          <p:spPr>
            <a:xfrm>
              <a:off x="907542" y="2692718"/>
              <a:ext cx="3999928" cy="51168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Segoe UI"/>
                  <a:ea typeface="Microsoft YaHei"/>
                  <a:cs typeface="Segoe UI"/>
                </a:rPr>
                <a:t>把 Codex CLI 作为 Agent 宿主，9 个角色都是可读的</a:t>
              </a:r>
              <a:r>
                <a:rPr lang="zh-CN" sz="1350" dirty="0">
                  <a:solidFill>
                    <a:schemeClr val="dk1"/>
                  </a:solidFill>
                  <a:latin typeface="Segoe UI"/>
                  <a:ea typeface="Microsoft YaHei"/>
                  <a:cs typeface="Segoe UI"/>
                </a:rPr>
                <a:t>Markdown 说明。</a:t>
              </a:r>
            </a:p>
          </p:txBody>
        </p:sp>
        <p:sp>
          <p:nvSpPr>
            <p:cNvPr id="10" name="Line 10"/>
            <p:cNvSpPr/>
            <p:nvPr/>
          </p:nvSpPr>
          <p:spPr>
            <a:xfrm>
              <a:off x="914400" y="3257550"/>
              <a:ext cx="4838700" cy="9525"/>
            </a:xfrm>
            <a:custGeom>
              <a:avLst/>
              <a:gdLst/>
              <a:ahLst/>
              <a:cxnLst/>
              <a:rect l="l" t="t" r="r" b="b"/>
              <a:pathLst>
                <a:path w="4838700" h="9525">
                  <a:moveTo>
                    <a:pt x="0" y="0"/>
                  </a:moveTo>
                  <a:lnTo>
                    <a:pt x="4838700" y="0"/>
                  </a:lnTo>
                </a:path>
              </a:pathLst>
            </a:custGeom>
            <a:noFill/>
            <a:ln w="9525">
              <a:solidFill>
                <a:schemeClr val="accent4"/>
              </a:solidFill>
            </a:ln>
          </p:spPr>
        </p:sp>
        <p:sp>
          <p:nvSpPr>
            <p:cNvPr id="11" name="TextBox 11"/>
            <p:cNvSpPr txBox="1"/>
            <p:nvPr/>
          </p:nvSpPr>
          <p:spPr>
            <a:xfrm>
              <a:off x="907542" y="3435668"/>
              <a:ext cx="1888830"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2 四个自研 MCP 服务</a:t>
              </a:r>
            </a:p>
          </p:txBody>
        </p:sp>
        <p:sp>
          <p:nvSpPr>
            <p:cNvPr id="12" name="TextBox 12"/>
            <p:cNvSpPr txBox="1"/>
            <p:nvPr/>
          </p:nvSpPr>
          <p:spPr>
            <a:xfrm>
              <a:off x="907542" y="3740468"/>
              <a:ext cx="3845623" cy="51168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Segoe UI"/>
                  <a:ea typeface="Microsoft YaHei"/>
                  <a:cs typeface="Segoe UI"/>
                </a:rPr>
                <a:t>文献检索、引用核对、绘图、RECIPE 前驱体预测，</a:t>
              </a:r>
              <a:r>
                <a:rPr lang="zh-CN" sz="1350" dirty="0">
                  <a:solidFill>
                    <a:schemeClr val="dk1"/>
                  </a:solidFill>
                  <a:latin typeface="Segoe UI"/>
                  <a:ea typeface="Microsoft YaHei"/>
                  <a:cs typeface="Segoe UI"/>
                </a:rPr>
                <a:t>全部自主设计并开源。</a:t>
              </a:r>
            </a:p>
          </p:txBody>
        </p:sp>
        <p:sp>
          <p:nvSpPr>
            <p:cNvPr id="13" name="Line 13"/>
            <p:cNvSpPr/>
            <p:nvPr/>
          </p:nvSpPr>
          <p:spPr>
            <a:xfrm>
              <a:off x="914400" y="4305300"/>
              <a:ext cx="4838700" cy="9525"/>
            </a:xfrm>
            <a:custGeom>
              <a:avLst/>
              <a:gdLst/>
              <a:ahLst/>
              <a:cxnLst/>
              <a:rect l="l" t="t" r="r" b="b"/>
              <a:pathLst>
                <a:path w="4838700" h="9525">
                  <a:moveTo>
                    <a:pt x="0" y="0"/>
                  </a:moveTo>
                  <a:lnTo>
                    <a:pt x="4838700" y="0"/>
                  </a:lnTo>
                </a:path>
              </a:pathLst>
            </a:custGeom>
            <a:noFill/>
            <a:ln w="9525">
              <a:solidFill>
                <a:schemeClr val="accent4"/>
              </a:solidFill>
            </a:ln>
          </p:spPr>
        </p:sp>
        <p:sp>
          <p:nvSpPr>
            <p:cNvPr id="14" name="TextBox 14"/>
            <p:cNvSpPr txBox="1"/>
            <p:nvPr/>
          </p:nvSpPr>
          <p:spPr>
            <a:xfrm>
              <a:off x="907542" y="4483418"/>
              <a:ext cx="1130036"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3 知识库构成</a:t>
              </a:r>
            </a:p>
          </p:txBody>
        </p:sp>
        <p:sp>
          <p:nvSpPr>
            <p:cNvPr id="15" name="TextBox 15"/>
            <p:cNvSpPr txBox="1"/>
            <p:nvPr/>
          </p:nvSpPr>
          <p:spPr>
            <a:xfrm>
              <a:off x="907542" y="4788218"/>
              <a:ext cx="3734181" cy="75933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Segoe UI"/>
                  <a:ea typeface="Microsoft YaHei"/>
                  <a:cs typeface="Segoe UI"/>
                </a:rPr>
                <a:t>部分公开的文献全文库（被引文献中 21 篇全文）</a:t>
              </a:r>
              <a:r>
                <a:rPr lang="zh-CN" sz="1350" dirty="0">
                  <a:solidFill>
                    <a:schemeClr val="dk1"/>
                  </a:solidFill>
                  <a:latin typeface="Segoe UI"/>
                  <a:ea typeface="Microsoft YaHei"/>
                  <a:cs typeface="Segoe UI"/>
                </a:rPr>
                <a:t xml:space="preserve">+ 在线检索：arXiv / OpenAlex / Crossref / </a:t>
              </a:r>
              <a:r>
                <a:rPr lang="en-US" sz="1350" dirty="0">
                  <a:solidFill>
                    <a:schemeClr val="dk1"/>
                  </a:solidFill>
                  <a:latin typeface="Segoe UI"/>
                  <a:ea typeface="Segoe UI"/>
                  <a:cs typeface="Segoe UI"/>
                </a:rPr>
                <a:t>Semantic Scholar</a:t>
              </a:r>
            </a:p>
          </p:txBody>
        </p:sp>
      </p:grpSp>
      <p:grpSp>
        <p:nvGrpSpPr>
          <p:cNvPr id="28" name="Group 28"/>
          <p:cNvGrpSpPr/>
          <p:nvPr/>
        </p:nvGrpSpPr>
        <p:grpSpPr>
          <a:xfrm>
            <a:off x="6210300" y="2190750"/>
            <a:ext cx="5295900" cy="3829050"/>
            <a:chOff x="6210300" y="2190750"/>
            <a:chExt cx="5295900" cy="3829050"/>
          </a:xfrm>
        </p:grpSpPr>
        <p:sp>
          <p:nvSpPr>
            <p:cNvPr id="17" name="Rectangle 17"/>
            <p:cNvSpPr/>
            <p:nvPr/>
          </p:nvSpPr>
          <p:spPr>
            <a:xfrm>
              <a:off x="6210300" y="2190750"/>
              <a:ext cx="5295900" cy="3829050"/>
            </a:xfrm>
            <a:prstGeom prst="rect">
              <a:avLst/>
            </a:prstGeom>
            <a:solidFill>
              <a:schemeClr val="lt2"/>
            </a:solidFill>
            <a:ln>
              <a:noFill/>
            </a:ln>
          </p:spPr>
        </p:sp>
        <p:sp>
          <p:nvSpPr>
            <p:cNvPr id="18" name="Freeform 18"/>
            <p:cNvSpPr/>
            <p:nvPr/>
          </p:nvSpPr>
          <p:spPr>
            <a:xfrm>
              <a:off x="6472238" y="2450465"/>
              <a:ext cx="188913" cy="202248"/>
            </a:xfrm>
            <a:custGeom>
              <a:avLst/>
              <a:gdLst/>
              <a:ahLst/>
              <a:cxnLst/>
              <a:rect l="l" t="t" r="r" b="b"/>
              <a:pathLst>
                <a:path w="188913" h="202248">
                  <a:moveTo>
                    <a:pt x="66675" y="180023"/>
                  </a:moveTo>
                  <a:cubicBezTo>
                    <a:pt x="18891" y="195581"/>
                    <a:pt x="18891" y="152242"/>
                    <a:pt x="0" y="146685"/>
                  </a:cubicBezTo>
                  <a:moveTo>
                    <a:pt x="133350" y="202248"/>
                  </a:moveTo>
                  <a:lnTo>
                    <a:pt x="133350" y="163354"/>
                  </a:lnTo>
                  <a:cubicBezTo>
                    <a:pt x="133350" y="152242"/>
                    <a:pt x="134462" y="147797"/>
                    <a:pt x="127794" y="141129"/>
                  </a:cubicBezTo>
                  <a:cubicBezTo>
                    <a:pt x="158909" y="137795"/>
                    <a:pt x="188913" y="125572"/>
                    <a:pt x="188913" y="74454"/>
                  </a:cubicBezTo>
                  <a:cubicBezTo>
                    <a:pt x="188900" y="61174"/>
                    <a:pt x="183718" y="48421"/>
                    <a:pt x="174467" y="38894"/>
                  </a:cubicBezTo>
                  <a:cubicBezTo>
                    <a:pt x="178806" y="27359"/>
                    <a:pt x="178406" y="14576"/>
                    <a:pt x="173355" y="3334"/>
                  </a:cubicBezTo>
                  <a:cubicBezTo>
                    <a:pt x="173355" y="3334"/>
                    <a:pt x="161132" y="0"/>
                    <a:pt x="134462" y="17780"/>
                  </a:cubicBezTo>
                  <a:cubicBezTo>
                    <a:pt x="111873" y="11897"/>
                    <a:pt x="88153" y="11897"/>
                    <a:pt x="65564" y="17780"/>
                  </a:cubicBezTo>
                  <a:cubicBezTo>
                    <a:pt x="38894" y="0"/>
                    <a:pt x="26670" y="3334"/>
                    <a:pt x="26670" y="3334"/>
                  </a:cubicBezTo>
                  <a:cubicBezTo>
                    <a:pt x="21619" y="14576"/>
                    <a:pt x="21220" y="27359"/>
                    <a:pt x="25559" y="38894"/>
                  </a:cubicBezTo>
                  <a:cubicBezTo>
                    <a:pt x="16307" y="48421"/>
                    <a:pt x="11126" y="61174"/>
                    <a:pt x="11113" y="74454"/>
                  </a:cubicBezTo>
                  <a:cubicBezTo>
                    <a:pt x="11113" y="125572"/>
                    <a:pt x="41116" y="137795"/>
                    <a:pt x="72231" y="141129"/>
                  </a:cubicBezTo>
                  <a:cubicBezTo>
                    <a:pt x="65564" y="147797"/>
                    <a:pt x="65564" y="154464"/>
                    <a:pt x="66675" y="163354"/>
                  </a:cubicBezTo>
                  <a:lnTo>
                    <a:pt x="66675" y="202248"/>
                  </a:lnTo>
                </a:path>
              </a:pathLst>
            </a:custGeom>
            <a:noFill/>
            <a:ln w="19050">
              <a:solidFill>
                <a:schemeClr val="accent1"/>
              </a:solidFill>
            </a:ln>
          </p:spPr>
        </p:sp>
        <p:sp>
          <p:nvSpPr>
            <p:cNvPr id="19" name="TextBox 19"/>
            <p:cNvSpPr txBox="1"/>
            <p:nvPr/>
          </p:nvSpPr>
          <p:spPr>
            <a:xfrm>
              <a:off x="6793992" y="2483168"/>
              <a:ext cx="189333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4 绘图工具与开源仓库</a:t>
              </a:r>
            </a:p>
          </p:txBody>
        </p:sp>
        <p:sp>
          <p:nvSpPr>
            <p:cNvPr id="20" name="TextBox 20"/>
            <p:cNvSpPr txBox="1"/>
            <p:nvPr/>
          </p:nvSpPr>
          <p:spPr>
            <a:xfrm>
              <a:off x="6432042" y="2787968"/>
              <a:ext cx="4034218" cy="75933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Segoe UI"/>
                  <a:ea typeface="Microsoft YaHei"/>
                  <a:cs typeface="Segoe UI"/>
                </a:rPr>
                <a:t>一份图源同时生成论文图与 draw.io 可编辑图。</a:t>
              </a:r>
              <a:r>
                <a:rPr lang="zh-CN" sz="1350" dirty="0">
                  <a:solidFill>
                    <a:schemeClr val="dk1"/>
                  </a:solidFill>
                  <a:latin typeface="Segoe UI"/>
                  <a:ea typeface="Microsoft YaHei"/>
                  <a:cs typeface="Segoe UI"/>
                </a:rPr>
                <a:t>整个仓库 MIT 开源，一键安装、冒烟测试 1–2 分钟、</a:t>
              </a:r>
              <a:r>
                <a:rPr lang="zh-CN" sz="1350" dirty="0">
                  <a:solidFill>
                    <a:schemeClr val="dk1"/>
                  </a:solidFill>
                  <a:latin typeface="Segoe UI"/>
                  <a:ea typeface="Microsoft YaHei"/>
                  <a:cs typeface="Segoe UI"/>
                </a:rPr>
                <a:t>同一主题可重跑整条流水线。</a:t>
              </a:r>
            </a:p>
          </p:txBody>
        </p:sp>
        <p:sp>
          <p:nvSpPr>
            <p:cNvPr id="21" name="Line 21"/>
            <p:cNvSpPr/>
            <p:nvPr/>
          </p:nvSpPr>
          <p:spPr>
            <a:xfrm>
              <a:off x="6438900" y="3905250"/>
              <a:ext cx="4838700" cy="9525"/>
            </a:xfrm>
            <a:custGeom>
              <a:avLst/>
              <a:gdLst/>
              <a:ahLst/>
              <a:cxnLst/>
              <a:rect l="l" t="t" r="r" b="b"/>
              <a:pathLst>
                <a:path w="4838700" h="9525">
                  <a:moveTo>
                    <a:pt x="0" y="0"/>
                  </a:moveTo>
                  <a:lnTo>
                    <a:pt x="4838700" y="0"/>
                  </a:lnTo>
                </a:path>
              </a:pathLst>
            </a:custGeom>
            <a:noFill/>
            <a:ln w="9525">
              <a:solidFill>
                <a:schemeClr val="accent4"/>
              </a:solidFill>
            </a:ln>
          </p:spPr>
        </p:sp>
        <p:grpSp>
          <p:nvGrpSpPr>
            <p:cNvPr id="25" name="Group 25"/>
            <p:cNvGrpSpPr/>
            <p:nvPr/>
          </p:nvGrpSpPr>
          <p:grpSpPr>
            <a:xfrm>
              <a:off x="6460179" y="4220646"/>
              <a:ext cx="224134" cy="192560"/>
              <a:chOff x="6460179" y="4220646"/>
              <a:chExt cx="224134" cy="192560"/>
            </a:xfrm>
          </p:grpSpPr>
          <p:sp>
            <p:nvSpPr>
              <p:cNvPr id="22" name="Freeform 22"/>
              <p:cNvSpPr/>
              <p:nvPr/>
            </p:nvSpPr>
            <p:spPr>
              <a:xfrm>
                <a:off x="6572250" y="4291013"/>
                <a:ext cx="9525" cy="44450"/>
              </a:xfrm>
              <a:custGeom>
                <a:avLst/>
                <a:gdLst/>
                <a:ahLst/>
                <a:cxnLst/>
                <a:rect l="l" t="t" r="r" b="b"/>
                <a:pathLst>
                  <a:path w="9525" h="44450">
                    <a:moveTo>
                      <a:pt x="0" y="0"/>
                    </a:moveTo>
                    <a:lnTo>
                      <a:pt x="0" y="44450"/>
                    </a:lnTo>
                  </a:path>
                </a:pathLst>
              </a:custGeom>
              <a:noFill/>
              <a:ln w="19050">
                <a:solidFill>
                  <a:schemeClr val="accent2"/>
                </a:solidFill>
              </a:ln>
            </p:spPr>
          </p:sp>
          <p:sp>
            <p:nvSpPr>
              <p:cNvPr id="23" name="Freeform 23"/>
              <p:cNvSpPr/>
              <p:nvPr/>
            </p:nvSpPr>
            <p:spPr>
              <a:xfrm>
                <a:off x="6460179" y="422064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19050">
                <a:solidFill>
                  <a:schemeClr val="accent2"/>
                </a:solidFill>
              </a:ln>
            </p:spPr>
          </p:sp>
          <p:sp>
            <p:nvSpPr>
              <p:cNvPr id="24" name="Freeform 24"/>
              <p:cNvSpPr/>
              <p:nvPr/>
            </p:nvSpPr>
            <p:spPr>
              <a:xfrm>
                <a:off x="6572250" y="4368801"/>
                <a:ext cx="9525" cy="9525"/>
              </a:xfrm>
              <a:custGeom>
                <a:avLst/>
                <a:gdLst/>
                <a:ahLst/>
                <a:cxnLst/>
                <a:rect l="l" t="t" r="r" b="b"/>
                <a:pathLst>
                  <a:path w="9525" h="9525">
                    <a:moveTo>
                      <a:pt x="0" y="0"/>
                    </a:moveTo>
                    <a:lnTo>
                      <a:pt x="111" y="0"/>
                    </a:lnTo>
                  </a:path>
                </a:pathLst>
              </a:custGeom>
              <a:noFill/>
              <a:ln w="19050">
                <a:solidFill>
                  <a:schemeClr val="accent2"/>
                </a:solidFill>
              </a:ln>
            </p:spPr>
          </p:sp>
        </p:grpSp>
        <p:sp>
          <p:nvSpPr>
            <p:cNvPr id="26" name="TextBox 26"/>
            <p:cNvSpPr txBox="1"/>
            <p:nvPr/>
          </p:nvSpPr>
          <p:spPr>
            <a:xfrm>
              <a:off x="6793992" y="4254818"/>
              <a:ext cx="77701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诚实说明</a:t>
              </a:r>
            </a:p>
          </p:txBody>
        </p:sp>
        <p:sp>
          <p:nvSpPr>
            <p:cNvPr id="27" name="TextBox 27"/>
            <p:cNvSpPr txBox="1"/>
            <p:nvPr/>
          </p:nvSpPr>
          <p:spPr>
            <a:xfrm>
              <a:off x="6432042" y="4559618"/>
              <a:ext cx="3982784" cy="51168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Segoe UI"/>
                  <a:ea typeface="Microsoft YaHei"/>
                  <a:cs typeface="Segoe UI"/>
                </a:rPr>
                <a:t>目标相仅 1 篇直接报道；大模型步骤不可逐字复现，</a:t>
              </a:r>
              <a:r>
                <a:rPr lang="zh-CN" sz="1350" dirty="0">
                  <a:solidFill>
                    <a:schemeClr val="dk1"/>
                  </a:solidFill>
                  <a:latin typeface="Segoe UI"/>
                  <a:ea typeface="Microsoft YaHei"/>
                  <a:cs typeface="Segoe UI"/>
                </a:rPr>
                <a:t>以关卡全部通过作为复现判据。</a:t>
              </a:r>
            </a:p>
          </p:txBody>
        </p:sp>
      </p:grpSp>
      <p:grpSp>
        <p:nvGrpSpPr>
          <p:cNvPr id="31" name="Group 31"/>
          <p:cNvGrpSpPr/>
          <p:nvPr/>
        </p:nvGrpSpPr>
        <p:grpSpPr>
          <a:xfrm>
            <a:off x="679704" y="6480810"/>
            <a:ext cx="10832592" cy="234696"/>
            <a:chOff x="679704" y="6480810"/>
            <a:chExt cx="10832592" cy="234696"/>
          </a:xfrm>
        </p:grpSpPr>
        <p:sp>
          <p:nvSpPr>
            <p:cNvPr id="29" name="TextBox 29"/>
            <p:cNvSpPr txBox="1"/>
            <p:nvPr/>
          </p:nvSpPr>
          <p:spPr>
            <a:xfrm>
              <a:off x="679704" y="6480810"/>
              <a:ext cx="341757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Segoe UI"/>
                  <a:ea typeface="Microsoft YaHei"/>
                  <a:cs typeface="Segoe UI"/>
                </a:rPr>
                <a:t>SAGE-Mat · GOAI 2026 AI for Research 复赛</a:t>
              </a:r>
            </a:p>
          </p:txBody>
        </p:sp>
        <p:sp>
          <p:nvSpPr>
            <p:cNvPr id="30" name="TextBox 30"/>
            <p:cNvSpPr txBox="1"/>
            <p:nvPr/>
          </p:nvSpPr>
          <p:spPr>
            <a:xfrm>
              <a:off x="10958932" y="6480810"/>
              <a:ext cx="553364"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Segoe UI"/>
                  <a:ea typeface="Segoe UI"/>
                  <a:cs typeface="Segoe UI"/>
                </a:rPr>
                <a:t>12 / 13</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76200"/>
            </a:xfrm>
            <a:prstGeom prst="rect">
              <a:avLst/>
            </a:prstGeom>
            <a:solidFill>
              <a:schemeClr val="accent1"/>
            </a:solidFill>
            <a:ln>
              <a:noFill/>
            </a:ln>
          </p:spPr>
        </p:sp>
      </p:grpSp>
      <p:grpSp>
        <p:nvGrpSpPr>
          <p:cNvPr id="7" name="Group 7"/>
          <p:cNvGrpSpPr/>
          <p:nvPr/>
        </p:nvGrpSpPr>
        <p:grpSpPr>
          <a:xfrm>
            <a:off x="670560" y="590550"/>
            <a:ext cx="10631805" cy="586740"/>
            <a:chOff x="670560" y="590550"/>
            <a:chExt cx="10631805" cy="586740"/>
          </a:xfrm>
        </p:grpSpPr>
        <p:sp>
          <p:nvSpPr>
            <p:cNvPr id="5" name="TextBox 5"/>
            <p:cNvSpPr txBox="1"/>
            <p:nvPr/>
          </p:nvSpPr>
          <p:spPr>
            <a:xfrm>
              <a:off x="670560" y="590550"/>
              <a:ext cx="10631805"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Segoe UI"/>
                  <a:ea typeface="Microsoft YaHei"/>
                  <a:cs typeface="Segoe UI"/>
                </a:rPr>
                <a:t>应用价值：让每一条合成建议都可追溯、可执行、可回写</a:t>
              </a:r>
            </a:p>
          </p:txBody>
        </p:sp>
        <p:sp>
          <p:nvSpPr>
            <p:cNvPr id="6" name="Rectangle 6"/>
            <p:cNvSpPr/>
            <p:nvPr/>
          </p:nvSpPr>
          <p:spPr>
            <a:xfrm>
              <a:off x="685800" y="1085850"/>
              <a:ext cx="685800" cy="38100"/>
            </a:xfrm>
            <a:prstGeom prst="rect">
              <a:avLst/>
            </a:prstGeom>
            <a:solidFill>
              <a:schemeClr val="accent1"/>
            </a:solidFill>
            <a:ln>
              <a:noFill/>
            </a:ln>
          </p:spPr>
        </p:sp>
      </p:grpSp>
      <p:grpSp>
        <p:nvGrpSpPr>
          <p:cNvPr id="11" name="Group 11"/>
          <p:cNvGrpSpPr/>
          <p:nvPr/>
        </p:nvGrpSpPr>
        <p:grpSpPr>
          <a:xfrm>
            <a:off x="1734998" y="1776412"/>
            <a:ext cx="8722004" cy="1161289"/>
            <a:chOff x="1734998" y="1776412"/>
            <a:chExt cx="8722004" cy="1161289"/>
          </a:xfrm>
        </p:grpSpPr>
        <p:sp>
          <p:nvSpPr>
            <p:cNvPr id="8" name="TextBox 8"/>
            <p:cNvSpPr txBox="1"/>
            <p:nvPr/>
          </p:nvSpPr>
          <p:spPr>
            <a:xfrm>
              <a:off x="2570231" y="1776412"/>
              <a:ext cx="7051538" cy="440055"/>
            </a:xfrm>
            <a:prstGeom prst="rect">
              <a:avLst/>
            </a:prstGeom>
            <a:noFill/>
            <a:ln>
              <a:noFill/>
            </a:ln>
          </p:spPr>
          <p:txBody>
            <a:bodyPr wrap="none" lIns="0" tIns="0" rIns="0" bIns="0" anchor="t" anchorCtr="0">
              <a:spAutoFit/>
            </a:bodyPr>
            <a:lstStyle/>
            <a:p>
              <a:pPr algn="ctr"/>
              <a:r>
                <a:rPr lang="zh-CN" sz="2250" b="1" dirty="0">
                  <a:solidFill>
                    <a:schemeClr val="dk1"/>
                  </a:solidFill>
                  <a:latin typeface="Segoe UI"/>
                  <a:ea typeface="Microsoft YaHei"/>
                  <a:cs typeface="Segoe UI"/>
                </a:rPr>
                <a:t>这套系统真正改变的，是把“该不该相信这条结论”</a:t>
              </a:r>
            </a:p>
          </p:txBody>
        </p:sp>
        <p:sp>
          <p:nvSpPr>
            <p:cNvPr id="9" name="TextBox 9"/>
            <p:cNvSpPr txBox="1"/>
            <p:nvPr/>
          </p:nvSpPr>
          <p:spPr>
            <a:xfrm>
              <a:off x="2690546" y="2195512"/>
              <a:ext cx="6810908" cy="440055"/>
            </a:xfrm>
            <a:prstGeom prst="rect">
              <a:avLst/>
            </a:prstGeom>
            <a:noFill/>
            <a:ln>
              <a:noFill/>
            </a:ln>
          </p:spPr>
          <p:txBody>
            <a:bodyPr wrap="none" lIns="0" tIns="0" rIns="0" bIns="0" anchor="t" anchorCtr="0">
              <a:spAutoFit/>
            </a:bodyPr>
            <a:lstStyle/>
            <a:p>
              <a:pPr algn="ctr"/>
              <a:r>
                <a:rPr lang="zh-CN" sz="2250" b="1" dirty="0">
                  <a:solidFill>
                    <a:schemeClr val="accent2"/>
                  </a:solidFill>
                  <a:latin typeface="Segoe UI"/>
                  <a:ea typeface="Microsoft YaHei"/>
                  <a:cs typeface="Segoe UI"/>
                </a:rPr>
                <a:t>变成一个可以点开 DOI 与原文段落回答的问题</a:t>
              </a:r>
            </a:p>
          </p:txBody>
        </p:sp>
        <p:sp>
          <p:nvSpPr>
            <p:cNvPr id="10" name="TextBox 10"/>
            <p:cNvSpPr txBox="1"/>
            <p:nvPr/>
          </p:nvSpPr>
          <p:spPr>
            <a:xfrm>
              <a:off x="1734998" y="2673668"/>
              <a:ext cx="8722004" cy="264033"/>
            </a:xfrm>
            <a:prstGeom prst="rect">
              <a:avLst/>
            </a:prstGeom>
            <a:noFill/>
            <a:ln>
              <a:noFill/>
            </a:ln>
          </p:spPr>
          <p:txBody>
            <a:bodyPr wrap="none" lIns="0" tIns="0" rIns="0" bIns="0" anchor="t" anchorCtr="0">
              <a:spAutoFit/>
            </a:bodyPr>
            <a:lstStyle/>
            <a:p>
              <a:pPr algn="ctr"/>
              <a:r>
                <a:rPr lang="zh-CN" sz="1350" dirty="0">
                  <a:solidFill>
                    <a:schemeClr val="dk2"/>
                  </a:solidFill>
                  <a:latin typeface="Segoe UI"/>
                  <a:ea typeface="Microsoft YaHei"/>
                  <a:cs typeface="Segoe UI"/>
                </a:rPr>
                <a:t>文献稀缺（BYZSO）与文献丰富（LLZO）两种情形下，都产出了可逐条核对的结论与可检验的实验方案</a:t>
              </a:r>
            </a:p>
          </p:txBody>
        </p:sp>
      </p:grpSp>
      <p:grpSp>
        <p:nvGrpSpPr>
          <p:cNvPr id="20" name="Group 20"/>
          <p:cNvGrpSpPr/>
          <p:nvPr/>
        </p:nvGrpSpPr>
        <p:grpSpPr>
          <a:xfrm>
            <a:off x="685800" y="3200400"/>
            <a:ext cx="3429000" cy="2571750"/>
            <a:chOff x="685800" y="3200400"/>
            <a:chExt cx="3429000" cy="2571750"/>
          </a:xfrm>
        </p:grpSpPr>
        <p:sp>
          <p:nvSpPr>
            <p:cNvPr id="12" name="Rectangle 12"/>
            <p:cNvSpPr/>
            <p:nvPr/>
          </p:nvSpPr>
          <p:spPr>
            <a:xfrm>
              <a:off x="685800" y="3200400"/>
              <a:ext cx="3429000" cy="2571750"/>
            </a:xfrm>
            <a:prstGeom prst="rect">
              <a:avLst/>
            </a:prstGeom>
            <a:solidFill>
              <a:schemeClr val="lt2"/>
            </a:solidFill>
            <a:ln>
              <a:noFill/>
            </a:ln>
          </p:spPr>
        </p:sp>
        <p:grpSp>
          <p:nvGrpSpPr>
            <p:cNvPr id="17" name="Group 17"/>
            <p:cNvGrpSpPr/>
            <p:nvPr/>
          </p:nvGrpSpPr>
          <p:grpSpPr>
            <a:xfrm>
              <a:off x="947738" y="3424238"/>
              <a:ext cx="200026" cy="200025"/>
              <a:chOff x="947738" y="3424238"/>
              <a:chExt cx="200026" cy="200025"/>
            </a:xfrm>
          </p:grpSpPr>
          <p:sp>
            <p:nvSpPr>
              <p:cNvPr id="13" name="Freeform 13"/>
              <p:cNvSpPr/>
              <p:nvPr/>
            </p:nvSpPr>
            <p:spPr>
              <a:xfrm>
                <a:off x="969963" y="3424238"/>
                <a:ext cx="88900" cy="88900"/>
              </a:xfrm>
              <a:custGeom>
                <a:avLst/>
                <a:gdLst/>
                <a:ahLst/>
                <a:cxnLst/>
                <a:rect l="l" t="t" r="r" b="b"/>
                <a:pathLst>
                  <a:path w="88900" h="88900">
                    <a:moveTo>
                      <a:pt x="0" y="44450"/>
                    </a:moveTo>
                    <a:cubicBezTo>
                      <a:pt x="0" y="68999"/>
                      <a:pt x="19901" y="88900"/>
                      <a:pt x="44450" y="88900"/>
                    </a:cubicBezTo>
                    <a:cubicBezTo>
                      <a:pt x="68999" y="88900"/>
                      <a:pt x="88900" y="68999"/>
                      <a:pt x="88900" y="44450"/>
                    </a:cubicBezTo>
                    <a:cubicBezTo>
                      <a:pt x="88900" y="19901"/>
                      <a:pt x="68999" y="0"/>
                      <a:pt x="44450" y="0"/>
                    </a:cubicBezTo>
                    <a:cubicBezTo>
                      <a:pt x="19901" y="0"/>
                      <a:pt x="0" y="19901"/>
                      <a:pt x="0" y="44450"/>
                    </a:cubicBezTo>
                  </a:path>
                </a:pathLst>
              </a:custGeom>
              <a:noFill/>
              <a:ln w="19050">
                <a:solidFill>
                  <a:schemeClr val="accent1"/>
                </a:solidFill>
              </a:ln>
            </p:spPr>
          </p:sp>
          <p:sp>
            <p:nvSpPr>
              <p:cNvPr id="14" name="Freeform 14"/>
              <p:cNvSpPr/>
              <p:nvPr/>
            </p:nvSpPr>
            <p:spPr>
              <a:xfrm>
                <a:off x="947738" y="3557588"/>
                <a:ext cx="133350" cy="66675"/>
              </a:xfrm>
              <a:custGeom>
                <a:avLst/>
                <a:gdLst/>
                <a:ahLst/>
                <a:cxnLst/>
                <a:rect l="l" t="t" r="r" b="b"/>
                <a:pathLst>
                  <a:path w="133350" h="66675">
                    <a:moveTo>
                      <a:pt x="0" y="66675"/>
                    </a:moveTo>
                    <a:lnTo>
                      <a:pt x="0" y="44450"/>
                    </a:lnTo>
                    <a:cubicBezTo>
                      <a:pt x="0" y="19901"/>
                      <a:pt x="19901" y="0"/>
                      <a:pt x="44450" y="0"/>
                    </a:cubicBezTo>
                    <a:lnTo>
                      <a:pt x="88900" y="0"/>
                    </a:lnTo>
                    <a:cubicBezTo>
                      <a:pt x="113449" y="0"/>
                      <a:pt x="133350" y="19901"/>
                      <a:pt x="133350" y="44450"/>
                    </a:cubicBezTo>
                    <a:lnTo>
                      <a:pt x="133350" y="66675"/>
                    </a:lnTo>
                  </a:path>
                </a:pathLst>
              </a:custGeom>
              <a:noFill/>
              <a:ln w="19050">
                <a:solidFill>
                  <a:schemeClr val="accent1"/>
                </a:solidFill>
              </a:ln>
            </p:spPr>
          </p:sp>
          <p:sp>
            <p:nvSpPr>
              <p:cNvPr id="15" name="Freeform 15"/>
              <p:cNvSpPr/>
              <p:nvPr/>
            </p:nvSpPr>
            <p:spPr>
              <a:xfrm>
                <a:off x="1092201" y="3425682"/>
                <a:ext cx="33425" cy="86122"/>
              </a:xfrm>
              <a:custGeom>
                <a:avLst/>
                <a:gdLst/>
                <a:ahLst/>
                <a:cxnLst/>
                <a:rect l="l" t="t" r="r" b="b"/>
                <a:pathLst>
                  <a:path w="33425" h="86122">
                    <a:moveTo>
                      <a:pt x="0" y="0"/>
                    </a:moveTo>
                    <a:cubicBezTo>
                      <a:pt x="19668" y="5036"/>
                      <a:pt x="33425" y="22758"/>
                      <a:pt x="33425" y="43061"/>
                    </a:cubicBezTo>
                    <a:cubicBezTo>
                      <a:pt x="33425" y="63364"/>
                      <a:pt x="19668" y="81086"/>
                      <a:pt x="0" y="86122"/>
                    </a:cubicBezTo>
                  </a:path>
                </a:pathLst>
              </a:custGeom>
              <a:noFill/>
              <a:ln w="19050">
                <a:solidFill>
                  <a:schemeClr val="accent1"/>
                </a:solidFill>
              </a:ln>
            </p:spPr>
          </p:sp>
          <p:sp>
            <p:nvSpPr>
              <p:cNvPr id="16" name="Freeform 16"/>
              <p:cNvSpPr/>
              <p:nvPr/>
            </p:nvSpPr>
            <p:spPr>
              <a:xfrm>
                <a:off x="1114426" y="3559255"/>
                <a:ext cx="33338" cy="65008"/>
              </a:xfrm>
              <a:custGeom>
                <a:avLst/>
                <a:gdLst/>
                <a:ahLst/>
                <a:cxnLst/>
                <a:rect l="l" t="t" r="r" b="b"/>
                <a:pathLst>
                  <a:path w="33338" h="65008">
                    <a:moveTo>
                      <a:pt x="33338" y="65008"/>
                    </a:moveTo>
                    <a:lnTo>
                      <a:pt x="33338" y="42783"/>
                    </a:lnTo>
                    <a:cubicBezTo>
                      <a:pt x="33222" y="22609"/>
                      <a:pt x="19534" y="5043"/>
                      <a:pt x="0" y="0"/>
                    </a:cubicBezTo>
                  </a:path>
                </a:pathLst>
              </a:custGeom>
              <a:noFill/>
              <a:ln w="19050">
                <a:solidFill>
                  <a:schemeClr val="accent1"/>
                </a:solidFill>
              </a:ln>
            </p:spPr>
          </p:sp>
        </p:grpSp>
        <p:sp>
          <p:nvSpPr>
            <p:cNvPr id="18" name="TextBox 18"/>
            <p:cNvSpPr txBox="1"/>
            <p:nvPr/>
          </p:nvSpPr>
          <p:spPr>
            <a:xfrm>
              <a:off x="1267206" y="34061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Segoe UI"/>
                  <a:ea typeface="Microsoft YaHei"/>
                  <a:cs typeface="Segoe UI"/>
                </a:rPr>
                <a:t>对材料研究者</a:t>
              </a:r>
            </a:p>
          </p:txBody>
        </p:sp>
        <p:sp>
          <p:nvSpPr>
            <p:cNvPr id="19" name="TextBox 19"/>
            <p:cNvSpPr txBox="1"/>
            <p:nvPr/>
          </p:nvSpPr>
          <p:spPr>
            <a:xfrm>
              <a:off x="907542" y="3759518"/>
              <a:ext cx="2928366" cy="1749933"/>
            </a:xfrm>
            <a:prstGeom prst="rect">
              <a:avLst/>
            </a:prstGeom>
            <a:noFill/>
            <a:ln>
              <a:noFill/>
            </a:ln>
          </p:spPr>
          <p:txBody>
            <a:bodyPr wrap="square" lIns="0" tIns="0" rIns="0" bIns="0" anchor="t" anchorCtr="0"/>
            <a:lstStyle/>
            <a:p>
              <a:pPr algn="l">
                <a:lnSpc>
                  <a:spcPts val="1800"/>
                </a:lnSpc>
              </a:pPr>
              <a:r>
                <a:rPr lang="zh-CN" sz="1350" b="1" dirty="0">
                  <a:solidFill>
                    <a:schemeClr val="dk1"/>
                  </a:solidFill>
                  <a:latin typeface="Segoe UI"/>
                  <a:ea typeface="Microsoft YaHei"/>
                  <a:cs typeface="Segoe UI"/>
                </a:rPr>
                <a:t>一次运行替代数周文献梳理</a:t>
              </a:r>
            </a:p>
            <a:p>
              <a:pPr algn="l" marL="145732" indent="-145732">
                <a:lnSpc>
                  <a:spcPts val="1800"/>
                </a:lnSpc>
                <a:spcBef>
                  <a:spcPts val="300"/>
                </a:spcBef>
                <a:buClr>
                  <a:schemeClr val="dk1"/>
                </a:buClr>
                <a:buSzTx/>
                <a:buFontTx/>
                <a:buChar char="•"/>
              </a:pPr>
              <a:r>
                <a:rPr lang="zh-CN" sz="1350" dirty="0">
                  <a:solidFill>
                    <a:schemeClr val="dk1"/>
                  </a:solidFill>
                  <a:latin typeface="Segoe UI"/>
                  <a:ea typeface="Microsoft YaHei"/>
                  <a:cs typeface="Segoe UI"/>
                </a:rPr>
                <a:t>51 篇文献逐条核对，28 条合成条件</a:t>
              </a:r>
              <a:r>
                <a:rPr lang="zh-CN" sz="1350" dirty="0">
                  <a:solidFill>
                    <a:schemeClr val="dk1"/>
                  </a:solidFill>
                  <a:latin typeface="Segoe UI"/>
                  <a:ea typeface="Microsoft YaHei"/>
                  <a:cs typeface="Segoe UI"/>
                </a:rPr>
                <a:t>逐字段比较，同类体系单独成节</a:t>
              </a:r>
            </a:p>
            <a:p>
              <a:pPr algn="l" marL="145732" indent="-145732">
                <a:lnSpc>
                  <a:spcPts val="1800"/>
                </a:lnSpc>
                <a:spcBef>
                  <a:spcPts val="300"/>
                </a:spcBef>
                <a:buClr>
                  <a:schemeClr val="dk1"/>
                </a:buClr>
                <a:buSzTx/>
                <a:buFontTx/>
                <a:buChar char="•"/>
              </a:pPr>
              <a:r>
                <a:rPr lang="zh-CN" sz="1350" dirty="0">
                  <a:solidFill>
                    <a:schemeClr val="dk1"/>
                  </a:solidFill>
                  <a:latin typeface="Segoe UI"/>
                  <a:ea typeface="Microsoft YaHei"/>
                  <a:cs typeface="Segoe UI"/>
                </a:rPr>
                <a:t>每条结论可点开 DOI 与原文段落，</a:t>
              </a:r>
              <a:r>
                <a:rPr lang="zh-CN" sz="1350" dirty="0">
                  <a:solidFill>
                    <a:schemeClr val="dk1"/>
                  </a:solidFill>
                  <a:latin typeface="Segoe UI"/>
                  <a:ea typeface="Microsoft YaHei"/>
                  <a:cs typeface="Segoe UI"/>
                </a:rPr>
                <a:t>“该不该信”变成可回答的问题</a:t>
              </a:r>
            </a:p>
            <a:p>
              <a:pPr algn="l" marL="145732" indent="-145732">
                <a:lnSpc>
                  <a:spcPts val="1800"/>
                </a:lnSpc>
                <a:spcBef>
                  <a:spcPts val="300"/>
                </a:spcBef>
                <a:buClr>
                  <a:schemeClr val="dk1"/>
                </a:buClr>
                <a:buSzTx/>
                <a:buFontTx/>
                <a:buChar char="•"/>
              </a:pPr>
              <a:r>
                <a:rPr lang="zh-CN" sz="1350" dirty="0">
                  <a:solidFill>
                    <a:schemeClr val="dk1"/>
                  </a:solidFill>
                  <a:latin typeface="Segoe UI"/>
                  <a:ea typeface="Microsoft YaHei"/>
                  <a:cs typeface="Segoe UI"/>
                </a:rPr>
                <a:t>前人结论汇总 + 相图讨论，直接进入</a:t>
              </a:r>
              <a:r>
                <a:rPr lang="zh-CN" sz="1350" dirty="0">
                  <a:solidFill>
                    <a:schemeClr val="dk1"/>
                  </a:solidFill>
                  <a:latin typeface="Segoe UI"/>
                  <a:ea typeface="Microsoft YaHei"/>
                  <a:cs typeface="Segoe UI"/>
                </a:rPr>
                <a:t>课题设计而非再读一遍文献</a:t>
              </a:r>
            </a:p>
          </p:txBody>
        </p:sp>
      </p:grpSp>
      <p:grpSp>
        <p:nvGrpSpPr>
          <p:cNvPr id="28" name="Group 28"/>
          <p:cNvGrpSpPr/>
          <p:nvPr/>
        </p:nvGrpSpPr>
        <p:grpSpPr>
          <a:xfrm>
            <a:off x="4381500" y="3200400"/>
            <a:ext cx="3570161" cy="2571750"/>
            <a:chOff x="4381500" y="3200400"/>
            <a:chExt cx="3570161" cy="2571750"/>
          </a:xfrm>
        </p:grpSpPr>
        <p:sp>
          <p:nvSpPr>
            <p:cNvPr id="21" name="Rectangle 21"/>
            <p:cNvSpPr/>
            <p:nvPr/>
          </p:nvSpPr>
          <p:spPr>
            <a:xfrm>
              <a:off x="4381500" y="3200400"/>
              <a:ext cx="3429000" cy="2571750"/>
            </a:xfrm>
            <a:prstGeom prst="rect">
              <a:avLst/>
            </a:prstGeom>
            <a:solidFill>
              <a:schemeClr val="lt2"/>
            </a:solidFill>
            <a:ln>
              <a:noFill/>
            </a:ln>
          </p:spPr>
        </p:sp>
        <p:grpSp>
          <p:nvGrpSpPr>
            <p:cNvPr id="25" name="Group 25"/>
            <p:cNvGrpSpPr/>
            <p:nvPr/>
          </p:nvGrpSpPr>
          <p:grpSpPr>
            <a:xfrm>
              <a:off x="4675688" y="3424238"/>
              <a:ext cx="135524" cy="200026"/>
              <a:chOff x="4675688" y="3424238"/>
              <a:chExt cx="135524" cy="200026"/>
            </a:xfrm>
          </p:grpSpPr>
          <p:sp>
            <p:nvSpPr>
              <p:cNvPr id="22" name="Freeform 22"/>
              <p:cNvSpPr/>
              <p:nvPr/>
            </p:nvSpPr>
            <p:spPr>
              <a:xfrm>
                <a:off x="4710113" y="3424238"/>
                <a:ext cx="66675" cy="9525"/>
              </a:xfrm>
              <a:custGeom>
                <a:avLst/>
                <a:gdLst/>
                <a:ahLst/>
                <a:cxnLst/>
                <a:rect l="l" t="t" r="r" b="b"/>
                <a:pathLst>
                  <a:path w="66675" h="9525">
                    <a:moveTo>
                      <a:pt x="0" y="0"/>
                    </a:moveTo>
                    <a:lnTo>
                      <a:pt x="66675" y="0"/>
                    </a:lnTo>
                  </a:path>
                </a:pathLst>
              </a:custGeom>
              <a:noFill/>
              <a:ln w="19050">
                <a:solidFill>
                  <a:schemeClr val="accent1"/>
                </a:solidFill>
              </a:ln>
            </p:spPr>
          </p:sp>
          <p:sp>
            <p:nvSpPr>
              <p:cNvPr id="23" name="Freeform 23"/>
              <p:cNvSpPr/>
              <p:nvPr/>
            </p:nvSpPr>
            <p:spPr>
              <a:xfrm>
                <a:off x="4721225" y="3490913"/>
                <a:ext cx="44450" cy="9525"/>
              </a:xfrm>
              <a:custGeom>
                <a:avLst/>
                <a:gdLst/>
                <a:ahLst/>
                <a:cxnLst/>
                <a:rect l="l" t="t" r="r" b="b"/>
                <a:pathLst>
                  <a:path w="44450" h="9525">
                    <a:moveTo>
                      <a:pt x="0" y="0"/>
                    </a:moveTo>
                    <a:lnTo>
                      <a:pt x="44450" y="0"/>
                    </a:lnTo>
                  </a:path>
                </a:pathLst>
              </a:custGeom>
              <a:noFill/>
              <a:ln w="19050">
                <a:solidFill>
                  <a:schemeClr val="accent1"/>
                </a:solidFill>
              </a:ln>
            </p:spPr>
          </p:sp>
          <p:sp>
            <p:nvSpPr>
              <p:cNvPr id="24" name="Freeform 24"/>
              <p:cNvSpPr/>
              <p:nvPr/>
            </p:nvSpPr>
            <p:spPr>
              <a:xfrm>
                <a:off x="4675688" y="3424238"/>
                <a:ext cx="135524" cy="200026"/>
              </a:xfrm>
              <a:custGeom>
                <a:avLst/>
                <a:gdLst/>
                <a:ahLst/>
                <a:cxnLst/>
                <a:rect l="l" t="t" r="r" b="b"/>
                <a:pathLst>
                  <a:path w="135524" h="200026">
                    <a:moveTo>
                      <a:pt x="45537" y="0"/>
                    </a:moveTo>
                    <a:lnTo>
                      <a:pt x="45537" y="66675"/>
                    </a:lnTo>
                    <a:lnTo>
                      <a:pt x="1087" y="188913"/>
                    </a:lnTo>
                    <a:cubicBezTo>
                      <a:pt x="0" y="191100"/>
                      <a:pt x="3" y="193670"/>
                      <a:pt x="1095" y="195854"/>
                    </a:cubicBezTo>
                    <a:cubicBezTo>
                      <a:pt x="2187" y="198039"/>
                      <a:pt x="4242" y="199583"/>
                      <a:pt x="6643" y="200026"/>
                    </a:cubicBezTo>
                    <a:lnTo>
                      <a:pt x="128881" y="200026"/>
                    </a:lnTo>
                    <a:cubicBezTo>
                      <a:pt x="131283" y="199583"/>
                      <a:pt x="133337" y="198039"/>
                      <a:pt x="134429" y="195854"/>
                    </a:cubicBezTo>
                    <a:cubicBezTo>
                      <a:pt x="135521" y="193670"/>
                      <a:pt x="135524" y="191100"/>
                      <a:pt x="134437" y="188913"/>
                    </a:cubicBezTo>
                    <a:lnTo>
                      <a:pt x="89987" y="66675"/>
                    </a:lnTo>
                    <a:lnTo>
                      <a:pt x="89987" y="0"/>
                    </a:lnTo>
                  </a:path>
                </a:pathLst>
              </a:custGeom>
              <a:noFill/>
              <a:ln w="19050">
                <a:solidFill>
                  <a:schemeClr val="accent1"/>
                </a:solidFill>
              </a:ln>
            </p:spPr>
          </p:sp>
        </p:grpSp>
        <p:sp>
          <p:nvSpPr>
            <p:cNvPr id="26" name="TextBox 26"/>
            <p:cNvSpPr txBox="1"/>
            <p:nvPr/>
          </p:nvSpPr>
          <p:spPr>
            <a:xfrm>
              <a:off x="4962906" y="3406140"/>
              <a:ext cx="179931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Segoe UI"/>
                  <a:ea typeface="Microsoft YaHei"/>
                  <a:cs typeface="Segoe UI"/>
                </a:rPr>
                <a:t>对自动化实验室</a:t>
              </a:r>
            </a:p>
          </p:txBody>
        </p:sp>
        <p:sp>
          <p:nvSpPr>
            <p:cNvPr id="27" name="TextBox 27"/>
            <p:cNvSpPr txBox="1"/>
            <p:nvPr/>
          </p:nvSpPr>
          <p:spPr>
            <a:xfrm>
              <a:off x="4603242" y="3759518"/>
              <a:ext cx="3348419" cy="1749933"/>
            </a:xfrm>
            <a:prstGeom prst="rect">
              <a:avLst/>
            </a:prstGeom>
            <a:noFill/>
            <a:ln>
              <a:noFill/>
            </a:ln>
          </p:spPr>
          <p:txBody>
            <a:bodyPr wrap="square" lIns="0" tIns="0" rIns="0" bIns="0" anchor="t" anchorCtr="0"/>
            <a:lstStyle/>
            <a:p>
              <a:pPr algn="l">
                <a:lnSpc>
                  <a:spcPts val="1800"/>
                </a:lnSpc>
              </a:pPr>
              <a:r>
                <a:rPr lang="zh-CN" sz="1350" b="1" dirty="0">
                  <a:solidFill>
                    <a:schemeClr val="dk1"/>
                  </a:solidFill>
                  <a:latin typeface="Segoe UI"/>
                  <a:ea typeface="Microsoft YaHei"/>
                  <a:cs typeface="Segoe UI"/>
                </a:rPr>
                <a:t>交付可执行的方案，而非一段总结</a:t>
              </a:r>
            </a:p>
            <a:p>
              <a:pPr algn="l" marL="145732" indent="-145732">
                <a:lnSpc>
                  <a:spcPts val="1800"/>
                </a:lnSpc>
                <a:spcBef>
                  <a:spcPts val="300"/>
                </a:spcBef>
                <a:buClr>
                  <a:schemeClr val="dk1"/>
                </a:buClr>
                <a:buSzTx/>
                <a:buFontTx/>
                <a:buChar char="•"/>
              </a:pPr>
              <a:r>
                <a:rPr lang="zh-CN" sz="1350" dirty="0">
                  <a:solidFill>
                    <a:schemeClr val="dk1"/>
                  </a:solidFill>
                  <a:latin typeface="Segoe UI"/>
                  <a:ea typeface="Microsoft YaHei"/>
                  <a:cs typeface="Segoe UI"/>
                </a:rPr>
                <a:t>方案 = 前驱体 + 条件 + 表征 + 失败判据，</a:t>
              </a:r>
              <a:r>
                <a:rPr lang="zh-CN" sz="1350" dirty="0">
                  <a:solidFill>
                    <a:schemeClr val="dk1"/>
                  </a:solidFill>
                  <a:latin typeface="Segoe UI"/>
                  <a:ea typeface="Microsoft YaHei"/>
                  <a:cs typeface="Segoe UI"/>
                </a:rPr>
                <a:t>全部是结构化、可调度的对象</a:t>
              </a:r>
            </a:p>
            <a:p>
              <a:pPr algn="l" marL="145732" indent="-145732">
                <a:lnSpc>
                  <a:spcPts val="1800"/>
                </a:lnSpc>
                <a:spcBef>
                  <a:spcPts val="300"/>
                </a:spcBef>
                <a:buClr>
                  <a:schemeClr val="dk1"/>
                </a:buClr>
                <a:buSzTx/>
                <a:buFontTx/>
                <a:buChar char="•"/>
              </a:pPr>
              <a:r>
                <a:rPr lang="zh-CN" sz="1350" dirty="0">
                  <a:solidFill>
                    <a:schemeClr val="dk1"/>
                  </a:solidFill>
                  <a:latin typeface="Segoe UI"/>
                  <a:ea typeface="Microsoft YaHei"/>
                  <a:cs typeface="Segoe UI"/>
                </a:rPr>
                <a:t>实验结果同格式回写为证据，</a:t>
              </a:r>
              <a:r>
                <a:rPr lang="zh-CN" sz="1350" dirty="0">
                  <a:solidFill>
                    <a:schemeClr val="dk1"/>
                  </a:solidFill>
                  <a:latin typeface="Segoe UI"/>
                  <a:ea typeface="Microsoft YaHei"/>
                  <a:cs typeface="Segoe UI"/>
                </a:rPr>
                <a:t>触发新一轮检索、假设与路线更新</a:t>
              </a:r>
            </a:p>
            <a:p>
              <a:pPr algn="l" marL="145732" indent="-145732">
                <a:lnSpc>
                  <a:spcPts val="1800"/>
                </a:lnSpc>
                <a:spcBef>
                  <a:spcPts val="300"/>
                </a:spcBef>
                <a:buClr>
                  <a:schemeClr val="dk1"/>
                </a:buClr>
                <a:buSzTx/>
                <a:buFontTx/>
                <a:buChar char="•"/>
              </a:pPr>
              <a:r>
                <a:rPr lang="zh-CN" sz="1350" dirty="0">
                  <a:solidFill>
                    <a:schemeClr val="dk1"/>
                  </a:solidFill>
                  <a:latin typeface="Segoe UI"/>
                  <a:ea typeface="Microsoft YaHei"/>
                  <a:cs typeface="Segoe UI"/>
                </a:rPr>
                <a:t>需要人确认的节点保留在回路中，</a:t>
              </a:r>
              <a:r>
                <a:rPr lang="zh-CN" sz="1350" dirty="0">
                  <a:solidFill>
                    <a:schemeClr val="dk1"/>
                  </a:solidFill>
                  <a:latin typeface="Segoe UI"/>
                  <a:ea typeface="Microsoft YaHei"/>
                  <a:cs typeface="Segoe UI"/>
                </a:rPr>
                <a:t>自动化而不失可信</a:t>
              </a:r>
            </a:p>
          </p:txBody>
        </p:sp>
      </p:grpSp>
      <p:grpSp>
        <p:nvGrpSpPr>
          <p:cNvPr id="40" name="Group 40"/>
          <p:cNvGrpSpPr/>
          <p:nvPr/>
        </p:nvGrpSpPr>
        <p:grpSpPr>
          <a:xfrm>
            <a:off x="8077200" y="3200400"/>
            <a:ext cx="3429000" cy="2571750"/>
            <a:chOff x="8077200" y="3200400"/>
            <a:chExt cx="3429000" cy="2571750"/>
          </a:xfrm>
        </p:grpSpPr>
        <p:sp>
          <p:nvSpPr>
            <p:cNvPr id="29" name="Rectangle 29"/>
            <p:cNvSpPr/>
            <p:nvPr/>
          </p:nvSpPr>
          <p:spPr>
            <a:xfrm>
              <a:off x="8077200" y="3200400"/>
              <a:ext cx="3429000" cy="2571750"/>
            </a:xfrm>
            <a:prstGeom prst="rect">
              <a:avLst/>
            </a:prstGeom>
            <a:solidFill>
              <a:schemeClr val="lt2"/>
            </a:solidFill>
            <a:ln>
              <a:noFill/>
            </a:ln>
          </p:spPr>
        </p:sp>
        <p:grpSp>
          <p:nvGrpSpPr>
            <p:cNvPr id="37" name="Group 37"/>
            <p:cNvGrpSpPr/>
            <p:nvPr/>
          </p:nvGrpSpPr>
          <p:grpSpPr>
            <a:xfrm>
              <a:off x="8339138" y="3416309"/>
              <a:ext cx="209550" cy="217479"/>
              <a:chOff x="8339138" y="3416309"/>
              <a:chExt cx="209550" cy="217479"/>
            </a:xfrm>
          </p:grpSpPr>
          <p:sp>
            <p:nvSpPr>
              <p:cNvPr id="30" name="Freeform 30"/>
              <p:cNvSpPr/>
              <p:nvPr/>
            </p:nvSpPr>
            <p:spPr>
              <a:xfrm>
                <a:off x="8405813" y="3490913"/>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19050">
                <a:solidFill>
                  <a:schemeClr val="accent1"/>
                </a:solidFill>
              </a:ln>
            </p:spPr>
          </p:sp>
          <p:sp>
            <p:nvSpPr>
              <p:cNvPr id="31" name="Freeform 31"/>
              <p:cNvSpPr/>
              <p:nvPr/>
            </p:nvSpPr>
            <p:spPr>
              <a:xfrm>
                <a:off x="8439150" y="3624263"/>
                <a:ext cx="9525" cy="9525"/>
              </a:xfrm>
              <a:custGeom>
                <a:avLst/>
                <a:gdLst/>
                <a:ahLst/>
                <a:cxnLst/>
                <a:rect l="l" t="t" r="r" b="b"/>
                <a:pathLst>
                  <a:path w="9525" h="9525">
                    <a:moveTo>
                      <a:pt x="0" y="0"/>
                    </a:moveTo>
                    <a:lnTo>
                      <a:pt x="0" y="111"/>
                    </a:lnTo>
                  </a:path>
                </a:pathLst>
              </a:custGeom>
              <a:noFill/>
              <a:ln w="19050">
                <a:solidFill>
                  <a:schemeClr val="accent1"/>
                </a:solidFill>
              </a:ln>
            </p:spPr>
          </p:sp>
          <p:sp>
            <p:nvSpPr>
              <p:cNvPr id="32" name="Freeform 32"/>
              <p:cNvSpPr/>
              <p:nvPr/>
            </p:nvSpPr>
            <p:spPr>
              <a:xfrm>
                <a:off x="8339138" y="3490913"/>
                <a:ext cx="9525" cy="9525"/>
              </a:xfrm>
              <a:custGeom>
                <a:avLst/>
                <a:gdLst/>
                <a:ahLst/>
                <a:cxnLst/>
                <a:rect l="l" t="t" r="r" b="b"/>
                <a:pathLst>
                  <a:path w="9525" h="9525">
                    <a:moveTo>
                      <a:pt x="0" y="0"/>
                    </a:moveTo>
                    <a:lnTo>
                      <a:pt x="0" y="111"/>
                    </a:lnTo>
                  </a:path>
                </a:pathLst>
              </a:custGeom>
              <a:noFill/>
              <a:ln w="19050">
                <a:solidFill>
                  <a:schemeClr val="accent1"/>
                </a:solidFill>
              </a:ln>
            </p:spPr>
          </p:sp>
          <p:sp>
            <p:nvSpPr>
              <p:cNvPr id="33" name="Freeform 33"/>
              <p:cNvSpPr/>
              <p:nvPr/>
            </p:nvSpPr>
            <p:spPr>
              <a:xfrm>
                <a:off x="8539163" y="3490913"/>
                <a:ext cx="9525" cy="9525"/>
              </a:xfrm>
              <a:custGeom>
                <a:avLst/>
                <a:gdLst/>
                <a:ahLst/>
                <a:cxnLst/>
                <a:rect l="l" t="t" r="r" b="b"/>
                <a:pathLst>
                  <a:path w="9525" h="9525">
                    <a:moveTo>
                      <a:pt x="0" y="0"/>
                    </a:moveTo>
                    <a:lnTo>
                      <a:pt x="0" y="111"/>
                    </a:lnTo>
                  </a:path>
                </a:pathLst>
              </a:custGeom>
              <a:noFill/>
              <a:ln w="19050">
                <a:solidFill>
                  <a:schemeClr val="accent1"/>
                </a:solidFill>
              </a:ln>
            </p:spPr>
          </p:sp>
          <p:sp>
            <p:nvSpPr>
              <p:cNvPr id="34" name="Freeform 34"/>
              <p:cNvSpPr/>
              <p:nvPr/>
            </p:nvSpPr>
            <p:spPr>
              <a:xfrm>
                <a:off x="8339138" y="3535363"/>
                <a:ext cx="55563" cy="78899"/>
              </a:xfrm>
              <a:custGeom>
                <a:avLst/>
                <a:gdLst/>
                <a:ahLst/>
                <a:cxnLst/>
                <a:rect l="l" t="t" r="r" b="b"/>
                <a:pathLst>
                  <a:path w="55563" h="78899">
                    <a:moveTo>
                      <a:pt x="55563" y="78899"/>
                    </a:moveTo>
                    <a:cubicBezTo>
                      <a:pt x="24740" y="63865"/>
                      <a:pt x="3769" y="34086"/>
                      <a:pt x="0" y="0"/>
                    </a:cubicBezTo>
                  </a:path>
                </a:pathLst>
              </a:custGeom>
              <a:noFill/>
              <a:ln w="19050">
                <a:solidFill>
                  <a:schemeClr val="accent1"/>
                </a:solidFill>
              </a:ln>
            </p:spPr>
          </p:sp>
          <p:sp>
            <p:nvSpPr>
              <p:cNvPr id="35" name="Freeform 35"/>
              <p:cNvSpPr/>
              <p:nvPr/>
            </p:nvSpPr>
            <p:spPr>
              <a:xfrm>
                <a:off x="8483601" y="3535363"/>
                <a:ext cx="55563" cy="78899"/>
              </a:xfrm>
              <a:custGeom>
                <a:avLst/>
                <a:gdLst/>
                <a:ahLst/>
                <a:cxnLst/>
                <a:rect l="l" t="t" r="r" b="b"/>
                <a:pathLst>
                  <a:path w="55563" h="78899">
                    <a:moveTo>
                      <a:pt x="0" y="78899"/>
                    </a:moveTo>
                    <a:cubicBezTo>
                      <a:pt x="30823" y="63865"/>
                      <a:pt x="51794" y="34086"/>
                      <a:pt x="55563" y="0"/>
                    </a:cubicBezTo>
                  </a:path>
                </a:pathLst>
              </a:custGeom>
              <a:noFill/>
              <a:ln w="19050">
                <a:solidFill>
                  <a:schemeClr val="accent1"/>
                </a:solidFill>
              </a:ln>
            </p:spPr>
          </p:sp>
          <p:sp>
            <p:nvSpPr>
              <p:cNvPr id="36" name="Freeform 36"/>
              <p:cNvSpPr/>
              <p:nvPr/>
            </p:nvSpPr>
            <p:spPr>
              <a:xfrm>
                <a:off x="8374698" y="3416309"/>
                <a:ext cx="126683" cy="30153"/>
              </a:xfrm>
              <a:custGeom>
                <a:avLst/>
                <a:gdLst/>
                <a:ahLst/>
                <a:cxnLst/>
                <a:rect l="l" t="t" r="r" b="b"/>
                <a:pathLst>
                  <a:path w="126683" h="30153">
                    <a:moveTo>
                      <a:pt x="0" y="30153"/>
                    </a:moveTo>
                    <a:cubicBezTo>
                      <a:pt x="36845" y="0"/>
                      <a:pt x="89838" y="0"/>
                      <a:pt x="126683" y="30153"/>
                    </a:cubicBezTo>
                  </a:path>
                </a:pathLst>
              </a:custGeom>
              <a:noFill/>
              <a:ln w="19050">
                <a:solidFill>
                  <a:schemeClr val="accent1"/>
                </a:solidFill>
              </a:ln>
            </p:spPr>
          </p:sp>
        </p:grpSp>
        <p:sp>
          <p:nvSpPr>
            <p:cNvPr id="38" name="TextBox 38"/>
            <p:cNvSpPr txBox="1"/>
            <p:nvPr/>
          </p:nvSpPr>
          <p:spPr>
            <a:xfrm>
              <a:off x="8658606" y="3406140"/>
              <a:ext cx="256260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Segoe UI"/>
                  <a:ea typeface="Microsoft YaHei"/>
                  <a:cs typeface="Segoe UI"/>
                </a:rPr>
                <a:t>对新化合物与稀缺体系</a:t>
              </a:r>
            </a:p>
          </p:txBody>
        </p:sp>
        <p:sp>
          <p:nvSpPr>
            <p:cNvPr id="39" name="TextBox 39"/>
            <p:cNvSpPr txBox="1"/>
            <p:nvPr/>
          </p:nvSpPr>
          <p:spPr>
            <a:xfrm>
              <a:off x="8298942" y="3759518"/>
              <a:ext cx="3099816" cy="1749933"/>
            </a:xfrm>
            <a:prstGeom prst="rect">
              <a:avLst/>
            </a:prstGeom>
            <a:noFill/>
            <a:ln>
              <a:noFill/>
            </a:ln>
          </p:spPr>
          <p:txBody>
            <a:bodyPr wrap="square" lIns="0" tIns="0" rIns="0" bIns="0" anchor="t" anchorCtr="0"/>
            <a:lstStyle/>
            <a:p>
              <a:pPr algn="l">
                <a:lnSpc>
                  <a:spcPts val="1800"/>
                </a:lnSpc>
              </a:pPr>
              <a:r>
                <a:rPr lang="zh-CN" sz="1350" b="1" dirty="0">
                  <a:solidFill>
                    <a:schemeClr val="dk1"/>
                  </a:solidFill>
                  <a:latin typeface="Segoe UI"/>
                  <a:ea typeface="Microsoft YaHei"/>
                  <a:cs typeface="Segoe UI"/>
                </a:rPr>
                <a:t>从近邻体系推断可迁移的边界</a:t>
              </a:r>
            </a:p>
            <a:p>
              <a:pPr algn="l" marL="145732" indent="-145732">
                <a:lnSpc>
                  <a:spcPts val="1800"/>
                </a:lnSpc>
                <a:spcBef>
                  <a:spcPts val="300"/>
                </a:spcBef>
                <a:buClr>
                  <a:schemeClr val="dk1"/>
                </a:buClr>
                <a:buSzTx/>
                <a:buFontTx/>
                <a:buChar char="•"/>
              </a:pPr>
              <a:r>
                <a:rPr lang="zh-CN" sz="1350" dirty="0">
                  <a:solidFill>
                    <a:schemeClr val="dk1"/>
                  </a:solidFill>
                  <a:latin typeface="Segoe UI"/>
                  <a:ea typeface="Microsoft YaHei"/>
                  <a:cs typeface="Segoe UI"/>
                </a:rPr>
                <a:t>只有 1 篇直接报道的目标相，也得到</a:t>
              </a:r>
              <a:r>
                <a:rPr lang="zh-CN" sz="1350" dirty="0">
                  <a:solidFill>
                    <a:schemeClr val="dk1"/>
                  </a:solidFill>
                  <a:latin typeface="Segoe UI"/>
                  <a:ea typeface="Microsoft YaHei"/>
                  <a:cs typeface="Segoe UI"/>
                </a:rPr>
                <a:t>4 个实验方向与 7 种化合物的前驱体候选</a:t>
              </a:r>
            </a:p>
            <a:p>
              <a:pPr algn="l" marL="145732" indent="-145732">
                <a:lnSpc>
                  <a:spcPts val="1800"/>
                </a:lnSpc>
                <a:spcBef>
                  <a:spcPts val="300"/>
                </a:spcBef>
                <a:buClr>
                  <a:schemeClr val="dk1"/>
                </a:buClr>
                <a:buSzTx/>
                <a:buFontTx/>
                <a:buChar char="•"/>
              </a:pPr>
              <a:r>
                <a:rPr lang="zh-CN" sz="1350" dirty="0">
                  <a:solidFill>
                    <a:schemeClr val="dk1"/>
                  </a:solidFill>
                  <a:latin typeface="Segoe UI"/>
                  <a:ea typeface="Microsoft YaHei"/>
                  <a:cs typeface="Segoe UI"/>
                </a:rPr>
                <a:t>明确哪些近邻条件不可迁移，</a:t>
              </a:r>
              <a:r>
                <a:rPr lang="zh-CN" sz="1350" dirty="0">
                  <a:solidFill>
                    <a:schemeClr val="dk1"/>
                  </a:solidFill>
                  <a:latin typeface="Segoe UI"/>
                  <a:ea typeface="Microsoft YaHei"/>
                  <a:cs typeface="Segoe UI"/>
                </a:rPr>
                <a:t>避免重复已知的失败实验</a:t>
              </a:r>
            </a:p>
            <a:p>
              <a:pPr algn="l" marL="145732" indent="-145732">
                <a:lnSpc>
                  <a:spcPts val="1800"/>
                </a:lnSpc>
                <a:spcBef>
                  <a:spcPts val="300"/>
                </a:spcBef>
                <a:buClr>
                  <a:schemeClr val="dk1"/>
                </a:buClr>
                <a:buSzTx/>
                <a:buFontTx/>
                <a:buChar char="•"/>
              </a:pPr>
              <a:r>
                <a:rPr lang="zh-CN" sz="1350" dirty="0">
                  <a:solidFill>
                    <a:schemeClr val="dk1"/>
                  </a:solidFill>
                  <a:latin typeface="Segoe UI"/>
                  <a:ea typeface="Microsoft YaHei"/>
                  <a:cs typeface="Segoe UI"/>
                </a:rPr>
                <a:t>先做局部相图再做单一配方，</a:t>
              </a:r>
              <a:r>
                <a:rPr lang="zh-CN" sz="1350" dirty="0">
                  <a:solidFill>
                    <a:schemeClr val="dk1"/>
                  </a:solidFill>
                  <a:latin typeface="Segoe UI"/>
                  <a:ea typeface="Microsoft YaHei"/>
                  <a:cs typeface="Segoe UI"/>
                </a:rPr>
                <a:t>把探索预算花在最有发现价值处</a:t>
              </a:r>
            </a:p>
          </p:txBody>
        </p:sp>
      </p:grpSp>
      <p:grpSp>
        <p:nvGrpSpPr>
          <p:cNvPr id="42" name="Group 42"/>
          <p:cNvGrpSpPr/>
          <p:nvPr/>
        </p:nvGrpSpPr>
        <p:grpSpPr>
          <a:xfrm>
            <a:off x="678942" y="6007418"/>
            <a:ext cx="10475753" cy="264033"/>
            <a:chOff x="678942" y="6007418"/>
            <a:chExt cx="10475753" cy="264033"/>
          </a:xfrm>
        </p:grpSpPr>
        <p:sp>
          <p:nvSpPr>
            <p:cNvPr id="41" name="TextBox 41"/>
            <p:cNvSpPr txBox="1"/>
            <p:nvPr/>
          </p:nvSpPr>
          <p:spPr>
            <a:xfrm>
              <a:off x="678942" y="6007418"/>
              <a:ext cx="10475753"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Segoe UI"/>
                  <a:ea typeface="Microsoft YaHei"/>
                  <a:cs typeface="Segoe UI"/>
                </a:rPr>
                <a:t>下一步</a:t>
              </a:r>
              <a:r>
                <a:rPr lang="zh-CN" sz="1350" dirty="0">
                  <a:solidFill>
                    <a:schemeClr val="dk1"/>
                  </a:solidFill>
                  <a:latin typeface="Segoe UI"/>
                  <a:ea typeface="Microsoft YaHei"/>
                  <a:cs typeface="Segoe UI"/>
                </a:rPr>
                <a:t xml:space="preserve"> 接入跨模型审稿 · 对四个方向开展合成实验并回写为证据 · 扩展温度 / 气氛条件预测 </a:t>
              </a:r>
              <a:r>
                <a:rPr lang="zh-CN" sz="1350" b="1" dirty="0">
                  <a:solidFill>
                    <a:schemeClr val="accent1"/>
                  </a:solidFill>
                  <a:latin typeface="Segoe UI"/>
                  <a:ea typeface="Microsoft YaHei"/>
                  <a:cs typeface="Segoe UI"/>
                </a:rPr>
                <a:t>MIT 开源</a:t>
              </a:r>
              <a:r>
                <a:rPr lang="en-US" sz="1350" dirty="0">
                  <a:solidFill>
                    <a:schemeClr val="dk1"/>
                  </a:solidFill>
                  <a:latin typeface="Segoe UI"/>
                  <a:ea typeface="Segoe UI"/>
                  <a:cs typeface="Segoe UI"/>
                </a:rPr>
                <a:t xml:space="preserve"> asimfish/goai_research</a:t>
              </a:r>
            </a:p>
          </p:txBody>
        </p:sp>
      </p:grpSp>
      <p:grpSp>
        <p:nvGrpSpPr>
          <p:cNvPr id="45" name="Group 45"/>
          <p:cNvGrpSpPr/>
          <p:nvPr/>
        </p:nvGrpSpPr>
        <p:grpSpPr>
          <a:xfrm>
            <a:off x="679704" y="6480810"/>
            <a:ext cx="10832592" cy="234696"/>
            <a:chOff x="679704" y="6480810"/>
            <a:chExt cx="10832592" cy="234696"/>
          </a:xfrm>
        </p:grpSpPr>
        <p:sp>
          <p:nvSpPr>
            <p:cNvPr id="43" name="TextBox 43"/>
            <p:cNvSpPr txBox="1"/>
            <p:nvPr/>
          </p:nvSpPr>
          <p:spPr>
            <a:xfrm>
              <a:off x="679704" y="6480810"/>
              <a:ext cx="341757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Segoe UI"/>
                  <a:ea typeface="Microsoft YaHei"/>
                  <a:cs typeface="Segoe UI"/>
                </a:rPr>
                <a:t>SAGE-Mat · GOAI 2026 AI for Research 复赛</a:t>
              </a:r>
            </a:p>
          </p:txBody>
        </p:sp>
        <p:sp>
          <p:nvSpPr>
            <p:cNvPr id="44" name="TextBox 44"/>
            <p:cNvSpPr txBox="1"/>
            <p:nvPr/>
          </p:nvSpPr>
          <p:spPr>
            <a:xfrm>
              <a:off x="10958932" y="6480810"/>
              <a:ext cx="553364"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Segoe UI"/>
                  <a:ea typeface="Segoe UI"/>
                  <a:cs typeface="Segoe UI"/>
                </a:rPr>
                <a:t>13 / 13</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PPT Master">
      <a:dk1>
        <a:srgbClr val="1D1D1F"/>
      </a:dk1>
      <a:lt1>
        <a:srgbClr val="FFFFFF"/>
      </a:lt1>
      <a:dk2>
        <a:srgbClr val="5A6573"/>
      </a:dk2>
      <a:lt2>
        <a:srgbClr val="F3F5F8"/>
      </a:lt2>
      <a:accent1>
        <a:srgbClr val="1F4D78"/>
      </a:accent1>
      <a:accent2>
        <a:srgbClr val="C48A2B"/>
      </a:accent2>
      <a:accent3>
        <a:srgbClr val="4F8A9E"/>
      </a:accent3>
      <a:accent4>
        <a:srgbClr val="D5DBE3"/>
      </a:accent4>
      <a:accent5>
        <a:srgbClr val="8A94A0"/>
      </a:accent5>
      <a:accent6>
        <a:srgbClr val="E6EAF0"/>
      </a:accent6>
      <a:hlink>
        <a:srgbClr val="C48A2B"/>
      </a:hlink>
      <a:folHlink>
        <a:srgbClr val="4F8A9E"/>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PPT Master">
      <a:dk1>
        <a:srgbClr val="1D1D1F"/>
      </a:dk1>
      <a:lt1>
        <a:srgbClr val="FFFFFF"/>
      </a:lt1>
      <a:dk2>
        <a:srgbClr val="5A6573"/>
      </a:dk2>
      <a:lt2>
        <a:srgbClr val="F3F5F8"/>
      </a:lt2>
      <a:accent1>
        <a:srgbClr val="1F4D78"/>
      </a:accent1>
      <a:accent2>
        <a:srgbClr val="C48A2B"/>
      </a:accent2>
      <a:accent3>
        <a:srgbClr val="4F8A9E"/>
      </a:accent3>
      <a:accent4>
        <a:srgbClr val="D5DBE3"/>
      </a:accent4>
      <a:accent5>
        <a:srgbClr val="8A94A0"/>
      </a:accent5>
      <a:accent6>
        <a:srgbClr val="E6EAF0"/>
      </a:accent6>
      <a:hlink>
        <a:srgbClr val="C48A2B"/>
      </a:hlink>
      <a:folHlink>
        <a:srgbClr val="4F8A9E"/>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2026-09-02T21:16:22Z</dcterms:created>
  <dcterms:modified xsi:type="dcterms:W3CDTF">2026-09-02T21:16:22Z</dcterms:modified>
  <cp:category/>
  <cp:contentStatus/>
</cp:coreProperties>
</file>