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各位评审好，我们是 SAGE-Mat 团队。我们做的是一个面向无机材料合成调研与合成规划的证据约束多智能体系统，一行研究主题进去，可核验的综述、证据链和候选合成路线出来。右侧四个数字概括了复赛成果：本地文献全文库约三千七百五十七万篇，并接入在线五源检索；九个 Agent 角色、四个自研 MCP 服务和二十五个工具协同工作；正式报告五十一篇参考文献逐条核对通过，最后形成二十三页正式综述。</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我们先说明要解决的科学问题。无机材料的合成条件散落在论文实验部分，研究者真正需要知道的是文献能限定什么、哪些近邻条件可以迁移、哪些迁移不成立，以及下一步做什么实验最有发现价值。我们用两个案例覆盖两种情形：左边的 LLZO 是团队在初赛调研中自主探索确定的问题，右边的 Ba 五 Y 十二 Zn 硅酸盐是材料领域专家推荐的问题。也就是说，科学问题本身也是探索出来的；难点还包括检索会混入综述和参考文献列表、未检出不等于未研究，以及温度和气氛只有在实验语境一致时才能比较。</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接下来看系统本身。它的核心设计是把生成像论文的结论改为保存证据与判定过程。认知层是九个用 Markdown 写成的 Agent 角色，由 Codex 执行；确定性层把在线和本地文献检索、题录与作者核对、绘图以及 RECIPE 前驱体预测放进四个 MCP 服务；控制层为每个阶段设定明确完成标准，由程序检查，不由模型自己宣布完成，而且写稿与审稿分离。</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 Agent 之间怎么交互。每个 Agent 通过产物文件和共享进度记录交接，记录每一步是否通过、待返工问题与产物版本；上游一变，下游自动重查。文献检索、题录与作者逐条比对、写作与可编辑图纸、RECIPE 候选路线和对抗审稿都沿同一条链流转，审稿问题会回到原阶段返工。这样一来，实验室可以直接接收结构化路线与失败判据，实验结果也能按同样格式回写为证据。</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方法路线的关键是，做完了不由模型自己宣布。九道质量关卡全部通过、没有未关闭的严重问题，而且终审有审稿记录，程序才放行交付。正式运行中有四次需要人确认的节点，其中一次是五条作者名不匹配的文献三轮未收敛，交人决定后删除并继续。对抗审稿使用全新上下文，从领域专家、方法严谨派和期刊编辑三个视角提出问题，再沿原路返工。</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预测部分来自团队投稿 NeurIPS 二零二六的 RECIPE 工作。它先用 formula-token Transformer 构建高召回候选池，再做化学硬过滤和二至五元组合枚举，最后用目标条件化的集合重排器直接对完整集合排序。它以 MCP 工具进入想法生成环节，每条路线都标注为模型候选、未经实验验证，并附阶段分数和 checkpoint 哈希供核对。正式报告中对锌、镁、钴三个目标各调用了一次。</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正式案例是纯主题冷启动，唯一输入是一行关于 Ba 五 Y 十二 Zn 硅酸盐及其近邻化合物合成条件的主题。系统在需要人确认的节点续跑后交出二十页综述，再按材料专家八条意见修订为二十三页正式稿。五十一篇参考文献逐条核对通过，正文有二百一十九次引用，三张图都由同一图源生成可编辑版本，两轮对抗审稿的终审没有遗留问题。右侧的运行事实展示了这些过程都被完整记录。</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在科学结论上，系统给出的不是一份配方，而是文献证据限定的可迁移范围。公开证据只能确认目标相采用开放体系高温溶液法并以单晶衍射鉴定，不足以给出经验证的复现配方；无锌四方谱系提供了助熔生长、固相陶瓷和粉体相场筛查三类可比路线，但具体数值不能无条件迁移。获得单晶不等于建立批量相纯窗口，局部相图才是连接复现与发现的核心实验。基于这些边界，系统提出四个方向，每个方向都配了工艺路线和模型候选前驱体。</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初赛承诺的 LLZO 主题已经端到端跑通：四十六篇文献覆盖六个子主题，逐条核对通过，并整合成十页 A4 综述。模型首选前驱体路线是氧化锆、氧化镧和碳酸锂，与文献一致；次选出现可疑命名，反而说明模型生成、化学式规范化、文献复核和对抗审稿这四步把关非常必要。整轮共有二十一个 Agent 任务和四十九次工具调用，替代材料 Li6PS5Cl、Li3YCl6 和 LATP 的首选路线也都通过文献复核，分别对应高电导冷压、高电压正极侧和低成本空气中操作三种场景。</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这是 RECIPE 融入部分的基准结果。两千五百五十八条留出反应上，Combo@1 达到百分之七十一点八一，比先前最优的 Retrieval-Retro 高十一点四个百分点；Combo@20 是百分之八十九点二一，Combo MRR 是百分之七十七点四八，落在论文三种子均值的误差区间内。同枚举下只用概率乘积排序的对照只有百分之十一点六五，说明增益来自学习到的集合级排序，而不是候选枚举或过滤本身。提交包还带有 CPU dry run，确保模型可以加载并完成预测。</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这一页回到冷启动输入：系统只接收一行主题，也就是 Ba 五 Y 十二 Zn 及其结构相近化合物的合成条件。编排器自动确认范围，四次在需要人确认的节点续跑，组织了二十九批、四十个子任务；文献检索覆盖八个子主题，在线五源加本地全文库得到六十三条候选。引用核对让五十一篇全部通过，写作完成十一章、二百一十九次引用和百分之百整合，绘图把三张视觉参照重建成可编辑图，想法生成调用 RECIPE 三次给出四个实验方向，对抗审稿两轮后首轮七项问题全部关闭、终审零问题。</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复现与开源的基础，是复用开源的 Codex CLI 作为 Agent 宿主，九个角色都写成可读的 Markdown 说明。我们自主设计并开源四个 MCP 服务，覆盖文献检索、引用核对、绘图和 RECIPE 前驱体预测；知识库由部分公开的文献全文库和在线检索组成，被引文献中有二十一篇全文进入公开知识库。绘图工具让一份图源同时生成论文图和 draw.io 可编辑图，整个仓库按 MIT 协议开源，支持一键安装、用一到两分钟完成冒烟测试，并用同一主题重跑整条流水线。需要诚实说明的是，目标相只有一篇直接报道，大模型步骤不可逐字复现，所以我们以所有质量关卡通过作为复现判据。</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最后总结，这套系统真正改变的，是把该不该相信一条结论变成一个可以点开 DOI 和原文段落回答的问题。全部代码、提示词、配置、模型 checkpoint、轨迹和证据包都以 MIT 协议开源，仓库地址是 asimfish/goai_research。下一步我们会接入跨模型审稿，对四个方向开展合成实验，把结果回写为证据，并扩展温度、气氛和助熔剂条件预测器。感谢各位评审。</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p="http://schemas.openxmlformats.org/presentationml/2006/main" xmlns:p14="http://schemas.microsoft.com/office/powerpoint/2010/main" type="cust" preserve="1" showMasterSp="1">
  <p:cSld name="Cover">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Layouts/slideLayout13.xml><?xml version="1.0" encoding="utf-8"?>
<p:sldLayout xmlns:a="http://schemas.openxmlformats.org/drawingml/2006/main" xmlns:p="http://schemas.openxmlformats.org/presentationml/2006/main" xmlns:p14="http://schemas.microsoft.com/office/powerpoint/2010/main" type="cust" preserve="1" showMasterSp="1">
  <p:cSld name="Content">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slideLayout" Target="../slideLayouts/slideLayout12.xml"/>
  <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0" r:id="rId13"/>
    <p:sldLayoutId id="2147483661"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370a4b6d68fb4eac.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c4a3301d2618663e.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e1313572d1f0a68a.jp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8572500" y="0"/>
              <a:ext cx="3619500" cy="6858000"/>
            </a:xfrm>
            <a:prstGeom prst="rect">
              <a:avLst/>
            </a:prstGeom>
            <a:solidFill>
              <a:schemeClr val="accent1"/>
            </a:solidFill>
            <a:ln>
              <a:noFill/>
            </a:ln>
          </p:spPr>
        </p:sp>
      </p:grpSp>
      <p:grpSp>
        <p:nvGrpSpPr>
          <p:cNvPr id="7" name="Group 7"/>
          <p:cNvGrpSpPr/>
          <p:nvPr/>
        </p:nvGrpSpPr>
        <p:grpSpPr>
          <a:xfrm>
            <a:off x="678942" y="978218"/>
            <a:ext cx="7046881" cy="355282"/>
            <a:chOff x="678942" y="978218"/>
            <a:chExt cx="7046881" cy="355282"/>
          </a:xfrm>
        </p:grpSpPr>
        <p:sp>
          <p:nvSpPr>
            <p:cNvPr id="5" name="TextBox 5"/>
            <p:cNvSpPr txBox="1"/>
            <p:nvPr/>
          </p:nvSpPr>
          <p:spPr>
            <a:xfrm>
              <a:off x="678942" y="978218"/>
              <a:ext cx="704688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GOAI 2026 · AI for Research 赛道 · 材料方向 · 进阶路线 C（合成路线与工艺设计）</a:t>
              </a:r>
            </a:p>
          </p:txBody>
        </p:sp>
        <p:sp>
          <p:nvSpPr>
            <p:cNvPr id="6" name="Rectangle 6"/>
            <p:cNvSpPr/>
            <p:nvPr/>
          </p:nvSpPr>
          <p:spPr>
            <a:xfrm>
              <a:off x="685800" y="1295400"/>
              <a:ext cx="685800" cy="38100"/>
            </a:xfrm>
            <a:prstGeom prst="rect">
              <a:avLst/>
            </a:prstGeom>
            <a:solidFill>
              <a:schemeClr val="accent2"/>
            </a:solidFill>
            <a:ln>
              <a:noFill/>
            </a:ln>
          </p:spPr>
        </p:sp>
      </p:grpSp>
      <p:grpSp>
        <p:nvGrpSpPr>
          <p:cNvPr id="11" name="Group 11"/>
          <p:cNvGrpSpPr/>
          <p:nvPr/>
        </p:nvGrpSpPr>
        <p:grpSpPr>
          <a:xfrm>
            <a:off x="666750" y="1762125"/>
            <a:ext cx="8299514" cy="1594676"/>
            <a:chOff x="666750" y="1762125"/>
            <a:chExt cx="8299514" cy="1594676"/>
          </a:xfrm>
        </p:grpSpPr>
        <p:sp>
          <p:nvSpPr>
            <p:cNvPr id="8" name="TextBox 8"/>
            <p:cNvSpPr txBox="1"/>
            <p:nvPr/>
          </p:nvSpPr>
          <p:spPr>
            <a:xfrm>
              <a:off x="666750" y="1762125"/>
              <a:ext cx="3082366" cy="876300"/>
            </a:xfrm>
            <a:prstGeom prst="rect">
              <a:avLst/>
            </a:prstGeom>
            <a:noFill/>
            <a:ln>
              <a:noFill/>
            </a:ln>
          </p:spPr>
          <p:txBody>
            <a:bodyPr wrap="none" lIns="0" tIns="0" rIns="0" bIns="0" anchor="t" anchorCtr="0">
              <a:spAutoFit/>
            </a:bodyPr>
            <a:lstStyle/>
            <a:p>
              <a:pPr algn="l"/>
              <a:r>
                <a:rPr lang="en-US" sz="4500" b="1" dirty="0">
                  <a:solidFill>
                    <a:schemeClr val="dk1"/>
                  </a:solidFill>
                  <a:latin typeface="Segoe UI"/>
                  <a:ea typeface="Segoe UI"/>
                  <a:cs typeface="Segoe UI"/>
                </a:rPr>
                <a:t>SAGE-Mat</a:t>
              </a:r>
            </a:p>
          </p:txBody>
        </p:sp>
        <p:sp>
          <p:nvSpPr>
            <p:cNvPr id="9" name="TextBox 9"/>
            <p:cNvSpPr txBox="1"/>
            <p:nvPr/>
          </p:nvSpPr>
          <p:spPr>
            <a:xfrm>
              <a:off x="674370" y="2576512"/>
              <a:ext cx="829189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Segoe UI"/>
                  <a:ea typeface="Microsoft YaHei"/>
                  <a:cs typeface="Segoe UI"/>
                </a:rPr>
                <a:t>面向无机材料合成调研与合成规划的证据约束多智能体系统</a:t>
              </a:r>
            </a:p>
          </p:txBody>
        </p:sp>
        <p:sp>
          <p:nvSpPr>
            <p:cNvPr id="10" name="TextBox 10"/>
            <p:cNvSpPr txBox="1"/>
            <p:nvPr/>
          </p:nvSpPr>
          <p:spPr>
            <a:xfrm>
              <a:off x="678942" y="3092768"/>
              <a:ext cx="753359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开源实现：GOAI Research —— 9 个 Agent 角色 · 4 个自研 MCP 服务 · 程序把关的质量回环</a:t>
              </a:r>
            </a:p>
          </p:txBody>
        </p:sp>
      </p:grpSp>
      <p:grpSp>
        <p:nvGrpSpPr>
          <p:cNvPr id="13" name="Group 13"/>
          <p:cNvGrpSpPr/>
          <p:nvPr/>
        </p:nvGrpSpPr>
        <p:grpSpPr>
          <a:xfrm>
            <a:off x="675894" y="3789998"/>
            <a:ext cx="7068179" cy="381381"/>
            <a:chOff x="675894" y="3789998"/>
            <a:chExt cx="7068179" cy="381381"/>
          </a:xfrm>
        </p:grpSpPr>
        <p:sp>
          <p:nvSpPr>
            <p:cNvPr id="12" name="TextBox 12"/>
            <p:cNvSpPr txBox="1"/>
            <p:nvPr/>
          </p:nvSpPr>
          <p:spPr>
            <a:xfrm>
              <a:off x="675894" y="3789998"/>
              <a:ext cx="706817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一行主题进去，</a:t>
              </a:r>
              <a:r>
                <a:rPr lang="zh-CN" sz="1950" b="1" dirty="0">
                  <a:solidFill>
                    <a:schemeClr val="accent2"/>
                  </a:solidFill>
                  <a:latin typeface="Segoe UI"/>
                  <a:ea typeface="Microsoft YaHei"/>
                  <a:cs typeface="Segoe UI"/>
                </a:rPr>
                <a:t>可核验的综述、证据链与候选合成路线</a:t>
              </a:r>
              <a:r>
                <a:rPr lang="zh-CN" sz="1950" dirty="0">
                  <a:solidFill>
                    <a:schemeClr val="dk1"/>
                  </a:solidFill>
                  <a:latin typeface="Segoe UI"/>
                  <a:ea typeface="Microsoft YaHei"/>
                  <a:cs typeface="Segoe UI"/>
                </a:rPr>
                <a:t>出来</a:t>
              </a:r>
            </a:p>
          </p:txBody>
        </p:sp>
      </p:grpSp>
      <p:grpSp>
        <p:nvGrpSpPr>
          <p:cNvPr id="19" name="Group 19"/>
          <p:cNvGrpSpPr/>
          <p:nvPr/>
        </p:nvGrpSpPr>
        <p:grpSpPr>
          <a:xfrm>
            <a:off x="678942" y="5334000"/>
            <a:ext cx="7207758" cy="1070801"/>
            <a:chOff x="678942" y="5334000"/>
            <a:chExt cx="7207758" cy="1070801"/>
          </a:xfrm>
        </p:grpSpPr>
        <p:sp>
          <p:nvSpPr>
            <p:cNvPr id="14" name="Line 14"/>
            <p:cNvSpPr/>
            <p:nvPr/>
          </p:nvSpPr>
          <p:spPr>
            <a:xfrm>
              <a:off x="685800" y="5334000"/>
              <a:ext cx="7200900" cy="9525"/>
            </a:xfrm>
            <a:custGeom>
              <a:avLst/>
              <a:gdLst/>
              <a:ahLst/>
              <a:cxnLst/>
              <a:rect l="l" t="t" r="r" b="b"/>
              <a:pathLst>
                <a:path w="7200900" h="9525">
                  <a:moveTo>
                    <a:pt x="0" y="0"/>
                  </a:moveTo>
                  <a:lnTo>
                    <a:pt x="7200900" y="0"/>
                  </a:lnTo>
                </a:path>
              </a:pathLst>
            </a:custGeom>
            <a:noFill/>
            <a:ln w="9525">
              <a:solidFill>
                <a:schemeClr val="accent4"/>
              </a:solidFill>
            </a:ln>
          </p:spPr>
        </p:sp>
        <p:sp>
          <p:nvSpPr>
            <p:cNvPr id="15" name="TextBox 15"/>
            <p:cNvSpPr txBox="1"/>
            <p:nvPr/>
          </p:nvSpPr>
          <p:spPr>
            <a:xfrm>
              <a:off x="678942" y="5531168"/>
              <a:ext cx="631999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高京（上海交通大学）· 吕丁阳（中国科学院大学）· 李雨峰（上海交通大学）</a:t>
              </a:r>
            </a:p>
          </p:txBody>
        </p:sp>
        <p:sp>
          <p:nvSpPr>
            <p:cNvPr id="16" name="TextBox 16"/>
            <p:cNvSpPr txBox="1"/>
            <p:nvPr/>
          </p:nvSpPr>
          <p:spPr>
            <a:xfrm>
              <a:off x="678942" y="6140768"/>
              <a:ext cx="320954"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MIT</a:t>
              </a:r>
            </a:p>
          </p:txBody>
        </p:sp>
        <p:sp>
          <p:nvSpPr>
            <p:cNvPr id="17" name="Freeform 17"/>
            <p:cNvSpPr/>
            <p:nvPr/>
          </p:nvSpPr>
          <p:spPr>
            <a:xfrm>
              <a:off x="1092994" y="6101398"/>
              <a:ext cx="148431" cy="158909"/>
            </a:xfrm>
            <a:custGeom>
              <a:avLst/>
              <a:gdLst/>
              <a:ahLst/>
              <a:cxnLst/>
              <a:rect l="l" t="t" r="r" b="b"/>
              <a:pathLst>
                <a:path w="148431" h="158909">
                  <a:moveTo>
                    <a:pt x="52388" y="141446"/>
                  </a:moveTo>
                  <a:cubicBezTo>
                    <a:pt x="14843" y="153670"/>
                    <a:pt x="14843" y="119618"/>
                    <a:pt x="0" y="115253"/>
                  </a:cubicBezTo>
                  <a:moveTo>
                    <a:pt x="104775" y="158909"/>
                  </a:moveTo>
                  <a:lnTo>
                    <a:pt x="104775" y="128349"/>
                  </a:lnTo>
                  <a:cubicBezTo>
                    <a:pt x="104775" y="119618"/>
                    <a:pt x="105648" y="116126"/>
                    <a:pt x="100409" y="110887"/>
                  </a:cubicBezTo>
                  <a:cubicBezTo>
                    <a:pt x="124857" y="108268"/>
                    <a:pt x="148431" y="98663"/>
                    <a:pt x="148431" y="58499"/>
                  </a:cubicBezTo>
                  <a:cubicBezTo>
                    <a:pt x="148421" y="48065"/>
                    <a:pt x="144350" y="38045"/>
                    <a:pt x="137081" y="30559"/>
                  </a:cubicBezTo>
                  <a:cubicBezTo>
                    <a:pt x="140490" y="21496"/>
                    <a:pt x="140176" y="11452"/>
                    <a:pt x="136208" y="2619"/>
                  </a:cubicBezTo>
                  <a:cubicBezTo>
                    <a:pt x="136208" y="2619"/>
                    <a:pt x="126603" y="0"/>
                    <a:pt x="105648" y="13970"/>
                  </a:cubicBezTo>
                  <a:cubicBezTo>
                    <a:pt x="87900" y="9348"/>
                    <a:pt x="69263" y="9348"/>
                    <a:pt x="51514" y="13970"/>
                  </a:cubicBezTo>
                  <a:cubicBezTo>
                    <a:pt x="30559" y="0"/>
                    <a:pt x="20955" y="2619"/>
                    <a:pt x="20955" y="2619"/>
                  </a:cubicBezTo>
                  <a:cubicBezTo>
                    <a:pt x="16986" y="11452"/>
                    <a:pt x="16673" y="21496"/>
                    <a:pt x="20082" y="30559"/>
                  </a:cubicBezTo>
                  <a:cubicBezTo>
                    <a:pt x="12813" y="38045"/>
                    <a:pt x="8742" y="48065"/>
                    <a:pt x="8731" y="58499"/>
                  </a:cubicBezTo>
                  <a:cubicBezTo>
                    <a:pt x="8731" y="98663"/>
                    <a:pt x="32306" y="108268"/>
                    <a:pt x="56753" y="110887"/>
                  </a:cubicBezTo>
                  <a:cubicBezTo>
                    <a:pt x="51514" y="116126"/>
                    <a:pt x="51514" y="121364"/>
                    <a:pt x="52388" y="128349"/>
                  </a:cubicBezTo>
                  <a:lnTo>
                    <a:pt x="52388" y="158909"/>
                  </a:lnTo>
                </a:path>
              </a:pathLst>
            </a:custGeom>
            <a:noFill/>
            <a:ln w="19050">
              <a:solidFill>
                <a:schemeClr val="accent1"/>
              </a:solidFill>
            </a:ln>
          </p:spPr>
        </p:sp>
        <p:sp>
          <p:nvSpPr>
            <p:cNvPr id="18" name="TextBox 18"/>
            <p:cNvSpPr txBox="1"/>
            <p:nvPr/>
          </p:nvSpPr>
          <p:spPr>
            <a:xfrm>
              <a:off x="1364742" y="6140768"/>
              <a:ext cx="2112778"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asimfish/goai_research</a:t>
              </a:r>
            </a:p>
          </p:txBody>
        </p:sp>
      </p:grpSp>
      <p:grpSp>
        <p:nvGrpSpPr>
          <p:cNvPr id="29" name="Group 29"/>
          <p:cNvGrpSpPr/>
          <p:nvPr/>
        </p:nvGrpSpPr>
        <p:grpSpPr>
          <a:xfrm>
            <a:off x="9010650" y="975360"/>
            <a:ext cx="2739318" cy="5225415"/>
            <a:chOff x="9010650" y="975360"/>
            <a:chExt cx="2739318" cy="5225415"/>
          </a:xfrm>
        </p:grpSpPr>
        <p:sp>
          <p:nvSpPr>
            <p:cNvPr id="20" name="TextBox 20"/>
            <p:cNvSpPr txBox="1"/>
            <p:nvPr/>
          </p:nvSpPr>
          <p:spPr>
            <a:xfrm>
              <a:off x="9010650" y="975360"/>
              <a:ext cx="27393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3.8 kw 篇</a:t>
              </a:r>
            </a:p>
          </p:txBody>
        </p:sp>
        <p:sp>
          <p:nvSpPr>
            <p:cNvPr id="21" name="TextBox 21"/>
            <p:cNvSpPr txBox="1"/>
            <p:nvPr/>
          </p:nvSpPr>
          <p:spPr>
            <a:xfrm>
              <a:off x="9022842" y="1587818"/>
              <a:ext cx="2645474"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本地文献全文库（约 3,757 万篇）</a:t>
              </a:r>
              <a:r>
                <a:rPr lang="zh-CN" sz="1350" dirty="0">
                  <a:solidFill>
                    <a:srgbClr val="FFFFFF">
                      <a:alphaMod val="80000"/>
                    </a:srgbClr>
                  </a:solidFill>
                  <a:latin typeface="Segoe UI"/>
                  <a:ea typeface="Microsoft YaHei"/>
                  <a:cs typeface="Segoe UI"/>
                </a:rPr>
                <a:t>+ 在线五源检索</a:t>
              </a:r>
            </a:p>
          </p:txBody>
        </p:sp>
        <p:sp>
          <p:nvSpPr>
            <p:cNvPr id="22" name="TextBox 22"/>
            <p:cNvSpPr txBox="1"/>
            <p:nvPr/>
          </p:nvSpPr>
          <p:spPr>
            <a:xfrm>
              <a:off x="9010650" y="2308860"/>
              <a:ext cx="1136397"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9 个</a:t>
              </a:r>
            </a:p>
          </p:txBody>
        </p:sp>
        <p:sp>
          <p:nvSpPr>
            <p:cNvPr id="23" name="TextBox 23"/>
            <p:cNvSpPr txBox="1"/>
            <p:nvPr/>
          </p:nvSpPr>
          <p:spPr>
            <a:xfrm>
              <a:off x="9022842" y="2921318"/>
              <a:ext cx="2499741"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Agent 角色 · 4 个自研 MCP 服务</a:t>
              </a:r>
            </a:p>
            <a:p>
              <a:pPr algn="l" marL="145732" indent="-145732">
                <a:lnSpc>
                  <a:spcPts val="1800"/>
                </a:lnSpc>
                <a:buClr>
                  <a:srgbClr val="FFFFFF"/>
                </a:buClr>
                <a:buSzTx/>
                <a:buFontTx/>
                <a:buChar char="•"/>
              </a:pPr>
              <a:r>
                <a:rPr lang="zh-CN" sz="1350" dirty="0">
                  <a:solidFill>
                    <a:srgbClr val="FFFFFF">
                      <a:alphaMod val="80000"/>
                    </a:srgbClr>
                  </a:solidFill>
                  <a:latin typeface="Segoe UI"/>
                  <a:ea typeface="Microsoft YaHei"/>
                  <a:cs typeface="Segoe UI"/>
                </a:rPr>
                <a:t>25 个工具</a:t>
              </a:r>
            </a:p>
          </p:txBody>
        </p:sp>
        <p:sp>
          <p:nvSpPr>
            <p:cNvPr id="24" name="TextBox 24"/>
            <p:cNvSpPr txBox="1"/>
            <p:nvPr/>
          </p:nvSpPr>
          <p:spPr>
            <a:xfrm>
              <a:off x="9010650" y="3642360"/>
              <a:ext cx="2026909" cy="819150"/>
            </a:xfrm>
            <a:prstGeom prst="rect">
              <a:avLst/>
            </a:prstGeom>
            <a:noFill/>
            <a:ln>
              <a:noFill/>
            </a:ln>
          </p:spPr>
          <p:txBody>
            <a:bodyPr wrap="none" lIns="0" tIns="0" rIns="0" bIns="0" anchor="t" anchorCtr="0">
              <a:spAutoFit/>
            </a:bodyPr>
            <a:lstStyle/>
            <a:p>
              <a:pPr algn="l"/>
              <a:r>
                <a:rPr lang="en-US" sz="4200" b="1" dirty="0">
                  <a:solidFill>
                    <a:srgbClr val="FFFFFF"/>
                  </a:solidFill>
                  <a:latin typeface="Segoe UI"/>
                  <a:ea typeface="Segoe UI"/>
                  <a:cs typeface="Segoe UI"/>
                </a:rPr>
                <a:t>51 / 51</a:t>
              </a:r>
            </a:p>
          </p:txBody>
        </p:sp>
        <p:sp>
          <p:nvSpPr>
            <p:cNvPr id="25" name="TextBox 25"/>
            <p:cNvSpPr txBox="1"/>
            <p:nvPr/>
          </p:nvSpPr>
          <p:spPr>
            <a:xfrm>
              <a:off x="9022842" y="4254818"/>
              <a:ext cx="2558034"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正式报告参考文献逐条核对通过</a:t>
              </a:r>
            </a:p>
          </p:txBody>
        </p:sp>
        <p:sp>
          <p:nvSpPr>
            <p:cNvPr id="26" name="TextBox 26"/>
            <p:cNvSpPr txBox="1"/>
            <p:nvPr/>
          </p:nvSpPr>
          <p:spPr>
            <a:xfrm>
              <a:off x="9010650" y="4975860"/>
              <a:ext cx="14629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23 页</a:t>
              </a:r>
            </a:p>
          </p:txBody>
        </p:sp>
        <p:sp>
          <p:nvSpPr>
            <p:cNvPr id="27" name="TextBox 27"/>
            <p:cNvSpPr txBox="1"/>
            <p:nvPr/>
          </p:nvSpPr>
          <p:spPr>
            <a:xfrm>
              <a:off x="9022842" y="5588318"/>
              <a:ext cx="2376297" cy="264033"/>
            </a:xfrm>
            <a:prstGeom prst="rect">
              <a:avLst/>
            </a:prstGeom>
            <a:noFill/>
            <a:ln>
              <a:noFill/>
            </a:ln>
          </p:spPr>
          <p:txBody>
            <a:bodyPr wrap="none" lIns="0" tIns="0" rIns="0" bIns="0" anchor="t" anchorCtr="0">
              <a:spAutoFit/>
            </a:bodyPr>
            <a:lstStyle/>
            <a:p>
              <a:pPr algn="l"/>
              <a:r>
                <a:rPr lang="zh-CN" sz="1350" dirty="0">
                  <a:solidFill>
                    <a:srgbClr val="FFFFFF">
                      <a:alphaMod val="80000"/>
                    </a:srgbClr>
                  </a:solidFill>
                  <a:latin typeface="Segoe UI"/>
                  <a:ea typeface="Microsoft YaHei"/>
                  <a:cs typeface="Segoe UI"/>
                </a:rPr>
                <a:t>纯主题冷启动生成的正式综述</a:t>
              </a:r>
            </a:p>
          </p:txBody>
        </p:sp>
        <p:sp>
          <p:nvSpPr>
            <p:cNvPr id="28" name="Line 28"/>
            <p:cNvSpPr/>
            <p:nvPr/>
          </p:nvSpPr>
          <p:spPr>
            <a:xfrm>
              <a:off x="9029700" y="6191250"/>
              <a:ext cx="2705100" cy="9525"/>
            </a:xfrm>
            <a:custGeom>
              <a:avLst/>
              <a:gdLst/>
              <a:ahLst/>
              <a:cxnLst/>
              <a:rect l="l" t="t" r="r" b="b"/>
              <a:pathLst>
                <a:path w="2705100" h="9525">
                  <a:moveTo>
                    <a:pt x="0" y="0"/>
                  </a:moveTo>
                  <a:lnTo>
                    <a:pt x="2705100" y="0"/>
                  </a:lnTo>
                </a:path>
              </a:pathLst>
            </a:custGeom>
            <a:noFill/>
            <a:ln w="9525">
              <a:solidFill>
                <a:srgbClr val="FFFFFF">
                  <a:alpha val="35000"/>
                </a:srgbClr>
              </a:solidFill>
            </a:ln>
          </p:spPr>
        </p:sp>
      </p:grpSp>
      <p:sp>
        <p:nvSpPr>
          <p:cNvPr id="30" name="TextBox 30"/>
          <p:cNvSpPr txBox="1"/>
          <p:nvPr/>
        </p:nvSpPr>
        <p:spPr>
          <a:xfrm>
            <a:off x="9723120" y="6480810"/>
            <a:ext cx="1789176" cy="234696"/>
          </a:xfrm>
          <a:prstGeom prst="rect">
            <a:avLst/>
          </a:prstGeom>
          <a:noFill/>
          <a:ln>
            <a:noFill/>
          </a:ln>
        </p:spPr>
        <p:txBody>
          <a:bodyPr wrap="none" lIns="0" tIns="0" rIns="0" bIns="0" anchor="t" anchorCtr="0">
            <a:spAutoFit/>
          </a:bodyPr>
          <a:lstStyle/>
          <a:p>
            <a:pPr algn="r"/>
            <a:r>
              <a:rPr lang="zh-CN" sz="1200" dirty="0">
                <a:solidFill>
                  <a:srgbClr val="FFFFFF">
                    <a:alphaMod val="80000"/>
                  </a:srgbClr>
                </a:solidFill>
                <a:latin typeface="Segoe UI"/>
                <a:ea typeface="Microsoft YaHei"/>
                <a:cs typeface="Segoe UI"/>
              </a:rPr>
              <a:t>2026-09 · 复赛作品说明</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522316" cy="586740"/>
            <a:chOff x="670560" y="590550"/>
            <a:chExt cx="11522316" cy="586740"/>
          </a:xfrm>
        </p:grpSpPr>
        <p:sp>
          <p:nvSpPr>
            <p:cNvPr id="2" name="TextBox 2"/>
            <p:cNvSpPr txBox="1"/>
            <p:nvPr/>
          </p:nvSpPr>
          <p:spPr>
            <a:xfrm>
              <a:off x="670560" y="590550"/>
              <a:ext cx="1152231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合成条件散落在文献里，“哪些能迁移”才是要回答的科学问题</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30512" cy="990981"/>
            <a:chOff x="675894" y="1370648"/>
            <a:chExt cx="9430512" cy="990981"/>
          </a:xfrm>
        </p:grpSpPr>
        <p:sp>
          <p:nvSpPr>
            <p:cNvPr id="5" name="TextBox 5"/>
            <p:cNvSpPr txBox="1"/>
            <p:nvPr/>
          </p:nvSpPr>
          <p:spPr>
            <a:xfrm>
              <a:off x="675894" y="1370648"/>
              <a:ext cx="9430512" cy="990981"/>
            </a:xfrm>
            <a:prstGeom prst="rect">
              <a:avLst/>
            </a:prstGeom>
            <a:noFill/>
            <a:ln>
              <a:noFill/>
            </a:ln>
          </p:spPr>
          <p:txBody>
            <a:bodyPr wrap="square" lIns="0" tIns="0" rIns="0" bIns="0" anchor="t" anchorCtr="0"/>
            <a:lstStyle/>
            <a:p>
              <a:pPr algn="l">
                <a:lnSpc>
                  <a:spcPts val="2400"/>
                </a:lnSpc>
              </a:pPr>
              <a:r>
                <a:rPr lang="zh-CN" sz="1950" dirty="0">
                  <a:solidFill>
                    <a:schemeClr val="dk1"/>
                  </a:solidFill>
                  <a:latin typeface="Segoe UI"/>
                  <a:ea typeface="Microsoft YaHei"/>
                  <a:cs typeface="Segoe UI"/>
                </a:rPr>
                <a:t>对只有单篇报道的化合物，研究者需要知道文献能限定什么、哪些近邻条件可以迁移、</a:t>
              </a:r>
              <a:r>
                <a:rPr lang="zh-CN" sz="1950" dirty="0">
                  <a:solidFill>
                    <a:schemeClr val="dk1"/>
                  </a:solidFill>
                  <a:latin typeface="Segoe UI"/>
                  <a:ea typeface="Microsoft YaHei"/>
                  <a:cs typeface="Segoe UI"/>
                </a:rPr>
                <a:t>哪些迁移</a:t>
              </a:r>
              <a:r>
                <a:rPr lang="zh-CN" sz="1950" b="1" dirty="0">
                  <a:solidFill>
                    <a:schemeClr val="accent2"/>
                  </a:solidFill>
                  <a:latin typeface="Segoe UI"/>
                  <a:ea typeface="Microsoft YaHei"/>
                  <a:cs typeface="Segoe UI"/>
                </a:rPr>
                <a:t>不成立</a:t>
              </a:r>
              <a:r>
                <a:rPr lang="zh-CN" sz="1950" dirty="0">
                  <a:solidFill>
                    <a:schemeClr val="dk1"/>
                  </a:solidFill>
                  <a:latin typeface="Segoe UI"/>
                  <a:ea typeface="Microsoft YaHei"/>
                  <a:cs typeface="Segoe UI"/>
                </a:rPr>
                <a:t>，以及下一步做什么实验</a:t>
              </a:r>
              <a:r>
                <a:rPr lang="zh-CN" sz="1950" b="1" dirty="0">
                  <a:solidFill>
                    <a:schemeClr val="accent2"/>
                  </a:solidFill>
                  <a:latin typeface="Segoe UI"/>
                  <a:ea typeface="Microsoft YaHei"/>
                  <a:cs typeface="Segoe UI"/>
                </a:rPr>
                <a:t>最有发现价值</a:t>
              </a:r>
              <a:r>
                <a:rPr lang="zh-CN" sz="1950" dirty="0">
                  <a:solidFill>
                    <a:schemeClr val="dk1"/>
                  </a:solidFill>
                  <a:latin typeface="Segoe UI"/>
                  <a:ea typeface="Microsoft YaHei"/>
                  <a:cs typeface="Segoe UI"/>
                </a:rPr>
                <a:t>。</a:t>
              </a:r>
              <a:r>
                <a:rPr lang="zh-CN" sz="1950" dirty="0">
                  <a:solidFill>
                    <a:schemeClr val="dk1"/>
                  </a:solidFill>
                  <a:latin typeface="Segoe UI"/>
                  <a:ea typeface="Microsoft YaHei"/>
                  <a:cs typeface="Segoe UI"/>
                </a:rPr>
                <a:t>科学问题本身也是探索出来的：一个来自团队自主探索，一个来自领域专家推荐。</a:t>
              </a:r>
            </a:p>
          </p:txBody>
        </p:sp>
      </p:grpSp>
      <p:grpSp>
        <p:nvGrpSpPr>
          <p:cNvPr id="16" name="Group 16"/>
          <p:cNvGrpSpPr/>
          <p:nvPr/>
        </p:nvGrpSpPr>
        <p:grpSpPr>
          <a:xfrm>
            <a:off x="685800" y="2266950"/>
            <a:ext cx="5295900" cy="2381250"/>
            <a:chOff x="685800" y="2266950"/>
            <a:chExt cx="5295900" cy="2381250"/>
          </a:xfrm>
        </p:grpSpPr>
        <p:sp>
          <p:nvSpPr>
            <p:cNvPr id="7" name="Rectangle 7"/>
            <p:cNvSpPr/>
            <p:nvPr/>
          </p:nvSpPr>
          <p:spPr>
            <a:xfrm>
              <a:off x="685800" y="2266950"/>
              <a:ext cx="5295900" cy="2381250"/>
            </a:xfrm>
            <a:prstGeom prst="rect">
              <a:avLst/>
            </a:prstGeom>
            <a:solidFill>
              <a:schemeClr val="lt2"/>
            </a:solidFill>
            <a:ln>
              <a:noFill/>
            </a:ln>
          </p:spPr>
        </p:sp>
        <p:sp>
          <p:nvSpPr>
            <p:cNvPr id="8" name="Rectangle 8"/>
            <p:cNvSpPr/>
            <p:nvPr/>
          </p:nvSpPr>
          <p:spPr>
            <a:xfrm>
              <a:off x="685800" y="2266950"/>
              <a:ext cx="57150" cy="2381250"/>
            </a:xfrm>
            <a:prstGeom prst="rect">
              <a:avLst/>
            </a:prstGeom>
            <a:solidFill>
              <a:schemeClr val="accent1"/>
            </a:solidFill>
            <a:ln>
              <a:noFill/>
            </a:ln>
          </p:spPr>
        </p:sp>
        <p:sp>
          <p:nvSpPr>
            <p:cNvPr id="9" name="TextBox 9"/>
            <p:cNvSpPr txBox="1"/>
            <p:nvPr/>
          </p:nvSpPr>
          <p:spPr>
            <a:xfrm>
              <a:off x="962406" y="2453640"/>
              <a:ext cx="397014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A · LLZO 石榴石固态电解质</a:t>
              </a:r>
            </a:p>
          </p:txBody>
        </p:sp>
        <p:sp>
          <p:nvSpPr>
            <p:cNvPr id="10" name="TextBox 10"/>
            <p:cNvSpPr txBox="1"/>
            <p:nvPr/>
          </p:nvSpPr>
          <p:spPr>
            <a:xfrm>
              <a:off x="964692" y="2768918"/>
              <a:ext cx="346671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团队在初赛调研中自主探索确定的科学问题</a:t>
              </a:r>
            </a:p>
          </p:txBody>
        </p:sp>
        <p:sp>
          <p:nvSpPr>
            <p:cNvPr id="11" name="TextBox 11"/>
            <p:cNvSpPr txBox="1"/>
            <p:nvPr/>
          </p:nvSpPr>
          <p:spPr>
            <a:xfrm>
              <a:off x="962406" y="3025140"/>
              <a:ext cx="462229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低温致密化、两步烧结、冷烧结、超快烧结</a:t>
              </a:r>
            </a:p>
          </p:txBody>
        </p:sp>
        <p:sp>
          <p:nvSpPr>
            <p:cNvPr id="12" name="TextBox 12"/>
            <p:cNvSpPr txBox="1"/>
            <p:nvPr/>
          </p:nvSpPr>
          <p:spPr>
            <a:xfrm>
              <a:off x="962406" y="3329940"/>
              <a:ext cx="437997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各有先例，却缺少跨掺杂体系可比的统一</a:t>
              </a:r>
            </a:p>
          </p:txBody>
        </p:sp>
        <p:sp>
          <p:nvSpPr>
            <p:cNvPr id="13" name="TextBox 13"/>
            <p:cNvSpPr txBox="1"/>
            <p:nvPr/>
          </p:nvSpPr>
          <p:spPr>
            <a:xfrm>
              <a:off x="962406" y="36347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工艺图景；温度、气氛与致密度只有在</a:t>
              </a:r>
            </a:p>
          </p:txBody>
        </p:sp>
        <p:sp>
          <p:nvSpPr>
            <p:cNvPr id="14" name="TextBox 14"/>
            <p:cNvSpPr txBox="1"/>
            <p:nvPr/>
          </p:nvSpPr>
          <p:spPr>
            <a:xfrm>
              <a:off x="962406" y="3939540"/>
              <a:ext cx="292608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实验语境一致时才能比较。</a:t>
              </a:r>
            </a:p>
          </p:txBody>
        </p:sp>
        <p:sp>
          <p:nvSpPr>
            <p:cNvPr id="15" name="TextBox 15"/>
            <p:cNvSpPr txBox="1"/>
            <p:nvPr/>
          </p:nvSpPr>
          <p:spPr>
            <a:xfrm>
              <a:off x="964692" y="4331018"/>
              <a:ext cx="1950578"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文献丰富 · 条件不可比</a:t>
              </a:r>
            </a:p>
          </p:txBody>
        </p:sp>
      </p:grpSp>
      <p:grpSp>
        <p:nvGrpSpPr>
          <p:cNvPr id="27" name="Group 27"/>
          <p:cNvGrpSpPr/>
          <p:nvPr/>
        </p:nvGrpSpPr>
        <p:grpSpPr>
          <a:xfrm>
            <a:off x="6210300" y="2266950"/>
            <a:ext cx="5348006" cy="2381250"/>
            <a:chOff x="6210300" y="2266950"/>
            <a:chExt cx="5348006" cy="2381250"/>
          </a:xfrm>
        </p:grpSpPr>
        <p:sp>
          <p:nvSpPr>
            <p:cNvPr id="17" name="Rectangle 17"/>
            <p:cNvSpPr/>
            <p:nvPr/>
          </p:nvSpPr>
          <p:spPr>
            <a:xfrm>
              <a:off x="6210300" y="2266950"/>
              <a:ext cx="5295900" cy="2381250"/>
            </a:xfrm>
            <a:prstGeom prst="rect">
              <a:avLst/>
            </a:prstGeom>
            <a:solidFill>
              <a:schemeClr val="lt2"/>
            </a:solidFill>
            <a:ln>
              <a:noFill/>
            </a:ln>
          </p:spPr>
        </p:sp>
        <p:sp>
          <p:nvSpPr>
            <p:cNvPr id="18" name="Rectangle 18"/>
            <p:cNvSpPr/>
            <p:nvPr/>
          </p:nvSpPr>
          <p:spPr>
            <a:xfrm>
              <a:off x="6210300" y="2266950"/>
              <a:ext cx="57150" cy="2381250"/>
            </a:xfrm>
            <a:prstGeom prst="rect">
              <a:avLst/>
            </a:prstGeom>
            <a:solidFill>
              <a:schemeClr val="accent3"/>
            </a:solidFill>
            <a:ln>
              <a:noFill/>
            </a:ln>
          </p:spPr>
        </p:sp>
        <p:sp>
          <p:nvSpPr>
            <p:cNvPr id="19" name="TextBox 19"/>
            <p:cNvSpPr txBox="1"/>
            <p:nvPr/>
          </p:nvSpPr>
          <p:spPr>
            <a:xfrm>
              <a:off x="6486906" y="2453640"/>
              <a:ext cx="50714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B · Ba5Y12Zn[O(SiO4)]8（BYZSO）</a:t>
              </a:r>
            </a:p>
          </p:txBody>
        </p:sp>
        <p:sp>
          <p:nvSpPr>
            <p:cNvPr id="20" name="TextBox 20"/>
            <p:cNvSpPr txBox="1"/>
            <p:nvPr/>
          </p:nvSpPr>
          <p:spPr>
            <a:xfrm>
              <a:off x="6489192" y="2768918"/>
              <a:ext cx="237629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材料领域专家推荐的科学问题</a:t>
              </a:r>
            </a:p>
          </p:txBody>
        </p:sp>
        <p:sp>
          <p:nvSpPr>
            <p:cNvPr id="21" name="TextBox 21"/>
            <p:cNvSpPr txBox="1"/>
            <p:nvPr/>
          </p:nvSpPr>
          <p:spPr>
            <a:xfrm>
              <a:off x="6486906" y="3025140"/>
              <a:ext cx="425881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2024 年首次报道的非中心对称硅酸盐；</a:t>
              </a:r>
            </a:p>
          </p:txBody>
        </p:sp>
        <p:sp>
          <p:nvSpPr>
            <p:cNvPr id="22" name="TextBox 22"/>
            <p:cNvSpPr txBox="1"/>
            <p:nvPr/>
          </p:nvSpPr>
          <p:spPr>
            <a:xfrm>
              <a:off x="6486906" y="3291840"/>
              <a:ext cx="346947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 xml:space="preserve">公开文献仅 </a:t>
              </a:r>
              <a:r>
                <a:rPr lang="zh-CN" sz="1800" b="1" dirty="0">
                  <a:solidFill>
                    <a:schemeClr val="accent1"/>
                  </a:solidFill>
                  <a:latin typeface="Segoe UI"/>
                  <a:ea typeface="Microsoft YaHei"/>
                  <a:cs typeface="Segoe UI"/>
                </a:rPr>
                <a:t>1 篇</a:t>
              </a:r>
              <a:r>
                <a:rPr lang="zh-CN" sz="1800" dirty="0">
                  <a:solidFill>
                    <a:schemeClr val="dk1"/>
                  </a:solidFill>
                  <a:latin typeface="Segoe UI"/>
                  <a:ea typeface="Microsoft YaHei"/>
                  <a:cs typeface="Segoe UI"/>
                </a:rPr>
                <a:t>直接合成报道，</a:t>
              </a:r>
            </a:p>
          </p:txBody>
        </p:sp>
        <p:sp>
          <p:nvSpPr>
            <p:cNvPr id="23" name="TextBox 23"/>
            <p:cNvSpPr txBox="1"/>
            <p:nvPr/>
          </p:nvSpPr>
          <p:spPr>
            <a:xfrm>
              <a:off x="6486906" y="35585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投料比、温程与冷却程序仍不可复现；</a:t>
              </a:r>
            </a:p>
          </p:txBody>
        </p:sp>
        <p:sp>
          <p:nvSpPr>
            <p:cNvPr id="24" name="TextBox 24"/>
            <p:cNvSpPr txBox="1"/>
            <p:nvPr/>
          </p:nvSpPr>
          <p:spPr>
            <a:xfrm>
              <a:off x="6486906" y="3825240"/>
              <a:ext cx="393686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Ba–Y–Si–O、Ba–Zn–Si–O、Y–Si–O</a:t>
              </a:r>
            </a:p>
          </p:txBody>
        </p:sp>
        <p:sp>
          <p:nvSpPr>
            <p:cNvPr id="25" name="TextBox 25"/>
            <p:cNvSpPr txBox="1"/>
            <p:nvPr/>
          </p:nvSpPr>
          <p:spPr>
            <a:xfrm>
              <a:off x="6486906" y="4091940"/>
              <a:ext cx="219913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近邻体系证据丰富。</a:t>
              </a:r>
            </a:p>
          </p:txBody>
        </p:sp>
        <p:sp>
          <p:nvSpPr>
            <p:cNvPr id="26" name="TextBox 26"/>
            <p:cNvSpPr txBox="1"/>
            <p:nvPr/>
          </p:nvSpPr>
          <p:spPr>
            <a:xfrm>
              <a:off x="6489192" y="4331018"/>
              <a:ext cx="1759754"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文献稀缺 · 近邻丰富</a:t>
              </a:r>
            </a:p>
          </p:txBody>
        </p:sp>
      </p:grpSp>
      <p:grpSp>
        <p:nvGrpSpPr>
          <p:cNvPr id="47" name="Group 47"/>
          <p:cNvGrpSpPr/>
          <p:nvPr/>
        </p:nvGrpSpPr>
        <p:grpSpPr>
          <a:xfrm>
            <a:off x="678942" y="5029200"/>
            <a:ext cx="10827258" cy="1147001"/>
            <a:chOff x="678942" y="5029200"/>
            <a:chExt cx="10827258" cy="1147001"/>
          </a:xfrm>
        </p:grpSpPr>
        <p:sp>
          <p:nvSpPr>
            <p:cNvPr id="28" name="Line 28"/>
            <p:cNvSpPr/>
            <p:nvPr/>
          </p:nvSpPr>
          <p:spPr>
            <a:xfrm>
              <a:off x="685800" y="502920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29" name="TextBox 29"/>
            <p:cNvSpPr txBox="1"/>
            <p:nvPr/>
          </p:nvSpPr>
          <p:spPr>
            <a:xfrm>
              <a:off x="678942" y="5188268"/>
              <a:ext cx="74066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三个难点</a:t>
              </a:r>
            </a:p>
          </p:txBody>
        </p:sp>
        <p:grpSp>
          <p:nvGrpSpPr>
            <p:cNvPr id="32" name="Group 32"/>
            <p:cNvGrpSpPr/>
            <p:nvPr/>
          </p:nvGrpSpPr>
          <p:grpSpPr>
            <a:xfrm>
              <a:off x="723900" y="5581650"/>
              <a:ext cx="228600" cy="228600"/>
              <a:chOff x="723900" y="5581650"/>
              <a:chExt cx="228600" cy="228600"/>
            </a:xfrm>
          </p:grpSpPr>
          <p:sp>
            <p:nvSpPr>
              <p:cNvPr id="30" name="Freeform 30"/>
              <p:cNvSpPr/>
              <p:nvPr/>
            </p:nvSpPr>
            <p:spPr>
              <a:xfrm>
                <a:off x="723900" y="5581650"/>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19050">
                <a:solidFill>
                  <a:schemeClr val="accent1"/>
                </a:solidFill>
              </a:ln>
            </p:spPr>
          </p:sp>
          <p:sp>
            <p:nvSpPr>
              <p:cNvPr id="31" name="Freeform 31"/>
              <p:cNvSpPr/>
              <p:nvPr/>
            </p:nvSpPr>
            <p:spPr>
              <a:xfrm>
                <a:off x="876300" y="5734050"/>
                <a:ext cx="76200" cy="76200"/>
              </a:xfrm>
              <a:custGeom>
                <a:avLst/>
                <a:gdLst/>
                <a:ahLst/>
                <a:cxnLst/>
                <a:rect l="l" t="t" r="r" b="b"/>
                <a:pathLst>
                  <a:path w="76200" h="76200">
                    <a:moveTo>
                      <a:pt x="76200" y="76200"/>
                    </a:moveTo>
                    <a:lnTo>
                      <a:pt x="0" y="0"/>
                    </a:lnTo>
                  </a:path>
                </a:pathLst>
              </a:custGeom>
              <a:noFill/>
              <a:ln w="19050">
                <a:solidFill>
                  <a:schemeClr val="accent1"/>
                </a:solidFill>
              </a:ln>
            </p:spPr>
          </p:sp>
        </p:grpSp>
        <p:sp>
          <p:nvSpPr>
            <p:cNvPr id="33" name="TextBox 33"/>
            <p:cNvSpPr txBox="1"/>
            <p:nvPr/>
          </p:nvSpPr>
          <p:spPr>
            <a:xfrm>
              <a:off x="1095756" y="5577840"/>
              <a:ext cx="316839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检索混入综述与参考文献列表</a:t>
              </a:r>
            </a:p>
          </p:txBody>
        </p:sp>
        <p:sp>
          <p:nvSpPr>
            <p:cNvPr id="34" name="TextBox 34"/>
            <p:cNvSpPr txBox="1"/>
            <p:nvPr/>
          </p:nvSpPr>
          <p:spPr>
            <a:xfrm>
              <a:off x="1098042" y="5912168"/>
              <a:ext cx="219456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召回率与阅读成本相互牵制</a:t>
              </a:r>
            </a:p>
          </p:txBody>
        </p:sp>
        <p:grpSp>
          <p:nvGrpSpPr>
            <p:cNvPr id="38" name="Group 38"/>
            <p:cNvGrpSpPr/>
            <p:nvPr/>
          </p:nvGrpSpPr>
          <p:grpSpPr>
            <a:xfrm>
              <a:off x="4329619" y="5577431"/>
              <a:ext cx="256151" cy="220068"/>
              <a:chOff x="4329619" y="5577431"/>
              <a:chExt cx="256151" cy="220068"/>
            </a:xfrm>
          </p:grpSpPr>
          <p:sp>
            <p:nvSpPr>
              <p:cNvPr id="35" name="Freeform 35"/>
              <p:cNvSpPr/>
              <p:nvPr/>
            </p:nvSpPr>
            <p:spPr>
              <a:xfrm>
                <a:off x="4457700" y="5657850"/>
                <a:ext cx="9525" cy="50800"/>
              </a:xfrm>
              <a:custGeom>
                <a:avLst/>
                <a:gdLst/>
                <a:ahLst/>
                <a:cxnLst/>
                <a:rect l="l" t="t" r="r" b="b"/>
                <a:pathLst>
                  <a:path w="9525" h="50800">
                    <a:moveTo>
                      <a:pt x="0" y="0"/>
                    </a:moveTo>
                    <a:lnTo>
                      <a:pt x="0" y="50800"/>
                    </a:lnTo>
                  </a:path>
                </a:pathLst>
              </a:custGeom>
              <a:noFill/>
              <a:ln w="19050">
                <a:solidFill>
                  <a:schemeClr val="accent1"/>
                </a:solidFill>
              </a:ln>
            </p:spPr>
          </p:sp>
          <p:sp>
            <p:nvSpPr>
              <p:cNvPr id="36" name="Freeform 36"/>
              <p:cNvSpPr/>
              <p:nvPr/>
            </p:nvSpPr>
            <p:spPr>
              <a:xfrm>
                <a:off x="4329619" y="557743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19050">
                <a:solidFill>
                  <a:schemeClr val="accent1"/>
                </a:solidFill>
              </a:ln>
            </p:spPr>
          </p:sp>
          <p:sp>
            <p:nvSpPr>
              <p:cNvPr id="37" name="Freeform 37"/>
              <p:cNvSpPr/>
              <p:nvPr/>
            </p:nvSpPr>
            <p:spPr>
              <a:xfrm>
                <a:off x="4457700" y="5746749"/>
                <a:ext cx="9525" cy="9525"/>
              </a:xfrm>
              <a:custGeom>
                <a:avLst/>
                <a:gdLst/>
                <a:ahLst/>
                <a:cxnLst/>
                <a:rect l="l" t="t" r="r" b="b"/>
                <a:pathLst>
                  <a:path w="9525" h="9525">
                    <a:moveTo>
                      <a:pt x="0" y="0"/>
                    </a:moveTo>
                    <a:lnTo>
                      <a:pt x="127" y="0"/>
                    </a:lnTo>
                  </a:path>
                </a:pathLst>
              </a:custGeom>
              <a:noFill/>
              <a:ln w="19050">
                <a:solidFill>
                  <a:schemeClr val="accent1"/>
                </a:solidFill>
              </a:ln>
            </p:spPr>
          </p:sp>
        </p:grpSp>
        <p:sp>
          <p:nvSpPr>
            <p:cNvPr id="39" name="TextBox 39"/>
            <p:cNvSpPr txBox="1"/>
            <p:nvPr/>
          </p:nvSpPr>
          <p:spPr>
            <a:xfrm>
              <a:off x="4715256" y="5577840"/>
              <a:ext cx="2732227"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“未检出”不等于“未研究”</a:t>
              </a:r>
            </a:p>
          </p:txBody>
        </p:sp>
        <p:sp>
          <p:nvSpPr>
            <p:cNvPr id="40" name="TextBox 40"/>
            <p:cNvSpPr txBox="1"/>
            <p:nvPr/>
          </p:nvSpPr>
          <p:spPr>
            <a:xfrm>
              <a:off x="4717542" y="5912168"/>
              <a:ext cx="292150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别名、缩写与语料覆盖会制造假空白</a:t>
              </a:r>
            </a:p>
          </p:txBody>
        </p:sp>
        <p:grpSp>
          <p:nvGrpSpPr>
            <p:cNvPr id="44" name="Group 44"/>
            <p:cNvGrpSpPr/>
            <p:nvPr/>
          </p:nvGrpSpPr>
          <p:grpSpPr>
            <a:xfrm>
              <a:off x="7999758" y="5581650"/>
              <a:ext cx="154884" cy="228599"/>
              <a:chOff x="7999758" y="5581650"/>
              <a:chExt cx="154884" cy="228599"/>
            </a:xfrm>
          </p:grpSpPr>
          <p:sp>
            <p:nvSpPr>
              <p:cNvPr id="41" name="Freeform 41"/>
              <p:cNvSpPr/>
              <p:nvPr/>
            </p:nvSpPr>
            <p:spPr>
              <a:xfrm>
                <a:off x="8039100" y="5581650"/>
                <a:ext cx="76200" cy="9525"/>
              </a:xfrm>
              <a:custGeom>
                <a:avLst/>
                <a:gdLst/>
                <a:ahLst/>
                <a:cxnLst/>
                <a:rect l="l" t="t" r="r" b="b"/>
                <a:pathLst>
                  <a:path w="76200" h="9525">
                    <a:moveTo>
                      <a:pt x="0" y="0"/>
                    </a:moveTo>
                    <a:lnTo>
                      <a:pt x="76200" y="0"/>
                    </a:lnTo>
                  </a:path>
                </a:pathLst>
              </a:custGeom>
              <a:noFill/>
              <a:ln w="19050">
                <a:solidFill>
                  <a:schemeClr val="accent1"/>
                </a:solidFill>
              </a:ln>
            </p:spPr>
          </p:sp>
          <p:sp>
            <p:nvSpPr>
              <p:cNvPr id="42" name="Freeform 42"/>
              <p:cNvSpPr/>
              <p:nvPr/>
            </p:nvSpPr>
            <p:spPr>
              <a:xfrm>
                <a:off x="8051800" y="5657850"/>
                <a:ext cx="50800" cy="9525"/>
              </a:xfrm>
              <a:custGeom>
                <a:avLst/>
                <a:gdLst/>
                <a:ahLst/>
                <a:cxnLst/>
                <a:rect l="l" t="t" r="r" b="b"/>
                <a:pathLst>
                  <a:path w="50800" h="9525">
                    <a:moveTo>
                      <a:pt x="0" y="0"/>
                    </a:moveTo>
                    <a:lnTo>
                      <a:pt x="50800" y="0"/>
                    </a:lnTo>
                  </a:path>
                </a:pathLst>
              </a:custGeom>
              <a:noFill/>
              <a:ln w="19050">
                <a:solidFill>
                  <a:schemeClr val="accent1"/>
                </a:solidFill>
              </a:ln>
            </p:spPr>
          </p:sp>
          <p:sp>
            <p:nvSpPr>
              <p:cNvPr id="43" name="Freeform 43"/>
              <p:cNvSpPr/>
              <p:nvPr/>
            </p:nvSpPr>
            <p:spPr>
              <a:xfrm>
                <a:off x="7999758" y="5581650"/>
                <a:ext cx="154884" cy="228599"/>
              </a:xfrm>
              <a:custGeom>
                <a:avLst/>
                <a:gdLst/>
                <a:ahLst/>
                <a:cxnLst/>
                <a:rect l="l" t="t" r="r" b="b"/>
                <a:pathLst>
                  <a:path w="154884" h="228599">
                    <a:moveTo>
                      <a:pt x="52042" y="0"/>
                    </a:moveTo>
                    <a:lnTo>
                      <a:pt x="52042" y="76200"/>
                    </a:lnTo>
                    <a:lnTo>
                      <a:pt x="1242" y="215899"/>
                    </a:lnTo>
                    <a:cubicBezTo>
                      <a:pt x="0" y="218399"/>
                      <a:pt x="3" y="221336"/>
                      <a:pt x="1252" y="223832"/>
                    </a:cubicBezTo>
                    <a:cubicBezTo>
                      <a:pt x="2500" y="226329"/>
                      <a:pt x="4848" y="228094"/>
                      <a:pt x="7592" y="228599"/>
                    </a:cubicBezTo>
                    <a:lnTo>
                      <a:pt x="147292" y="228599"/>
                    </a:lnTo>
                    <a:cubicBezTo>
                      <a:pt x="150037" y="228094"/>
                      <a:pt x="152385" y="226329"/>
                      <a:pt x="153633" y="223832"/>
                    </a:cubicBezTo>
                    <a:cubicBezTo>
                      <a:pt x="154881" y="221336"/>
                      <a:pt x="154884" y="218399"/>
                      <a:pt x="153642" y="215899"/>
                    </a:cubicBezTo>
                    <a:lnTo>
                      <a:pt x="102842" y="76200"/>
                    </a:lnTo>
                    <a:lnTo>
                      <a:pt x="102842" y="0"/>
                    </a:lnTo>
                  </a:path>
                </a:pathLst>
              </a:custGeom>
              <a:noFill/>
              <a:ln w="19050">
                <a:solidFill>
                  <a:schemeClr val="accent1"/>
                </a:solidFill>
              </a:ln>
            </p:spPr>
          </p:sp>
        </p:grpSp>
        <p:sp>
          <p:nvSpPr>
            <p:cNvPr id="45" name="TextBox 45"/>
            <p:cNvSpPr txBox="1"/>
            <p:nvPr/>
          </p:nvSpPr>
          <p:spPr>
            <a:xfrm>
              <a:off x="8334756" y="5577840"/>
              <a:ext cx="268376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数值只在语境一致时可比</a:t>
              </a:r>
            </a:p>
          </p:txBody>
        </p:sp>
        <p:sp>
          <p:nvSpPr>
            <p:cNvPr id="46" name="TextBox 46"/>
            <p:cNvSpPr txBox="1"/>
            <p:nvPr/>
          </p:nvSpPr>
          <p:spPr>
            <a:xfrm>
              <a:off x="8337042" y="5912168"/>
              <a:ext cx="310324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误读升温节点或淬火温度会产生假规律</a:t>
              </a:r>
            </a:p>
          </p:txBody>
        </p:sp>
      </p:grpSp>
      <p:grpSp>
        <p:nvGrpSpPr>
          <p:cNvPr id="50" name="Group 50"/>
          <p:cNvGrpSpPr/>
          <p:nvPr/>
        </p:nvGrpSpPr>
        <p:grpSpPr>
          <a:xfrm>
            <a:off x="679704" y="6480810"/>
            <a:ext cx="10832592" cy="234696"/>
            <a:chOff x="679704" y="6480810"/>
            <a:chExt cx="10832592" cy="234696"/>
          </a:xfrm>
        </p:grpSpPr>
        <p:sp>
          <p:nvSpPr>
            <p:cNvPr id="48" name="TextBox 4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9" name="TextBox 49"/>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92563" cy="586740"/>
            <a:chOff x="670560" y="590550"/>
            <a:chExt cx="10292563" cy="586740"/>
          </a:xfrm>
        </p:grpSpPr>
        <p:sp>
          <p:nvSpPr>
            <p:cNvPr id="2" name="TextBox 2"/>
            <p:cNvSpPr txBox="1"/>
            <p:nvPr/>
          </p:nvSpPr>
          <p:spPr>
            <a:xfrm>
              <a:off x="670560" y="590550"/>
              <a:ext cx="1029256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系统把“生成像论文的结论”改为“保存证据与判定过程”</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006447" cy="381381"/>
            <a:chOff x="675894" y="1370648"/>
            <a:chExt cx="10006447" cy="381381"/>
          </a:xfrm>
        </p:grpSpPr>
        <p:sp>
          <p:nvSpPr>
            <p:cNvPr id="5" name="TextBox 5"/>
            <p:cNvSpPr txBox="1"/>
            <p:nvPr/>
          </p:nvSpPr>
          <p:spPr>
            <a:xfrm>
              <a:off x="675894" y="1370648"/>
              <a:ext cx="1000644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三层分离：认知交给宿主模型，确定性工作进 MCP 服务，</a:t>
              </a:r>
              <a:r>
                <a:rPr lang="zh-CN" sz="1950" b="1" dirty="0">
                  <a:solidFill>
                    <a:schemeClr val="accent2"/>
                  </a:solidFill>
                  <a:latin typeface="Segoe UI"/>
                  <a:ea typeface="Microsoft YaHei"/>
                  <a:cs typeface="Segoe UI"/>
                </a:rPr>
                <a:t>“做完了”由程序检查</a:t>
              </a:r>
              <a:r>
                <a:rPr lang="zh-CN" sz="1950" dirty="0">
                  <a:solidFill>
                    <a:schemeClr val="dk1"/>
                  </a:solidFill>
                  <a:latin typeface="Segoe UI"/>
                  <a:ea typeface="Microsoft YaHei"/>
                  <a:cs typeface="Segoe UI"/>
                </a:rPr>
                <a:t>。</a:t>
              </a:r>
            </a:p>
          </p:txBody>
        </p:sp>
      </p:grpSp>
      <p:grpSp>
        <p:nvGrpSpPr>
          <p:cNvPr id="10" name="Group 10"/>
          <p:cNvGrpSpPr/>
          <p:nvPr/>
        </p:nvGrpSpPr>
        <p:grpSpPr>
          <a:xfrm>
            <a:off x="679704" y="1905000"/>
            <a:ext cx="6673596" cy="4124706"/>
            <a:chOff x="679704" y="1905000"/>
            <a:chExt cx="6673596" cy="4124706"/>
          </a:xfrm>
        </p:grpSpPr>
        <p:sp>
          <p:nvSpPr>
            <p:cNvPr id="7" name="Rectangle 7"/>
            <p:cNvSpPr/>
            <p:nvPr/>
          </p:nvSpPr>
          <p:spPr>
            <a:xfrm>
              <a:off x="685800" y="1905000"/>
              <a:ext cx="6667500" cy="3705225"/>
            </a:xfrm>
            <a:prstGeom prst="rect">
              <a:avLst/>
            </a:prstGeom>
            <a:solidFill>
              <a:schemeClr val="lt1"/>
            </a:solidFill>
            <a:ln w="9525">
              <a:solidFill>
                <a:schemeClr val="accent4"/>
              </a:solidFill>
            </a:ln>
          </p:spPr>
        </p:sp>
        <p:pic>
          <p:nvPicPr>
            <p:cNvPr id="8" name="Image 8"/>
            <p:cNvPicPr>
              <a:picLocks noChangeAspect="1"/>
            </p:cNvPicPr>
            <p:nvPr/>
          </p:nvPicPr>
          <p:blipFill>
            <a:blip r:embed="rId2"/>
            <a:stretch>
              <a:fillRect/>
            </a:stretch>
          </p:blipFill>
          <p:spPr>
            <a:xfrm>
              <a:off x="692777" y="1905000"/>
              <a:ext cx="6653546" cy="3705225"/>
            </a:xfrm>
            <a:prstGeom prst="rect">
              <a:avLst/>
            </a:prstGeom>
          </p:spPr>
        </p:pic>
        <p:sp>
          <p:nvSpPr>
            <p:cNvPr id="9" name="TextBox 9"/>
            <p:cNvSpPr txBox="1"/>
            <p:nvPr/>
          </p:nvSpPr>
          <p:spPr>
            <a:xfrm>
              <a:off x="679704" y="5795010"/>
              <a:ext cx="637702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图：发现 → 生产（并行）→ 质量回环；系统自绘，同源输出论文图与 draw.io 可编辑图。</a:t>
              </a:r>
            </a:p>
          </p:txBody>
        </p:sp>
      </p:grpSp>
      <p:grpSp>
        <p:nvGrpSpPr>
          <p:cNvPr id="20" name="Group 20"/>
          <p:cNvGrpSpPr/>
          <p:nvPr/>
        </p:nvGrpSpPr>
        <p:grpSpPr>
          <a:xfrm>
            <a:off x="7734300" y="1905000"/>
            <a:ext cx="3570160" cy="1585151"/>
            <a:chOff x="7734300" y="1905000"/>
            <a:chExt cx="3570160" cy="1585151"/>
          </a:xfrm>
        </p:grpSpPr>
        <p:sp>
          <p:nvSpPr>
            <p:cNvPr id="11" name="Rectangle 11"/>
            <p:cNvSpPr/>
            <p:nvPr/>
          </p:nvSpPr>
          <p:spPr>
            <a:xfrm>
              <a:off x="7734300" y="1905000"/>
              <a:ext cx="57150" cy="1524000"/>
            </a:xfrm>
            <a:prstGeom prst="rect">
              <a:avLst/>
            </a:prstGeom>
            <a:solidFill>
              <a:schemeClr val="accent1"/>
            </a:solidFill>
            <a:ln>
              <a:noFill/>
            </a:ln>
          </p:spPr>
        </p:sp>
        <p:grpSp>
          <p:nvGrpSpPr>
            <p:cNvPr id="17" name="Group 17"/>
            <p:cNvGrpSpPr/>
            <p:nvPr/>
          </p:nvGrpSpPr>
          <p:grpSpPr>
            <a:xfrm>
              <a:off x="7996238" y="1976438"/>
              <a:ext cx="200025" cy="200025"/>
              <a:chOff x="7996238" y="1976438"/>
              <a:chExt cx="200025" cy="200025"/>
            </a:xfrm>
          </p:grpSpPr>
          <p:sp>
            <p:nvSpPr>
              <p:cNvPr id="12" name="Freeform 12"/>
              <p:cNvSpPr/>
              <p:nvPr/>
            </p:nvSpPr>
            <p:spPr>
              <a:xfrm>
                <a:off x="8074025" y="1976438"/>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3" name="Freeform 13"/>
              <p:cNvSpPr/>
              <p:nvPr/>
            </p:nvSpPr>
            <p:spPr>
              <a:xfrm>
                <a:off x="7996238" y="213201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4" name="Freeform 14"/>
              <p:cNvSpPr/>
              <p:nvPr/>
            </p:nvSpPr>
            <p:spPr>
              <a:xfrm>
                <a:off x="8151813" y="213201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15" name="Freeform 15"/>
              <p:cNvSpPr/>
              <p:nvPr/>
            </p:nvSpPr>
            <p:spPr>
              <a:xfrm>
                <a:off x="8040688" y="2087563"/>
                <a:ext cx="111125" cy="44450"/>
              </a:xfrm>
              <a:custGeom>
                <a:avLst/>
                <a:gdLst/>
                <a:ahLst/>
                <a:cxnLst/>
                <a:rect l="l" t="t" r="r" b="b"/>
                <a:pathLst>
                  <a:path w="111125" h="44450">
                    <a:moveTo>
                      <a:pt x="0" y="44450"/>
                    </a:moveTo>
                    <a:lnTo>
                      <a:pt x="55563" y="0"/>
                    </a:lnTo>
                    <a:lnTo>
                      <a:pt x="111125" y="44450"/>
                    </a:lnTo>
                  </a:path>
                </a:pathLst>
              </a:custGeom>
              <a:noFill/>
              <a:ln w="19050">
                <a:solidFill>
                  <a:schemeClr val="accent1"/>
                </a:solidFill>
              </a:ln>
            </p:spPr>
          </p:sp>
          <p:sp>
            <p:nvSpPr>
              <p:cNvPr id="16" name="Freeform 16"/>
              <p:cNvSpPr/>
              <p:nvPr/>
            </p:nvSpPr>
            <p:spPr>
              <a:xfrm>
                <a:off x="8096250" y="2020888"/>
                <a:ext cx="9525" cy="66675"/>
              </a:xfrm>
              <a:custGeom>
                <a:avLst/>
                <a:gdLst/>
                <a:ahLst/>
                <a:cxnLst/>
                <a:rect l="l" t="t" r="r" b="b"/>
                <a:pathLst>
                  <a:path w="9525" h="66675">
                    <a:moveTo>
                      <a:pt x="0" y="0"/>
                    </a:moveTo>
                    <a:lnTo>
                      <a:pt x="0" y="66675"/>
                    </a:lnTo>
                  </a:path>
                </a:pathLst>
              </a:custGeom>
              <a:noFill/>
              <a:ln w="19050">
                <a:solidFill>
                  <a:schemeClr val="accent1"/>
                </a:solidFill>
              </a:ln>
            </p:spPr>
          </p:sp>
        </p:grpSp>
        <p:sp>
          <p:nvSpPr>
            <p:cNvPr id="18" name="TextBox 18"/>
            <p:cNvSpPr txBox="1"/>
            <p:nvPr/>
          </p:nvSpPr>
          <p:spPr>
            <a:xfrm>
              <a:off x="8315706" y="1958340"/>
              <a:ext cx="293878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认知层 · 9 个 Agent 角色</a:t>
              </a:r>
            </a:p>
          </p:txBody>
        </p:sp>
        <p:sp>
          <p:nvSpPr>
            <p:cNvPr id="19" name="TextBox 19"/>
            <p:cNvSpPr txBox="1"/>
            <p:nvPr/>
          </p:nvSpPr>
          <p:spPr>
            <a:xfrm>
              <a:off x="7956042" y="2311718"/>
              <a:ext cx="3348418" cy="11784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编排 / 文献检索 / 写作风格学习 / 引用核对</a:t>
              </a:r>
              <a:r>
                <a:rPr lang="zh-CN" sz="1350" dirty="0">
                  <a:solidFill>
                    <a:schemeClr val="dk1"/>
                  </a:solidFill>
                  <a:latin typeface="Segoe UI"/>
                  <a:ea typeface="Microsoft YaHei"/>
                  <a:cs typeface="Segoe UI"/>
                </a:rPr>
                <a:t>分类与写作 / 学术插图绘制 / 旧图可编辑化</a:t>
              </a:r>
              <a:r>
                <a:rPr lang="zh-CN" sz="1350" dirty="0">
                  <a:solidFill>
                    <a:schemeClr val="dk1"/>
                  </a:solidFill>
                  <a:latin typeface="Segoe UI"/>
                  <a:ea typeface="Microsoft YaHei"/>
                  <a:cs typeface="Segoe UI"/>
                </a:rPr>
                <a:t>想法与实验方案 / 对抗审稿；</a:t>
              </a:r>
              <a:r>
                <a:rPr lang="zh-CN" sz="1350" dirty="0">
                  <a:solidFill>
                    <a:schemeClr val="dk1"/>
                  </a:solidFill>
                  <a:latin typeface="Segoe UI"/>
                  <a:ea typeface="Microsoft YaHei"/>
                  <a:cs typeface="Segoe UI"/>
                </a:rPr>
                <a:t>全部是 Markdown 写成的角色说明，</a:t>
              </a:r>
              <a:r>
                <a:rPr lang="zh-CN" sz="1350" dirty="0">
                  <a:solidFill>
                    <a:schemeClr val="dk1"/>
                  </a:solidFill>
                  <a:latin typeface="Segoe UI"/>
                  <a:ea typeface="Microsoft YaHei"/>
                  <a:cs typeface="Segoe UI"/>
                </a:rPr>
                <a:t>由 Codex 执行</a:t>
              </a:r>
            </a:p>
          </p:txBody>
        </p:sp>
      </p:grpSp>
      <p:grpSp>
        <p:nvGrpSpPr>
          <p:cNvPr id="28" name="Group 28"/>
          <p:cNvGrpSpPr/>
          <p:nvPr/>
        </p:nvGrpSpPr>
        <p:grpSpPr>
          <a:xfrm>
            <a:off x="7734300" y="3543300"/>
            <a:ext cx="3677839" cy="1585151"/>
            <a:chOff x="7734300" y="3543300"/>
            <a:chExt cx="3677839" cy="1585151"/>
          </a:xfrm>
        </p:grpSpPr>
        <p:sp>
          <p:nvSpPr>
            <p:cNvPr id="21" name="Rectangle 21"/>
            <p:cNvSpPr/>
            <p:nvPr/>
          </p:nvSpPr>
          <p:spPr>
            <a:xfrm>
              <a:off x="7734300" y="3543300"/>
              <a:ext cx="57150" cy="1524000"/>
            </a:xfrm>
            <a:prstGeom prst="rect">
              <a:avLst/>
            </a:prstGeom>
            <a:solidFill>
              <a:schemeClr val="accent3"/>
            </a:solidFill>
            <a:ln>
              <a:noFill/>
            </a:ln>
          </p:spPr>
        </p:sp>
        <p:grpSp>
          <p:nvGrpSpPr>
            <p:cNvPr id="25" name="Group 25"/>
            <p:cNvGrpSpPr/>
            <p:nvPr/>
          </p:nvGrpSpPr>
          <p:grpSpPr>
            <a:xfrm>
              <a:off x="8007350" y="3614738"/>
              <a:ext cx="177801" cy="200025"/>
              <a:chOff x="8007350" y="3614738"/>
              <a:chExt cx="177801" cy="200025"/>
            </a:xfrm>
          </p:grpSpPr>
          <p:sp>
            <p:nvSpPr>
              <p:cNvPr id="22" name="Freeform 22"/>
              <p:cNvSpPr/>
              <p:nvPr/>
            </p:nvSpPr>
            <p:spPr>
              <a:xfrm>
                <a:off x="8007350" y="361473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19050">
                <a:solidFill>
                  <a:schemeClr val="accent1"/>
                </a:solidFill>
              </a:ln>
            </p:spPr>
          </p:sp>
          <p:sp>
            <p:nvSpPr>
              <p:cNvPr id="23" name="Freeform 23"/>
              <p:cNvSpPr/>
              <p:nvPr/>
            </p:nvSpPr>
            <p:spPr>
              <a:xfrm>
                <a:off x="8007350" y="364807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sp>
            <p:nvSpPr>
              <p:cNvPr id="24" name="Freeform 24"/>
              <p:cNvSpPr/>
              <p:nvPr/>
            </p:nvSpPr>
            <p:spPr>
              <a:xfrm>
                <a:off x="8007350" y="371475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grpSp>
        <p:sp>
          <p:nvSpPr>
            <p:cNvPr id="26" name="TextBox 26"/>
            <p:cNvSpPr txBox="1"/>
            <p:nvPr/>
          </p:nvSpPr>
          <p:spPr>
            <a:xfrm>
              <a:off x="8315706" y="3596640"/>
              <a:ext cx="30964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确定性层 · 4 个 MCP 服务</a:t>
              </a:r>
            </a:p>
          </p:txBody>
        </p:sp>
        <p:sp>
          <p:nvSpPr>
            <p:cNvPr id="27" name="TextBox 27"/>
            <p:cNvSpPr txBox="1"/>
            <p:nvPr/>
          </p:nvSpPr>
          <p:spPr>
            <a:xfrm>
              <a:off x="7956042" y="3950018"/>
              <a:ext cx="3314128" cy="11784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文献检索：arXiv、OpenAlex、Crossref、</a:t>
              </a:r>
              <a:r>
                <a:rPr lang="zh-CN" sz="1350" dirty="0">
                  <a:solidFill>
                    <a:schemeClr val="dk1"/>
                  </a:solidFill>
                  <a:latin typeface="Segoe UI"/>
                  <a:ea typeface="Microsoft YaHei"/>
                  <a:cs typeface="Segoe UI"/>
                </a:rPr>
                <a:t>Semantic Scholar 等在线库 + 本地全文库</a:t>
              </a:r>
              <a:r>
                <a:rPr lang="zh-CN" sz="1350" dirty="0">
                  <a:solidFill>
                    <a:schemeClr val="dk1"/>
                  </a:solidFill>
                  <a:latin typeface="Segoe UI"/>
                  <a:ea typeface="Microsoft YaHei"/>
                  <a:cs typeface="Segoe UI"/>
                </a:rPr>
                <a:t>引用核对：逐条比对题录与作者顺序</a:t>
              </a:r>
              <a:r>
                <a:rPr lang="zh-CN" sz="1350" dirty="0">
                  <a:solidFill>
                    <a:schemeClr val="dk1"/>
                  </a:solidFill>
                  <a:latin typeface="Segoe UI"/>
                  <a:ea typeface="Microsoft YaHei"/>
                  <a:cs typeface="Segoe UI"/>
                </a:rPr>
                <a:t>绘图：一份图源同时出论文图与可编辑图</a:t>
              </a:r>
              <a:r>
                <a:rPr lang="zh-CN" sz="1350" dirty="0">
                  <a:solidFill>
                    <a:schemeClr val="dk1"/>
                  </a:solidFill>
                  <a:latin typeface="Segoe UI"/>
                  <a:ea typeface="Microsoft YaHei"/>
                  <a:cs typeface="Segoe UI"/>
                </a:rPr>
                <a:t>前驱体预测：RECIPE 两阶段模型</a:t>
              </a:r>
            </a:p>
          </p:txBody>
        </p:sp>
      </p:grpSp>
      <p:grpSp>
        <p:nvGrpSpPr>
          <p:cNvPr id="35" name="Group 35"/>
          <p:cNvGrpSpPr/>
          <p:nvPr/>
        </p:nvGrpSpPr>
        <p:grpSpPr>
          <a:xfrm>
            <a:off x="7734300" y="5143500"/>
            <a:ext cx="3835908" cy="1143000"/>
            <a:chOff x="7734300" y="5143500"/>
            <a:chExt cx="3835908" cy="1143000"/>
          </a:xfrm>
        </p:grpSpPr>
        <p:sp>
          <p:nvSpPr>
            <p:cNvPr id="29" name="Rectangle 29"/>
            <p:cNvSpPr/>
            <p:nvPr/>
          </p:nvSpPr>
          <p:spPr>
            <a:xfrm>
              <a:off x="7734300" y="5143500"/>
              <a:ext cx="57150" cy="1143000"/>
            </a:xfrm>
            <a:prstGeom prst="rect">
              <a:avLst/>
            </a:prstGeom>
            <a:solidFill>
              <a:schemeClr val="accent2"/>
            </a:solidFill>
            <a:ln>
              <a:noFill/>
            </a:ln>
          </p:spPr>
        </p:sp>
        <p:grpSp>
          <p:nvGrpSpPr>
            <p:cNvPr id="32" name="Group 32"/>
            <p:cNvGrpSpPr/>
            <p:nvPr/>
          </p:nvGrpSpPr>
          <p:grpSpPr>
            <a:xfrm>
              <a:off x="8007350" y="5214938"/>
              <a:ext cx="177801" cy="200025"/>
              <a:chOff x="8007350" y="5214938"/>
              <a:chExt cx="177801" cy="200025"/>
            </a:xfrm>
          </p:grpSpPr>
          <p:sp>
            <p:nvSpPr>
              <p:cNvPr id="30" name="Freeform 30"/>
              <p:cNvSpPr/>
              <p:nvPr/>
            </p:nvSpPr>
            <p:spPr>
              <a:xfrm>
                <a:off x="8007350" y="5214938"/>
                <a:ext cx="177801" cy="100013"/>
              </a:xfrm>
              <a:custGeom>
                <a:avLst/>
                <a:gdLst/>
                <a:ahLst/>
                <a:cxnLst/>
                <a:rect l="l" t="t" r="r" b="b"/>
                <a:pathLst>
                  <a:path w="177801" h="100013">
                    <a:moveTo>
                      <a:pt x="0" y="100013"/>
                    </a:moveTo>
                    <a:lnTo>
                      <a:pt x="0" y="66675"/>
                    </a:lnTo>
                    <a:cubicBezTo>
                      <a:pt x="0" y="48263"/>
                      <a:pt x="14926" y="33338"/>
                      <a:pt x="33338" y="33338"/>
                    </a:cubicBezTo>
                    <a:lnTo>
                      <a:pt x="177801" y="33338"/>
                    </a:lnTo>
                    <a:moveTo>
                      <a:pt x="144463" y="0"/>
                    </a:moveTo>
                    <a:lnTo>
                      <a:pt x="177801" y="33338"/>
                    </a:lnTo>
                    <a:lnTo>
                      <a:pt x="144463" y="66675"/>
                    </a:lnTo>
                  </a:path>
                </a:pathLst>
              </a:custGeom>
              <a:noFill/>
              <a:ln w="19050">
                <a:solidFill>
                  <a:schemeClr val="accent1"/>
                </a:solidFill>
              </a:ln>
            </p:spPr>
          </p:sp>
          <p:sp>
            <p:nvSpPr>
              <p:cNvPr id="31" name="Freeform 31"/>
              <p:cNvSpPr/>
              <p:nvPr/>
            </p:nvSpPr>
            <p:spPr>
              <a:xfrm>
                <a:off x="8007350" y="5314950"/>
                <a:ext cx="177801" cy="100013"/>
              </a:xfrm>
              <a:custGeom>
                <a:avLst/>
                <a:gdLst/>
                <a:ahLst/>
                <a:cxnLst/>
                <a:rect l="l" t="t" r="r" b="b"/>
                <a:pathLst>
                  <a:path w="177801" h="100013">
                    <a:moveTo>
                      <a:pt x="177801" y="0"/>
                    </a:moveTo>
                    <a:lnTo>
                      <a:pt x="177801" y="33338"/>
                    </a:lnTo>
                    <a:cubicBezTo>
                      <a:pt x="177801" y="51749"/>
                      <a:pt x="162875" y="66675"/>
                      <a:pt x="144463" y="66675"/>
                    </a:cubicBezTo>
                    <a:lnTo>
                      <a:pt x="0" y="66675"/>
                    </a:lnTo>
                    <a:moveTo>
                      <a:pt x="33338" y="100013"/>
                    </a:moveTo>
                    <a:lnTo>
                      <a:pt x="0" y="66675"/>
                    </a:lnTo>
                    <a:lnTo>
                      <a:pt x="33338" y="33338"/>
                    </a:lnTo>
                  </a:path>
                </a:pathLst>
              </a:custGeom>
              <a:noFill/>
              <a:ln w="19050">
                <a:solidFill>
                  <a:schemeClr val="accent1"/>
                </a:solidFill>
              </a:ln>
            </p:spPr>
          </p:sp>
        </p:grpSp>
        <p:sp>
          <p:nvSpPr>
            <p:cNvPr id="33" name="TextBox 33"/>
            <p:cNvSpPr txBox="1"/>
            <p:nvPr/>
          </p:nvSpPr>
          <p:spPr>
            <a:xfrm>
              <a:off x="8315706" y="5196840"/>
              <a:ext cx="285520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控制层 · 流程与质量把关</a:t>
              </a:r>
            </a:p>
          </p:txBody>
        </p:sp>
        <p:sp>
          <p:nvSpPr>
            <p:cNvPr id="34" name="TextBox 34"/>
            <p:cNvSpPr txBox="1"/>
            <p:nvPr/>
          </p:nvSpPr>
          <p:spPr>
            <a:xfrm>
              <a:off x="7956042" y="5550218"/>
              <a:ext cx="3614166"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每个阶段有明确完成标准：文献覆盖、引用全部</a:t>
              </a:r>
              <a:r>
                <a:rPr lang="zh-CN" sz="1350" dirty="0">
                  <a:solidFill>
                    <a:schemeClr val="dk1"/>
                  </a:solidFill>
                  <a:latin typeface="Segoe UI"/>
                  <a:ea typeface="Microsoft YaHei"/>
                  <a:cs typeface="Segoe UI"/>
                </a:rPr>
                <a:t>核对、图文齐全、审稿通过；由程序检查，</a:t>
              </a:r>
              <a:r>
                <a:rPr lang="zh-CN" sz="1350" dirty="0">
                  <a:solidFill>
                    <a:schemeClr val="dk1"/>
                  </a:solidFill>
                  <a:latin typeface="Segoe UI"/>
                  <a:ea typeface="Microsoft YaHei"/>
                  <a:cs typeface="Segoe UI"/>
                </a:rPr>
                <a:t>不由模型自己宣布完成；写稿与审稿分离。</a:t>
              </a:r>
            </a:p>
          </p:txBody>
        </p:sp>
      </p:grpSp>
      <p:grpSp>
        <p:nvGrpSpPr>
          <p:cNvPr id="38" name="Group 38"/>
          <p:cNvGrpSpPr/>
          <p:nvPr/>
        </p:nvGrpSpPr>
        <p:grpSpPr>
          <a:xfrm>
            <a:off x="679704" y="6480810"/>
            <a:ext cx="10832592" cy="234696"/>
            <a:chOff x="679704" y="6480810"/>
            <a:chExt cx="10832592" cy="234696"/>
          </a:xfrm>
        </p:grpSpPr>
        <p:sp>
          <p:nvSpPr>
            <p:cNvPr id="36" name="TextBox 36"/>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7" name="TextBox 37"/>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2116" cy="586740"/>
            <a:chOff x="670560" y="590550"/>
            <a:chExt cx="11202116" cy="586740"/>
          </a:xfrm>
        </p:grpSpPr>
        <p:sp>
          <p:nvSpPr>
            <p:cNvPr id="2" name="TextBox 2"/>
            <p:cNvSpPr txBox="1"/>
            <p:nvPr/>
          </p:nvSpPr>
          <p:spPr>
            <a:xfrm>
              <a:off x="670560" y="590550"/>
              <a:ext cx="1120211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Agent 通过产物文件与共享进度记录交接，每一步都可审计</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120798" cy="381381"/>
            <a:chOff x="675894" y="1370648"/>
            <a:chExt cx="11120798" cy="381381"/>
          </a:xfrm>
        </p:grpSpPr>
        <p:sp>
          <p:nvSpPr>
            <p:cNvPr id="5" name="TextBox 5"/>
            <p:cNvSpPr txBox="1"/>
            <p:nvPr/>
          </p:nvSpPr>
          <p:spPr>
            <a:xfrm>
              <a:off x="675894" y="1370648"/>
              <a:ext cx="11120798"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中间产物在六类 Agent 之间逐级流转；</a:t>
              </a:r>
              <a:r>
                <a:rPr lang="zh-CN" sz="1950" b="1" dirty="0">
                  <a:solidFill>
                    <a:schemeClr val="accent2"/>
                  </a:solidFill>
                  <a:latin typeface="Segoe UI"/>
                  <a:ea typeface="Microsoft YaHei"/>
                  <a:cs typeface="Segoe UI"/>
                </a:rPr>
                <a:t>程序检查通过才进入下一环</a:t>
              </a:r>
              <a:r>
                <a:rPr lang="zh-CN" sz="1950" dirty="0">
                  <a:solidFill>
                    <a:schemeClr val="dk1"/>
                  </a:solidFill>
                  <a:latin typeface="Segoe UI"/>
                  <a:ea typeface="Microsoft YaHei"/>
                  <a:cs typeface="Segoe UI"/>
                </a:rPr>
                <a:t>，审稿 issue 沿原路返工。</a:t>
              </a:r>
            </a:p>
          </p:txBody>
        </p:sp>
      </p:grpSp>
      <p:grpSp>
        <p:nvGrpSpPr>
          <p:cNvPr id="12" name="Group 12"/>
          <p:cNvGrpSpPr/>
          <p:nvPr/>
        </p:nvGrpSpPr>
        <p:grpSpPr>
          <a:xfrm>
            <a:off x="679704" y="2080260"/>
            <a:ext cx="10826496" cy="1529715"/>
            <a:chOff x="679704" y="2080260"/>
            <a:chExt cx="10826496" cy="1529715"/>
          </a:xfrm>
        </p:grpSpPr>
        <p:sp>
          <p:nvSpPr>
            <p:cNvPr id="7" name="TextBox 7"/>
            <p:cNvSpPr txBox="1"/>
            <p:nvPr/>
          </p:nvSpPr>
          <p:spPr>
            <a:xfrm>
              <a:off x="679704" y="2080260"/>
              <a:ext cx="461467" cy="234696"/>
            </a:xfrm>
            <a:prstGeom prst="rect">
              <a:avLst/>
            </a:prstGeom>
            <a:noFill/>
            <a:ln>
              <a:noFill/>
            </a:ln>
          </p:spPr>
          <p:txBody>
            <a:bodyPr wrap="none" lIns="0" tIns="0" rIns="0" bIns="0" anchor="t" anchorCtr="0">
              <a:spAutoFit/>
            </a:bodyPr>
            <a:lstStyle/>
            <a:p>
              <a:pPr algn="l"/>
              <a:r>
                <a:rPr lang="en-US" sz="1200" dirty="0">
                  <a:solidFill>
                    <a:schemeClr val="accent5"/>
                  </a:solidFill>
                  <a:latin typeface="Segoe UI"/>
                  <a:ea typeface="Segoe UI"/>
                  <a:cs typeface="Segoe UI"/>
                </a:rPr>
                <a:t>Agent</a:t>
              </a:r>
            </a:p>
          </p:txBody>
        </p:sp>
        <p:sp>
          <p:nvSpPr>
            <p:cNvPr id="8" name="TextBox 8"/>
            <p:cNvSpPr txBox="1"/>
            <p:nvPr/>
          </p:nvSpPr>
          <p:spPr>
            <a:xfrm>
              <a:off x="679704" y="2270760"/>
              <a:ext cx="1206261"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Codex 执行 skill</a:t>
              </a:r>
            </a:p>
          </p:txBody>
        </p:sp>
        <p:sp>
          <p:nvSpPr>
            <p:cNvPr id="9" name="TextBox 9"/>
            <p:cNvSpPr txBox="1"/>
            <p:nvPr/>
          </p:nvSpPr>
          <p:spPr>
            <a:xfrm>
              <a:off x="679704" y="2956560"/>
              <a:ext cx="720547"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MCP 工具</a:t>
              </a:r>
            </a:p>
          </p:txBody>
        </p:sp>
        <p:sp>
          <p:nvSpPr>
            <p:cNvPr id="10" name="TextBox 10"/>
            <p:cNvSpPr txBox="1"/>
            <p:nvPr/>
          </p:nvSpPr>
          <p:spPr>
            <a:xfrm>
              <a:off x="679704" y="3356610"/>
              <a:ext cx="65836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交接产物</a:t>
              </a:r>
            </a:p>
          </p:txBody>
        </p:sp>
        <p:sp>
          <p:nvSpPr>
            <p:cNvPr id="11" name="Line 11"/>
            <p:cNvSpPr/>
            <p:nvPr/>
          </p:nvSpPr>
          <p:spPr>
            <a:xfrm>
              <a:off x="685800" y="3600450"/>
              <a:ext cx="10820400" cy="9525"/>
            </a:xfrm>
            <a:custGeom>
              <a:avLst/>
              <a:gdLst/>
              <a:ahLst/>
              <a:cxnLst/>
              <a:rect l="l" t="t" r="r" b="b"/>
              <a:pathLst>
                <a:path w="10820400" h="9525">
                  <a:moveTo>
                    <a:pt x="0" y="0"/>
                  </a:moveTo>
                  <a:lnTo>
                    <a:pt x="10820400" y="0"/>
                  </a:lnTo>
                </a:path>
              </a:pathLst>
            </a:custGeom>
            <a:noFill/>
            <a:ln w="9525">
              <a:solidFill>
                <a:schemeClr val="accent4"/>
              </a:solidFill>
            </a:ln>
          </p:spPr>
        </p:sp>
      </p:grpSp>
      <p:grpSp>
        <p:nvGrpSpPr>
          <p:cNvPr id="20" name="Group 20"/>
          <p:cNvGrpSpPr/>
          <p:nvPr/>
        </p:nvGrpSpPr>
        <p:grpSpPr>
          <a:xfrm>
            <a:off x="1905000" y="1981200"/>
            <a:ext cx="1581150" cy="1610106"/>
            <a:chOff x="1905000" y="1981200"/>
            <a:chExt cx="1581150" cy="1610106"/>
          </a:xfrm>
        </p:grpSpPr>
        <p:sp>
          <p:nvSpPr>
            <p:cNvPr id="13" name="Rectangle 13"/>
            <p:cNvSpPr/>
            <p:nvPr/>
          </p:nvSpPr>
          <p:spPr>
            <a:xfrm>
              <a:off x="1905000" y="1981200"/>
              <a:ext cx="1333500" cy="571500"/>
            </a:xfrm>
            <a:prstGeom prst="rect">
              <a:avLst/>
            </a:prstGeom>
            <a:solidFill>
              <a:schemeClr val="accent1"/>
            </a:solidFill>
            <a:ln>
              <a:noFill/>
            </a:ln>
          </p:spPr>
        </p:sp>
        <p:sp>
          <p:nvSpPr>
            <p:cNvPr id="14" name="TextBox 14"/>
            <p:cNvSpPr txBox="1"/>
            <p:nvPr/>
          </p:nvSpPr>
          <p:spPr>
            <a:xfrm>
              <a:off x="2278656" y="207359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编排器</a:t>
              </a:r>
            </a:p>
          </p:txBody>
        </p:sp>
        <p:sp>
          <p:nvSpPr>
            <p:cNvPr id="15" name="TextBox 15"/>
            <p:cNvSpPr txBox="1"/>
            <p:nvPr/>
          </p:nvSpPr>
          <p:spPr>
            <a:xfrm>
              <a:off x="2032559" y="2308860"/>
              <a:ext cx="1078382" cy="234696"/>
            </a:xfrm>
            <a:prstGeom prst="rect">
              <a:avLst/>
            </a:prstGeom>
            <a:noFill/>
            <a:ln>
              <a:noFill/>
            </a:ln>
          </p:spPr>
          <p:txBody>
            <a:bodyPr wrap="none" lIns="0" tIns="0" rIns="0" bIns="0" anchor="t" anchorCtr="0">
              <a:spAutoFit/>
            </a:bodyPr>
            <a:lstStyle/>
            <a:p>
              <a:pPr algn="ctr"/>
              <a:r>
                <a:rPr lang="en-US" sz="1200" dirty="0">
                  <a:solidFill>
                    <a:srgbClr val="FFFFFF">
                      <a:alphaMod val="85000"/>
                    </a:srgbClr>
                  </a:solidFill>
                  <a:latin typeface="Segoe UI"/>
                  <a:ea typeface="Segoe UI"/>
                  <a:cs typeface="Segoe UI"/>
                </a:rPr>
                <a:t>orchestrator</a:t>
              </a:r>
            </a:p>
          </p:txBody>
        </p:sp>
        <p:sp>
          <p:nvSpPr>
            <p:cNvPr id="16" name="Rectangle 16"/>
            <p:cNvSpPr/>
            <p:nvPr/>
          </p:nvSpPr>
          <p:spPr>
            <a:xfrm>
              <a:off x="1905000" y="2857500"/>
              <a:ext cx="1333500" cy="342900"/>
            </a:xfrm>
            <a:prstGeom prst="rect">
              <a:avLst/>
            </a:prstGeom>
            <a:solidFill>
              <a:schemeClr val="lt2"/>
            </a:solidFill>
            <a:ln>
              <a:noFill/>
            </a:ln>
          </p:spPr>
        </p:sp>
        <p:sp>
          <p:nvSpPr>
            <p:cNvPr id="17" name="TextBox 17"/>
            <p:cNvSpPr txBox="1"/>
            <p:nvPr/>
          </p:nvSpPr>
          <p:spPr>
            <a:xfrm>
              <a:off x="1907362" y="2956560"/>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读进度 · 分派任务</a:t>
              </a:r>
            </a:p>
          </p:txBody>
        </p:sp>
        <p:sp>
          <p:nvSpPr>
            <p:cNvPr id="18" name="TextBox 18"/>
            <p:cNvSpPr txBox="1"/>
            <p:nvPr/>
          </p:nvSpPr>
          <p:spPr>
            <a:xfrm>
              <a:off x="1908372" y="3356610"/>
              <a:ext cx="1326756"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主题 → scope.md</a:t>
              </a:r>
            </a:p>
          </p:txBody>
        </p:sp>
        <p:sp>
          <p:nvSpPr>
            <p:cNvPr id="19" name="Line 19"/>
            <p:cNvSpPr/>
            <p:nvPr/>
          </p:nvSpPr>
          <p:spPr>
            <a:xfrm>
              <a:off x="3257550" y="2266950"/>
              <a:ext cx="228600" cy="1"/>
            </a:xfrm>
            <a:prstGeom prst="line">
              <a:avLst/>
            </a:prstGeom>
            <a:noFill/>
            <a:ln w="19050">
              <a:solidFill>
                <a:schemeClr val="accent1"/>
              </a:solidFill>
              <a:tailEnd type="triangle" w="med" len="med"/>
            </a:ln>
          </p:spPr>
        </p:sp>
      </p:grpSp>
      <p:grpSp>
        <p:nvGrpSpPr>
          <p:cNvPr id="28" name="Group 28"/>
          <p:cNvGrpSpPr/>
          <p:nvPr/>
        </p:nvGrpSpPr>
        <p:grpSpPr>
          <a:xfrm>
            <a:off x="3524250" y="1981200"/>
            <a:ext cx="1581150" cy="1610106"/>
            <a:chOff x="3524250" y="1981200"/>
            <a:chExt cx="1581150" cy="1610106"/>
          </a:xfrm>
        </p:grpSpPr>
        <p:sp>
          <p:nvSpPr>
            <p:cNvPr id="21" name="Rectangle 21"/>
            <p:cNvSpPr/>
            <p:nvPr/>
          </p:nvSpPr>
          <p:spPr>
            <a:xfrm>
              <a:off x="3524250" y="1981200"/>
              <a:ext cx="1333500" cy="571500"/>
            </a:xfrm>
            <a:prstGeom prst="rect">
              <a:avLst/>
            </a:prstGeom>
            <a:solidFill>
              <a:schemeClr val="lt1"/>
            </a:solidFill>
            <a:ln w="14288">
              <a:solidFill>
                <a:schemeClr val="accent1"/>
              </a:solidFill>
            </a:ln>
          </p:spPr>
        </p:sp>
        <p:sp>
          <p:nvSpPr>
            <p:cNvPr id="22" name="TextBox 22"/>
            <p:cNvSpPr txBox="1"/>
            <p:nvPr/>
          </p:nvSpPr>
          <p:spPr>
            <a:xfrm>
              <a:off x="3802494" y="207359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文献检索</a:t>
              </a:r>
            </a:p>
          </p:txBody>
        </p:sp>
        <p:sp>
          <p:nvSpPr>
            <p:cNvPr id="23" name="TextBox 23"/>
            <p:cNvSpPr txBox="1"/>
            <p:nvPr/>
          </p:nvSpPr>
          <p:spPr>
            <a:xfrm>
              <a:off x="3781044" y="2308860"/>
              <a:ext cx="819912"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lit-search</a:t>
              </a:r>
            </a:p>
          </p:txBody>
        </p:sp>
        <p:sp>
          <p:nvSpPr>
            <p:cNvPr id="24" name="Rectangle 24"/>
            <p:cNvSpPr/>
            <p:nvPr/>
          </p:nvSpPr>
          <p:spPr>
            <a:xfrm>
              <a:off x="3524250" y="2857500"/>
              <a:ext cx="1333500" cy="342900"/>
            </a:xfrm>
            <a:prstGeom prst="rect">
              <a:avLst/>
            </a:prstGeom>
            <a:solidFill>
              <a:schemeClr val="lt2"/>
            </a:solidFill>
            <a:ln>
              <a:noFill/>
            </a:ln>
          </p:spPr>
        </p:sp>
        <p:sp>
          <p:nvSpPr>
            <p:cNvPr id="25" name="TextBox 25"/>
            <p:cNvSpPr txBox="1"/>
            <p:nvPr/>
          </p:nvSpPr>
          <p:spPr>
            <a:xfrm>
              <a:off x="3526612" y="2956560"/>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五源检索 · 本地库</a:t>
              </a:r>
            </a:p>
          </p:txBody>
        </p:sp>
        <p:sp>
          <p:nvSpPr>
            <p:cNvPr id="26" name="TextBox 26"/>
            <p:cNvSpPr txBox="1"/>
            <p:nvPr/>
          </p:nvSpPr>
          <p:spPr>
            <a:xfrm>
              <a:off x="3667559" y="3356610"/>
              <a:ext cx="1046881" cy="234696"/>
            </a:xfrm>
            <a:prstGeom prst="rect">
              <a:avLst/>
            </a:prstGeom>
            <a:noFill/>
            <a:ln>
              <a:noFill/>
            </a:ln>
          </p:spPr>
          <p:txBody>
            <a:bodyPr wrap="none" lIns="0" tIns="0" rIns="0" bIns="0" anchor="t" anchorCtr="0">
              <a:spAutoFit/>
            </a:bodyPr>
            <a:lstStyle/>
            <a:p>
              <a:pPr algn="ctr"/>
              <a:r>
                <a:rPr lang="en-US" sz="1200" b="1" dirty="0">
                  <a:solidFill>
                    <a:schemeClr val="accent2"/>
                  </a:solidFill>
                  <a:latin typeface="Segoe UI"/>
                  <a:ea typeface="Segoe UI"/>
                  <a:cs typeface="Segoe UI"/>
                </a:rPr>
                <a:t>papers.jsonl</a:t>
              </a:r>
            </a:p>
          </p:txBody>
        </p:sp>
        <p:sp>
          <p:nvSpPr>
            <p:cNvPr id="27" name="Line 27"/>
            <p:cNvSpPr/>
            <p:nvPr/>
          </p:nvSpPr>
          <p:spPr>
            <a:xfrm>
              <a:off x="4876800" y="2266950"/>
              <a:ext cx="228600" cy="1"/>
            </a:xfrm>
            <a:prstGeom prst="line">
              <a:avLst/>
            </a:prstGeom>
            <a:noFill/>
            <a:ln w="19050">
              <a:solidFill>
                <a:schemeClr val="accent1"/>
              </a:solidFill>
              <a:tailEnd type="triangle" w="med" len="med"/>
            </a:ln>
          </p:spPr>
        </p:sp>
      </p:grpSp>
      <p:grpSp>
        <p:nvGrpSpPr>
          <p:cNvPr id="36" name="Group 36"/>
          <p:cNvGrpSpPr/>
          <p:nvPr/>
        </p:nvGrpSpPr>
        <p:grpSpPr>
          <a:xfrm>
            <a:off x="5143500" y="1981200"/>
            <a:ext cx="1581150" cy="1610106"/>
            <a:chOff x="5143500" y="1981200"/>
            <a:chExt cx="1581150" cy="1610106"/>
          </a:xfrm>
        </p:grpSpPr>
        <p:sp>
          <p:nvSpPr>
            <p:cNvPr id="29" name="Rectangle 29"/>
            <p:cNvSpPr/>
            <p:nvPr/>
          </p:nvSpPr>
          <p:spPr>
            <a:xfrm>
              <a:off x="5143500" y="1981200"/>
              <a:ext cx="1333500" cy="571500"/>
            </a:xfrm>
            <a:prstGeom prst="rect">
              <a:avLst/>
            </a:prstGeom>
            <a:solidFill>
              <a:schemeClr val="lt1"/>
            </a:solidFill>
            <a:ln w="14288">
              <a:solidFill>
                <a:schemeClr val="accent1"/>
              </a:solidFill>
            </a:ln>
          </p:spPr>
        </p:sp>
        <p:sp>
          <p:nvSpPr>
            <p:cNvPr id="30" name="TextBox 30"/>
            <p:cNvSpPr txBox="1"/>
            <p:nvPr/>
          </p:nvSpPr>
          <p:spPr>
            <a:xfrm>
              <a:off x="5421744" y="207359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引用核验</a:t>
              </a:r>
            </a:p>
          </p:txBody>
        </p:sp>
        <p:sp>
          <p:nvSpPr>
            <p:cNvPr id="31" name="TextBox 31"/>
            <p:cNvSpPr txBox="1"/>
            <p:nvPr/>
          </p:nvSpPr>
          <p:spPr>
            <a:xfrm>
              <a:off x="5404333" y="2308860"/>
              <a:ext cx="81183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ref-guard</a:t>
              </a:r>
            </a:p>
          </p:txBody>
        </p:sp>
        <p:sp>
          <p:nvSpPr>
            <p:cNvPr id="32" name="Rectangle 32"/>
            <p:cNvSpPr/>
            <p:nvPr/>
          </p:nvSpPr>
          <p:spPr>
            <a:xfrm>
              <a:off x="5143500" y="2857500"/>
              <a:ext cx="1333500" cy="342900"/>
            </a:xfrm>
            <a:prstGeom prst="rect">
              <a:avLst/>
            </a:prstGeom>
            <a:solidFill>
              <a:schemeClr val="lt2"/>
            </a:solidFill>
            <a:ln>
              <a:noFill/>
            </a:ln>
          </p:spPr>
        </p:sp>
        <p:sp>
          <p:nvSpPr>
            <p:cNvPr id="33" name="TextBox 33"/>
            <p:cNvSpPr txBox="1"/>
            <p:nvPr/>
          </p:nvSpPr>
          <p:spPr>
            <a:xfrm>
              <a:off x="5253895" y="2956560"/>
              <a:ext cx="1112710" cy="234696"/>
            </a:xfrm>
            <a:prstGeom prst="rect">
              <a:avLst/>
            </a:prstGeom>
            <a:noFill/>
            <a:ln>
              <a:noFill/>
            </a:ln>
          </p:spPr>
          <p:txBody>
            <a:bodyPr wrap="none" lIns="0" tIns="0" rIns="0" bIns="0" anchor="t" anchorCtr="0">
              <a:spAutoFit/>
            </a:bodyPr>
            <a:lstStyle/>
            <a:p>
              <a:pPr algn="ctr"/>
              <a:r>
                <a:rPr lang="zh-CN" sz="1200" spc="-38" dirty="0">
                  <a:solidFill>
                    <a:schemeClr val="dk1"/>
                  </a:solidFill>
                  <a:latin typeface="Segoe UI"/>
                  <a:ea typeface="Microsoft YaHei"/>
                  <a:cs typeface="Segoe UI"/>
                </a:rPr>
                <a:t>题录与作者比对</a:t>
              </a:r>
            </a:p>
          </p:txBody>
        </p:sp>
        <p:sp>
          <p:nvSpPr>
            <p:cNvPr id="34" name="TextBox 34"/>
            <p:cNvSpPr txBox="1"/>
            <p:nvPr/>
          </p:nvSpPr>
          <p:spPr>
            <a:xfrm>
              <a:off x="5195655" y="3356610"/>
              <a:ext cx="1229190" cy="234696"/>
            </a:xfrm>
            <a:prstGeom prst="rect">
              <a:avLst/>
            </a:prstGeom>
            <a:noFill/>
            <a:ln>
              <a:noFill/>
            </a:ln>
          </p:spPr>
          <p:txBody>
            <a:bodyPr wrap="none" lIns="0" tIns="0" rIns="0" bIns="0" anchor="t" anchorCtr="0">
              <a:spAutoFit/>
            </a:bodyPr>
            <a:lstStyle/>
            <a:p>
              <a:pPr algn="ctr"/>
              <a:r>
                <a:rPr lang="en-US" sz="1200" b="1" dirty="0">
                  <a:solidFill>
                    <a:schemeClr val="accent2"/>
                  </a:solidFill>
                  <a:latin typeface="Segoe UI"/>
                  <a:ea typeface="Segoe UI"/>
                  <a:cs typeface="Segoe UI"/>
                </a:rPr>
                <a:t>bib 51/51 PASS</a:t>
              </a:r>
            </a:p>
          </p:txBody>
        </p:sp>
        <p:sp>
          <p:nvSpPr>
            <p:cNvPr id="35" name="Line 35"/>
            <p:cNvSpPr/>
            <p:nvPr/>
          </p:nvSpPr>
          <p:spPr>
            <a:xfrm>
              <a:off x="6496050" y="2266950"/>
              <a:ext cx="228600" cy="1"/>
            </a:xfrm>
            <a:prstGeom prst="line">
              <a:avLst/>
            </a:prstGeom>
            <a:noFill/>
            <a:ln w="19050">
              <a:solidFill>
                <a:schemeClr val="accent1"/>
              </a:solidFill>
              <a:tailEnd type="triangle" w="med" len="med"/>
            </a:ln>
          </p:spPr>
        </p:sp>
      </p:grpSp>
      <p:grpSp>
        <p:nvGrpSpPr>
          <p:cNvPr id="44" name="Group 44"/>
          <p:cNvGrpSpPr/>
          <p:nvPr/>
        </p:nvGrpSpPr>
        <p:grpSpPr>
          <a:xfrm>
            <a:off x="6762750" y="1981200"/>
            <a:ext cx="1581150" cy="1610106"/>
            <a:chOff x="6762750" y="1981200"/>
            <a:chExt cx="1581150" cy="1610106"/>
          </a:xfrm>
        </p:grpSpPr>
        <p:sp>
          <p:nvSpPr>
            <p:cNvPr id="37" name="Rectangle 37"/>
            <p:cNvSpPr/>
            <p:nvPr/>
          </p:nvSpPr>
          <p:spPr>
            <a:xfrm>
              <a:off x="6762750" y="1981200"/>
              <a:ext cx="1333500" cy="571500"/>
            </a:xfrm>
            <a:prstGeom prst="rect">
              <a:avLst/>
            </a:prstGeom>
            <a:solidFill>
              <a:schemeClr val="lt1"/>
            </a:solidFill>
            <a:ln w="14288">
              <a:solidFill>
                <a:schemeClr val="accent1"/>
              </a:solidFill>
            </a:ln>
          </p:spPr>
        </p:sp>
        <p:sp>
          <p:nvSpPr>
            <p:cNvPr id="38" name="TextBox 38"/>
            <p:cNvSpPr txBox="1"/>
            <p:nvPr/>
          </p:nvSpPr>
          <p:spPr>
            <a:xfrm>
              <a:off x="6931271" y="2073592"/>
              <a:ext cx="996459"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写作 · 图纸</a:t>
              </a:r>
            </a:p>
          </p:txBody>
        </p:sp>
        <p:sp>
          <p:nvSpPr>
            <p:cNvPr id="39" name="TextBox 39"/>
            <p:cNvSpPr txBox="1"/>
            <p:nvPr/>
          </p:nvSpPr>
          <p:spPr>
            <a:xfrm>
              <a:off x="6821653" y="2308860"/>
              <a:ext cx="121569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writer · figure</a:t>
              </a:r>
            </a:p>
          </p:txBody>
        </p:sp>
        <p:sp>
          <p:nvSpPr>
            <p:cNvPr id="40" name="Rectangle 40"/>
            <p:cNvSpPr/>
            <p:nvPr/>
          </p:nvSpPr>
          <p:spPr>
            <a:xfrm>
              <a:off x="6762750" y="2857500"/>
              <a:ext cx="1333500" cy="342900"/>
            </a:xfrm>
            <a:prstGeom prst="rect">
              <a:avLst/>
            </a:prstGeom>
            <a:solidFill>
              <a:schemeClr val="lt2"/>
            </a:solidFill>
            <a:ln>
              <a:noFill/>
            </a:ln>
          </p:spPr>
        </p:sp>
        <p:sp>
          <p:nvSpPr>
            <p:cNvPr id="41" name="TextBox 41"/>
            <p:cNvSpPr txBox="1"/>
            <p:nvPr/>
          </p:nvSpPr>
          <p:spPr>
            <a:xfrm>
              <a:off x="6866077" y="2956560"/>
              <a:ext cx="112684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figspec 双渲染</a:t>
              </a:r>
            </a:p>
          </p:txBody>
        </p:sp>
        <p:sp>
          <p:nvSpPr>
            <p:cNvPr id="42" name="TextBox 42"/>
            <p:cNvSpPr txBox="1"/>
            <p:nvPr/>
          </p:nvSpPr>
          <p:spPr>
            <a:xfrm>
              <a:off x="7016313" y="3356610"/>
              <a:ext cx="826374"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tex + 图源</a:t>
              </a:r>
            </a:p>
          </p:txBody>
        </p:sp>
        <p:sp>
          <p:nvSpPr>
            <p:cNvPr id="43" name="Line 43"/>
            <p:cNvSpPr/>
            <p:nvPr/>
          </p:nvSpPr>
          <p:spPr>
            <a:xfrm>
              <a:off x="8115300" y="2266950"/>
              <a:ext cx="228600" cy="1"/>
            </a:xfrm>
            <a:prstGeom prst="line">
              <a:avLst/>
            </a:prstGeom>
            <a:noFill/>
            <a:ln w="19050">
              <a:solidFill>
                <a:schemeClr val="accent1"/>
              </a:solidFill>
              <a:tailEnd type="triangle" w="med" len="med"/>
            </a:ln>
          </p:spPr>
        </p:sp>
      </p:grpSp>
      <p:grpSp>
        <p:nvGrpSpPr>
          <p:cNvPr id="52" name="Group 52"/>
          <p:cNvGrpSpPr/>
          <p:nvPr/>
        </p:nvGrpSpPr>
        <p:grpSpPr>
          <a:xfrm>
            <a:off x="8382000" y="1981200"/>
            <a:ext cx="1581150" cy="1610106"/>
            <a:chOff x="8382000" y="1981200"/>
            <a:chExt cx="1581150" cy="1610106"/>
          </a:xfrm>
        </p:grpSpPr>
        <p:sp>
          <p:nvSpPr>
            <p:cNvPr id="45" name="Rectangle 45"/>
            <p:cNvSpPr/>
            <p:nvPr/>
          </p:nvSpPr>
          <p:spPr>
            <a:xfrm>
              <a:off x="8382000" y="1981200"/>
              <a:ext cx="1333500" cy="571500"/>
            </a:xfrm>
            <a:prstGeom prst="rect">
              <a:avLst/>
            </a:prstGeom>
            <a:solidFill>
              <a:schemeClr val="lt1"/>
            </a:solidFill>
            <a:ln w="14288">
              <a:solidFill>
                <a:schemeClr val="accent1"/>
              </a:solidFill>
            </a:ln>
          </p:spPr>
        </p:sp>
        <p:sp>
          <p:nvSpPr>
            <p:cNvPr id="46" name="TextBox 46"/>
            <p:cNvSpPr txBox="1"/>
            <p:nvPr/>
          </p:nvSpPr>
          <p:spPr>
            <a:xfrm>
              <a:off x="8660244" y="207359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想法生成</a:t>
              </a:r>
            </a:p>
          </p:txBody>
        </p:sp>
        <p:sp>
          <p:nvSpPr>
            <p:cNvPr id="47" name="TextBox 47"/>
            <p:cNvSpPr txBox="1"/>
            <p:nvPr/>
          </p:nvSpPr>
          <p:spPr>
            <a:xfrm>
              <a:off x="8618601" y="2308860"/>
              <a:ext cx="86029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idea-forge</a:t>
              </a:r>
            </a:p>
          </p:txBody>
        </p:sp>
        <p:sp>
          <p:nvSpPr>
            <p:cNvPr id="48" name="Rectangle 48"/>
            <p:cNvSpPr/>
            <p:nvPr/>
          </p:nvSpPr>
          <p:spPr>
            <a:xfrm>
              <a:off x="8382000" y="2857500"/>
              <a:ext cx="1333500" cy="342900"/>
            </a:xfrm>
            <a:prstGeom prst="rect">
              <a:avLst/>
            </a:prstGeom>
            <a:solidFill>
              <a:schemeClr val="accent3"/>
            </a:solidFill>
            <a:ln>
              <a:noFill/>
            </a:ln>
          </p:spPr>
        </p:sp>
        <p:sp>
          <p:nvSpPr>
            <p:cNvPr id="49" name="TextBox 49"/>
            <p:cNvSpPr txBox="1"/>
            <p:nvPr/>
          </p:nvSpPr>
          <p:spPr>
            <a:xfrm>
              <a:off x="8473623" y="2956560"/>
              <a:ext cx="115025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Segoe UI"/>
                  <a:ea typeface="Microsoft YaHei"/>
                  <a:cs typeface="Segoe UI"/>
                </a:rPr>
                <a:t>RECIPE 前驱体</a:t>
              </a:r>
            </a:p>
          </p:txBody>
        </p:sp>
        <p:sp>
          <p:nvSpPr>
            <p:cNvPr id="50" name="TextBox 50"/>
            <p:cNvSpPr txBox="1"/>
            <p:nvPr/>
          </p:nvSpPr>
          <p:spPr>
            <a:xfrm>
              <a:off x="8415056" y="3356610"/>
              <a:ext cx="1267389"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模型候选路线 ×3</a:t>
              </a:r>
            </a:p>
          </p:txBody>
        </p:sp>
        <p:sp>
          <p:nvSpPr>
            <p:cNvPr id="51" name="Line 51"/>
            <p:cNvSpPr/>
            <p:nvPr/>
          </p:nvSpPr>
          <p:spPr>
            <a:xfrm>
              <a:off x="9734550" y="2266950"/>
              <a:ext cx="228600" cy="1"/>
            </a:xfrm>
            <a:prstGeom prst="line">
              <a:avLst/>
            </a:prstGeom>
            <a:noFill/>
            <a:ln w="19050">
              <a:solidFill>
                <a:schemeClr val="accent1"/>
              </a:solidFill>
              <a:tailEnd type="triangle" w="med" len="med"/>
            </a:ln>
          </p:spPr>
        </p:sp>
      </p:grpSp>
      <p:grpSp>
        <p:nvGrpSpPr>
          <p:cNvPr id="59" name="Group 59"/>
          <p:cNvGrpSpPr/>
          <p:nvPr/>
        </p:nvGrpSpPr>
        <p:grpSpPr>
          <a:xfrm>
            <a:off x="10001250" y="1981200"/>
            <a:ext cx="1333500" cy="1610106"/>
            <a:chOff x="10001250" y="1981200"/>
            <a:chExt cx="1333500" cy="1610106"/>
          </a:xfrm>
        </p:grpSpPr>
        <p:sp>
          <p:nvSpPr>
            <p:cNvPr id="53" name="Rectangle 53"/>
            <p:cNvSpPr/>
            <p:nvPr/>
          </p:nvSpPr>
          <p:spPr>
            <a:xfrm>
              <a:off x="10001250" y="1981200"/>
              <a:ext cx="1333500" cy="571500"/>
            </a:xfrm>
            <a:prstGeom prst="rect">
              <a:avLst/>
            </a:prstGeom>
            <a:solidFill>
              <a:schemeClr val="lt1"/>
            </a:solidFill>
            <a:ln w="14288">
              <a:solidFill>
                <a:schemeClr val="accent2"/>
              </a:solidFill>
            </a:ln>
          </p:spPr>
        </p:sp>
        <p:sp>
          <p:nvSpPr>
            <p:cNvPr id="54" name="TextBox 54"/>
            <p:cNvSpPr txBox="1"/>
            <p:nvPr/>
          </p:nvSpPr>
          <p:spPr>
            <a:xfrm>
              <a:off x="10279494" y="207359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对抗审稿</a:t>
              </a:r>
            </a:p>
          </p:txBody>
        </p:sp>
        <p:sp>
          <p:nvSpPr>
            <p:cNvPr id="55" name="TextBox 55"/>
            <p:cNvSpPr txBox="1"/>
            <p:nvPr/>
          </p:nvSpPr>
          <p:spPr>
            <a:xfrm>
              <a:off x="10310546" y="2308860"/>
              <a:ext cx="71490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reviewer</a:t>
              </a:r>
            </a:p>
          </p:txBody>
        </p:sp>
        <p:sp>
          <p:nvSpPr>
            <p:cNvPr id="56" name="Rectangle 56"/>
            <p:cNvSpPr/>
            <p:nvPr/>
          </p:nvSpPr>
          <p:spPr>
            <a:xfrm>
              <a:off x="10001250" y="2857500"/>
              <a:ext cx="1333500" cy="342900"/>
            </a:xfrm>
            <a:prstGeom prst="rect">
              <a:avLst/>
            </a:prstGeom>
            <a:solidFill>
              <a:schemeClr val="lt2"/>
            </a:solidFill>
            <a:ln>
              <a:noFill/>
            </a:ln>
          </p:spPr>
        </p:sp>
        <p:sp>
          <p:nvSpPr>
            <p:cNvPr id="57" name="TextBox 57"/>
            <p:cNvSpPr txBox="1"/>
            <p:nvPr/>
          </p:nvSpPr>
          <p:spPr>
            <a:xfrm>
              <a:off x="10003612" y="2956560"/>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新上下文 · 三视角</a:t>
              </a:r>
            </a:p>
          </p:txBody>
        </p:sp>
        <p:sp>
          <p:nvSpPr>
            <p:cNvPr id="58" name="TextBox 58"/>
            <p:cNvSpPr txBox="1"/>
            <p:nvPr/>
          </p:nvSpPr>
          <p:spPr>
            <a:xfrm>
              <a:off x="10013103" y="3356610"/>
              <a:ext cx="1309794"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issue · 审稿记录</a:t>
              </a:r>
            </a:p>
          </p:txBody>
        </p:sp>
      </p:grpSp>
      <p:grpSp>
        <p:nvGrpSpPr>
          <p:cNvPr id="62" name="Group 62"/>
          <p:cNvGrpSpPr/>
          <p:nvPr/>
        </p:nvGrpSpPr>
        <p:grpSpPr>
          <a:xfrm>
            <a:off x="6942582" y="2566035"/>
            <a:ext cx="4212336" cy="234696"/>
            <a:chOff x="6942582" y="2566035"/>
            <a:chExt cx="4212336" cy="234696"/>
          </a:xfrm>
        </p:grpSpPr>
        <p:sp>
          <p:nvSpPr>
            <p:cNvPr id="60" name="Freeform 60"/>
            <p:cNvSpPr/>
            <p:nvPr/>
          </p:nvSpPr>
          <p:spPr>
            <a:xfrm>
              <a:off x="7429500" y="2571750"/>
              <a:ext cx="3238500" cy="190500"/>
            </a:xfrm>
            <a:custGeom>
              <a:avLst/>
              <a:gdLst/>
              <a:ahLst/>
              <a:cxnLst/>
              <a:rect l="l" t="t" r="r" b="b"/>
              <a:pathLst>
                <a:path w="3238500" h="190500">
                  <a:moveTo>
                    <a:pt x="3238500" y="0"/>
                  </a:moveTo>
                  <a:lnTo>
                    <a:pt x="3238500" y="190500"/>
                  </a:lnTo>
                  <a:lnTo>
                    <a:pt x="0" y="190500"/>
                  </a:lnTo>
                  <a:lnTo>
                    <a:pt x="0" y="38100"/>
                  </a:lnTo>
                </a:path>
              </a:pathLst>
            </a:custGeom>
            <a:noFill/>
            <a:ln w="14288">
              <a:solidFill>
                <a:schemeClr val="accent2"/>
              </a:solidFill>
              <a:custDash>
                <a:ds d="400000" sp="266666"/>
              </a:custDash>
              <a:tailEnd type="triangle" w="med" len="med"/>
            </a:ln>
          </p:spPr>
        </p:sp>
        <p:sp>
          <p:nvSpPr>
            <p:cNvPr id="61" name="TextBox 61"/>
            <p:cNvSpPr txBox="1"/>
            <p:nvPr/>
          </p:nvSpPr>
          <p:spPr>
            <a:xfrm>
              <a:off x="6942582" y="2566035"/>
              <a:ext cx="4212336" cy="234696"/>
            </a:xfrm>
            <a:prstGeom prst="rect">
              <a:avLst/>
            </a:prstGeom>
            <a:noFill/>
            <a:ln>
              <a:noFill/>
            </a:ln>
          </p:spPr>
          <p:txBody>
            <a:bodyPr wrap="none" lIns="0" tIns="0" rIns="0" bIns="0" anchor="t" anchorCtr="0">
              <a:spAutoFit/>
            </a:bodyPr>
            <a:lstStyle/>
            <a:p>
              <a:pPr algn="ctr"/>
              <a:r>
                <a:rPr lang="zh-CN" sz="1200" dirty="0">
                  <a:solidFill>
                    <a:schemeClr val="accent2"/>
                  </a:solidFill>
                  <a:latin typeface="Segoe UI"/>
                  <a:ea typeface="Microsoft YaHei"/>
                  <a:cs typeface="Segoe UI"/>
                </a:rPr>
                <a:t>issue 带 target 阶段 · 沿原路返工 · 三轮未收敛交人决定</a:t>
              </a:r>
            </a:p>
          </p:txBody>
        </p:sp>
      </p:grpSp>
      <p:grpSp>
        <p:nvGrpSpPr>
          <p:cNvPr id="75" name="Group 75"/>
          <p:cNvGrpSpPr/>
          <p:nvPr/>
        </p:nvGrpSpPr>
        <p:grpSpPr>
          <a:xfrm>
            <a:off x="685800" y="3733800"/>
            <a:ext cx="10820400" cy="419100"/>
            <a:chOff x="685800" y="3733800"/>
            <a:chExt cx="10820400" cy="419100"/>
          </a:xfrm>
        </p:grpSpPr>
        <p:sp>
          <p:nvSpPr>
            <p:cNvPr id="63" name="Rectangle 63"/>
            <p:cNvSpPr/>
            <p:nvPr/>
          </p:nvSpPr>
          <p:spPr>
            <a:xfrm>
              <a:off x="685800" y="3733800"/>
              <a:ext cx="10820400" cy="419100"/>
            </a:xfrm>
            <a:prstGeom prst="rect">
              <a:avLst/>
            </a:prstGeom>
            <a:solidFill>
              <a:schemeClr val="lt2"/>
            </a:solidFill>
            <a:ln>
              <a:noFill/>
            </a:ln>
          </p:spPr>
        </p:sp>
        <p:sp>
          <p:nvSpPr>
            <p:cNvPr id="64" name="TextBox 64"/>
            <p:cNvSpPr txBox="1"/>
            <p:nvPr/>
          </p:nvSpPr>
          <p:spPr>
            <a:xfrm>
              <a:off x="831342" y="3854768"/>
              <a:ext cx="115865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共享进度记录</a:t>
              </a:r>
            </a:p>
          </p:txBody>
        </p:sp>
        <p:sp>
          <p:nvSpPr>
            <p:cNvPr id="65" name="TextBox 65"/>
            <p:cNvSpPr txBox="1"/>
            <p:nvPr/>
          </p:nvSpPr>
          <p:spPr>
            <a:xfrm>
              <a:off x="2546604" y="3870960"/>
              <a:ext cx="5181600"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记录每一步是否通过、待返工问题与产物版本；上游一变，下游自动重查</a:t>
              </a:r>
            </a:p>
          </p:txBody>
        </p:sp>
        <p:sp>
          <p:nvSpPr>
            <p:cNvPr id="66" name="Ellipse 66"/>
            <p:cNvSpPr/>
            <p:nvPr/>
          </p:nvSpPr>
          <p:spPr>
            <a:xfrm>
              <a:off x="9467850" y="3886200"/>
              <a:ext cx="114300" cy="114300"/>
            </a:xfrm>
            <a:prstGeom prst="ellipse">
              <a:avLst/>
            </a:prstGeom>
            <a:solidFill>
              <a:schemeClr val="accent1"/>
            </a:solidFill>
            <a:ln>
              <a:noFill/>
            </a:ln>
          </p:spPr>
        </p:sp>
        <p:sp>
          <p:nvSpPr>
            <p:cNvPr id="67" name="Ellipse 67"/>
            <p:cNvSpPr/>
            <p:nvPr/>
          </p:nvSpPr>
          <p:spPr>
            <a:xfrm>
              <a:off x="9696450" y="3886200"/>
              <a:ext cx="114300" cy="114300"/>
            </a:xfrm>
            <a:prstGeom prst="ellipse">
              <a:avLst/>
            </a:prstGeom>
            <a:solidFill>
              <a:schemeClr val="accent2"/>
            </a:solidFill>
            <a:ln>
              <a:noFill/>
            </a:ln>
          </p:spPr>
        </p:sp>
        <p:sp>
          <p:nvSpPr>
            <p:cNvPr id="68" name="Ellipse 68"/>
            <p:cNvSpPr/>
            <p:nvPr/>
          </p:nvSpPr>
          <p:spPr>
            <a:xfrm>
              <a:off x="9925050" y="3886200"/>
              <a:ext cx="114300" cy="114300"/>
            </a:xfrm>
            <a:prstGeom prst="ellipse">
              <a:avLst/>
            </a:prstGeom>
            <a:solidFill>
              <a:schemeClr val="accent2"/>
            </a:solidFill>
            <a:ln>
              <a:noFill/>
            </a:ln>
          </p:spPr>
        </p:sp>
        <p:sp>
          <p:nvSpPr>
            <p:cNvPr id="69" name="Ellipse 69"/>
            <p:cNvSpPr/>
            <p:nvPr/>
          </p:nvSpPr>
          <p:spPr>
            <a:xfrm>
              <a:off x="10153650" y="3886200"/>
              <a:ext cx="114300" cy="114300"/>
            </a:xfrm>
            <a:prstGeom prst="ellipse">
              <a:avLst/>
            </a:prstGeom>
            <a:solidFill>
              <a:schemeClr val="accent1"/>
            </a:solidFill>
            <a:ln>
              <a:noFill/>
            </a:ln>
          </p:spPr>
        </p:sp>
        <p:sp>
          <p:nvSpPr>
            <p:cNvPr id="70" name="Ellipse 70"/>
            <p:cNvSpPr/>
            <p:nvPr/>
          </p:nvSpPr>
          <p:spPr>
            <a:xfrm>
              <a:off x="10382250" y="3886200"/>
              <a:ext cx="114300" cy="114300"/>
            </a:xfrm>
            <a:prstGeom prst="ellipse">
              <a:avLst/>
            </a:prstGeom>
            <a:solidFill>
              <a:schemeClr val="accent1"/>
            </a:solidFill>
            <a:ln>
              <a:noFill/>
            </a:ln>
          </p:spPr>
        </p:sp>
        <p:sp>
          <p:nvSpPr>
            <p:cNvPr id="71" name="Ellipse 71"/>
            <p:cNvSpPr/>
            <p:nvPr/>
          </p:nvSpPr>
          <p:spPr>
            <a:xfrm>
              <a:off x="10610850" y="3886200"/>
              <a:ext cx="114300" cy="114300"/>
            </a:xfrm>
            <a:prstGeom prst="ellipse">
              <a:avLst/>
            </a:prstGeom>
            <a:solidFill>
              <a:schemeClr val="accent1"/>
            </a:solidFill>
            <a:ln>
              <a:noFill/>
            </a:ln>
          </p:spPr>
        </p:sp>
        <p:sp>
          <p:nvSpPr>
            <p:cNvPr id="72" name="Ellipse 72"/>
            <p:cNvSpPr/>
            <p:nvPr/>
          </p:nvSpPr>
          <p:spPr>
            <a:xfrm>
              <a:off x="10839450" y="3886200"/>
              <a:ext cx="114300" cy="114300"/>
            </a:xfrm>
            <a:prstGeom prst="ellipse">
              <a:avLst/>
            </a:prstGeom>
            <a:solidFill>
              <a:schemeClr val="accent1"/>
            </a:solidFill>
            <a:ln>
              <a:noFill/>
            </a:ln>
          </p:spPr>
        </p:sp>
        <p:sp>
          <p:nvSpPr>
            <p:cNvPr id="73" name="Ellipse 73"/>
            <p:cNvSpPr/>
            <p:nvPr/>
          </p:nvSpPr>
          <p:spPr>
            <a:xfrm>
              <a:off x="11068050" y="3886200"/>
              <a:ext cx="114300" cy="114300"/>
            </a:xfrm>
            <a:prstGeom prst="ellipse">
              <a:avLst/>
            </a:prstGeom>
            <a:solidFill>
              <a:schemeClr val="accent2"/>
            </a:solidFill>
            <a:ln>
              <a:noFill/>
            </a:ln>
          </p:spPr>
        </p:sp>
        <p:sp>
          <p:nvSpPr>
            <p:cNvPr id="74" name="Ellipse 74"/>
            <p:cNvSpPr/>
            <p:nvPr/>
          </p:nvSpPr>
          <p:spPr>
            <a:xfrm>
              <a:off x="11296650" y="3886200"/>
              <a:ext cx="114300" cy="114300"/>
            </a:xfrm>
            <a:prstGeom prst="ellipse">
              <a:avLst/>
            </a:prstGeom>
            <a:solidFill>
              <a:schemeClr val="accent1"/>
            </a:solidFill>
            <a:ln>
              <a:noFill/>
            </a:ln>
          </p:spPr>
        </p:sp>
      </p:grpSp>
      <p:grpSp>
        <p:nvGrpSpPr>
          <p:cNvPr id="82" name="Group 82"/>
          <p:cNvGrpSpPr/>
          <p:nvPr/>
        </p:nvGrpSpPr>
        <p:grpSpPr>
          <a:xfrm>
            <a:off x="685800" y="4400550"/>
            <a:ext cx="3733800" cy="848106"/>
            <a:chOff x="685800" y="4400550"/>
            <a:chExt cx="3733800" cy="848106"/>
          </a:xfrm>
        </p:grpSpPr>
        <p:sp>
          <p:nvSpPr>
            <p:cNvPr id="76" name="Rectangle 76"/>
            <p:cNvSpPr/>
            <p:nvPr/>
          </p:nvSpPr>
          <p:spPr>
            <a:xfrm>
              <a:off x="685800" y="4400550"/>
              <a:ext cx="3238500" cy="819150"/>
            </a:xfrm>
            <a:prstGeom prst="rect">
              <a:avLst/>
            </a:prstGeom>
            <a:solidFill>
              <a:schemeClr val="lt1"/>
            </a:solidFill>
            <a:ln w="14288">
              <a:solidFill>
                <a:schemeClr val="accent1"/>
              </a:solidFill>
            </a:ln>
          </p:spPr>
        </p:sp>
        <p:sp>
          <p:nvSpPr>
            <p:cNvPr id="77" name="Rectangle 77"/>
            <p:cNvSpPr/>
            <p:nvPr/>
          </p:nvSpPr>
          <p:spPr>
            <a:xfrm>
              <a:off x="685800" y="4400550"/>
              <a:ext cx="3238500" cy="47625"/>
            </a:xfrm>
            <a:prstGeom prst="rect">
              <a:avLst/>
            </a:prstGeom>
            <a:solidFill>
              <a:schemeClr val="accent1"/>
            </a:solidFill>
            <a:ln>
              <a:noFill/>
            </a:ln>
          </p:spPr>
        </p:sp>
        <p:sp>
          <p:nvSpPr>
            <p:cNvPr id="78" name="TextBox 78"/>
            <p:cNvSpPr txBox="1"/>
            <p:nvPr/>
          </p:nvSpPr>
          <p:spPr>
            <a:xfrm>
              <a:off x="869442" y="45596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本轮输出</a:t>
              </a:r>
            </a:p>
          </p:txBody>
        </p:sp>
        <p:sp>
          <p:nvSpPr>
            <p:cNvPr id="79" name="TextBox 79"/>
            <p:cNvSpPr txBox="1"/>
            <p:nvPr/>
          </p:nvSpPr>
          <p:spPr>
            <a:xfrm>
              <a:off x="870204" y="4823460"/>
              <a:ext cx="246308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综述 PDF · claim_evidence.jsonl</a:t>
              </a:r>
            </a:p>
          </p:txBody>
        </p:sp>
        <p:sp>
          <p:nvSpPr>
            <p:cNvPr id="80" name="TextBox 80"/>
            <p:cNvSpPr txBox="1"/>
            <p:nvPr/>
          </p:nvSpPr>
          <p:spPr>
            <a:xfrm>
              <a:off x="870204" y="5013960"/>
              <a:ext cx="299267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候选路线 + 前驱体 + 表征方案 + 失败判据</a:t>
              </a:r>
            </a:p>
          </p:txBody>
        </p:sp>
        <p:sp>
          <p:nvSpPr>
            <p:cNvPr id="81" name="Line 81"/>
            <p:cNvSpPr/>
            <p:nvPr/>
          </p:nvSpPr>
          <p:spPr>
            <a:xfrm>
              <a:off x="3943350" y="4810125"/>
              <a:ext cx="476250" cy="1"/>
            </a:xfrm>
            <a:prstGeom prst="line">
              <a:avLst/>
            </a:prstGeom>
            <a:noFill/>
            <a:ln w="19050">
              <a:solidFill>
                <a:schemeClr val="accent3"/>
              </a:solidFill>
              <a:tailEnd type="triangle" w="med" len="med"/>
            </a:ln>
          </p:spPr>
        </p:sp>
      </p:grpSp>
      <p:grpSp>
        <p:nvGrpSpPr>
          <p:cNvPr id="89" name="Group 89"/>
          <p:cNvGrpSpPr/>
          <p:nvPr/>
        </p:nvGrpSpPr>
        <p:grpSpPr>
          <a:xfrm>
            <a:off x="4457700" y="4400550"/>
            <a:ext cx="3733800" cy="848106"/>
            <a:chOff x="4457700" y="4400550"/>
            <a:chExt cx="3733800" cy="848106"/>
          </a:xfrm>
        </p:grpSpPr>
        <p:sp>
          <p:nvSpPr>
            <p:cNvPr id="83" name="Rectangle 83"/>
            <p:cNvSpPr/>
            <p:nvPr/>
          </p:nvSpPr>
          <p:spPr>
            <a:xfrm>
              <a:off x="4457700" y="4400550"/>
              <a:ext cx="3238500" cy="819150"/>
            </a:xfrm>
            <a:prstGeom prst="rect">
              <a:avLst/>
            </a:prstGeom>
            <a:solidFill>
              <a:schemeClr val="lt1"/>
            </a:solidFill>
            <a:ln w="14288">
              <a:solidFill>
                <a:schemeClr val="accent3"/>
              </a:solidFill>
              <a:custDash>
                <a:ds d="400000" sp="266666"/>
              </a:custDash>
            </a:ln>
          </p:spPr>
        </p:sp>
        <p:sp>
          <p:nvSpPr>
            <p:cNvPr id="84" name="Rectangle 84"/>
            <p:cNvSpPr/>
            <p:nvPr/>
          </p:nvSpPr>
          <p:spPr>
            <a:xfrm>
              <a:off x="4457700" y="4400550"/>
              <a:ext cx="3238500" cy="47625"/>
            </a:xfrm>
            <a:prstGeom prst="rect">
              <a:avLst/>
            </a:prstGeom>
            <a:solidFill>
              <a:schemeClr val="accent3"/>
            </a:solidFill>
            <a:ln>
              <a:noFill/>
            </a:ln>
          </p:spPr>
        </p:sp>
        <p:sp>
          <p:nvSpPr>
            <p:cNvPr id="85" name="TextBox 85"/>
            <p:cNvSpPr txBox="1"/>
            <p:nvPr/>
          </p:nvSpPr>
          <p:spPr>
            <a:xfrm>
              <a:off x="4641342" y="4559618"/>
              <a:ext cx="2112778"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自动化实验室（下一环）</a:t>
              </a:r>
            </a:p>
          </p:txBody>
        </p:sp>
        <p:sp>
          <p:nvSpPr>
            <p:cNvPr id="86" name="TextBox 86"/>
            <p:cNvSpPr txBox="1"/>
            <p:nvPr/>
          </p:nvSpPr>
          <p:spPr>
            <a:xfrm>
              <a:off x="4642104" y="4823460"/>
              <a:ext cx="2845613"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按方案合成 · PXRD / 单晶 / EDS 表征</a:t>
              </a:r>
            </a:p>
          </p:txBody>
        </p:sp>
        <p:sp>
          <p:nvSpPr>
            <p:cNvPr id="87" name="TextBox 87"/>
            <p:cNvSpPr txBox="1"/>
            <p:nvPr/>
          </p:nvSpPr>
          <p:spPr>
            <a:xfrm>
              <a:off x="4642104" y="501396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结构化结果与失败判据同格式记录</a:t>
              </a:r>
            </a:p>
          </p:txBody>
        </p:sp>
        <p:sp>
          <p:nvSpPr>
            <p:cNvPr id="88" name="Line 88"/>
            <p:cNvSpPr/>
            <p:nvPr/>
          </p:nvSpPr>
          <p:spPr>
            <a:xfrm>
              <a:off x="7715250" y="4810125"/>
              <a:ext cx="476250" cy="1"/>
            </a:xfrm>
            <a:prstGeom prst="line">
              <a:avLst/>
            </a:prstGeom>
            <a:noFill/>
            <a:ln w="19050">
              <a:solidFill>
                <a:schemeClr val="accent3"/>
              </a:solidFill>
              <a:tailEnd type="triangle" w="med" len="med"/>
            </a:ln>
          </p:spPr>
        </p:sp>
      </p:grpSp>
      <p:grpSp>
        <p:nvGrpSpPr>
          <p:cNvPr id="97" name="Group 97"/>
          <p:cNvGrpSpPr/>
          <p:nvPr/>
        </p:nvGrpSpPr>
        <p:grpSpPr>
          <a:xfrm>
            <a:off x="533400" y="1847850"/>
            <a:ext cx="10972800" cy="3838956"/>
            <a:chOff x="533400" y="1847850"/>
            <a:chExt cx="10972800" cy="3838956"/>
          </a:xfrm>
        </p:grpSpPr>
        <p:sp>
          <p:nvSpPr>
            <p:cNvPr id="90" name="Rectangle 90"/>
            <p:cNvSpPr/>
            <p:nvPr/>
          </p:nvSpPr>
          <p:spPr>
            <a:xfrm>
              <a:off x="8229600" y="4400550"/>
              <a:ext cx="3276600" cy="819150"/>
            </a:xfrm>
            <a:prstGeom prst="rect">
              <a:avLst/>
            </a:prstGeom>
            <a:solidFill>
              <a:schemeClr val="lt1"/>
            </a:solidFill>
            <a:ln w="14288">
              <a:solidFill>
                <a:schemeClr val="accent3"/>
              </a:solidFill>
              <a:custDash>
                <a:ds d="400000" sp="266666"/>
              </a:custDash>
            </a:ln>
          </p:spPr>
        </p:sp>
        <p:sp>
          <p:nvSpPr>
            <p:cNvPr id="91" name="Rectangle 91"/>
            <p:cNvSpPr/>
            <p:nvPr/>
          </p:nvSpPr>
          <p:spPr>
            <a:xfrm>
              <a:off x="8229600" y="4400550"/>
              <a:ext cx="3276600" cy="47625"/>
            </a:xfrm>
            <a:prstGeom prst="rect">
              <a:avLst/>
            </a:prstGeom>
            <a:solidFill>
              <a:schemeClr val="accent3"/>
            </a:solidFill>
            <a:ln>
              <a:noFill/>
            </a:ln>
          </p:spPr>
        </p:sp>
        <p:sp>
          <p:nvSpPr>
            <p:cNvPr id="92" name="TextBox 92"/>
            <p:cNvSpPr txBox="1"/>
            <p:nvPr/>
          </p:nvSpPr>
          <p:spPr>
            <a:xfrm>
              <a:off x="8413242" y="4559618"/>
              <a:ext cx="1349483"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结果回写为证据</a:t>
              </a:r>
            </a:p>
          </p:txBody>
        </p:sp>
        <p:sp>
          <p:nvSpPr>
            <p:cNvPr id="93" name="TextBox 93"/>
            <p:cNvSpPr txBox="1"/>
            <p:nvPr/>
          </p:nvSpPr>
          <p:spPr>
            <a:xfrm>
              <a:off x="8414004" y="4823460"/>
              <a:ext cx="2596896"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实验记录进入证据库与共享进度记录</a:t>
              </a:r>
            </a:p>
          </p:txBody>
        </p:sp>
        <p:sp>
          <p:nvSpPr>
            <p:cNvPr id="94" name="TextBox 94"/>
            <p:cNvSpPr txBox="1"/>
            <p:nvPr/>
          </p:nvSpPr>
          <p:spPr>
            <a:xfrm>
              <a:off x="8414004" y="501396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触发新一轮检索、假设与路线更新</a:t>
              </a:r>
            </a:p>
          </p:txBody>
        </p:sp>
        <p:sp>
          <p:nvSpPr>
            <p:cNvPr id="95" name="Freeform 95"/>
            <p:cNvSpPr/>
            <p:nvPr/>
          </p:nvSpPr>
          <p:spPr>
            <a:xfrm>
              <a:off x="533400" y="1847850"/>
              <a:ext cx="9334500" cy="3543300"/>
            </a:xfrm>
            <a:custGeom>
              <a:avLst/>
              <a:gdLst/>
              <a:ahLst/>
              <a:cxnLst/>
              <a:rect l="l" t="t" r="r" b="b"/>
              <a:pathLst>
                <a:path w="9334500" h="3543300">
                  <a:moveTo>
                    <a:pt x="9334500" y="3390900"/>
                  </a:moveTo>
                  <a:lnTo>
                    <a:pt x="9334500" y="3543300"/>
                  </a:lnTo>
                  <a:lnTo>
                    <a:pt x="0" y="3543300"/>
                  </a:lnTo>
                  <a:lnTo>
                    <a:pt x="0" y="0"/>
                  </a:lnTo>
                  <a:lnTo>
                    <a:pt x="2038350" y="0"/>
                  </a:lnTo>
                  <a:lnTo>
                    <a:pt x="2038350" y="95250"/>
                  </a:lnTo>
                </a:path>
              </a:pathLst>
            </a:custGeom>
            <a:noFill/>
            <a:ln w="14288">
              <a:solidFill>
                <a:schemeClr val="accent3"/>
              </a:solidFill>
              <a:custDash>
                <a:ds d="400000" sp="266666"/>
              </a:custDash>
              <a:tailEnd type="triangle" w="med" len="med"/>
            </a:ln>
          </p:spPr>
        </p:sp>
        <p:sp>
          <p:nvSpPr>
            <p:cNvPr id="96" name="TextBox 96"/>
            <p:cNvSpPr txBox="1"/>
            <p:nvPr/>
          </p:nvSpPr>
          <p:spPr>
            <a:xfrm>
              <a:off x="4070604" y="5452110"/>
              <a:ext cx="40507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闭环：新证据回到编排器，开启下一轮检索、核验与假设</a:t>
              </a:r>
            </a:p>
          </p:txBody>
        </p:sp>
      </p:grpSp>
      <p:grpSp>
        <p:nvGrpSpPr>
          <p:cNvPr id="101" name="Group 101"/>
          <p:cNvGrpSpPr/>
          <p:nvPr/>
        </p:nvGrpSpPr>
        <p:grpSpPr>
          <a:xfrm>
            <a:off x="685800" y="5753100"/>
            <a:ext cx="9449524" cy="594551"/>
            <a:chOff x="685800" y="5753100"/>
            <a:chExt cx="9449524" cy="594551"/>
          </a:xfrm>
        </p:grpSpPr>
        <p:sp>
          <p:nvSpPr>
            <p:cNvPr id="98" name="Rectangle 98"/>
            <p:cNvSpPr/>
            <p:nvPr/>
          </p:nvSpPr>
          <p:spPr>
            <a:xfrm>
              <a:off x="685800" y="5753100"/>
              <a:ext cx="57150" cy="533400"/>
            </a:xfrm>
            <a:prstGeom prst="rect">
              <a:avLst/>
            </a:prstGeom>
            <a:solidFill>
              <a:schemeClr val="accent2"/>
            </a:solidFill>
            <a:ln>
              <a:noFill/>
            </a:ln>
          </p:spPr>
        </p:sp>
        <p:sp>
          <p:nvSpPr>
            <p:cNvPr id="99" name="TextBox 99"/>
            <p:cNvSpPr txBox="1"/>
            <p:nvPr/>
          </p:nvSpPr>
          <p:spPr>
            <a:xfrm>
              <a:off x="907542" y="5816918"/>
              <a:ext cx="72195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解决的科学问题</a:t>
              </a:r>
              <a:r>
                <a:rPr lang="zh-CN" sz="1350" dirty="0">
                  <a:solidFill>
                    <a:schemeClr val="dk1"/>
                  </a:solidFill>
                  <a:latin typeface="Segoe UI"/>
                  <a:ea typeface="Microsoft YaHei"/>
                  <a:cs typeface="Segoe UI"/>
                </a:rPr>
                <a:t xml:space="preserve"> 文献能限定什么、哪些近邻条件可迁移、下一步做什么实验最有发现价值</a:t>
              </a:r>
            </a:p>
          </p:txBody>
        </p:sp>
        <p:sp>
          <p:nvSpPr>
            <p:cNvPr id="100" name="TextBox 100"/>
            <p:cNvSpPr txBox="1"/>
            <p:nvPr/>
          </p:nvSpPr>
          <p:spPr>
            <a:xfrm>
              <a:off x="907542" y="6083618"/>
              <a:ext cx="9227782"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对闭环探索的关键</a:t>
              </a:r>
              <a:r>
                <a:rPr lang="zh-CN" sz="1350" dirty="0">
                  <a:solidFill>
                    <a:schemeClr val="dk1"/>
                  </a:solidFill>
                  <a:latin typeface="Segoe UI"/>
                  <a:ea typeface="Microsoft YaHei"/>
                  <a:cs typeface="Segoe UI"/>
                </a:rPr>
                <a:t xml:space="preserve"> 每条建议都带证据、可执行、可回写；需要人确认的节点与程序质量检查保证可信而不失自动化</a:t>
              </a:r>
            </a:p>
          </p:txBody>
        </p:sp>
      </p:grpSp>
      <p:grpSp>
        <p:nvGrpSpPr>
          <p:cNvPr id="104" name="Group 104"/>
          <p:cNvGrpSpPr/>
          <p:nvPr/>
        </p:nvGrpSpPr>
        <p:grpSpPr>
          <a:xfrm>
            <a:off x="679704" y="6480810"/>
            <a:ext cx="10832592" cy="234696"/>
            <a:chOff x="679704" y="6480810"/>
            <a:chExt cx="10832592" cy="234696"/>
          </a:xfrm>
        </p:grpSpPr>
        <p:sp>
          <p:nvSpPr>
            <p:cNvPr id="102" name="TextBox 102"/>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103" name="TextBox 103"/>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4 / 13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850"/>
                            </p:stCondLst>
                            <p:childTnLst>
                              <p:par>
                                <p:cTn id="9" presetID="22" presetClass="entr" presetSubtype="1" fill="hold"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wipe(left)">
                                      <p:cBhvr>
                                        <p:cTn id="11" dur="450"/>
                                        <p:tgtEl>
                                          <p:spTgt spid="20"/>
                                        </p:tgtEl>
                                      </p:cBhvr>
                                    </p:animEffect>
                                  </p:childTnLst>
                                </p:cTn>
                              </p:par>
                            </p:childTnLst>
                          </p:cTn>
                        </p:par>
                        <p:par>
                          <p:cTn id="12" fill="hold">
                            <p:stCondLst>
                              <p:cond delay="1650"/>
                            </p:stCondLst>
                            <p:childTnLst>
                              <p:par>
                                <p:cTn id="13" presetID="22" presetClass="entr" presetSubtype="1"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wipe(left)">
                                      <p:cBhvr>
                                        <p:cTn id="15" dur="450"/>
                                        <p:tgtEl>
                                          <p:spTgt spid="28"/>
                                        </p:tgtEl>
                                      </p:cBhvr>
                                    </p:animEffect>
                                  </p:childTnLst>
                                </p:cTn>
                              </p:par>
                            </p:childTnLst>
                          </p:cTn>
                        </p:par>
                        <p:par>
                          <p:cTn id="16" fill="hold">
                            <p:stCondLst>
                              <p:cond delay="2450"/>
                            </p:stCondLst>
                            <p:childTnLst>
                              <p:par>
                                <p:cTn id="17" presetID="22" presetClass="entr" presetSubtype="1" fill="hold" nodeType="after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wipe(left)">
                                      <p:cBhvr>
                                        <p:cTn id="19" dur="450"/>
                                        <p:tgtEl>
                                          <p:spTgt spid="36"/>
                                        </p:tgtEl>
                                      </p:cBhvr>
                                    </p:animEffect>
                                  </p:childTnLst>
                                </p:cTn>
                              </p:par>
                            </p:childTnLst>
                          </p:cTn>
                        </p:par>
                        <p:par>
                          <p:cTn id="20" fill="hold">
                            <p:stCondLst>
                              <p:cond delay="3250"/>
                            </p:stCondLst>
                            <p:childTnLst>
                              <p:par>
                                <p:cTn id="21" presetID="22" presetClass="entr" presetSubtype="1" fill="hold" nodeType="afterEffect">
                                  <p:stCondLst>
                                    <p:cond delay="0"/>
                                  </p:stCondLst>
                                  <p:childTnLst>
                                    <p:set>
                                      <p:cBhvr>
                                        <p:cTn id="22" dur="1" fill="hold">
                                          <p:stCondLst>
                                            <p:cond delay="0"/>
                                          </p:stCondLst>
                                        </p:cTn>
                                        <p:tgtEl>
                                          <p:spTgt spid="44"/>
                                        </p:tgtEl>
                                        <p:attrNameLst>
                                          <p:attrName>style.visibility</p:attrName>
                                        </p:attrNameLst>
                                      </p:cBhvr>
                                      <p:to>
                                        <p:strVal val="visible"/>
                                      </p:to>
                                    </p:set>
                                    <p:animEffect transition="in" filter="wipe(left)">
                                      <p:cBhvr>
                                        <p:cTn id="23" dur="450"/>
                                        <p:tgtEl>
                                          <p:spTgt spid="44"/>
                                        </p:tgtEl>
                                      </p:cBhvr>
                                    </p:animEffect>
                                  </p:childTnLst>
                                </p:cTn>
                              </p:par>
                            </p:childTnLst>
                          </p:cTn>
                        </p:par>
                        <p:par>
                          <p:cTn id="24" fill="hold">
                            <p:stCondLst>
                              <p:cond delay="4050"/>
                            </p:stCondLst>
                            <p:childTnLst>
                              <p:par>
                                <p:cTn id="25" presetID="22" presetClass="entr" presetSubtype="1" fill="hold" nodeType="afterEffect">
                                  <p:stCondLst>
                                    <p:cond delay="0"/>
                                  </p:stCondLst>
                                  <p:childTnLst>
                                    <p:set>
                                      <p:cBhvr>
                                        <p:cTn id="26" dur="1" fill="hold">
                                          <p:stCondLst>
                                            <p:cond delay="0"/>
                                          </p:stCondLst>
                                        </p:cTn>
                                        <p:tgtEl>
                                          <p:spTgt spid="52"/>
                                        </p:tgtEl>
                                        <p:attrNameLst>
                                          <p:attrName>style.visibility</p:attrName>
                                        </p:attrNameLst>
                                      </p:cBhvr>
                                      <p:to>
                                        <p:strVal val="visible"/>
                                      </p:to>
                                    </p:set>
                                    <p:animEffect transition="in" filter="wipe(left)">
                                      <p:cBhvr>
                                        <p:cTn id="27" dur="450"/>
                                        <p:tgtEl>
                                          <p:spTgt spid="52"/>
                                        </p:tgtEl>
                                      </p:cBhvr>
                                    </p:animEffect>
                                  </p:childTnLst>
                                </p:cTn>
                              </p:par>
                            </p:childTnLst>
                          </p:cTn>
                        </p:par>
                        <p:par>
                          <p:cTn id="28" fill="hold">
                            <p:stCondLst>
                              <p:cond delay="485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left)">
                                      <p:cBhvr>
                                        <p:cTn id="31" dur="450"/>
                                        <p:tgtEl>
                                          <p:spTgt spid="59"/>
                                        </p:tgtEl>
                                      </p:cBhvr>
                                    </p:animEffect>
                                  </p:childTnLst>
                                </p:cTn>
                              </p:par>
                            </p:childTnLst>
                          </p:cTn>
                        </p:par>
                        <p:par>
                          <p:cTn id="32" fill="hold">
                            <p:stCondLst>
                              <p:cond delay="5500"/>
                            </p:stCondLst>
                            <p:childTnLst>
                              <p:par>
                                <p:cTn id="33" presetID="10" presetClass="entr" presetSubtype="0" fill="hold" nodeType="afterEffect">
                                  <p:stCondLst>
                                    <p:cond delay="0"/>
                                  </p:stCondLst>
                                  <p:childTnLst>
                                    <p:set>
                                      <p:cBhvr>
                                        <p:cTn id="34" dur="1" fill="hold">
                                          <p:stCondLst>
                                            <p:cond delay="0"/>
                                          </p:stCondLst>
                                        </p:cTn>
                                        <p:tgtEl>
                                          <p:spTgt spid="62"/>
                                        </p:tgtEl>
                                        <p:attrNameLst>
                                          <p:attrName>style.visibility</p:attrName>
                                        </p:attrNameLst>
                                      </p:cBhvr>
                                      <p:to>
                                        <p:strVal val="visible"/>
                                      </p:to>
                                    </p:set>
                                    <p:animEffect transition="in" filter="fade">
                                      <p:cBhvr>
                                        <p:cTn id="35" dur="500"/>
                                        <p:tgtEl>
                                          <p:spTgt spid="62"/>
                                        </p:tgtEl>
                                      </p:cBhvr>
                                    </p:animEffect>
                                  </p:childTnLst>
                                </p:cTn>
                              </p:par>
                            </p:childTnLst>
                          </p:cTn>
                        </p:par>
                        <p:par>
                          <p:cTn id="36" fill="hold">
                            <p:stCondLst>
                              <p:cond delay="6350"/>
                            </p:stCondLst>
                            <p:childTnLst>
                              <p:par>
                                <p:cTn id="37" presetID="22" presetClass="entr" presetSubtype="1" fill="hold" nodeType="after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wipe(left)">
                                      <p:cBhvr>
                                        <p:cTn id="39" dur="500"/>
                                        <p:tgtEl>
                                          <p:spTgt spid="75"/>
                                        </p:tgtEl>
                                      </p:cBhvr>
                                    </p:animEffect>
                                  </p:childTnLst>
                                </p:cTn>
                              </p:par>
                            </p:childTnLst>
                          </p:cTn>
                        </p:par>
                        <p:par>
                          <p:cTn id="40" fill="hold">
                            <p:stCondLst>
                              <p:cond delay="7200"/>
                            </p:stCondLst>
                            <p:childTnLst>
                              <p:par>
                                <p:cTn id="41" presetID="2" presetClass="entr" presetSubtype="4" fill="hold" nodeType="afterEffect">
                                  <p:stCondLst>
                                    <p:cond delay="0"/>
                                  </p:stCondLst>
                                  <p:childTnLst>
                                    <p:set>
                                      <p:cBhvr>
                                        <p:cTn id="42" dur="1" fill="hold">
                                          <p:stCondLst>
                                            <p:cond delay="0"/>
                                          </p:stCondLst>
                                        </p:cTn>
                                        <p:tgtEl>
                                          <p:spTgt spid="82"/>
                                        </p:tgtEl>
                                        <p:attrNameLst>
                                          <p:attrName>style.visibility</p:attrName>
                                        </p:attrNameLst>
                                      </p:cBhvr>
                                      <p:to>
                                        <p:strVal val="visible"/>
                                      </p:to>
                                    </p:set>
                                    <p:animEffect transition="in" filter="slide(fromBottom)">
                                      <p:cBhvr>
                                        <p:cTn id="43" dur="500"/>
                                        <p:tgtEl>
                                          <p:spTgt spid="82"/>
                                        </p:tgtEl>
                                      </p:cBhvr>
                                    </p:animEffect>
                                  </p:childTnLst>
                                </p:cTn>
                              </p:par>
                            </p:childTnLst>
                          </p:cTn>
                        </p:par>
                        <p:par>
                          <p:cTn id="44" fill="hold">
                            <p:stCondLst>
                              <p:cond delay="8050"/>
                            </p:stCondLst>
                            <p:childTnLst>
                              <p:par>
                                <p:cTn id="45" presetID="2" presetClass="entr" presetSubtype="4" fill="hold" nodeType="afterEffect">
                                  <p:stCondLst>
                                    <p:cond delay="0"/>
                                  </p:stCondLst>
                                  <p:childTnLst>
                                    <p:set>
                                      <p:cBhvr>
                                        <p:cTn id="46" dur="1" fill="hold">
                                          <p:stCondLst>
                                            <p:cond delay="0"/>
                                          </p:stCondLst>
                                        </p:cTn>
                                        <p:tgtEl>
                                          <p:spTgt spid="89"/>
                                        </p:tgtEl>
                                        <p:attrNameLst>
                                          <p:attrName>style.visibility</p:attrName>
                                        </p:attrNameLst>
                                      </p:cBhvr>
                                      <p:to>
                                        <p:strVal val="visible"/>
                                      </p:to>
                                    </p:set>
                                    <p:animEffect transition="in" filter="slide(fromBottom)">
                                      <p:cBhvr>
                                        <p:cTn id="47" dur="500"/>
                                        <p:tgtEl>
                                          <p:spTgt spid="89"/>
                                        </p:tgtEl>
                                      </p:cBhvr>
                                    </p:animEffect>
                                  </p:childTnLst>
                                </p:cTn>
                              </p:par>
                            </p:childTnLst>
                          </p:cTn>
                        </p:par>
                        <p:par>
                          <p:cTn id="48" fill="hold">
                            <p:stCondLst>
                              <p:cond delay="8900"/>
                            </p:stCondLst>
                            <p:childTnLst>
                              <p:par>
                                <p:cTn id="49" presetID="2" presetClass="entr" presetSubtype="4" fill="hold" nodeType="afterEffect">
                                  <p:stCondLst>
                                    <p:cond delay="0"/>
                                  </p:stCondLst>
                                  <p:childTnLst>
                                    <p:set>
                                      <p:cBhvr>
                                        <p:cTn id="50" dur="1" fill="hold">
                                          <p:stCondLst>
                                            <p:cond delay="0"/>
                                          </p:stCondLst>
                                        </p:cTn>
                                        <p:tgtEl>
                                          <p:spTgt spid="97"/>
                                        </p:tgtEl>
                                        <p:attrNameLst>
                                          <p:attrName>style.visibility</p:attrName>
                                        </p:attrNameLst>
                                      </p:cBhvr>
                                      <p:to>
                                        <p:strVal val="visible"/>
                                      </p:to>
                                    </p:set>
                                    <p:animEffect transition="in" filter="slide(fromBottom)">
                                      <p:cBhvr>
                                        <p:cTn id="51" dur="500"/>
                                        <p:tgtEl>
                                          <p:spTgt spid="97"/>
                                        </p:tgtEl>
                                      </p:cBhvr>
                                    </p:animEffect>
                                  </p:childTnLst>
                                </p:cTn>
                              </p:par>
                            </p:childTnLst>
                          </p:cTn>
                        </p:par>
                        <p:par>
                          <p:cTn id="52" fill="hold">
                            <p:stCondLst>
                              <p:cond delay="9700"/>
                            </p:stCondLst>
                            <p:childTnLst>
                              <p:par>
                                <p:cTn id="53" presetID="10" presetClass="entr" presetSubtype="0" fill="hold" nodeType="afterEffect">
                                  <p:stCondLst>
                                    <p:cond delay="0"/>
                                  </p:stCondLst>
                                  <p:childTnLst>
                                    <p:set>
                                      <p:cBhvr>
                                        <p:cTn id="54" dur="1" fill="hold">
                                          <p:stCondLst>
                                            <p:cond delay="0"/>
                                          </p:stCondLst>
                                        </p:cTn>
                                        <p:tgtEl>
                                          <p:spTgt spid="101"/>
                                        </p:tgtEl>
                                        <p:attrNameLst>
                                          <p:attrName>style.visibility</p:attrName>
                                        </p:attrNameLst>
                                      </p:cBhvr>
                                      <p:to>
                                        <p:strVal val="visible"/>
                                      </p:to>
                                    </p:set>
                                    <p:animEffect transition="in" filter="fade">
                                      <p:cBhvr>
                                        <p:cTn id="55" dur="700"/>
                                        <p:tgtEl>
                                          <p:spTgt spid="1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P spid="28" grpId="0"/>
      <p:bldP spid="36" grpId="0"/>
      <p:bldP spid="44" grpId="0"/>
      <p:bldP spid="52" grpId="0"/>
      <p:bldP spid="59" grpId="0"/>
      <p:bldP spid="62" grpId="0"/>
      <p:bldP spid="75" grpId="0"/>
      <p:bldP spid="82" grpId="0"/>
      <p:bldP spid="89" grpId="0"/>
      <p:bldP spid="97" grpId="0"/>
      <p:bldP spid="10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8087487" cy="586740"/>
            <a:chOff x="670560" y="590550"/>
            <a:chExt cx="8087487" cy="586740"/>
          </a:xfrm>
        </p:grpSpPr>
        <p:sp>
          <p:nvSpPr>
            <p:cNvPr id="2" name="TextBox 2"/>
            <p:cNvSpPr txBox="1"/>
            <p:nvPr/>
          </p:nvSpPr>
          <p:spPr>
            <a:xfrm>
              <a:off x="670560" y="590550"/>
              <a:ext cx="808748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九道质量关卡由程序检查，写稿与审稿分离</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217027" cy="743331"/>
            <a:chOff x="675894" y="1370648"/>
            <a:chExt cx="8217027" cy="743331"/>
          </a:xfrm>
        </p:grpSpPr>
        <p:sp>
          <p:nvSpPr>
            <p:cNvPr id="5" name="TextBox 5"/>
            <p:cNvSpPr txBox="1"/>
            <p:nvPr/>
          </p:nvSpPr>
          <p:spPr>
            <a:xfrm>
              <a:off x="675894" y="1370648"/>
              <a:ext cx="8217027"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“做完了”不由模型自己宣布：九道关卡全部通过、没有未关闭的严重问题、</a:t>
              </a:r>
              <a:r>
                <a:rPr lang="zh-CN" sz="1950" dirty="0">
                  <a:solidFill>
                    <a:schemeClr val="dk1"/>
                  </a:solidFill>
                  <a:latin typeface="Segoe UI"/>
                  <a:ea typeface="Microsoft YaHei"/>
                  <a:cs typeface="Segoe UI"/>
                </a:rPr>
                <a:t>终审有审稿记录，程序才放行交付。</a:t>
              </a:r>
            </a:p>
          </p:txBody>
        </p:sp>
      </p:grpSp>
      <p:grpSp>
        <p:nvGrpSpPr>
          <p:cNvPr id="38" name="Group 38"/>
          <p:cNvGrpSpPr/>
          <p:nvPr/>
        </p:nvGrpSpPr>
        <p:grpSpPr>
          <a:xfrm>
            <a:off x="685800" y="2286000"/>
            <a:ext cx="10820400" cy="971931"/>
            <a:chOff x="685800" y="2286000"/>
            <a:chExt cx="10820400" cy="971931"/>
          </a:xfrm>
        </p:grpSpPr>
        <p:sp>
          <p:nvSpPr>
            <p:cNvPr id="7" name="Line 7"/>
            <p:cNvSpPr/>
            <p:nvPr/>
          </p:nvSpPr>
          <p:spPr>
            <a:xfrm>
              <a:off x="1200150" y="2590800"/>
              <a:ext cx="9791700" cy="9525"/>
            </a:xfrm>
            <a:custGeom>
              <a:avLst/>
              <a:gdLst/>
              <a:ahLst/>
              <a:cxnLst/>
              <a:rect l="l" t="t" r="r" b="b"/>
              <a:pathLst>
                <a:path w="9791700" h="9525">
                  <a:moveTo>
                    <a:pt x="0" y="0"/>
                  </a:moveTo>
                  <a:lnTo>
                    <a:pt x="9791700" y="0"/>
                  </a:lnTo>
                </a:path>
              </a:pathLst>
            </a:custGeom>
            <a:noFill/>
            <a:ln w="19050">
              <a:solidFill>
                <a:schemeClr val="accent4"/>
              </a:solidFill>
            </a:ln>
          </p:spPr>
        </p:sp>
        <p:sp>
          <p:nvSpPr>
            <p:cNvPr id="8" name="Rectangle 8"/>
            <p:cNvSpPr/>
            <p:nvPr/>
          </p:nvSpPr>
          <p:spPr>
            <a:xfrm>
              <a:off x="685800" y="2286000"/>
              <a:ext cx="1028700" cy="609600"/>
            </a:xfrm>
            <a:prstGeom prst="rect">
              <a:avLst/>
            </a:prstGeom>
            <a:solidFill>
              <a:schemeClr val="lt1"/>
            </a:solidFill>
            <a:ln w="14288">
              <a:solidFill>
                <a:schemeClr val="accent1"/>
              </a:solidFill>
            </a:ln>
          </p:spPr>
        </p:sp>
        <p:sp>
          <p:nvSpPr>
            <p:cNvPr id="9" name="Rectangle 9"/>
            <p:cNvSpPr/>
            <p:nvPr/>
          </p:nvSpPr>
          <p:spPr>
            <a:xfrm>
              <a:off x="685800" y="2286000"/>
              <a:ext cx="1028700" cy="47625"/>
            </a:xfrm>
            <a:prstGeom prst="rect">
              <a:avLst/>
            </a:prstGeom>
            <a:solidFill>
              <a:schemeClr val="accent1"/>
            </a:solidFill>
            <a:ln>
              <a:noFill/>
            </a:ln>
          </p:spPr>
        </p:sp>
        <p:sp>
          <p:nvSpPr>
            <p:cNvPr id="10" name="TextBox 10"/>
            <p:cNvSpPr txBox="1"/>
            <p:nvPr/>
          </p:nvSpPr>
          <p:spPr>
            <a:xfrm>
              <a:off x="829818"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范围确认</a:t>
              </a:r>
            </a:p>
          </p:txBody>
        </p:sp>
        <p:sp>
          <p:nvSpPr>
            <p:cNvPr id="11" name="Rectangle 11"/>
            <p:cNvSpPr/>
            <p:nvPr/>
          </p:nvSpPr>
          <p:spPr>
            <a:xfrm>
              <a:off x="1909762" y="2286000"/>
              <a:ext cx="1028700" cy="609600"/>
            </a:xfrm>
            <a:prstGeom prst="rect">
              <a:avLst/>
            </a:prstGeom>
            <a:solidFill>
              <a:schemeClr val="lt1"/>
            </a:solidFill>
            <a:ln w="14288">
              <a:solidFill>
                <a:schemeClr val="accent1"/>
              </a:solidFill>
            </a:ln>
          </p:spPr>
        </p:sp>
        <p:sp>
          <p:nvSpPr>
            <p:cNvPr id="12" name="Rectangle 12"/>
            <p:cNvSpPr/>
            <p:nvPr/>
          </p:nvSpPr>
          <p:spPr>
            <a:xfrm>
              <a:off x="1909762" y="2286000"/>
              <a:ext cx="1028700" cy="47625"/>
            </a:xfrm>
            <a:prstGeom prst="rect">
              <a:avLst/>
            </a:prstGeom>
            <a:solidFill>
              <a:schemeClr val="accent2"/>
            </a:solidFill>
            <a:ln>
              <a:noFill/>
            </a:ln>
          </p:spPr>
        </p:sp>
        <p:sp>
          <p:nvSpPr>
            <p:cNvPr id="13" name="TextBox 13"/>
            <p:cNvSpPr txBox="1"/>
            <p:nvPr/>
          </p:nvSpPr>
          <p:spPr>
            <a:xfrm>
              <a:off x="2053780"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文献覆盖</a:t>
              </a:r>
            </a:p>
          </p:txBody>
        </p:sp>
        <p:sp>
          <p:nvSpPr>
            <p:cNvPr id="14" name="Rectangle 14"/>
            <p:cNvSpPr/>
            <p:nvPr/>
          </p:nvSpPr>
          <p:spPr>
            <a:xfrm>
              <a:off x="3133725" y="2286000"/>
              <a:ext cx="1028700" cy="609600"/>
            </a:xfrm>
            <a:prstGeom prst="rect">
              <a:avLst/>
            </a:prstGeom>
            <a:solidFill>
              <a:schemeClr val="lt1"/>
            </a:solidFill>
            <a:ln w="14288">
              <a:solidFill>
                <a:schemeClr val="accent1"/>
              </a:solidFill>
            </a:ln>
          </p:spPr>
        </p:sp>
        <p:sp>
          <p:nvSpPr>
            <p:cNvPr id="15" name="Rectangle 15"/>
            <p:cNvSpPr/>
            <p:nvPr/>
          </p:nvSpPr>
          <p:spPr>
            <a:xfrm>
              <a:off x="3133725" y="2286000"/>
              <a:ext cx="1028700" cy="47625"/>
            </a:xfrm>
            <a:prstGeom prst="rect">
              <a:avLst/>
            </a:prstGeom>
            <a:solidFill>
              <a:schemeClr val="accent2"/>
            </a:solidFill>
            <a:ln>
              <a:noFill/>
            </a:ln>
          </p:spPr>
        </p:sp>
        <p:sp>
          <p:nvSpPr>
            <p:cNvPr id="16" name="TextBox 16"/>
            <p:cNvSpPr txBox="1"/>
            <p:nvPr/>
          </p:nvSpPr>
          <p:spPr>
            <a:xfrm>
              <a:off x="3368611"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风格库</a:t>
              </a:r>
            </a:p>
          </p:txBody>
        </p:sp>
        <p:sp>
          <p:nvSpPr>
            <p:cNvPr id="17" name="Rectangle 17"/>
            <p:cNvSpPr/>
            <p:nvPr/>
          </p:nvSpPr>
          <p:spPr>
            <a:xfrm>
              <a:off x="4357688" y="2286000"/>
              <a:ext cx="1028700" cy="609600"/>
            </a:xfrm>
            <a:prstGeom prst="rect">
              <a:avLst/>
            </a:prstGeom>
            <a:solidFill>
              <a:schemeClr val="lt1"/>
            </a:solidFill>
            <a:ln w="14288">
              <a:solidFill>
                <a:schemeClr val="accent1"/>
              </a:solidFill>
            </a:ln>
          </p:spPr>
        </p:sp>
        <p:sp>
          <p:nvSpPr>
            <p:cNvPr id="18" name="Rectangle 18"/>
            <p:cNvSpPr/>
            <p:nvPr/>
          </p:nvSpPr>
          <p:spPr>
            <a:xfrm>
              <a:off x="4357688" y="2286000"/>
              <a:ext cx="1028700" cy="47625"/>
            </a:xfrm>
            <a:prstGeom prst="rect">
              <a:avLst/>
            </a:prstGeom>
            <a:solidFill>
              <a:schemeClr val="accent1"/>
            </a:solidFill>
            <a:ln>
              <a:noFill/>
            </a:ln>
          </p:spPr>
        </p:sp>
        <p:sp>
          <p:nvSpPr>
            <p:cNvPr id="19" name="TextBox 19"/>
            <p:cNvSpPr txBox="1"/>
            <p:nvPr/>
          </p:nvSpPr>
          <p:spPr>
            <a:xfrm>
              <a:off x="4410837" y="2521268"/>
              <a:ext cx="922401"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引用完整性</a:t>
              </a:r>
            </a:p>
          </p:txBody>
        </p:sp>
        <p:sp>
          <p:nvSpPr>
            <p:cNvPr id="20" name="Rectangle 20"/>
            <p:cNvSpPr/>
            <p:nvPr/>
          </p:nvSpPr>
          <p:spPr>
            <a:xfrm>
              <a:off x="5581650" y="2286000"/>
              <a:ext cx="1028700" cy="609600"/>
            </a:xfrm>
            <a:prstGeom prst="rect">
              <a:avLst/>
            </a:prstGeom>
            <a:solidFill>
              <a:schemeClr val="lt1"/>
            </a:solidFill>
            <a:ln w="14288">
              <a:solidFill>
                <a:schemeClr val="accent1"/>
              </a:solidFill>
            </a:ln>
          </p:spPr>
        </p:sp>
        <p:sp>
          <p:nvSpPr>
            <p:cNvPr id="21" name="Rectangle 21"/>
            <p:cNvSpPr/>
            <p:nvPr/>
          </p:nvSpPr>
          <p:spPr>
            <a:xfrm>
              <a:off x="5581650" y="2286000"/>
              <a:ext cx="1028700" cy="47625"/>
            </a:xfrm>
            <a:prstGeom prst="rect">
              <a:avLst/>
            </a:prstGeom>
            <a:solidFill>
              <a:schemeClr val="accent1"/>
            </a:solidFill>
            <a:ln>
              <a:noFill/>
            </a:ln>
          </p:spPr>
        </p:sp>
        <p:sp>
          <p:nvSpPr>
            <p:cNvPr id="22" name="TextBox 22"/>
            <p:cNvSpPr txBox="1"/>
            <p:nvPr/>
          </p:nvSpPr>
          <p:spPr>
            <a:xfrm>
              <a:off x="5816536"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分类法</a:t>
              </a:r>
            </a:p>
          </p:txBody>
        </p:sp>
        <p:sp>
          <p:nvSpPr>
            <p:cNvPr id="23" name="Rectangle 23"/>
            <p:cNvSpPr/>
            <p:nvPr/>
          </p:nvSpPr>
          <p:spPr>
            <a:xfrm>
              <a:off x="6805612" y="2286000"/>
              <a:ext cx="1028700" cy="609600"/>
            </a:xfrm>
            <a:prstGeom prst="rect">
              <a:avLst/>
            </a:prstGeom>
            <a:solidFill>
              <a:schemeClr val="lt1"/>
            </a:solidFill>
            <a:ln w="14288">
              <a:solidFill>
                <a:schemeClr val="accent1"/>
              </a:solidFill>
            </a:ln>
          </p:spPr>
        </p:sp>
        <p:sp>
          <p:nvSpPr>
            <p:cNvPr id="24" name="Rectangle 24"/>
            <p:cNvSpPr/>
            <p:nvPr/>
          </p:nvSpPr>
          <p:spPr>
            <a:xfrm>
              <a:off x="6805612" y="2286000"/>
              <a:ext cx="1028700" cy="47625"/>
            </a:xfrm>
            <a:prstGeom prst="rect">
              <a:avLst/>
            </a:prstGeom>
            <a:solidFill>
              <a:schemeClr val="accent1"/>
            </a:solidFill>
            <a:ln>
              <a:noFill/>
            </a:ln>
          </p:spPr>
        </p:sp>
        <p:sp>
          <p:nvSpPr>
            <p:cNvPr id="25" name="TextBox 25"/>
            <p:cNvSpPr txBox="1"/>
            <p:nvPr/>
          </p:nvSpPr>
          <p:spPr>
            <a:xfrm>
              <a:off x="7131367"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图纸</a:t>
              </a:r>
            </a:p>
          </p:txBody>
        </p:sp>
        <p:sp>
          <p:nvSpPr>
            <p:cNvPr id="26" name="Rectangle 26"/>
            <p:cNvSpPr/>
            <p:nvPr/>
          </p:nvSpPr>
          <p:spPr>
            <a:xfrm>
              <a:off x="8029575" y="2286000"/>
              <a:ext cx="1028700" cy="609600"/>
            </a:xfrm>
            <a:prstGeom prst="rect">
              <a:avLst/>
            </a:prstGeom>
            <a:solidFill>
              <a:schemeClr val="lt1"/>
            </a:solidFill>
            <a:ln w="14288">
              <a:solidFill>
                <a:schemeClr val="accent1"/>
              </a:solidFill>
            </a:ln>
          </p:spPr>
        </p:sp>
        <p:sp>
          <p:nvSpPr>
            <p:cNvPr id="27" name="Rectangle 27"/>
            <p:cNvSpPr/>
            <p:nvPr/>
          </p:nvSpPr>
          <p:spPr>
            <a:xfrm>
              <a:off x="8029575" y="2286000"/>
              <a:ext cx="1028700" cy="47625"/>
            </a:xfrm>
            <a:prstGeom prst="rect">
              <a:avLst/>
            </a:prstGeom>
            <a:solidFill>
              <a:schemeClr val="accent1"/>
            </a:solidFill>
            <a:ln>
              <a:noFill/>
            </a:ln>
          </p:spPr>
        </p:sp>
        <p:sp>
          <p:nvSpPr>
            <p:cNvPr id="28" name="TextBox 28"/>
            <p:cNvSpPr txBox="1"/>
            <p:nvPr/>
          </p:nvSpPr>
          <p:spPr>
            <a:xfrm>
              <a:off x="8355330"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稿件</a:t>
              </a:r>
            </a:p>
          </p:txBody>
        </p:sp>
        <p:sp>
          <p:nvSpPr>
            <p:cNvPr id="29" name="Rectangle 29"/>
            <p:cNvSpPr/>
            <p:nvPr/>
          </p:nvSpPr>
          <p:spPr>
            <a:xfrm>
              <a:off x="9253538" y="2286000"/>
              <a:ext cx="1028700" cy="609600"/>
            </a:xfrm>
            <a:prstGeom prst="rect">
              <a:avLst/>
            </a:prstGeom>
            <a:solidFill>
              <a:schemeClr val="lt1"/>
            </a:solidFill>
            <a:ln w="14288">
              <a:solidFill>
                <a:schemeClr val="accent1"/>
              </a:solidFill>
            </a:ln>
          </p:spPr>
        </p:sp>
        <p:sp>
          <p:nvSpPr>
            <p:cNvPr id="30" name="Rectangle 30"/>
            <p:cNvSpPr/>
            <p:nvPr/>
          </p:nvSpPr>
          <p:spPr>
            <a:xfrm>
              <a:off x="9253538" y="2286000"/>
              <a:ext cx="1028700" cy="47625"/>
            </a:xfrm>
            <a:prstGeom prst="rect">
              <a:avLst/>
            </a:prstGeom>
            <a:solidFill>
              <a:schemeClr val="accent2"/>
            </a:solidFill>
            <a:ln>
              <a:noFill/>
            </a:ln>
          </p:spPr>
        </p:sp>
        <p:sp>
          <p:nvSpPr>
            <p:cNvPr id="31" name="TextBox 31"/>
            <p:cNvSpPr txBox="1"/>
            <p:nvPr/>
          </p:nvSpPr>
          <p:spPr>
            <a:xfrm>
              <a:off x="9397556"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想法审稿</a:t>
              </a:r>
            </a:p>
          </p:txBody>
        </p:sp>
        <p:sp>
          <p:nvSpPr>
            <p:cNvPr id="32" name="Rectangle 32"/>
            <p:cNvSpPr/>
            <p:nvPr/>
          </p:nvSpPr>
          <p:spPr>
            <a:xfrm>
              <a:off x="10477500" y="2286000"/>
              <a:ext cx="1028700" cy="609600"/>
            </a:xfrm>
            <a:prstGeom prst="rect">
              <a:avLst/>
            </a:prstGeom>
            <a:solidFill>
              <a:schemeClr val="accent1"/>
            </a:solidFill>
            <a:ln w="14288">
              <a:solidFill>
                <a:schemeClr val="accent1"/>
              </a:solidFill>
            </a:ln>
          </p:spPr>
        </p:sp>
        <p:sp>
          <p:nvSpPr>
            <p:cNvPr id="33" name="TextBox 33"/>
            <p:cNvSpPr txBox="1"/>
            <p:nvPr/>
          </p:nvSpPr>
          <p:spPr>
            <a:xfrm>
              <a:off x="10794168" y="2521268"/>
              <a:ext cx="3953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终审</a:t>
              </a:r>
            </a:p>
          </p:txBody>
        </p:sp>
        <p:sp>
          <p:nvSpPr>
            <p:cNvPr id="34" name="Rectangle 34"/>
            <p:cNvSpPr/>
            <p:nvPr/>
          </p:nvSpPr>
          <p:spPr>
            <a:xfrm>
              <a:off x="685800" y="3067050"/>
              <a:ext cx="133350" cy="47625"/>
            </a:xfrm>
            <a:prstGeom prst="rect">
              <a:avLst/>
            </a:prstGeom>
            <a:solidFill>
              <a:schemeClr val="accent1"/>
            </a:solidFill>
            <a:ln>
              <a:noFill/>
            </a:ln>
          </p:spPr>
        </p:sp>
        <p:sp>
          <p:nvSpPr>
            <p:cNvPr id="35" name="TextBox 35"/>
            <p:cNvSpPr txBox="1"/>
            <p:nvPr/>
          </p:nvSpPr>
          <p:spPr>
            <a:xfrm>
              <a:off x="889254" y="3023235"/>
              <a:ext cx="33528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通过</a:t>
              </a:r>
            </a:p>
          </p:txBody>
        </p:sp>
        <p:sp>
          <p:nvSpPr>
            <p:cNvPr id="36" name="Rectangle 36"/>
            <p:cNvSpPr/>
            <p:nvPr/>
          </p:nvSpPr>
          <p:spPr>
            <a:xfrm>
              <a:off x="2209800" y="3067050"/>
              <a:ext cx="133350" cy="47625"/>
            </a:xfrm>
            <a:prstGeom prst="rect">
              <a:avLst/>
            </a:prstGeom>
            <a:solidFill>
              <a:schemeClr val="accent2"/>
            </a:solidFill>
            <a:ln>
              <a:noFill/>
            </a:ln>
          </p:spPr>
        </p:sp>
        <p:sp>
          <p:nvSpPr>
            <p:cNvPr id="37" name="TextBox 37"/>
            <p:cNvSpPr txBox="1"/>
            <p:nvPr/>
          </p:nvSpPr>
          <p:spPr>
            <a:xfrm>
              <a:off x="2413254" y="3023235"/>
              <a:ext cx="453542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有备注的降级（文献规模档、写作风格样本数、想法为诊断级）</a:t>
              </a:r>
            </a:p>
          </p:txBody>
        </p:sp>
      </p:grpSp>
      <p:grpSp>
        <p:nvGrpSpPr>
          <p:cNvPr id="47" name="Group 47"/>
          <p:cNvGrpSpPr/>
          <p:nvPr/>
        </p:nvGrpSpPr>
        <p:grpSpPr>
          <a:xfrm>
            <a:off x="685800" y="3543300"/>
            <a:ext cx="5295900" cy="2571750"/>
            <a:chOff x="685800" y="3543300"/>
            <a:chExt cx="5295900" cy="2571750"/>
          </a:xfrm>
        </p:grpSpPr>
        <p:sp>
          <p:nvSpPr>
            <p:cNvPr id="39" name="Rectangle 39"/>
            <p:cNvSpPr/>
            <p:nvPr/>
          </p:nvSpPr>
          <p:spPr>
            <a:xfrm>
              <a:off x="685800" y="3543300"/>
              <a:ext cx="5295900" cy="2571750"/>
            </a:xfrm>
            <a:prstGeom prst="rect">
              <a:avLst/>
            </a:prstGeom>
            <a:solidFill>
              <a:schemeClr val="lt2"/>
            </a:solidFill>
            <a:ln>
              <a:noFill/>
            </a:ln>
          </p:spPr>
        </p:sp>
        <p:grpSp>
          <p:nvGrpSpPr>
            <p:cNvPr id="44" name="Group 44"/>
            <p:cNvGrpSpPr/>
            <p:nvPr/>
          </p:nvGrpSpPr>
          <p:grpSpPr>
            <a:xfrm>
              <a:off x="947738" y="3767138"/>
              <a:ext cx="200026" cy="200025"/>
              <a:chOff x="947738" y="3767138"/>
              <a:chExt cx="200026" cy="200025"/>
            </a:xfrm>
          </p:grpSpPr>
          <p:sp>
            <p:nvSpPr>
              <p:cNvPr id="40" name="Freeform 40"/>
              <p:cNvSpPr/>
              <p:nvPr/>
            </p:nvSpPr>
            <p:spPr>
              <a:xfrm>
                <a:off x="969963" y="37671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41" name="Freeform 41"/>
              <p:cNvSpPr/>
              <p:nvPr/>
            </p:nvSpPr>
            <p:spPr>
              <a:xfrm>
                <a:off x="947738" y="39004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42" name="Freeform 42"/>
              <p:cNvSpPr/>
              <p:nvPr/>
            </p:nvSpPr>
            <p:spPr>
              <a:xfrm>
                <a:off x="1092201" y="37685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43" name="Freeform 43"/>
              <p:cNvSpPr/>
              <p:nvPr/>
            </p:nvSpPr>
            <p:spPr>
              <a:xfrm>
                <a:off x="1114426" y="39021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45" name="TextBox 45"/>
            <p:cNvSpPr txBox="1"/>
            <p:nvPr/>
          </p:nvSpPr>
          <p:spPr>
            <a:xfrm>
              <a:off x="1267206" y="3749040"/>
              <a:ext cx="463622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需要人确认的节点（正式运行出现 4 次）</a:t>
              </a:r>
            </a:p>
          </p:txBody>
        </p:sp>
        <p:sp>
          <p:nvSpPr>
            <p:cNvPr id="46" name="TextBox 46"/>
            <p:cNvSpPr txBox="1"/>
            <p:nvPr/>
          </p:nvSpPr>
          <p:spPr>
            <a:xfrm>
              <a:off x="907542" y="4197668"/>
              <a:ext cx="4977194" cy="1235583"/>
            </a:xfrm>
            <a:prstGeom prst="rect">
              <a:avLst/>
            </a:prstGeom>
            <a:noFill/>
            <a:ln>
              <a:noFill/>
            </a:ln>
          </p:spPr>
          <p:txBody>
            <a:bodyPr wrap="square" lIns="0" tIns="0" rIns="0" bIns="0" anchor="t" anchorCtr="0"/>
            <a:lstStyle/>
            <a:p>
              <a:pPr algn="l">
                <a:lnSpc>
                  <a:spcPts val="2550"/>
                </a:lnSpc>
              </a:pPr>
              <a:r>
                <a:rPr lang="zh-CN" sz="1350" dirty="0">
                  <a:solidFill>
                    <a:schemeClr val="dk1"/>
                  </a:solidFill>
                  <a:latin typeface="Segoe UI"/>
                  <a:ea typeface="Microsoft YaHei"/>
                  <a:cs typeface="Segoe UI"/>
                </a:rPr>
                <a:t>① 范围草案由人确认（裸主题且范围无实质歧义）</a:t>
              </a:r>
              <a:r>
                <a:rPr lang="zh-CN" sz="1350" dirty="0">
                  <a:solidFill>
                    <a:schemeClr val="dk1"/>
                  </a:solidFill>
                  <a:latin typeface="Segoe UI"/>
                  <a:ea typeface="Microsoft YaHei"/>
                  <a:cs typeface="Segoe UI"/>
                </a:rPr>
                <a:t>② 5 条作者名不匹配三轮未收敛，交人决定后删除</a:t>
              </a:r>
              <a:r>
                <a:rPr lang="zh-CN" sz="1350" dirty="0">
                  <a:solidFill>
                    <a:schemeClr val="dk1"/>
                  </a:solidFill>
                  <a:latin typeface="Segoe UI"/>
                  <a:ea typeface="Microsoft YaHei"/>
                  <a:cs typeface="Segoe UI"/>
                </a:rPr>
                <a:t>③ 贡献结构由人确认：身份谱系、路线—变量—验证矩阵、迁移边界</a:t>
              </a:r>
              <a:r>
                <a:rPr lang="zh-CN" sz="1350" dirty="0">
                  <a:solidFill>
                    <a:schemeClr val="dk1"/>
                  </a:solidFill>
                  <a:latin typeface="Segoe UI"/>
                  <a:ea typeface="Microsoft YaHei"/>
                  <a:cs typeface="Segoe UI"/>
                </a:rPr>
                <a:t>④ 终审由人确认：没有严重问题，且有审稿记录</a:t>
              </a:r>
            </a:p>
          </p:txBody>
        </p:sp>
      </p:grpSp>
      <p:grpSp>
        <p:nvGrpSpPr>
          <p:cNvPr id="54" name="Group 54"/>
          <p:cNvGrpSpPr/>
          <p:nvPr/>
        </p:nvGrpSpPr>
        <p:grpSpPr>
          <a:xfrm>
            <a:off x="6210300" y="3543300"/>
            <a:ext cx="5295900" cy="2632901"/>
            <a:chOff x="6210300" y="3543300"/>
            <a:chExt cx="5295900" cy="2632901"/>
          </a:xfrm>
        </p:grpSpPr>
        <p:sp>
          <p:nvSpPr>
            <p:cNvPr id="48" name="Rectangle 48"/>
            <p:cNvSpPr/>
            <p:nvPr/>
          </p:nvSpPr>
          <p:spPr>
            <a:xfrm>
              <a:off x="6210300" y="3543300"/>
              <a:ext cx="5295900" cy="2571750"/>
            </a:xfrm>
            <a:prstGeom prst="rect">
              <a:avLst/>
            </a:prstGeom>
            <a:solidFill>
              <a:schemeClr val="lt2"/>
            </a:solidFill>
            <a:ln>
              <a:noFill/>
            </a:ln>
          </p:spPr>
        </p:sp>
        <p:grpSp>
          <p:nvGrpSpPr>
            <p:cNvPr id="51" name="Group 51"/>
            <p:cNvGrpSpPr/>
            <p:nvPr/>
          </p:nvGrpSpPr>
          <p:grpSpPr>
            <a:xfrm>
              <a:off x="6457241" y="3767138"/>
              <a:ext cx="217008" cy="200025"/>
              <a:chOff x="6457241" y="3767138"/>
              <a:chExt cx="217008" cy="200025"/>
            </a:xfrm>
          </p:grpSpPr>
          <p:sp>
            <p:nvSpPr>
              <p:cNvPr id="49" name="Freeform 49"/>
              <p:cNvSpPr/>
              <p:nvPr/>
            </p:nvSpPr>
            <p:spPr>
              <a:xfrm>
                <a:off x="6457241" y="37671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50" name="Freeform 50"/>
              <p:cNvSpPr/>
              <p:nvPr/>
            </p:nvSpPr>
            <p:spPr>
              <a:xfrm>
                <a:off x="6605588" y="39227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52" name="TextBox 52"/>
            <p:cNvSpPr txBox="1"/>
            <p:nvPr/>
          </p:nvSpPr>
          <p:spPr>
            <a:xfrm>
              <a:off x="6791706" y="374904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对抗审稿：审与做永远分离</a:t>
              </a:r>
            </a:p>
          </p:txBody>
        </p:sp>
        <p:sp>
          <p:nvSpPr>
            <p:cNvPr id="53" name="TextBox 53"/>
            <p:cNvSpPr txBox="1"/>
            <p:nvPr/>
          </p:nvSpPr>
          <p:spPr>
            <a:xfrm>
              <a:off x="6432042" y="4197668"/>
              <a:ext cx="4214241" cy="197853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全新上下文的独立 reviewer；先核对引用是否真实，</a:t>
              </a:r>
              <a:r>
                <a:rPr lang="zh-CN" sz="1350" dirty="0">
                  <a:solidFill>
                    <a:schemeClr val="dk1"/>
                  </a:solidFill>
                  <a:latin typeface="Segoe UI"/>
                  <a:ea typeface="Microsoft YaHei"/>
                  <a:cs typeface="Segoe UI"/>
                </a:rPr>
                <a:t>再提出批评</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三视角裁决：领域专家 / 方法严谨派 / 期刊编辑</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结构化 issue 带 target 阶段，路由回属主返工，</a:t>
              </a:r>
              <a:r>
                <a:rPr lang="zh-CN" sz="1350" dirty="0">
                  <a:solidFill>
                    <a:schemeClr val="dk1"/>
                  </a:solidFill>
                  <a:latin typeface="Segoe UI"/>
                  <a:ea typeface="Microsoft YaHei"/>
                  <a:cs typeface="Segoe UI"/>
                </a:rPr>
                <a:t>上游变更后，下游自动重新检查</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同一 issue 三轮未收敛升级人类；没有审稿记录的</a:t>
              </a:r>
              <a:r>
                <a:rPr lang="zh-CN" sz="1350" dirty="0">
                  <a:solidFill>
                    <a:schemeClr val="dk1"/>
                  </a:solidFill>
                  <a:latin typeface="Segoe UI"/>
                  <a:ea typeface="Microsoft YaHei"/>
                  <a:cs typeface="Segoe UI"/>
                </a:rPr>
                <a:t>“通过”不算通过</a:t>
              </a:r>
            </a:p>
          </p:txBody>
        </p:sp>
      </p:grpSp>
      <p:grpSp>
        <p:nvGrpSpPr>
          <p:cNvPr id="57" name="Group 57"/>
          <p:cNvGrpSpPr/>
          <p:nvPr/>
        </p:nvGrpSpPr>
        <p:grpSpPr>
          <a:xfrm>
            <a:off x="679704" y="6480810"/>
            <a:ext cx="10832592" cy="234696"/>
            <a:chOff x="679704" y="6480810"/>
            <a:chExt cx="10832592" cy="234696"/>
          </a:xfrm>
        </p:grpSpPr>
        <p:sp>
          <p:nvSpPr>
            <p:cNvPr id="55" name="TextBox 55"/>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56" name="TextBox 5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 / 13</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54283" cy="586740"/>
            <a:chOff x="670560" y="590550"/>
            <a:chExt cx="11254283" cy="586740"/>
          </a:xfrm>
        </p:grpSpPr>
        <p:sp>
          <p:nvSpPr>
            <p:cNvPr id="2" name="TextBox 2"/>
            <p:cNvSpPr txBox="1"/>
            <p:nvPr/>
          </p:nvSpPr>
          <p:spPr>
            <a:xfrm>
              <a:off x="670560" y="590550"/>
              <a:ext cx="1125428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RECIPE：把无机逆合成重述为变长前驱体集合的排序问题</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504322" cy="381381"/>
            <a:chOff x="675894" y="1370648"/>
            <a:chExt cx="10504322" cy="381381"/>
          </a:xfrm>
        </p:grpSpPr>
        <p:sp>
          <p:nvSpPr>
            <p:cNvPr id="5" name="TextBox 5"/>
            <p:cNvSpPr txBox="1"/>
            <p:nvPr/>
          </p:nvSpPr>
          <p:spPr>
            <a:xfrm>
              <a:off x="675894" y="1370648"/>
              <a:ext cx="10504322"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先保证前驱体召回，再对</a:t>
              </a:r>
              <a:r>
                <a:rPr lang="zh-CN" sz="1950" b="1" dirty="0">
                  <a:solidFill>
                    <a:schemeClr val="accent2"/>
                  </a:solidFill>
                  <a:latin typeface="Segoe UI"/>
                  <a:ea typeface="Microsoft YaHei"/>
                  <a:cs typeface="Segoe UI"/>
                </a:rPr>
                <a:t>完整前驱体集合</a:t>
              </a:r>
              <a:r>
                <a:rPr lang="zh-CN" sz="1950" dirty="0">
                  <a:solidFill>
                    <a:schemeClr val="dk1"/>
                  </a:solidFill>
                  <a:latin typeface="Segoe UI"/>
                  <a:ea typeface="Microsoft YaHei"/>
                  <a:cs typeface="Segoe UI"/>
                </a:rPr>
                <a:t>直接排序；以 MCP 工具接入想法生成环节。</a:t>
              </a:r>
            </a:p>
          </p:txBody>
        </p:sp>
      </p:grpSp>
      <p:grpSp>
        <p:nvGrpSpPr>
          <p:cNvPr id="10" name="Group 10"/>
          <p:cNvGrpSpPr/>
          <p:nvPr/>
        </p:nvGrpSpPr>
        <p:grpSpPr>
          <a:xfrm>
            <a:off x="679704" y="1905000"/>
            <a:ext cx="6426579" cy="4467606"/>
            <a:chOff x="679704" y="1905000"/>
            <a:chExt cx="6426579" cy="4467606"/>
          </a:xfrm>
        </p:grpSpPr>
        <p:sp>
          <p:nvSpPr>
            <p:cNvPr id="7" name="Rectangle 7"/>
            <p:cNvSpPr/>
            <p:nvPr/>
          </p:nvSpPr>
          <p:spPr>
            <a:xfrm>
              <a:off x="685800" y="1905000"/>
              <a:ext cx="6096000" cy="4133850"/>
            </a:xfrm>
            <a:prstGeom prst="rect">
              <a:avLst/>
            </a:prstGeom>
            <a:solidFill>
              <a:schemeClr val="lt1"/>
            </a:solidFill>
            <a:ln w="9525">
              <a:solidFill>
                <a:schemeClr val="accent4"/>
              </a:solidFill>
            </a:ln>
          </p:spPr>
        </p:sp>
        <p:pic>
          <p:nvPicPr>
            <p:cNvPr id="8" name="Image 8"/>
            <p:cNvPicPr>
              <a:picLocks noChangeAspect="1"/>
            </p:cNvPicPr>
            <p:nvPr/>
          </p:nvPicPr>
          <p:blipFill>
            <a:blip r:embed="rId2"/>
            <a:stretch>
              <a:fillRect/>
            </a:stretch>
          </p:blipFill>
          <p:spPr>
            <a:xfrm>
              <a:off x="742333" y="1943100"/>
              <a:ext cx="5982935" cy="4057650"/>
            </a:xfrm>
            <a:prstGeom prst="rect">
              <a:avLst/>
            </a:prstGeom>
          </p:spPr>
        </p:pic>
        <p:sp>
          <p:nvSpPr>
            <p:cNvPr id="9" name="TextBox 9"/>
            <p:cNvSpPr txBox="1"/>
            <p:nvPr/>
          </p:nvSpPr>
          <p:spPr>
            <a:xfrm>
              <a:off x="679704" y="6137910"/>
              <a:ext cx="6426579"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图：RECIPE 两阶段架构（团队 NeurIPS 2026 投稿图 1）：候选生成 → 候选集合重排。</a:t>
              </a:r>
            </a:p>
          </p:txBody>
        </p:sp>
      </p:grpSp>
      <p:grpSp>
        <p:nvGrpSpPr>
          <p:cNvPr id="13" name="Group 13"/>
          <p:cNvGrpSpPr/>
          <p:nvPr/>
        </p:nvGrpSpPr>
        <p:grpSpPr>
          <a:xfrm>
            <a:off x="7077456" y="1958340"/>
            <a:ext cx="3835479" cy="1874711"/>
            <a:chOff x="7077456" y="1958340"/>
            <a:chExt cx="3835479" cy="1874711"/>
          </a:xfrm>
        </p:grpSpPr>
        <p:sp>
          <p:nvSpPr>
            <p:cNvPr id="11" name="TextBox 11"/>
            <p:cNvSpPr txBox="1"/>
            <p:nvPr/>
          </p:nvSpPr>
          <p:spPr>
            <a:xfrm>
              <a:off x="7077456" y="1958340"/>
              <a:ext cx="103601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三个阶段</a:t>
              </a:r>
            </a:p>
          </p:txBody>
        </p:sp>
        <p:sp>
          <p:nvSpPr>
            <p:cNvPr id="12" name="TextBox 12"/>
            <p:cNvSpPr txBox="1"/>
            <p:nvPr/>
          </p:nvSpPr>
          <p:spPr>
            <a:xfrm>
              <a:off x="7079742" y="2311718"/>
              <a:ext cx="3833193" cy="1521333"/>
            </a:xfrm>
            <a:prstGeom prst="rect">
              <a:avLst/>
            </a:prstGeom>
            <a:noFill/>
            <a:ln>
              <a:noFill/>
            </a:ln>
          </p:spPr>
          <p:txBody>
            <a:bodyPr wrap="square" lIns="0" tIns="0" rIns="0" bIns="0" anchor="t" anchorCtr="0"/>
            <a:lstStyle/>
            <a:p>
              <a:pPr algn="l">
                <a:lnSpc>
                  <a:spcPts val="1800"/>
                </a:lnSpc>
              </a:pPr>
              <a:r>
                <a:rPr lang="en-US" sz="1350" b="1" dirty="0">
                  <a:solidFill>
                    <a:schemeClr val="accent2"/>
                  </a:solidFill>
                  <a:latin typeface="Segoe UI"/>
                  <a:ea typeface="Segoe UI"/>
                  <a:cs typeface="Segoe UI"/>
                </a:rPr>
                <a:t>①</a:t>
              </a:r>
              <a:r>
                <a:rPr lang="zh-CN" sz="1350" dirty="0">
                  <a:solidFill>
                    <a:schemeClr val="dk1"/>
                  </a:solidFill>
                  <a:latin typeface="Segoe UI"/>
                  <a:ea typeface="Microsoft YaHei"/>
                  <a:cs typeface="Segoe UI"/>
                </a:rPr>
                <a:t xml:space="preserve"> Generator：formula-token Transformer</a:t>
              </a:r>
              <a:r>
                <a:rPr lang="zh-CN" sz="1350" dirty="0">
                  <a:solidFill>
                    <a:schemeClr val="dk1"/>
                  </a:solidFill>
                  <a:latin typeface="Segoe UI"/>
                  <a:ea typeface="Microsoft YaHei"/>
                  <a:cs typeface="Segoe UI"/>
                </a:rPr>
                <a:t>对 798 个前驱体打分 → Top-30 高召回候选池</a:t>
              </a:r>
            </a:p>
            <a:p>
              <a:pPr algn="l">
                <a:lnSpc>
                  <a:spcPts val="1800"/>
                </a:lnSpc>
                <a:spcBef>
                  <a:spcPts val="450"/>
                </a:spcBef>
              </a:pPr>
              <a:r>
                <a:rPr lang="en-US" sz="1350" b="1" dirty="0">
                  <a:solidFill>
                    <a:schemeClr val="accent2"/>
                  </a:solidFill>
                  <a:latin typeface="Segoe UI"/>
                  <a:ea typeface="Segoe UI"/>
                  <a:cs typeface="Segoe UI"/>
                </a:rPr>
                <a:t>②</a:t>
              </a:r>
              <a:r>
                <a:rPr lang="zh-CN" sz="1350" dirty="0">
                  <a:solidFill>
                    <a:schemeClr val="dk1"/>
                  </a:solidFill>
                  <a:latin typeface="Segoe UI"/>
                  <a:ea typeface="Microsoft YaHei"/>
                  <a:cs typeface="Segoe UI"/>
                </a:rPr>
                <a:t xml:space="preserve"> 化学硬过滤 + 2–5 元枚举（pool ≤ 15）</a:t>
              </a:r>
              <a:r>
                <a:rPr lang="zh-CN" sz="1350" dirty="0">
                  <a:solidFill>
                    <a:schemeClr val="dk1"/>
                  </a:solidFill>
                  <a:latin typeface="Segoe UI"/>
                  <a:ea typeface="Microsoft YaHei"/>
                  <a:cs typeface="Segoe UI"/>
                </a:rPr>
                <a:t>典型 4,928 个候选集合，不预设真实集合大小</a:t>
              </a:r>
            </a:p>
            <a:p>
              <a:pPr algn="l">
                <a:lnSpc>
                  <a:spcPts val="1800"/>
                </a:lnSpc>
                <a:spcBef>
                  <a:spcPts val="450"/>
                </a:spcBef>
              </a:pPr>
              <a:r>
                <a:rPr lang="en-US" sz="1350" b="1" dirty="0">
                  <a:solidFill>
                    <a:schemeClr val="accent2"/>
                  </a:solidFill>
                  <a:latin typeface="Segoe UI"/>
                  <a:ea typeface="Segoe UI"/>
                  <a:cs typeface="Segoe UI"/>
                </a:rPr>
                <a:t>③</a:t>
              </a:r>
              <a:r>
                <a:rPr lang="zh-CN" sz="1350" dirty="0">
                  <a:solidFill>
                    <a:schemeClr val="dk1"/>
                  </a:solidFill>
                  <a:latin typeface="Segoe UI"/>
                  <a:ea typeface="Microsoft YaHei"/>
                  <a:cs typeface="Segoe UI"/>
                </a:rPr>
                <a:t xml:space="preserve"> Complete-Set Reranker：集合 token + 374 维</a:t>
              </a:r>
              <a:r>
                <a:rPr lang="zh-CN" sz="1350" dirty="0">
                  <a:solidFill>
                    <a:schemeClr val="dk1"/>
                  </a:solidFill>
                  <a:latin typeface="Segoe UI"/>
                  <a:ea typeface="Microsoft YaHei"/>
                  <a:cs typeface="Segoe UI"/>
                </a:rPr>
                <a:t>描述子，listwise 重排 + 负样本间隔 → Top-K</a:t>
              </a:r>
            </a:p>
          </p:txBody>
        </p:sp>
      </p:grpSp>
      <p:grpSp>
        <p:nvGrpSpPr>
          <p:cNvPr id="17" name="Group 17"/>
          <p:cNvGrpSpPr/>
          <p:nvPr/>
        </p:nvGrpSpPr>
        <p:grpSpPr>
          <a:xfrm>
            <a:off x="7086600" y="4019550"/>
            <a:ext cx="5133213" cy="2019300"/>
            <a:chOff x="7086600" y="4019550"/>
            <a:chExt cx="5133213" cy="2019300"/>
          </a:xfrm>
        </p:grpSpPr>
        <p:sp>
          <p:nvSpPr>
            <p:cNvPr id="14" name="Rectangle 14"/>
            <p:cNvSpPr/>
            <p:nvPr/>
          </p:nvSpPr>
          <p:spPr>
            <a:xfrm>
              <a:off x="7086600" y="4019550"/>
              <a:ext cx="4419600" cy="2019300"/>
            </a:xfrm>
            <a:prstGeom prst="rect">
              <a:avLst/>
            </a:prstGeom>
            <a:solidFill>
              <a:schemeClr val="lt2"/>
            </a:solidFill>
            <a:ln>
              <a:noFill/>
            </a:ln>
          </p:spPr>
        </p:sp>
        <p:sp>
          <p:nvSpPr>
            <p:cNvPr id="15" name="TextBox 15"/>
            <p:cNvSpPr txBox="1"/>
            <p:nvPr/>
          </p:nvSpPr>
          <p:spPr>
            <a:xfrm>
              <a:off x="7270242" y="4159568"/>
              <a:ext cx="3696616"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融入规则（skill 层硬约束）与正式报告调用</a:t>
              </a:r>
            </a:p>
          </p:txBody>
        </p:sp>
        <p:sp>
          <p:nvSpPr>
            <p:cNvPr id="16" name="TextBox 16"/>
            <p:cNvSpPr txBox="1"/>
            <p:nvPr/>
          </p:nvSpPr>
          <p:spPr>
            <a:xfrm>
              <a:off x="7271004" y="4461510"/>
              <a:ext cx="4948809" cy="1358646"/>
            </a:xfrm>
            <a:prstGeom prst="rect">
              <a:avLst/>
            </a:prstGeom>
            <a:noFill/>
            <a:ln>
              <a:noFill/>
            </a:ln>
          </p:spPr>
          <p:txBody>
            <a:bodyPr wrap="square" lIns="0" tIns="0" rIns="0" bIns="0" anchor="t" anchorCtr="0"/>
            <a:lstStyle/>
            <a:p>
              <a:pPr algn="l" marL="129540" indent="-129540">
                <a:lnSpc>
                  <a:spcPts val="1650"/>
                </a:lnSpc>
                <a:buClr>
                  <a:schemeClr val="dk1"/>
                </a:buClr>
                <a:buSzTx/>
                <a:buFontTx/>
                <a:buChar char="•"/>
              </a:pPr>
              <a:r>
                <a:rPr lang="zh-CN" sz="1200" dirty="0">
                  <a:solidFill>
                    <a:schemeClr val="dk1"/>
                  </a:solidFill>
                  <a:latin typeface="Segoe UI"/>
                  <a:ea typeface="Microsoft YaHei"/>
                  <a:cs typeface="Segoe UI"/>
                </a:rPr>
                <a:t>每条路线都标注“模型候选、未经实验验证”，</a:t>
              </a:r>
              <a:r>
                <a:rPr lang="zh-CN" sz="1200" dirty="0">
                  <a:solidFill>
                    <a:schemeClr val="dk1"/>
                  </a:solidFill>
                  <a:latin typeface="Segoe UI"/>
                  <a:ea typeface="Microsoft YaHei"/>
                  <a:cs typeface="Segoe UI"/>
                </a:rPr>
                <a:t>附各阶段分数与 checkpoint 校验值供复核</a:t>
              </a:r>
            </a:p>
            <a:p>
              <a:pPr algn="l" marL="129540" indent="-129540">
                <a:lnSpc>
                  <a:spcPts val="1650"/>
                </a:lnSpc>
                <a:buClr>
                  <a:schemeClr val="dk1"/>
                </a:buClr>
                <a:buSzTx/>
                <a:buFontTx/>
                <a:buChar char="•"/>
              </a:pPr>
              <a:r>
                <a:rPr lang="zh-CN" sz="1200" dirty="0">
                  <a:solidFill>
                    <a:schemeClr val="dk1"/>
                  </a:solidFill>
                  <a:latin typeface="Segoe UI"/>
                  <a:ea typeface="Microsoft YaHei"/>
                  <a:cs typeface="Segoe UI"/>
                </a:rPr>
                <a:t>路线须经文献证据补全与审稿复核后才进入实验方案</a:t>
              </a:r>
            </a:p>
            <a:p>
              <a:pPr algn="l">
                <a:lnSpc>
                  <a:spcPts val="1650"/>
                </a:lnSpc>
                <a:spcBef>
                  <a:spcPts val="600"/>
                </a:spcBef>
              </a:pPr>
              <a:r>
                <a:rPr lang="en-US" sz="1200" b="1" dirty="0">
                  <a:solidFill>
                    <a:schemeClr val="dk1"/>
                  </a:solidFill>
                  <a:latin typeface="Segoe UI"/>
                  <a:ea typeface="Segoe UI"/>
                  <a:cs typeface="Segoe UI"/>
                </a:rPr>
                <a:t>Zn</a:t>
              </a:r>
              <a:r>
                <a:rPr lang="en-US" sz="1200" dirty="0">
                  <a:solidFill>
                    <a:schemeClr val="dk1"/>
                  </a:solidFill>
                  <a:latin typeface="Segoe UI"/>
                  <a:ea typeface="Segoe UI"/>
                  <a:cs typeface="Segoe UI"/>
                </a:rPr>
                <a:t xml:space="preserve"> ZnO + Y2O3 + SiO2 + BaCO3 · </a:t>
              </a:r>
              <a:r>
                <a:rPr lang="en-US" sz="1200" b="1" dirty="0">
                  <a:solidFill>
                    <a:schemeClr val="accent2"/>
                  </a:solidFill>
                  <a:latin typeface="Segoe UI"/>
                  <a:ea typeface="Segoe UI"/>
                  <a:cs typeface="Segoe UI"/>
                </a:rPr>
                <a:t>0.594</a:t>
              </a:r>
              <a:r>
                <a:rPr lang="zh-CN" sz="1200" dirty="0">
                  <a:solidFill>
                    <a:schemeClr val="dk1"/>
                  </a:solidFill>
                  <a:latin typeface="Segoe UI"/>
                  <a:ea typeface="Microsoft YaHei"/>
                  <a:cs typeface="Segoe UI"/>
                </a:rPr>
                <a:t>（常规氧化物 / 碳酸盐）</a:t>
              </a:r>
              <a:r>
                <a:rPr lang="en-US" sz="1200" b="1" dirty="0">
                  <a:solidFill>
                    <a:schemeClr val="dk1"/>
                  </a:solidFill>
                  <a:latin typeface="Segoe UI"/>
                  <a:ea typeface="Segoe UI"/>
                  <a:cs typeface="Segoe UI"/>
                </a:rPr>
                <a:t>Mg</a:t>
              </a:r>
              <a:r>
                <a:rPr lang="en-US" sz="1200" dirty="0">
                  <a:solidFill>
                    <a:schemeClr val="dk1"/>
                  </a:solidFill>
                  <a:latin typeface="Segoe UI"/>
                  <a:ea typeface="Segoe UI"/>
                  <a:cs typeface="Segoe UI"/>
                </a:rPr>
                <a:t xml:space="preserve"> MgO + Y2O3 + BaCO3 + SiO2 · </a:t>
              </a:r>
              <a:r>
                <a:rPr lang="en-US" sz="1200" b="1" dirty="0">
                  <a:solidFill>
                    <a:schemeClr val="accent2"/>
                  </a:solidFill>
                  <a:latin typeface="Segoe UI"/>
                  <a:ea typeface="Segoe UI"/>
                  <a:cs typeface="Segoe UI"/>
                </a:rPr>
                <a:t xml:space="preserve">0.522 </a:t>
              </a:r>
              <a:r>
                <a:rPr lang="en-US" sz="1200" b="1" dirty="0">
                  <a:solidFill>
                    <a:schemeClr val="dk1"/>
                  </a:solidFill>
                  <a:latin typeface="Segoe UI"/>
                  <a:ea typeface="Segoe UI"/>
                  <a:cs typeface="Segoe UI"/>
                </a:rPr>
                <a:t>Co</a:t>
              </a:r>
              <a:r>
                <a:rPr lang="en-US" sz="1200" dirty="0">
                  <a:solidFill>
                    <a:schemeClr val="dk1"/>
                  </a:solidFill>
                  <a:latin typeface="Segoe UI"/>
                  <a:ea typeface="Segoe UI"/>
                  <a:cs typeface="Segoe UI"/>
                </a:rPr>
                <a:t xml:space="preserve"> Co3O4 + Y2O3 + BaCO3 + SiO2 · </a:t>
              </a:r>
              <a:r>
                <a:rPr lang="en-US" sz="1200" b="1" dirty="0">
                  <a:solidFill>
                    <a:schemeClr val="accent2"/>
                  </a:solidFill>
                  <a:latin typeface="Segoe UI"/>
                  <a:ea typeface="Segoe UI"/>
                  <a:cs typeface="Segoe UI"/>
                </a:rPr>
                <a:t>0.298</a:t>
              </a:r>
              <a:r>
                <a:rPr lang="zh-CN" sz="1200" dirty="0">
                  <a:solidFill>
                    <a:schemeClr val="dk1"/>
                  </a:solidFill>
                  <a:latin typeface="Segoe UI"/>
                  <a:ea typeface="Microsoft YaHei"/>
                  <a:cs typeface="Segoe UI"/>
                </a:rPr>
                <a:t>（前三名反映氧化态不确定）</a:t>
              </a:r>
            </a:p>
          </p:txBody>
        </p:sp>
      </p:grpSp>
      <p:grpSp>
        <p:nvGrpSpPr>
          <p:cNvPr id="20" name="Group 20"/>
          <p:cNvGrpSpPr/>
          <p:nvPr/>
        </p:nvGrpSpPr>
        <p:grpSpPr>
          <a:xfrm>
            <a:off x="679704" y="6480810"/>
            <a:ext cx="10832592" cy="234696"/>
            <a:chOff x="679704" y="6480810"/>
            <a:chExt cx="10832592" cy="234696"/>
          </a:xfrm>
        </p:grpSpPr>
        <p:sp>
          <p:nvSpPr>
            <p:cNvPr id="18" name="TextBox 1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19" name="TextBox 19"/>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4277" cy="586740"/>
            <a:chOff x="670560" y="590550"/>
            <a:chExt cx="11204277" cy="586740"/>
          </a:xfrm>
        </p:grpSpPr>
        <p:sp>
          <p:nvSpPr>
            <p:cNvPr id="2" name="TextBox 2"/>
            <p:cNvSpPr txBox="1"/>
            <p:nvPr/>
          </p:nvSpPr>
          <p:spPr>
            <a:xfrm>
              <a:off x="670560" y="590550"/>
              <a:ext cx="1120427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纯主题冷启动：51 篇文献全部核验、100 条结论全部可追溯</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881235" cy="743331"/>
            <a:chOff x="675894" y="1370648"/>
            <a:chExt cx="9881235" cy="743331"/>
          </a:xfrm>
        </p:grpSpPr>
        <p:sp>
          <p:nvSpPr>
            <p:cNvPr id="5" name="TextBox 5"/>
            <p:cNvSpPr txBox="1"/>
            <p:nvPr/>
          </p:nvSpPr>
          <p:spPr>
            <a:xfrm>
              <a:off x="675894" y="1370648"/>
              <a:ext cx="9881235"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唯一输入是一行主题“Ba5Y12Zn[O(SiO4)]8 及其结构相近化合物的合成条件”；</a:t>
              </a:r>
              <a:r>
                <a:rPr lang="zh-CN" sz="1950" dirty="0">
                  <a:solidFill>
                    <a:schemeClr val="dk1"/>
                  </a:solidFill>
                  <a:latin typeface="Segoe UI"/>
                  <a:ea typeface="Microsoft YaHei"/>
                  <a:cs typeface="Segoe UI"/>
                </a:rPr>
                <a:t xml:space="preserve">在需要人确认的节点续跑后交出 20 页综述，再按材料专家 8 条意见修订为 </a:t>
              </a:r>
              <a:r>
                <a:rPr lang="zh-CN" sz="1950" b="1" dirty="0">
                  <a:solidFill>
                    <a:schemeClr val="accent2"/>
                  </a:solidFill>
                  <a:latin typeface="Segoe UI"/>
                  <a:ea typeface="Microsoft YaHei"/>
                  <a:cs typeface="Segoe UI"/>
                </a:rPr>
                <a:t>23 页正式稿</a:t>
              </a:r>
              <a:r>
                <a:rPr lang="zh-CN" sz="1950" dirty="0">
                  <a:solidFill>
                    <a:schemeClr val="dk1"/>
                  </a:solidFill>
                  <a:latin typeface="Segoe UI"/>
                  <a:ea typeface="Microsoft YaHei"/>
                  <a:cs typeface="Segoe UI"/>
                </a:rPr>
                <a:t>。</a:t>
              </a:r>
            </a:p>
          </p:txBody>
        </p:sp>
      </p:grpSp>
      <p:grpSp>
        <p:nvGrpSpPr>
          <p:cNvPr id="11" name="Group 11"/>
          <p:cNvGrpSpPr/>
          <p:nvPr/>
        </p:nvGrpSpPr>
        <p:grpSpPr>
          <a:xfrm>
            <a:off x="685800" y="2247900"/>
            <a:ext cx="2590800" cy="1085850"/>
            <a:chOff x="685800" y="2247900"/>
            <a:chExt cx="2590800" cy="1085850"/>
          </a:xfrm>
        </p:grpSpPr>
        <p:sp>
          <p:nvSpPr>
            <p:cNvPr id="7" name="Rectangle 7"/>
            <p:cNvSpPr/>
            <p:nvPr/>
          </p:nvSpPr>
          <p:spPr>
            <a:xfrm>
              <a:off x="685800" y="2247900"/>
              <a:ext cx="2590800" cy="1085850"/>
            </a:xfrm>
            <a:prstGeom prst="rect">
              <a:avLst/>
            </a:prstGeom>
            <a:solidFill>
              <a:schemeClr val="lt2"/>
            </a:solidFill>
            <a:ln>
              <a:noFill/>
            </a:ln>
          </p:spPr>
        </p:sp>
        <p:sp>
          <p:nvSpPr>
            <p:cNvPr id="8" name="Rectangle 8"/>
            <p:cNvSpPr/>
            <p:nvPr/>
          </p:nvSpPr>
          <p:spPr>
            <a:xfrm>
              <a:off x="685800" y="2247900"/>
              <a:ext cx="2590800" cy="38100"/>
            </a:xfrm>
            <a:prstGeom prst="rect">
              <a:avLst/>
            </a:prstGeom>
            <a:solidFill>
              <a:schemeClr val="accent1"/>
            </a:solidFill>
            <a:ln>
              <a:noFill/>
            </a:ln>
          </p:spPr>
        </p:sp>
        <p:sp>
          <p:nvSpPr>
            <p:cNvPr id="9" name="TextBox 9"/>
            <p:cNvSpPr txBox="1"/>
            <p:nvPr/>
          </p:nvSpPr>
          <p:spPr>
            <a:xfrm>
              <a:off x="857250" y="24041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51 / 51</a:t>
              </a:r>
            </a:p>
          </p:txBody>
        </p:sp>
        <p:sp>
          <p:nvSpPr>
            <p:cNvPr id="10" name="TextBox 10"/>
            <p:cNvSpPr txBox="1"/>
            <p:nvPr/>
          </p:nvSpPr>
          <p:spPr>
            <a:xfrm>
              <a:off x="869442" y="3016568"/>
              <a:ext cx="183108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参考文献逐条核对通过</a:t>
              </a:r>
            </a:p>
          </p:txBody>
        </p:sp>
      </p:grpSp>
      <p:grpSp>
        <p:nvGrpSpPr>
          <p:cNvPr id="16" name="Group 16"/>
          <p:cNvGrpSpPr/>
          <p:nvPr/>
        </p:nvGrpSpPr>
        <p:grpSpPr>
          <a:xfrm>
            <a:off x="3429000" y="2247900"/>
            <a:ext cx="2590800" cy="1085850"/>
            <a:chOff x="3429000" y="2247900"/>
            <a:chExt cx="2590800" cy="1085850"/>
          </a:xfrm>
        </p:grpSpPr>
        <p:sp>
          <p:nvSpPr>
            <p:cNvPr id="12" name="Rectangle 12"/>
            <p:cNvSpPr/>
            <p:nvPr/>
          </p:nvSpPr>
          <p:spPr>
            <a:xfrm>
              <a:off x="3429000" y="2247900"/>
              <a:ext cx="2590800" cy="1085850"/>
            </a:xfrm>
            <a:prstGeom prst="rect">
              <a:avLst/>
            </a:prstGeom>
            <a:solidFill>
              <a:schemeClr val="lt2"/>
            </a:solidFill>
            <a:ln>
              <a:noFill/>
            </a:ln>
          </p:spPr>
        </p:sp>
        <p:sp>
          <p:nvSpPr>
            <p:cNvPr id="13" name="Rectangle 13"/>
            <p:cNvSpPr/>
            <p:nvPr/>
          </p:nvSpPr>
          <p:spPr>
            <a:xfrm>
              <a:off x="3429000" y="2247900"/>
              <a:ext cx="2590800" cy="38100"/>
            </a:xfrm>
            <a:prstGeom prst="rect">
              <a:avLst/>
            </a:prstGeom>
            <a:solidFill>
              <a:schemeClr val="accent1"/>
            </a:solidFill>
            <a:ln>
              <a:noFill/>
            </a:ln>
          </p:spPr>
        </p:sp>
        <p:sp>
          <p:nvSpPr>
            <p:cNvPr id="14" name="TextBox 14"/>
            <p:cNvSpPr txBox="1"/>
            <p:nvPr/>
          </p:nvSpPr>
          <p:spPr>
            <a:xfrm>
              <a:off x="3600450" y="2404110"/>
              <a:ext cx="101766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219</a:t>
              </a:r>
            </a:p>
          </p:txBody>
        </p:sp>
        <p:sp>
          <p:nvSpPr>
            <p:cNvPr id="15" name="TextBox 15"/>
            <p:cNvSpPr txBox="1"/>
            <p:nvPr/>
          </p:nvSpPr>
          <p:spPr>
            <a:xfrm>
              <a:off x="3612642" y="3016568"/>
              <a:ext cx="177656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次引用，整合率 100%</a:t>
              </a:r>
            </a:p>
          </p:txBody>
        </p:sp>
      </p:grpSp>
      <p:grpSp>
        <p:nvGrpSpPr>
          <p:cNvPr id="21" name="Group 21"/>
          <p:cNvGrpSpPr/>
          <p:nvPr/>
        </p:nvGrpSpPr>
        <p:grpSpPr>
          <a:xfrm>
            <a:off x="6172200" y="2247900"/>
            <a:ext cx="2590800" cy="1085850"/>
            <a:chOff x="6172200" y="2247900"/>
            <a:chExt cx="2590800" cy="1085850"/>
          </a:xfrm>
        </p:grpSpPr>
        <p:sp>
          <p:nvSpPr>
            <p:cNvPr id="17" name="Rectangle 17"/>
            <p:cNvSpPr/>
            <p:nvPr/>
          </p:nvSpPr>
          <p:spPr>
            <a:xfrm>
              <a:off x="6172200" y="2247900"/>
              <a:ext cx="2590800" cy="1085850"/>
            </a:xfrm>
            <a:prstGeom prst="rect">
              <a:avLst/>
            </a:prstGeom>
            <a:solidFill>
              <a:schemeClr val="lt2"/>
            </a:solidFill>
            <a:ln>
              <a:noFill/>
            </a:ln>
          </p:spPr>
        </p:sp>
        <p:sp>
          <p:nvSpPr>
            <p:cNvPr id="18" name="Rectangle 18"/>
            <p:cNvSpPr/>
            <p:nvPr/>
          </p:nvSpPr>
          <p:spPr>
            <a:xfrm>
              <a:off x="6172200" y="2247900"/>
              <a:ext cx="2590800" cy="38100"/>
            </a:xfrm>
            <a:prstGeom prst="rect">
              <a:avLst/>
            </a:prstGeom>
            <a:solidFill>
              <a:schemeClr val="accent1"/>
            </a:solidFill>
            <a:ln>
              <a:noFill/>
            </a:ln>
          </p:spPr>
        </p:sp>
        <p:sp>
          <p:nvSpPr>
            <p:cNvPr id="19" name="TextBox 19"/>
            <p:cNvSpPr txBox="1"/>
            <p:nvPr/>
          </p:nvSpPr>
          <p:spPr>
            <a:xfrm>
              <a:off x="6343650" y="2404110"/>
              <a:ext cx="1136397"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3 张</a:t>
              </a:r>
            </a:p>
          </p:txBody>
        </p:sp>
        <p:sp>
          <p:nvSpPr>
            <p:cNvPr id="20" name="TextBox 20"/>
            <p:cNvSpPr txBox="1"/>
            <p:nvPr/>
          </p:nvSpPr>
          <p:spPr>
            <a:xfrm>
              <a:off x="6355842" y="3016568"/>
              <a:ext cx="181291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figspec 同源可编辑图</a:t>
              </a:r>
            </a:p>
          </p:txBody>
        </p:sp>
      </p:grpSp>
      <p:grpSp>
        <p:nvGrpSpPr>
          <p:cNvPr id="26" name="Group 26"/>
          <p:cNvGrpSpPr/>
          <p:nvPr/>
        </p:nvGrpSpPr>
        <p:grpSpPr>
          <a:xfrm>
            <a:off x="8915400" y="2247900"/>
            <a:ext cx="2590800" cy="1085850"/>
            <a:chOff x="8915400" y="2247900"/>
            <a:chExt cx="2590800" cy="1085850"/>
          </a:xfrm>
        </p:grpSpPr>
        <p:sp>
          <p:nvSpPr>
            <p:cNvPr id="22" name="Rectangle 22"/>
            <p:cNvSpPr/>
            <p:nvPr/>
          </p:nvSpPr>
          <p:spPr>
            <a:xfrm>
              <a:off x="8915400" y="2247900"/>
              <a:ext cx="2590800" cy="1085850"/>
            </a:xfrm>
            <a:prstGeom prst="rect">
              <a:avLst/>
            </a:prstGeom>
            <a:solidFill>
              <a:schemeClr val="lt2"/>
            </a:solidFill>
            <a:ln>
              <a:noFill/>
            </a:ln>
          </p:spPr>
        </p:sp>
        <p:sp>
          <p:nvSpPr>
            <p:cNvPr id="23" name="Rectangle 23"/>
            <p:cNvSpPr/>
            <p:nvPr/>
          </p:nvSpPr>
          <p:spPr>
            <a:xfrm>
              <a:off x="8915400" y="2247900"/>
              <a:ext cx="2590800" cy="38100"/>
            </a:xfrm>
            <a:prstGeom prst="rect">
              <a:avLst/>
            </a:prstGeom>
            <a:solidFill>
              <a:schemeClr val="accent2"/>
            </a:solidFill>
            <a:ln>
              <a:noFill/>
            </a:ln>
          </p:spPr>
        </p:sp>
        <p:sp>
          <p:nvSpPr>
            <p:cNvPr id="24" name="TextBox 24"/>
            <p:cNvSpPr txBox="1"/>
            <p:nvPr/>
          </p:nvSpPr>
          <p:spPr>
            <a:xfrm>
              <a:off x="9086850" y="2404110"/>
              <a:ext cx="364621"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0</a:t>
              </a:r>
            </a:p>
          </p:txBody>
        </p:sp>
        <p:sp>
          <p:nvSpPr>
            <p:cNvPr id="25" name="TextBox 25"/>
            <p:cNvSpPr txBox="1"/>
            <p:nvPr/>
          </p:nvSpPr>
          <p:spPr>
            <a:xfrm>
              <a:off x="9099042" y="3016568"/>
              <a:ext cx="239447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两轮对抗审稿的终审 issue 数</a:t>
              </a:r>
            </a:p>
          </p:txBody>
        </p:sp>
      </p:grpSp>
      <p:grpSp>
        <p:nvGrpSpPr>
          <p:cNvPr id="29" name="Group 29"/>
          <p:cNvGrpSpPr/>
          <p:nvPr/>
        </p:nvGrpSpPr>
        <p:grpSpPr>
          <a:xfrm>
            <a:off x="685800" y="3581400"/>
            <a:ext cx="4543425" cy="2552700"/>
            <a:chOff x="685800" y="3581400"/>
            <a:chExt cx="4543425" cy="2552700"/>
          </a:xfrm>
        </p:grpSpPr>
        <p:sp>
          <p:nvSpPr>
            <p:cNvPr id="27" name="Rectangle 27"/>
            <p:cNvSpPr/>
            <p:nvPr/>
          </p:nvSpPr>
          <p:spPr>
            <a:xfrm>
              <a:off x="685800" y="3581400"/>
              <a:ext cx="4543425" cy="2552700"/>
            </a:xfrm>
            <a:prstGeom prst="rect">
              <a:avLst/>
            </a:prstGeom>
            <a:solidFill>
              <a:schemeClr val="lt1"/>
            </a:solidFill>
            <a:ln w="9525">
              <a:solidFill>
                <a:schemeClr val="accent4"/>
              </a:solidFill>
            </a:ln>
          </p:spPr>
        </p:sp>
        <p:pic>
          <p:nvPicPr>
            <p:cNvPr id="28" name="Image 28"/>
            <p:cNvPicPr>
              <a:picLocks noChangeAspect="1"/>
            </p:cNvPicPr>
            <p:nvPr/>
          </p:nvPicPr>
          <p:blipFill>
            <a:blip r:embed="rId2"/>
            <a:stretch>
              <a:fillRect/>
            </a:stretch>
          </p:blipFill>
          <p:spPr>
            <a:xfrm>
              <a:off x="688446" y="3581400"/>
              <a:ext cx="4538133" cy="2552700"/>
            </a:xfrm>
            <a:prstGeom prst="rect">
              <a:avLst/>
            </a:prstGeom>
          </p:spPr>
        </p:pic>
      </p:grpSp>
      <p:grpSp>
        <p:nvGrpSpPr>
          <p:cNvPr id="33" name="Group 33"/>
          <p:cNvGrpSpPr/>
          <p:nvPr/>
        </p:nvGrpSpPr>
        <p:grpSpPr>
          <a:xfrm>
            <a:off x="5591556" y="3653790"/>
            <a:ext cx="5305234" cy="2484311"/>
            <a:chOff x="5591556" y="3653790"/>
            <a:chExt cx="5305234" cy="2484311"/>
          </a:xfrm>
        </p:grpSpPr>
        <p:sp>
          <p:nvSpPr>
            <p:cNvPr id="30" name="TextBox 30"/>
            <p:cNvSpPr txBox="1"/>
            <p:nvPr/>
          </p:nvSpPr>
          <p:spPr>
            <a:xfrm>
              <a:off x="5591556" y="365379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运行事实（全部过程留痕）</a:t>
              </a:r>
            </a:p>
          </p:txBody>
        </p:sp>
        <p:sp>
          <p:nvSpPr>
            <p:cNvPr id="31" name="TextBox 31"/>
            <p:cNvSpPr txBox="1"/>
            <p:nvPr/>
          </p:nvSpPr>
          <p:spPr>
            <a:xfrm>
              <a:off x="5593842" y="4064318"/>
              <a:ext cx="5302948"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顶层编排器 5 次调用（首轮 + 4 次续跑），29 批 / 40 个子任务</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63 条候选 → 51 篇入库；5 条作者名不匹配经人确认后删除</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两轮对抗审稿：首轮 7 项 issue 路由返工，第二轮 0 / 0 / 0</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正式报告调用前驱体预测 3 次（Zn / Mg / Co 目标）</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专家反馈修订：正规论文语言、同类体系单独成节、前人结论汇总、</a:t>
              </a:r>
              <a:r>
                <a:rPr lang="zh-CN" sz="1350" dirty="0">
                  <a:solidFill>
                    <a:schemeClr val="dk1"/>
                  </a:solidFill>
                  <a:latin typeface="Segoe UI"/>
                  <a:ea typeface="Microsoft YaHei"/>
                  <a:cs typeface="Segoe UI"/>
                </a:rPr>
                <a:t>方向落到工艺与前驱体、相图讨论、学术排版图、去除工程术语</a:t>
              </a:r>
            </a:p>
          </p:txBody>
        </p:sp>
        <p:sp>
          <p:nvSpPr>
            <p:cNvPr id="32" name="TextBox 32"/>
            <p:cNvSpPr txBox="1"/>
            <p:nvPr/>
          </p:nvSpPr>
          <p:spPr>
            <a:xfrm>
              <a:off x="5593842" y="5874068"/>
              <a:ext cx="401193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左图：正式报告研究路线图（第三轮学术化重绘）</a:t>
              </a:r>
            </a:p>
          </p:txBody>
        </p:sp>
      </p:grpSp>
      <p:grpSp>
        <p:nvGrpSpPr>
          <p:cNvPr id="36" name="Group 36"/>
          <p:cNvGrpSpPr/>
          <p:nvPr/>
        </p:nvGrpSpPr>
        <p:grpSpPr>
          <a:xfrm>
            <a:off x="679704" y="6480810"/>
            <a:ext cx="10832592" cy="234696"/>
            <a:chOff x="679704" y="6480810"/>
            <a:chExt cx="10832592" cy="234696"/>
          </a:xfrm>
        </p:grpSpPr>
        <p:sp>
          <p:nvSpPr>
            <p:cNvPr id="34" name="TextBox 34"/>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5" name="TextBox 35"/>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479911" cy="586740"/>
            <a:chOff x="670560" y="590550"/>
            <a:chExt cx="11479911" cy="586740"/>
          </a:xfrm>
        </p:grpSpPr>
        <p:sp>
          <p:nvSpPr>
            <p:cNvPr id="2" name="TextBox 2"/>
            <p:cNvSpPr txBox="1"/>
            <p:nvPr/>
          </p:nvSpPr>
          <p:spPr>
            <a:xfrm>
              <a:off x="670560" y="590550"/>
              <a:ext cx="11479911"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目标相只有一篇直接报道；组成坐标比单一温度更能解释成相</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640767" cy="381381"/>
            <a:chOff x="675894" y="1370648"/>
            <a:chExt cx="9640767" cy="381381"/>
          </a:xfrm>
        </p:grpSpPr>
        <p:sp>
          <p:nvSpPr>
            <p:cNvPr id="5" name="TextBox 5"/>
            <p:cNvSpPr txBox="1"/>
            <p:nvPr/>
          </p:nvSpPr>
          <p:spPr>
            <a:xfrm>
              <a:off x="675894" y="1370648"/>
              <a:ext cx="964076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系统给出的不是配方，而是文献证据限定的</a:t>
              </a:r>
              <a:r>
                <a:rPr lang="zh-CN" sz="1950" b="1" dirty="0">
                  <a:solidFill>
                    <a:schemeClr val="accent2"/>
                  </a:solidFill>
                  <a:latin typeface="Segoe UI"/>
                  <a:ea typeface="Microsoft YaHei"/>
                  <a:cs typeface="Segoe UI"/>
                </a:rPr>
                <a:t>可迁移范围</a:t>
              </a:r>
              <a:r>
                <a:rPr lang="zh-CN" sz="1950" dirty="0">
                  <a:solidFill>
                    <a:schemeClr val="dk1"/>
                  </a:solidFill>
                  <a:latin typeface="Segoe UI"/>
                  <a:ea typeface="Microsoft YaHei"/>
                  <a:cs typeface="Segoe UI"/>
                </a:rPr>
                <a:t>与四类</a:t>
              </a:r>
              <a:r>
                <a:rPr lang="zh-CN" sz="1950" b="1" dirty="0">
                  <a:solidFill>
                    <a:schemeClr val="accent2"/>
                  </a:solidFill>
                  <a:latin typeface="Segoe UI"/>
                  <a:ea typeface="Microsoft YaHei"/>
                  <a:cs typeface="Segoe UI"/>
                </a:rPr>
                <a:t>可检验的实验方向</a:t>
              </a:r>
              <a:r>
                <a:rPr lang="zh-CN" sz="1950" dirty="0">
                  <a:solidFill>
                    <a:schemeClr val="dk1"/>
                  </a:solidFill>
                  <a:latin typeface="Segoe UI"/>
                  <a:ea typeface="Microsoft YaHei"/>
                  <a:cs typeface="Segoe UI"/>
                </a:rPr>
                <a:t>。</a:t>
              </a:r>
            </a:p>
          </p:txBody>
        </p:sp>
      </p:grpSp>
      <p:grpSp>
        <p:nvGrpSpPr>
          <p:cNvPr id="16" name="Group 16"/>
          <p:cNvGrpSpPr/>
          <p:nvPr/>
        </p:nvGrpSpPr>
        <p:grpSpPr>
          <a:xfrm>
            <a:off x="676656" y="1920240"/>
            <a:ext cx="5361432" cy="3551111"/>
            <a:chOff x="676656" y="1920240"/>
            <a:chExt cx="5361432" cy="3551111"/>
          </a:xfrm>
        </p:grpSpPr>
        <p:sp>
          <p:nvSpPr>
            <p:cNvPr id="7" name="TextBox 7"/>
            <p:cNvSpPr txBox="1"/>
            <p:nvPr/>
          </p:nvSpPr>
          <p:spPr>
            <a:xfrm>
              <a:off x="676656" y="19202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既有文献能够确认什么</a:t>
              </a:r>
            </a:p>
          </p:txBody>
        </p:sp>
        <p:sp>
          <p:nvSpPr>
            <p:cNvPr id="8" name="TextBox 8"/>
            <p:cNvSpPr txBox="1"/>
            <p:nvPr/>
          </p:nvSpPr>
          <p:spPr>
            <a:xfrm>
              <a:off x="676656" y="23774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1</a:t>
              </a:r>
            </a:p>
          </p:txBody>
        </p:sp>
        <p:sp>
          <p:nvSpPr>
            <p:cNvPr id="9" name="TextBox 9"/>
            <p:cNvSpPr txBox="1"/>
            <p:nvPr/>
          </p:nvSpPr>
          <p:spPr>
            <a:xfrm>
              <a:off x="983742" y="2426018"/>
              <a:ext cx="505434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公开证据只能确认“开放体系高温溶液法 + 单晶 X 射线衍射鉴定”，</a:t>
              </a:r>
              <a:r>
                <a:rPr lang="zh-CN" sz="1350" dirty="0">
                  <a:solidFill>
                    <a:schemeClr val="dk1"/>
                  </a:solidFill>
                  <a:latin typeface="Segoe UI"/>
                  <a:ea typeface="Microsoft YaHei"/>
                  <a:cs typeface="Segoe UI"/>
                </a:rPr>
                <a:t>不足以给出经验证的目标相复现配方。</a:t>
              </a:r>
            </a:p>
          </p:txBody>
        </p:sp>
        <p:sp>
          <p:nvSpPr>
            <p:cNvPr id="10" name="TextBox 10"/>
            <p:cNvSpPr txBox="1"/>
            <p:nvPr/>
          </p:nvSpPr>
          <p:spPr>
            <a:xfrm>
              <a:off x="676656" y="30441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2</a:t>
              </a:r>
            </a:p>
          </p:txBody>
        </p:sp>
        <p:sp>
          <p:nvSpPr>
            <p:cNvPr id="11" name="TextBox 11"/>
            <p:cNvSpPr txBox="1"/>
            <p:nvPr/>
          </p:nvSpPr>
          <p:spPr>
            <a:xfrm>
              <a:off x="983742" y="3092768"/>
              <a:ext cx="491718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无 Zn 谱系提供三类可比路线：MoO3 助熔（Pt 坩埚、1150 °C、</a:t>
              </a:r>
              <a:r>
                <a:rPr lang="zh-CN" sz="1350" dirty="0">
                  <a:solidFill>
                    <a:schemeClr val="dk1"/>
                  </a:solidFill>
                  <a:latin typeface="Segoe UI"/>
                  <a:ea typeface="Microsoft YaHei"/>
                  <a:cs typeface="Segoe UI"/>
                </a:rPr>
                <a:t>2 K/h）、x:26:16 固相陶瓷（1300 / 1600 °C）、5:13:8 粉体</a:t>
              </a:r>
              <a:r>
                <a:rPr lang="zh-CN" sz="1350" dirty="0">
                  <a:solidFill>
                    <a:schemeClr val="dk1"/>
                  </a:solidFill>
                  <a:latin typeface="Segoe UI"/>
                  <a:ea typeface="Microsoft YaHei"/>
                  <a:cs typeface="Segoe UI"/>
                </a:rPr>
                <a:t>相场筛查（1273 / 1573 K）；</a:t>
              </a:r>
              <a:r>
                <a:rPr lang="zh-CN" sz="1350" b="1" dirty="0">
                  <a:solidFill>
                    <a:schemeClr val="dk1"/>
                  </a:solidFill>
                  <a:latin typeface="Segoe UI"/>
                  <a:ea typeface="Microsoft YaHei"/>
                  <a:cs typeface="Segoe UI"/>
                </a:rPr>
                <a:t>具体数值不得无条件迁移</a:t>
              </a:r>
              <a:r>
                <a:rPr lang="zh-CN" sz="1350" dirty="0">
                  <a:solidFill>
                    <a:schemeClr val="dk1"/>
                  </a:solidFill>
                  <a:latin typeface="Segoe UI"/>
                  <a:ea typeface="Microsoft YaHei"/>
                  <a:cs typeface="Segoe UI"/>
                </a:rPr>
                <a:t>。</a:t>
              </a:r>
            </a:p>
          </p:txBody>
        </p:sp>
        <p:sp>
          <p:nvSpPr>
            <p:cNvPr id="12" name="TextBox 12"/>
            <p:cNvSpPr txBox="1"/>
            <p:nvPr/>
          </p:nvSpPr>
          <p:spPr>
            <a:xfrm>
              <a:off x="676656" y="39585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3</a:t>
              </a:r>
            </a:p>
          </p:txBody>
        </p:sp>
        <p:sp>
          <p:nvSpPr>
            <p:cNvPr id="13" name="TextBox 13"/>
            <p:cNvSpPr txBox="1"/>
            <p:nvPr/>
          </p:nvSpPr>
          <p:spPr>
            <a:xfrm>
              <a:off x="983742" y="4007168"/>
              <a:ext cx="347700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“获得单晶”不等于“建立批量相纯窗口”；</a:t>
              </a:r>
              <a:r>
                <a:rPr lang="zh-CN" sz="1350" b="1" dirty="0">
                  <a:solidFill>
                    <a:schemeClr val="dk1"/>
                  </a:solidFill>
                  <a:latin typeface="Segoe UI"/>
                  <a:ea typeface="Microsoft YaHei"/>
                  <a:cs typeface="Segoe UI"/>
                </a:rPr>
                <a:t>局部相图</a:t>
              </a:r>
              <a:r>
                <a:rPr lang="zh-CN" sz="1350" dirty="0">
                  <a:solidFill>
                    <a:schemeClr val="dk1"/>
                  </a:solidFill>
                  <a:latin typeface="Segoe UI"/>
                  <a:ea typeface="Microsoft YaHei"/>
                  <a:cs typeface="Segoe UI"/>
                </a:rPr>
                <a:t>是连接复现与科学发现的核心实验。</a:t>
              </a:r>
            </a:p>
          </p:txBody>
        </p:sp>
        <p:sp>
          <p:nvSpPr>
            <p:cNvPr id="14" name="Line 14"/>
            <p:cNvSpPr/>
            <p:nvPr/>
          </p:nvSpPr>
          <p:spPr>
            <a:xfrm>
              <a:off x="685800" y="4762500"/>
              <a:ext cx="5295900" cy="9525"/>
            </a:xfrm>
            <a:custGeom>
              <a:avLst/>
              <a:gdLst/>
              <a:ahLst/>
              <a:cxnLst/>
              <a:rect l="l" t="t" r="r" b="b"/>
              <a:pathLst>
                <a:path w="5295900" h="9525">
                  <a:moveTo>
                    <a:pt x="0" y="0"/>
                  </a:moveTo>
                  <a:lnTo>
                    <a:pt x="5295900" y="0"/>
                  </a:lnTo>
                </a:path>
              </a:pathLst>
            </a:custGeom>
            <a:noFill/>
            <a:ln w="9525">
              <a:solidFill>
                <a:schemeClr val="accent4"/>
              </a:solidFill>
            </a:ln>
          </p:spPr>
        </p:sp>
        <p:sp>
          <p:nvSpPr>
            <p:cNvPr id="15" name="TextBox 15"/>
            <p:cNvSpPr txBox="1"/>
            <p:nvPr/>
          </p:nvSpPr>
          <p:spPr>
            <a:xfrm>
              <a:off x="678942" y="4959668"/>
              <a:ext cx="3991356" cy="511683"/>
            </a:xfrm>
            <a:prstGeom prst="rect">
              <a:avLst/>
            </a:prstGeom>
            <a:noFill/>
            <a:ln>
              <a:noFill/>
            </a:ln>
          </p:spPr>
          <p:txBody>
            <a:bodyPr wrap="square" lIns="0" tIns="0" rIns="0" bIns="0" anchor="t" anchorCtr="0"/>
            <a:lstStyle/>
            <a:p>
              <a:pPr algn="l">
                <a:lnSpc>
                  <a:spcPts val="1950"/>
                </a:lnSpc>
              </a:pPr>
              <a:r>
                <a:rPr lang="zh-CN" sz="1350" dirty="0">
                  <a:solidFill>
                    <a:schemeClr val="dk2"/>
                  </a:solidFill>
                  <a:latin typeface="Segoe UI"/>
                  <a:ea typeface="Microsoft YaHei"/>
                  <a:cs typeface="Segoe UI"/>
                </a:rPr>
                <a:t>合成条件表逐字段区分“原文可支持”与“不可支持”，</a:t>
              </a:r>
              <a:r>
                <a:rPr lang="zh-CN" sz="1350" dirty="0">
                  <a:solidFill>
                    <a:schemeClr val="dk2"/>
                  </a:solidFill>
                  <a:latin typeface="Segoe UI"/>
                  <a:ea typeface="Microsoft YaHei"/>
                  <a:cs typeface="Segoe UI"/>
                </a:rPr>
                <a:t>36 条结论带原文页码定位</a:t>
              </a:r>
            </a:p>
          </p:txBody>
        </p:sp>
      </p:grpSp>
      <p:grpSp>
        <p:nvGrpSpPr>
          <p:cNvPr id="29" name="Group 29"/>
          <p:cNvGrpSpPr/>
          <p:nvPr/>
        </p:nvGrpSpPr>
        <p:grpSpPr>
          <a:xfrm>
            <a:off x="6210300" y="1905000"/>
            <a:ext cx="5311750" cy="4233101"/>
            <a:chOff x="6210300" y="1905000"/>
            <a:chExt cx="5311750" cy="4233101"/>
          </a:xfrm>
        </p:grpSpPr>
        <p:sp>
          <p:nvSpPr>
            <p:cNvPr id="17" name="Rectangle 17"/>
            <p:cNvSpPr/>
            <p:nvPr/>
          </p:nvSpPr>
          <p:spPr>
            <a:xfrm>
              <a:off x="6210300" y="1905000"/>
              <a:ext cx="5295900" cy="4229100"/>
            </a:xfrm>
            <a:prstGeom prst="rect">
              <a:avLst/>
            </a:prstGeom>
            <a:solidFill>
              <a:schemeClr val="lt2"/>
            </a:solidFill>
            <a:ln>
              <a:noFill/>
            </a:ln>
          </p:spPr>
        </p:sp>
        <p:sp>
          <p:nvSpPr>
            <p:cNvPr id="18" name="TextBox 18"/>
            <p:cNvSpPr txBox="1"/>
            <p:nvPr/>
          </p:nvSpPr>
          <p:spPr>
            <a:xfrm>
              <a:off x="6429756" y="2053590"/>
              <a:ext cx="485249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四个值得探索的方向（各配工艺与前驱体）</a:t>
              </a:r>
            </a:p>
          </p:txBody>
        </p:sp>
        <p:sp>
          <p:nvSpPr>
            <p:cNvPr id="19" name="TextBox 19"/>
            <p:cNvSpPr txBox="1"/>
            <p:nvPr/>
          </p:nvSpPr>
          <p:spPr>
            <a:xfrm>
              <a:off x="6429756" y="2491740"/>
              <a:ext cx="2896396"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①</a:t>
              </a:r>
              <a:r>
                <a:rPr lang="zh-CN" sz="1800" dirty="0">
                  <a:solidFill>
                    <a:schemeClr val="dk1"/>
                  </a:solidFill>
                  <a:latin typeface="Segoe UI"/>
                  <a:ea typeface="Microsoft YaHei"/>
                  <a:cs typeface="Segoe UI"/>
                </a:rPr>
                <a:t xml:space="preserve"> 目标组成附近的局部相图</a:t>
              </a:r>
            </a:p>
          </p:txBody>
        </p:sp>
        <p:sp>
          <p:nvSpPr>
            <p:cNvPr id="20" name="TextBox 20"/>
            <p:cNvSpPr txBox="1"/>
            <p:nvPr/>
          </p:nvSpPr>
          <p:spPr>
            <a:xfrm>
              <a:off x="6774942" y="2807018"/>
              <a:ext cx="410622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固相成相组成系列 + 定量 PXRD / Rietveld 相分数</a:t>
              </a:r>
            </a:p>
          </p:txBody>
        </p:sp>
        <p:sp>
          <p:nvSpPr>
            <p:cNvPr id="21" name="TextBox 21"/>
            <p:cNvSpPr txBox="1"/>
            <p:nvPr/>
          </p:nvSpPr>
          <p:spPr>
            <a:xfrm>
              <a:off x="6429756" y="3158490"/>
              <a:ext cx="2187759"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②</a:t>
              </a:r>
              <a:r>
                <a:rPr lang="zh-CN" sz="1800" dirty="0">
                  <a:solidFill>
                    <a:schemeClr val="dk1"/>
                  </a:solidFill>
                  <a:latin typeface="Segoe UI"/>
                  <a:ea typeface="Microsoft YaHei"/>
                  <a:cs typeface="Segoe UI"/>
                </a:rPr>
                <a:t xml:space="preserve"> Zn–Y–氧计量耦合</a:t>
              </a:r>
            </a:p>
          </p:txBody>
        </p:sp>
        <p:sp>
          <p:nvSpPr>
            <p:cNvPr id="22" name="TextBox 22"/>
            <p:cNvSpPr txBox="1"/>
            <p:nvPr/>
          </p:nvSpPr>
          <p:spPr>
            <a:xfrm>
              <a:off x="6774942" y="3473768"/>
              <a:ext cx="474710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名义 / 实际化学计量对照，EDS / EPMA 与结构模型互证</a:t>
              </a:r>
            </a:p>
          </p:txBody>
        </p:sp>
        <p:sp>
          <p:nvSpPr>
            <p:cNvPr id="23" name="TextBox 23"/>
            <p:cNvSpPr txBox="1"/>
            <p:nvPr/>
          </p:nvSpPr>
          <p:spPr>
            <a:xfrm>
              <a:off x="6429756" y="3825240"/>
              <a:ext cx="3381028"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③</a:t>
              </a:r>
              <a:r>
                <a:rPr lang="zh-CN" sz="1800" dirty="0">
                  <a:solidFill>
                    <a:schemeClr val="dk1"/>
                  </a:solidFill>
                  <a:latin typeface="Segoe UI"/>
                  <a:ea typeface="Microsoft YaHei"/>
                  <a:cs typeface="Segoe UI"/>
                </a:rPr>
                <a:t xml:space="preserve"> 固相成相与高温溶液长晶并行</a:t>
              </a:r>
            </a:p>
          </p:txBody>
        </p:sp>
        <p:sp>
          <p:nvSpPr>
            <p:cNvPr id="24" name="TextBox 24"/>
            <p:cNvSpPr txBox="1"/>
            <p:nvPr/>
          </p:nvSpPr>
          <p:spPr>
            <a:xfrm>
              <a:off x="6774942" y="4140518"/>
              <a:ext cx="364845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单晶确认结构模型，批量样品测定目标相比例</a:t>
              </a:r>
            </a:p>
          </p:txBody>
        </p:sp>
        <p:sp>
          <p:nvSpPr>
            <p:cNvPr id="25" name="TextBox 25"/>
            <p:cNvSpPr txBox="1"/>
            <p:nvPr/>
          </p:nvSpPr>
          <p:spPr>
            <a:xfrm>
              <a:off x="6429756" y="4491990"/>
              <a:ext cx="3189650"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④</a:t>
              </a:r>
              <a:r>
                <a:rPr lang="zh-CN" sz="1800" dirty="0">
                  <a:solidFill>
                    <a:schemeClr val="dk1"/>
                  </a:solidFill>
                  <a:latin typeface="Segoe UI"/>
                  <a:ea typeface="Microsoft YaHei"/>
                  <a:cs typeface="Segoe UI"/>
                </a:rPr>
                <a:t xml:space="preserve"> Mg / Co 类比与模型前驱体</a:t>
              </a:r>
            </a:p>
          </p:txBody>
        </p:sp>
        <p:sp>
          <p:nvSpPr>
            <p:cNvPr id="26" name="TextBox 26"/>
            <p:cNvSpPr txBox="1"/>
            <p:nvPr/>
          </p:nvSpPr>
          <p:spPr>
            <a:xfrm>
              <a:off x="6774942" y="4807268"/>
              <a:ext cx="385411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位点 / 价态探针；Co 需联测氧分压与烧后价态</a:t>
              </a:r>
            </a:p>
          </p:txBody>
        </p:sp>
        <p:sp>
          <p:nvSpPr>
            <p:cNvPr id="27" name="Line 27"/>
            <p:cNvSpPr/>
            <p:nvPr/>
          </p:nvSpPr>
          <p:spPr>
            <a:xfrm>
              <a:off x="6438900" y="52197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28" name="TextBox 28"/>
            <p:cNvSpPr txBox="1"/>
            <p:nvPr/>
          </p:nvSpPr>
          <p:spPr>
            <a:xfrm>
              <a:off x="6432042" y="5378768"/>
              <a:ext cx="4600004" cy="7593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模型候选（待实验验证）</a:t>
              </a:r>
              <a:r>
                <a:rPr lang="zh-CN" sz="1350" dirty="0">
                  <a:solidFill>
                    <a:schemeClr val="dk1"/>
                  </a:solidFill>
                  <a:latin typeface="Segoe UI"/>
                  <a:ea typeface="Microsoft YaHei"/>
                  <a:cs typeface="Segoe UI"/>
                </a:rPr>
                <a:t xml:space="preserve"> Zn：ZnO + Y2O3 + SiO2 + BaCO3 </a:t>
              </a:r>
              <a:r>
                <a:rPr lang="zh-CN" sz="1350" dirty="0">
                  <a:solidFill>
                    <a:schemeClr val="dk1"/>
                  </a:solidFill>
                  <a:latin typeface="Segoe UI"/>
                  <a:ea typeface="Microsoft YaHei"/>
                  <a:cs typeface="Segoe UI"/>
                </a:rPr>
                <a:t xml:space="preserve">Mg：MgO + Y2O3 + BaCO3 + SiO2 </a:t>
              </a:r>
              <a:r>
                <a:rPr lang="zh-CN" sz="1350" dirty="0">
                  <a:solidFill>
                    <a:schemeClr val="dk1"/>
                  </a:solidFill>
                  <a:latin typeface="Segoe UI"/>
                  <a:ea typeface="Microsoft YaHei"/>
                  <a:cs typeface="Segoe UI"/>
                </a:rPr>
                <a:t>Co：Co3O4 + Y2O3 + BaCO3 + SiO2</a:t>
              </a:r>
            </a:p>
          </p:txBody>
        </p:sp>
      </p:grpSp>
      <p:grpSp>
        <p:nvGrpSpPr>
          <p:cNvPr id="32" name="Group 32"/>
          <p:cNvGrpSpPr/>
          <p:nvPr/>
        </p:nvGrpSpPr>
        <p:grpSpPr>
          <a:xfrm>
            <a:off x="679704" y="6480810"/>
            <a:ext cx="10832592" cy="234696"/>
            <a:chOff x="679704" y="6480810"/>
            <a:chExt cx="10832592" cy="234696"/>
          </a:xfrm>
        </p:grpSpPr>
        <p:sp>
          <p:nvSpPr>
            <p:cNvPr id="30" name="TextBox 3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1" name="TextBox 3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800076" cy="586740"/>
            <a:chOff x="670560" y="590550"/>
            <a:chExt cx="12800076" cy="586740"/>
          </a:xfrm>
        </p:grpSpPr>
        <p:sp>
          <p:nvSpPr>
            <p:cNvPr id="2" name="TextBox 2"/>
            <p:cNvSpPr txBox="1"/>
            <p:nvPr/>
          </p:nvSpPr>
          <p:spPr>
            <a:xfrm>
              <a:off x="670560" y="590550"/>
              <a:ext cx="1280007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LLZO 主题端到端跑通：46 篇文献、10 页综述、路线与文献一致</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281922" cy="743331"/>
            <a:chOff x="675894" y="1370648"/>
            <a:chExt cx="9281922" cy="743331"/>
          </a:xfrm>
        </p:grpSpPr>
        <p:sp>
          <p:nvSpPr>
            <p:cNvPr id="5" name="TextBox 5"/>
            <p:cNvSpPr txBox="1"/>
            <p:nvPr/>
          </p:nvSpPr>
          <p:spPr>
            <a:xfrm>
              <a:off x="675894" y="1370648"/>
              <a:ext cx="928192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初赛承诺的主题交出 46 篇文献、六个子主题覆盖与 10 页综述；模型首选前驱体路线</a:t>
              </a:r>
              <a:r>
                <a:rPr lang="zh-CN" sz="1950" dirty="0">
                  <a:solidFill>
                    <a:schemeClr val="dk1"/>
                  </a:solidFill>
                  <a:latin typeface="Segoe UI"/>
                  <a:ea typeface="Microsoft YaHei"/>
                  <a:cs typeface="Segoe UI"/>
                </a:rPr>
                <a:t>与文献一致，系统把每一步都留在</a:t>
              </a:r>
              <a:r>
                <a:rPr lang="zh-CN" sz="1950" b="1" dirty="0">
                  <a:solidFill>
                    <a:schemeClr val="accent2"/>
                  </a:solidFill>
                  <a:latin typeface="Segoe UI"/>
                  <a:ea typeface="Microsoft YaHei"/>
                  <a:cs typeface="Segoe UI"/>
                </a:rPr>
                <a:t>可追溯的质量回环</a:t>
              </a:r>
              <a:r>
                <a:rPr lang="zh-CN" sz="1950" dirty="0">
                  <a:solidFill>
                    <a:schemeClr val="dk1"/>
                  </a:solidFill>
                  <a:latin typeface="Segoe UI"/>
                  <a:ea typeface="Microsoft YaHei"/>
                  <a:cs typeface="Segoe UI"/>
                </a:rPr>
                <a:t>里。</a:t>
              </a:r>
            </a:p>
          </p:txBody>
        </p:sp>
      </p:grpSp>
      <p:grpSp>
        <p:nvGrpSpPr>
          <p:cNvPr id="13" name="Group 13"/>
          <p:cNvGrpSpPr/>
          <p:nvPr/>
        </p:nvGrpSpPr>
        <p:grpSpPr>
          <a:xfrm>
            <a:off x="666750" y="2270760"/>
            <a:ext cx="3426104" cy="2952941"/>
            <a:chOff x="666750" y="2270760"/>
            <a:chExt cx="3426104" cy="2952941"/>
          </a:xfrm>
        </p:grpSpPr>
        <p:sp>
          <p:nvSpPr>
            <p:cNvPr id="7" name="TextBox 7"/>
            <p:cNvSpPr txBox="1"/>
            <p:nvPr/>
          </p:nvSpPr>
          <p:spPr>
            <a:xfrm>
              <a:off x="666750" y="2270760"/>
              <a:ext cx="69114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46</a:t>
              </a:r>
            </a:p>
          </p:txBody>
        </p:sp>
        <p:sp>
          <p:nvSpPr>
            <p:cNvPr id="8" name="TextBox 8"/>
            <p:cNvSpPr txBox="1"/>
            <p:nvPr/>
          </p:nvSpPr>
          <p:spPr>
            <a:xfrm>
              <a:off x="678942" y="2864168"/>
              <a:ext cx="310324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篇文献覆盖六个子主题，逐条核对通过</a:t>
              </a:r>
            </a:p>
          </p:txBody>
        </p:sp>
        <p:sp>
          <p:nvSpPr>
            <p:cNvPr id="9" name="TextBox 9"/>
            <p:cNvSpPr txBox="1"/>
            <p:nvPr/>
          </p:nvSpPr>
          <p:spPr>
            <a:xfrm>
              <a:off x="666750" y="33185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 · 49</a:t>
              </a:r>
            </a:p>
          </p:txBody>
        </p:sp>
        <p:sp>
          <p:nvSpPr>
            <p:cNvPr id="10" name="TextBox 10"/>
            <p:cNvSpPr txBox="1"/>
            <p:nvPr/>
          </p:nvSpPr>
          <p:spPr>
            <a:xfrm>
              <a:off x="678942" y="3911918"/>
              <a:ext cx="341391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个 Agent 任务 · 次工具调用，全过程留痕</a:t>
              </a:r>
            </a:p>
          </p:txBody>
        </p:sp>
        <p:sp>
          <p:nvSpPr>
            <p:cNvPr id="11" name="TextBox 11"/>
            <p:cNvSpPr txBox="1"/>
            <p:nvPr/>
          </p:nvSpPr>
          <p:spPr>
            <a:xfrm>
              <a:off x="666750" y="4366260"/>
              <a:ext cx="1462918"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10 页</a:t>
              </a:r>
            </a:p>
          </p:txBody>
        </p:sp>
        <p:sp>
          <p:nvSpPr>
            <p:cNvPr id="12" name="TextBox 12"/>
            <p:cNvSpPr txBox="1"/>
            <p:nvPr/>
          </p:nvSpPr>
          <p:spPr>
            <a:xfrm>
              <a:off x="678942" y="4959668"/>
              <a:ext cx="246202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A4 综述 PDF，46 篇全部整合</a:t>
              </a:r>
            </a:p>
          </p:txBody>
        </p:sp>
      </p:grpSp>
      <p:grpSp>
        <p:nvGrpSpPr>
          <p:cNvPr id="18" name="Group 18"/>
          <p:cNvGrpSpPr/>
          <p:nvPr/>
        </p:nvGrpSpPr>
        <p:grpSpPr>
          <a:xfrm>
            <a:off x="685800" y="5391150"/>
            <a:ext cx="4267200" cy="762000"/>
            <a:chOff x="685800" y="5391150"/>
            <a:chExt cx="4267200" cy="762000"/>
          </a:xfrm>
        </p:grpSpPr>
        <p:sp>
          <p:nvSpPr>
            <p:cNvPr id="14" name="Rectangle 14"/>
            <p:cNvSpPr/>
            <p:nvPr/>
          </p:nvSpPr>
          <p:spPr>
            <a:xfrm>
              <a:off x="685800" y="5391150"/>
              <a:ext cx="4267200" cy="762000"/>
            </a:xfrm>
            <a:prstGeom prst="rect">
              <a:avLst/>
            </a:prstGeom>
            <a:solidFill>
              <a:schemeClr val="lt2"/>
            </a:solidFill>
            <a:ln>
              <a:noFill/>
            </a:ln>
          </p:spPr>
        </p:sp>
        <p:sp>
          <p:nvSpPr>
            <p:cNvPr id="15" name="Rectangle 15"/>
            <p:cNvSpPr/>
            <p:nvPr/>
          </p:nvSpPr>
          <p:spPr>
            <a:xfrm>
              <a:off x="685800" y="5391150"/>
              <a:ext cx="57150" cy="762000"/>
            </a:xfrm>
            <a:prstGeom prst="rect">
              <a:avLst/>
            </a:prstGeom>
            <a:solidFill>
              <a:schemeClr val="accent1"/>
            </a:solidFill>
            <a:ln>
              <a:noFill/>
            </a:ln>
          </p:spPr>
        </p:sp>
        <p:sp>
          <p:nvSpPr>
            <p:cNvPr id="16" name="TextBox 16"/>
            <p:cNvSpPr txBox="1"/>
            <p:nvPr/>
          </p:nvSpPr>
          <p:spPr>
            <a:xfrm>
              <a:off x="907542" y="5531168"/>
              <a:ext cx="3971965"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首选路线</a:t>
              </a:r>
              <a:r>
                <a:rPr lang="en-US" sz="1350" dirty="0">
                  <a:solidFill>
                    <a:schemeClr val="dk1"/>
                  </a:solidFill>
                  <a:latin typeface="Segoe UI"/>
                  <a:ea typeface="Segoe UI"/>
                  <a:cs typeface="Segoe UI"/>
                </a:rPr>
                <a:t xml:space="preserve"> ZrO2 + La2O3 + Li2CO3 </a:t>
              </a:r>
              <a:r>
                <a:rPr lang="zh-CN" sz="1350" b="1" dirty="0">
                  <a:solidFill>
                    <a:srgbClr val="2E7D32"/>
                  </a:solidFill>
                  <a:latin typeface="Segoe UI"/>
                  <a:ea typeface="Microsoft YaHei"/>
                  <a:cs typeface="Segoe UI"/>
                </a:rPr>
                <a:t>与文献一致</a:t>
              </a:r>
            </a:p>
          </p:txBody>
        </p:sp>
        <p:sp>
          <p:nvSpPr>
            <p:cNvPr id="17" name="TextBox 17"/>
            <p:cNvSpPr txBox="1"/>
            <p:nvPr/>
          </p:nvSpPr>
          <p:spPr>
            <a:xfrm>
              <a:off x="907542" y="5816918"/>
              <a:ext cx="3557588"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质量把关</a:t>
              </a:r>
              <a:r>
                <a:rPr lang="zh-CN" sz="1350" dirty="0">
                  <a:solidFill>
                    <a:schemeClr val="dk1"/>
                  </a:solidFill>
                  <a:latin typeface="Segoe UI"/>
                  <a:ea typeface="Microsoft YaHei"/>
                  <a:cs typeface="Segoe UI"/>
                </a:rPr>
                <a:t xml:space="preserve"> 次选命名可疑，持续执行四步核对</a:t>
              </a:r>
            </a:p>
          </p:txBody>
        </p:sp>
      </p:grpSp>
      <p:grpSp>
        <p:nvGrpSpPr>
          <p:cNvPr id="25" name="Group 25"/>
          <p:cNvGrpSpPr/>
          <p:nvPr/>
        </p:nvGrpSpPr>
        <p:grpSpPr>
          <a:xfrm>
            <a:off x="5295900" y="2247900"/>
            <a:ext cx="6210300" cy="3143250"/>
            <a:chOff x="5295900" y="2247900"/>
            <a:chExt cx="6210300" cy="3143250"/>
          </a:xfrm>
        </p:grpSpPr>
        <p:sp>
          <p:nvSpPr>
            <p:cNvPr id="19" name="Rectangle 19"/>
            <p:cNvSpPr/>
            <p:nvPr/>
          </p:nvSpPr>
          <p:spPr>
            <a:xfrm>
              <a:off x="5295900" y="2247900"/>
              <a:ext cx="6210300" cy="3143250"/>
            </a:xfrm>
            <a:prstGeom prst="rect">
              <a:avLst/>
            </a:prstGeom>
            <a:solidFill>
              <a:schemeClr val="lt2"/>
            </a:solidFill>
            <a:ln>
              <a:noFill/>
            </a:ln>
          </p:spPr>
        </p:sp>
        <p:grpSp>
          <p:nvGrpSpPr>
            <p:cNvPr id="22" name="Group 22"/>
            <p:cNvGrpSpPr/>
            <p:nvPr/>
          </p:nvGrpSpPr>
          <p:grpSpPr>
            <a:xfrm>
              <a:off x="5542841" y="2471738"/>
              <a:ext cx="217008" cy="200025"/>
              <a:chOff x="5542841" y="2471738"/>
              <a:chExt cx="217008" cy="200025"/>
            </a:xfrm>
          </p:grpSpPr>
          <p:sp>
            <p:nvSpPr>
              <p:cNvPr id="20" name="Freeform 20"/>
              <p:cNvSpPr/>
              <p:nvPr/>
            </p:nvSpPr>
            <p:spPr>
              <a:xfrm>
                <a:off x="5542841" y="24717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21" name="Freeform 21"/>
              <p:cNvSpPr/>
              <p:nvPr/>
            </p:nvSpPr>
            <p:spPr>
              <a:xfrm>
                <a:off x="5691188" y="26273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23" name="TextBox 23"/>
            <p:cNvSpPr txBox="1"/>
            <p:nvPr/>
          </p:nvSpPr>
          <p:spPr>
            <a:xfrm>
              <a:off x="5877306" y="2453640"/>
              <a:ext cx="332590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四步把关，让模型建议可审查</a:t>
              </a:r>
            </a:p>
          </p:txBody>
        </p:sp>
        <p:sp>
          <p:nvSpPr>
            <p:cNvPr id="24" name="TextBox 24"/>
            <p:cNvSpPr txBox="1"/>
            <p:nvPr/>
          </p:nvSpPr>
          <p:spPr>
            <a:xfrm>
              <a:off x="5517642" y="2902268"/>
              <a:ext cx="4694301" cy="140703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模型首选前驱体路线 ZrO2 + La2O3 + Li2CO3 与文献一致</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系统始终坚持：模型生成 → 化学式规范化 → 文献复核 → 审稿</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次选命名可疑也不直接采信，四步把关</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多源检索 + 逐条核对，模型与文献互证</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每一步可追溯，建议不被直接采信</a:t>
              </a:r>
            </a:p>
          </p:txBody>
        </p:sp>
      </p:grpSp>
      <p:grpSp>
        <p:nvGrpSpPr>
          <p:cNvPr id="27" name="Group 27"/>
          <p:cNvGrpSpPr/>
          <p:nvPr/>
        </p:nvGrpSpPr>
        <p:grpSpPr>
          <a:xfrm>
            <a:off x="5289042" y="5626418"/>
            <a:ext cx="5560124" cy="511683"/>
            <a:chOff x="5289042" y="5626418"/>
            <a:chExt cx="5560124" cy="511683"/>
          </a:xfrm>
        </p:grpSpPr>
        <p:sp>
          <p:nvSpPr>
            <p:cNvPr id="26" name="TextBox 26"/>
            <p:cNvSpPr txBox="1"/>
            <p:nvPr/>
          </p:nvSpPr>
          <p:spPr>
            <a:xfrm>
              <a:off x="5289042" y="5626418"/>
              <a:ext cx="5560124"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替代材料分析</a:t>
              </a:r>
              <a:r>
                <a:rPr lang="zh-CN" sz="1350" dirty="0">
                  <a:solidFill>
                    <a:schemeClr val="dk1"/>
                  </a:solidFill>
                  <a:latin typeface="Segoe UI"/>
                  <a:ea typeface="Microsoft YaHei"/>
                  <a:cs typeface="Segoe UI"/>
                </a:rPr>
                <a:t xml:space="preserve"> Li6PS5Cl、Li3YCl6、LATP 的模型首选路线均通过文献复核</a:t>
              </a:r>
              <a:r>
                <a:rPr lang="zh-CN" sz="1350" dirty="0">
                  <a:solidFill>
                    <a:schemeClr val="dk1"/>
                  </a:solidFill>
                  <a:latin typeface="Segoe UI"/>
                  <a:ea typeface="Microsoft YaHei"/>
                  <a:cs typeface="Segoe UI"/>
                </a:rPr>
                <a:t>分别对应高电导冷压、高电压正极侧、低成本空气中操作三种场景。</a:t>
              </a:r>
            </a:p>
          </p:txBody>
        </p:sp>
      </p:grpSp>
      <p:grpSp>
        <p:nvGrpSpPr>
          <p:cNvPr id="30" name="Group 30"/>
          <p:cNvGrpSpPr/>
          <p:nvPr/>
        </p:nvGrpSpPr>
        <p:grpSpPr>
          <a:xfrm>
            <a:off x="679704" y="6480810"/>
            <a:ext cx="10832592" cy="234696"/>
            <a:chOff x="679704" y="6480810"/>
            <a:chExt cx="10832592" cy="234696"/>
          </a:xfrm>
        </p:grpSpPr>
        <p:sp>
          <p:nvSpPr>
            <p:cNvPr id="28" name="TextBox 2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29" name="TextBox 29"/>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817553" cy="586740"/>
            <a:chOff x="670560" y="590550"/>
            <a:chExt cx="11817553" cy="586740"/>
          </a:xfrm>
        </p:grpSpPr>
        <p:sp>
          <p:nvSpPr>
            <p:cNvPr id="2" name="TextBox 2"/>
            <p:cNvSpPr txBox="1"/>
            <p:nvPr/>
          </p:nvSpPr>
          <p:spPr>
            <a:xfrm>
              <a:off x="670560" y="590550"/>
              <a:ext cx="1181755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留出测试集 Combo@1 71.81，比 Retrieval-Retro 高 11.4 点</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360325" cy="743331"/>
            <a:chOff x="675894" y="1370648"/>
            <a:chExt cx="11360325" cy="743331"/>
          </a:xfrm>
        </p:grpSpPr>
        <p:sp>
          <p:nvSpPr>
            <p:cNvPr id="5" name="TextBox 5"/>
            <p:cNvSpPr txBox="1"/>
            <p:nvPr/>
          </p:nvSpPr>
          <p:spPr>
            <a:xfrm>
              <a:off x="675894" y="1370648"/>
              <a:ext cx="11360325"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指标来自随 checkpoint 提交的源包评测汇总（2,558 条留出反应），落在论文三种子区间内；</a:t>
              </a:r>
              <a:r>
                <a:rPr lang="zh-CN" sz="1950" dirty="0">
                  <a:solidFill>
                    <a:schemeClr val="dk1"/>
                  </a:solidFill>
                  <a:latin typeface="Segoe UI"/>
                  <a:ea typeface="Microsoft YaHei"/>
                  <a:cs typeface="Segoe UI"/>
                </a:rPr>
                <a:t>逆合成部分只交 checkpoint、最小加载/预测代码与原料库，</a:t>
              </a:r>
              <a:r>
                <a:rPr lang="zh-CN" sz="1950" b="1" dirty="0">
                  <a:solidFill>
                    <a:schemeClr val="accent2"/>
                  </a:solidFill>
                  <a:latin typeface="Segoe UI"/>
                  <a:ea typeface="Microsoft YaHei"/>
                  <a:cs typeface="Segoe UI"/>
                </a:rPr>
                <a:t>CPU dry run 保证模型可加载、可预测</a:t>
              </a:r>
              <a:r>
                <a:rPr lang="zh-CN" sz="1950" dirty="0">
                  <a:solidFill>
                    <a:schemeClr val="dk1"/>
                  </a:solidFill>
                  <a:latin typeface="Segoe UI"/>
                  <a:ea typeface="Microsoft YaHei"/>
                  <a:cs typeface="Segoe UI"/>
                </a:rPr>
                <a:t>。</a:t>
              </a:r>
            </a:p>
          </p:txBody>
        </p:sp>
      </p:grpSp>
      <p:grpSp>
        <p:nvGrpSpPr>
          <p:cNvPr id="11" name="Group 11"/>
          <p:cNvGrpSpPr/>
          <p:nvPr/>
        </p:nvGrpSpPr>
        <p:grpSpPr>
          <a:xfrm>
            <a:off x="1333500" y="2089785"/>
            <a:ext cx="6599644" cy="234696"/>
            <a:chOff x="1333500" y="2089785"/>
            <a:chExt cx="6599644" cy="234696"/>
          </a:xfrm>
        </p:grpSpPr>
        <p:sp>
          <p:nvSpPr>
            <p:cNvPr id="7" name="Rectangle 7"/>
            <p:cNvSpPr/>
            <p:nvPr/>
          </p:nvSpPr>
          <p:spPr>
            <a:xfrm>
              <a:off x="1333500" y="2095500"/>
              <a:ext cx="152400" cy="152400"/>
            </a:xfrm>
            <a:prstGeom prst="rect">
              <a:avLst/>
            </a:prstGeom>
            <a:solidFill>
              <a:srgbClr val="8A94A0"/>
            </a:solidFill>
            <a:ln>
              <a:noFill/>
            </a:ln>
          </p:spPr>
        </p:sp>
        <p:sp>
          <p:nvSpPr>
            <p:cNvPr id="8" name="TextBox 8"/>
            <p:cNvSpPr txBox="1"/>
            <p:nvPr/>
          </p:nvSpPr>
          <p:spPr>
            <a:xfrm>
              <a:off x="1575054" y="2089785"/>
              <a:ext cx="257708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Retrieval-Retro（先前最优基线）</a:t>
              </a:r>
            </a:p>
          </p:txBody>
        </p:sp>
        <p:sp>
          <p:nvSpPr>
            <p:cNvPr id="9" name="Rectangle 9"/>
            <p:cNvSpPr/>
            <p:nvPr/>
          </p:nvSpPr>
          <p:spPr>
            <a:xfrm>
              <a:off x="4000500" y="2095500"/>
              <a:ext cx="152400" cy="152400"/>
            </a:xfrm>
            <a:prstGeom prst="rect">
              <a:avLst/>
            </a:prstGeom>
            <a:solidFill>
              <a:schemeClr val="accent1"/>
            </a:solidFill>
            <a:ln>
              <a:noFill/>
            </a:ln>
          </p:spPr>
        </p:sp>
        <p:sp>
          <p:nvSpPr>
            <p:cNvPr id="10" name="TextBox 10"/>
            <p:cNvSpPr txBox="1"/>
            <p:nvPr/>
          </p:nvSpPr>
          <p:spPr>
            <a:xfrm>
              <a:off x="4242054" y="2089785"/>
              <a:ext cx="369109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RECIPE（checkpoint 评测汇总，种子 20260504）</a:t>
              </a:r>
            </a:p>
          </p:txBody>
        </p:sp>
      </p:grpSp>
      <p:grpSp>
        <p:nvGrpSpPr>
          <p:cNvPr id="46" name="Group 46"/>
          <p:cNvGrpSpPr/>
          <p:nvPr/>
        </p:nvGrpSpPr>
        <p:grpSpPr>
          <a:xfrm>
            <a:off x="946556" y="2204085"/>
            <a:ext cx="6834261" cy="3882771"/>
            <a:chOff x="946556" y="2204085"/>
            <a:chExt cx="6834261" cy="3882771"/>
          </a:xfrm>
        </p:grpSpPr>
        <p:grpSp>
          <p:nvGrpSpPr>
            <p:cNvPr id="44" name="Group 44"/>
            <p:cNvGrpSpPr/>
            <p:nvPr/>
          </p:nvGrpSpPr>
          <p:grpSpPr>
            <a:xfrm>
              <a:off x="946556" y="2204085"/>
              <a:ext cx="6673444" cy="3533966"/>
              <a:chOff x="946556" y="2204085"/>
              <a:chExt cx="6673444" cy="3533966"/>
            </a:xfrm>
          </p:grpSpPr>
          <p:sp>
            <p:nvSpPr>
              <p:cNvPr id="12" name="Line 12"/>
              <p:cNvSpPr/>
              <p:nvPr/>
            </p:nvSpPr>
            <p:spPr>
              <a:xfrm>
                <a:off x="1333500" y="5334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3" name="Line 13"/>
              <p:cNvSpPr/>
              <p:nvPr/>
            </p:nvSpPr>
            <p:spPr>
              <a:xfrm>
                <a:off x="1333500" y="4572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4" name="Line 14"/>
              <p:cNvSpPr/>
              <p:nvPr/>
            </p:nvSpPr>
            <p:spPr>
              <a:xfrm>
                <a:off x="1333500" y="3810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5" name="Line 15"/>
              <p:cNvSpPr/>
              <p:nvPr/>
            </p:nvSpPr>
            <p:spPr>
              <a:xfrm>
                <a:off x="1333500" y="3048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6" name="Line 16"/>
              <p:cNvSpPr/>
              <p:nvPr/>
            </p:nvSpPr>
            <p:spPr>
              <a:xfrm>
                <a:off x="1333500" y="2286000"/>
                <a:ext cx="6286500" cy="9525"/>
              </a:xfrm>
              <a:custGeom>
                <a:avLst/>
                <a:gdLst/>
                <a:ahLst/>
                <a:cxnLst/>
                <a:rect l="l" t="t" r="r" b="b"/>
                <a:pathLst>
                  <a:path w="6286500" h="9525">
                    <a:moveTo>
                      <a:pt x="0" y="0"/>
                    </a:moveTo>
                    <a:lnTo>
                      <a:pt x="6286500" y="0"/>
                    </a:lnTo>
                  </a:path>
                </a:pathLst>
              </a:custGeom>
              <a:noFill/>
              <a:ln w="9525">
                <a:solidFill>
                  <a:schemeClr val="accent6"/>
                </a:solidFill>
              </a:ln>
            </p:spPr>
          </p:sp>
          <p:sp>
            <p:nvSpPr>
              <p:cNvPr id="17" name="TextBox 17"/>
              <p:cNvSpPr txBox="1"/>
              <p:nvPr/>
            </p:nvSpPr>
            <p:spPr>
              <a:xfrm>
                <a:off x="1124255" y="5252085"/>
                <a:ext cx="101041"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0</a:t>
                </a:r>
              </a:p>
            </p:txBody>
          </p:sp>
          <p:sp>
            <p:nvSpPr>
              <p:cNvPr id="18" name="TextBox 18"/>
              <p:cNvSpPr txBox="1"/>
              <p:nvPr/>
            </p:nvSpPr>
            <p:spPr>
              <a:xfrm>
                <a:off x="1035406" y="4490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25</a:t>
                </a:r>
              </a:p>
            </p:txBody>
          </p:sp>
          <p:sp>
            <p:nvSpPr>
              <p:cNvPr id="19" name="TextBox 19"/>
              <p:cNvSpPr txBox="1"/>
              <p:nvPr/>
            </p:nvSpPr>
            <p:spPr>
              <a:xfrm>
                <a:off x="1035406" y="3728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50</a:t>
                </a:r>
              </a:p>
            </p:txBody>
          </p:sp>
          <p:sp>
            <p:nvSpPr>
              <p:cNvPr id="20" name="TextBox 20"/>
              <p:cNvSpPr txBox="1"/>
              <p:nvPr/>
            </p:nvSpPr>
            <p:spPr>
              <a:xfrm>
                <a:off x="1035406" y="2966085"/>
                <a:ext cx="18989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75</a:t>
                </a:r>
              </a:p>
            </p:txBody>
          </p:sp>
          <p:sp>
            <p:nvSpPr>
              <p:cNvPr id="21" name="TextBox 21"/>
              <p:cNvSpPr txBox="1"/>
              <p:nvPr/>
            </p:nvSpPr>
            <p:spPr>
              <a:xfrm>
                <a:off x="946556" y="2204085"/>
                <a:ext cx="278740"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100</a:t>
                </a:r>
              </a:p>
            </p:txBody>
          </p:sp>
          <p:sp>
            <p:nvSpPr>
              <p:cNvPr id="22" name="Line 22"/>
              <p:cNvSpPr/>
              <p:nvPr/>
            </p:nvSpPr>
            <p:spPr>
              <a:xfrm>
                <a:off x="1333500" y="2286000"/>
                <a:ext cx="9525" cy="3048000"/>
              </a:xfrm>
              <a:custGeom>
                <a:avLst/>
                <a:gdLst/>
                <a:ahLst/>
                <a:cxnLst/>
                <a:rect l="l" t="t" r="r" b="b"/>
                <a:pathLst>
                  <a:path w="9525" h="3048000">
                    <a:moveTo>
                      <a:pt x="0" y="0"/>
                    </a:moveTo>
                    <a:lnTo>
                      <a:pt x="0" y="3048000"/>
                    </a:lnTo>
                  </a:path>
                </a:pathLst>
              </a:custGeom>
              <a:noFill/>
              <a:ln w="14288">
                <a:solidFill>
                  <a:schemeClr val="accent4"/>
                </a:solidFill>
              </a:ln>
            </p:spPr>
          </p:sp>
          <p:sp>
            <p:nvSpPr>
              <p:cNvPr id="23" name="Line 23"/>
              <p:cNvSpPr/>
              <p:nvPr/>
            </p:nvSpPr>
            <p:spPr>
              <a:xfrm>
                <a:off x="1333500" y="5334000"/>
                <a:ext cx="6286500" cy="9525"/>
              </a:xfrm>
              <a:custGeom>
                <a:avLst/>
                <a:gdLst/>
                <a:ahLst/>
                <a:cxnLst/>
                <a:rect l="l" t="t" r="r" b="b"/>
                <a:pathLst>
                  <a:path w="6286500" h="9525">
                    <a:moveTo>
                      <a:pt x="0" y="0"/>
                    </a:moveTo>
                    <a:lnTo>
                      <a:pt x="6286500" y="0"/>
                    </a:lnTo>
                  </a:path>
                </a:pathLst>
              </a:custGeom>
              <a:noFill/>
              <a:ln w="14288">
                <a:solidFill>
                  <a:schemeClr val="accent4"/>
                </a:solidFill>
              </a:ln>
            </p:spPr>
          </p:sp>
          <p:sp>
            <p:nvSpPr>
              <p:cNvPr id="24" name="Rectangle 24"/>
              <p:cNvSpPr/>
              <p:nvPr/>
            </p:nvSpPr>
            <p:spPr>
              <a:xfrm>
                <a:off x="1547812" y="3492818"/>
                <a:ext cx="533400" cy="1841182"/>
              </a:xfrm>
              <a:prstGeom prst="rect">
                <a:avLst/>
              </a:prstGeom>
              <a:solidFill>
                <a:srgbClr val="8A94A0"/>
              </a:solidFill>
              <a:ln>
                <a:noFill/>
              </a:ln>
            </p:spPr>
          </p:sp>
          <p:sp>
            <p:nvSpPr>
              <p:cNvPr id="25" name="TextBox 25"/>
              <p:cNvSpPr txBox="1"/>
              <p:nvPr/>
            </p:nvSpPr>
            <p:spPr>
              <a:xfrm>
                <a:off x="1586294" y="3280410"/>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60.40</a:t>
                </a:r>
              </a:p>
            </p:txBody>
          </p:sp>
          <p:sp>
            <p:nvSpPr>
              <p:cNvPr id="26" name="Rectangle 26"/>
              <p:cNvSpPr/>
              <p:nvPr/>
            </p:nvSpPr>
            <p:spPr>
              <a:xfrm>
                <a:off x="2157412" y="3145155"/>
                <a:ext cx="533400" cy="2188845"/>
              </a:xfrm>
              <a:prstGeom prst="rect">
                <a:avLst/>
              </a:prstGeom>
              <a:solidFill>
                <a:schemeClr val="accent1"/>
              </a:solidFill>
              <a:ln>
                <a:noFill/>
              </a:ln>
            </p:spPr>
          </p:sp>
          <p:sp>
            <p:nvSpPr>
              <p:cNvPr id="27" name="TextBox 27"/>
              <p:cNvSpPr txBox="1"/>
              <p:nvPr/>
            </p:nvSpPr>
            <p:spPr>
              <a:xfrm>
                <a:off x="2184787" y="293751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71.81</a:t>
                </a:r>
              </a:p>
            </p:txBody>
          </p:sp>
          <p:sp>
            <p:nvSpPr>
              <p:cNvPr id="28" name="TextBox 28"/>
              <p:cNvSpPr txBox="1"/>
              <p:nvPr/>
            </p:nvSpPr>
            <p:spPr>
              <a:xfrm>
                <a:off x="1740271" y="5474018"/>
                <a:ext cx="758083"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Combo@1</a:t>
                </a:r>
              </a:p>
            </p:txBody>
          </p:sp>
          <p:sp>
            <p:nvSpPr>
              <p:cNvPr id="29" name="Rectangle 29"/>
              <p:cNvSpPr/>
              <p:nvPr/>
            </p:nvSpPr>
            <p:spPr>
              <a:xfrm>
                <a:off x="3119438" y="3315652"/>
                <a:ext cx="533400" cy="2018348"/>
              </a:xfrm>
              <a:prstGeom prst="rect">
                <a:avLst/>
              </a:prstGeom>
              <a:solidFill>
                <a:srgbClr val="8A94A0"/>
              </a:solidFill>
              <a:ln>
                <a:noFill/>
              </a:ln>
            </p:spPr>
          </p:sp>
          <p:sp>
            <p:nvSpPr>
              <p:cNvPr id="30" name="TextBox 30"/>
              <p:cNvSpPr txBox="1"/>
              <p:nvPr/>
            </p:nvSpPr>
            <p:spPr>
              <a:xfrm>
                <a:off x="3157918" y="3108960"/>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66.22</a:t>
                </a:r>
              </a:p>
            </p:txBody>
          </p:sp>
          <p:sp>
            <p:nvSpPr>
              <p:cNvPr id="31" name="Rectangle 31"/>
              <p:cNvSpPr/>
              <p:nvPr/>
            </p:nvSpPr>
            <p:spPr>
              <a:xfrm>
                <a:off x="3729038" y="2751772"/>
                <a:ext cx="533400" cy="2582228"/>
              </a:xfrm>
              <a:prstGeom prst="rect">
                <a:avLst/>
              </a:prstGeom>
              <a:solidFill>
                <a:schemeClr val="accent1"/>
              </a:solidFill>
              <a:ln>
                <a:noFill/>
              </a:ln>
            </p:spPr>
          </p:sp>
          <p:sp>
            <p:nvSpPr>
              <p:cNvPr id="32" name="TextBox 32"/>
              <p:cNvSpPr txBox="1"/>
              <p:nvPr/>
            </p:nvSpPr>
            <p:spPr>
              <a:xfrm>
                <a:off x="3756412" y="2546985"/>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84.71</a:t>
                </a:r>
              </a:p>
            </p:txBody>
          </p:sp>
          <p:sp>
            <p:nvSpPr>
              <p:cNvPr id="33" name="TextBox 33"/>
              <p:cNvSpPr txBox="1"/>
              <p:nvPr/>
            </p:nvSpPr>
            <p:spPr>
              <a:xfrm>
                <a:off x="3311896" y="5474018"/>
                <a:ext cx="758083"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Combo@5</a:t>
                </a:r>
              </a:p>
            </p:txBody>
          </p:sp>
          <p:sp>
            <p:nvSpPr>
              <p:cNvPr id="34" name="Rectangle 34"/>
              <p:cNvSpPr/>
              <p:nvPr/>
            </p:nvSpPr>
            <p:spPr>
              <a:xfrm>
                <a:off x="4691062" y="3230880"/>
                <a:ext cx="533400" cy="2103120"/>
              </a:xfrm>
              <a:prstGeom prst="rect">
                <a:avLst/>
              </a:prstGeom>
              <a:solidFill>
                <a:srgbClr val="8A94A0"/>
              </a:solidFill>
              <a:ln>
                <a:noFill/>
              </a:ln>
            </p:spPr>
          </p:sp>
          <p:sp>
            <p:nvSpPr>
              <p:cNvPr id="35" name="TextBox 35"/>
              <p:cNvSpPr txBox="1"/>
              <p:nvPr/>
            </p:nvSpPr>
            <p:spPr>
              <a:xfrm>
                <a:off x="4729544" y="3023235"/>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69.00</a:t>
                </a:r>
              </a:p>
            </p:txBody>
          </p:sp>
          <p:sp>
            <p:nvSpPr>
              <p:cNvPr id="36" name="Rectangle 36"/>
              <p:cNvSpPr/>
              <p:nvPr/>
            </p:nvSpPr>
            <p:spPr>
              <a:xfrm>
                <a:off x="5300662" y="2614612"/>
                <a:ext cx="533400" cy="2719388"/>
              </a:xfrm>
              <a:prstGeom prst="rect">
                <a:avLst/>
              </a:prstGeom>
              <a:solidFill>
                <a:schemeClr val="accent1"/>
              </a:solidFill>
              <a:ln>
                <a:noFill/>
              </a:ln>
            </p:spPr>
          </p:sp>
          <p:sp>
            <p:nvSpPr>
              <p:cNvPr id="37" name="TextBox 37"/>
              <p:cNvSpPr txBox="1"/>
              <p:nvPr/>
            </p:nvSpPr>
            <p:spPr>
              <a:xfrm>
                <a:off x="5328037" y="240411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89.21</a:t>
                </a:r>
              </a:p>
            </p:txBody>
          </p:sp>
          <p:sp>
            <p:nvSpPr>
              <p:cNvPr id="38" name="TextBox 38"/>
              <p:cNvSpPr txBox="1"/>
              <p:nvPr/>
            </p:nvSpPr>
            <p:spPr>
              <a:xfrm>
                <a:off x="4832977" y="5474018"/>
                <a:ext cx="859170"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Combo@20</a:t>
                </a:r>
              </a:p>
            </p:txBody>
          </p:sp>
          <p:sp>
            <p:nvSpPr>
              <p:cNvPr id="39" name="Rectangle 39"/>
              <p:cNvSpPr/>
              <p:nvPr/>
            </p:nvSpPr>
            <p:spPr>
              <a:xfrm>
                <a:off x="6262688" y="3405188"/>
                <a:ext cx="533400" cy="1928812"/>
              </a:xfrm>
              <a:prstGeom prst="rect">
                <a:avLst/>
              </a:prstGeom>
              <a:solidFill>
                <a:srgbClr val="8A94A0"/>
              </a:solidFill>
              <a:ln>
                <a:noFill/>
              </a:ln>
            </p:spPr>
          </p:sp>
          <p:sp>
            <p:nvSpPr>
              <p:cNvPr id="40" name="TextBox 40"/>
              <p:cNvSpPr txBox="1"/>
              <p:nvPr/>
            </p:nvSpPr>
            <p:spPr>
              <a:xfrm>
                <a:off x="6301168" y="3194685"/>
                <a:ext cx="45643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63.29</a:t>
                </a:r>
              </a:p>
            </p:txBody>
          </p:sp>
          <p:sp>
            <p:nvSpPr>
              <p:cNvPr id="41" name="Rectangle 41"/>
              <p:cNvSpPr/>
              <p:nvPr/>
            </p:nvSpPr>
            <p:spPr>
              <a:xfrm>
                <a:off x="6872288" y="2972752"/>
                <a:ext cx="533400" cy="2361248"/>
              </a:xfrm>
              <a:prstGeom prst="rect">
                <a:avLst/>
              </a:prstGeom>
              <a:solidFill>
                <a:schemeClr val="accent1"/>
              </a:solidFill>
              <a:ln>
                <a:noFill/>
              </a:ln>
            </p:spPr>
          </p:sp>
          <p:sp>
            <p:nvSpPr>
              <p:cNvPr id="42" name="TextBox 42"/>
              <p:cNvSpPr txBox="1"/>
              <p:nvPr/>
            </p:nvSpPr>
            <p:spPr>
              <a:xfrm>
                <a:off x="6899662" y="2766060"/>
                <a:ext cx="478650" cy="234696"/>
              </a:xfrm>
              <a:prstGeom prst="rect">
                <a:avLst/>
              </a:prstGeom>
              <a:noFill/>
              <a:ln>
                <a:noFill/>
              </a:ln>
            </p:spPr>
            <p:txBody>
              <a:bodyPr wrap="none" lIns="0" tIns="0" rIns="0" bIns="0" anchor="t" anchorCtr="0">
                <a:spAutoFit/>
              </a:bodyPr>
              <a:lstStyle/>
              <a:p>
                <a:pPr algn="ctr"/>
                <a:r>
                  <a:rPr lang="en-US" sz="1200" b="1" dirty="0">
                    <a:solidFill>
                      <a:schemeClr val="accent1"/>
                    </a:solidFill>
                    <a:latin typeface="Segoe UI"/>
                    <a:ea typeface="Segoe UI"/>
                    <a:cs typeface="Segoe UI"/>
                  </a:rPr>
                  <a:t>77.48</a:t>
                </a:r>
              </a:p>
            </p:txBody>
          </p:sp>
          <p:sp>
            <p:nvSpPr>
              <p:cNvPr id="43" name="TextBox 43"/>
              <p:cNvSpPr txBox="1"/>
              <p:nvPr/>
            </p:nvSpPr>
            <p:spPr>
              <a:xfrm>
                <a:off x="6350784" y="5474018"/>
                <a:ext cx="96680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Segoe UI"/>
                    <a:ea typeface="Segoe UI"/>
                    <a:cs typeface="Segoe UI"/>
                  </a:rPr>
                  <a:t>Combo MRR</a:t>
                </a:r>
              </a:p>
            </p:txBody>
          </p:sp>
        </p:grpSp>
        <p:sp>
          <p:nvSpPr>
            <p:cNvPr id="45" name="TextBox 45"/>
            <p:cNvSpPr txBox="1"/>
            <p:nvPr/>
          </p:nvSpPr>
          <p:spPr>
            <a:xfrm>
              <a:off x="1327404" y="5852160"/>
              <a:ext cx="6453413"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Retro 测试集 2,558 条，精确集合命中率 %，全分母；top_m 30 · pool 15 · 集合 2–5 元</a:t>
              </a:r>
            </a:p>
          </p:txBody>
        </p:sp>
      </p:grpSp>
      <p:grpSp>
        <p:nvGrpSpPr>
          <p:cNvPr id="51" name="Group 51"/>
          <p:cNvGrpSpPr/>
          <p:nvPr/>
        </p:nvGrpSpPr>
        <p:grpSpPr>
          <a:xfrm>
            <a:off x="8001000" y="2095500"/>
            <a:ext cx="3505200" cy="4105656"/>
            <a:chOff x="8001000" y="2095500"/>
            <a:chExt cx="3505200" cy="4105656"/>
          </a:xfrm>
        </p:grpSpPr>
        <p:sp>
          <p:nvSpPr>
            <p:cNvPr id="47" name="Rectangle 47"/>
            <p:cNvSpPr/>
            <p:nvPr/>
          </p:nvSpPr>
          <p:spPr>
            <a:xfrm>
              <a:off x="8001000" y="2095500"/>
              <a:ext cx="3505200" cy="3905250"/>
            </a:xfrm>
            <a:prstGeom prst="rect">
              <a:avLst/>
            </a:prstGeom>
            <a:solidFill>
              <a:schemeClr val="lt2"/>
            </a:solidFill>
            <a:ln>
              <a:noFill/>
            </a:ln>
          </p:spPr>
        </p:sp>
        <p:sp>
          <p:nvSpPr>
            <p:cNvPr id="48" name="TextBox 48"/>
            <p:cNvSpPr txBox="1"/>
            <p:nvPr/>
          </p:nvSpPr>
          <p:spPr>
            <a:xfrm>
              <a:off x="8220456" y="2244090"/>
              <a:ext cx="1290447"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读数与对照</a:t>
              </a:r>
            </a:p>
          </p:txBody>
        </p:sp>
        <p:sp>
          <p:nvSpPr>
            <p:cNvPr id="49" name="TextBox 49"/>
            <p:cNvSpPr txBox="1"/>
            <p:nvPr/>
          </p:nvSpPr>
          <p:spPr>
            <a:xfrm>
              <a:off x="8222742" y="2673668"/>
              <a:ext cx="2636901" cy="243573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Stage 1 Top-20 覆盖</a:t>
              </a:r>
              <a:r>
                <a:rPr lang="zh-CN" sz="1350" dirty="0">
                  <a:solidFill>
                    <a:schemeClr val="dk1"/>
                  </a:solidFill>
                  <a:latin typeface="Segoe UI"/>
                  <a:ea typeface="Microsoft YaHei"/>
                  <a:cs typeface="Segoe UI"/>
                </a:rPr>
                <a:t>95.78（基线 92.96）</a:t>
              </a:r>
            </a:p>
            <a:p>
              <a:pPr algn="l">
                <a:lnSpc>
                  <a:spcPts val="1950"/>
                </a:lnSpc>
                <a:spcBef>
                  <a:spcPts val="750"/>
                </a:spcBef>
              </a:pPr>
              <a:r>
                <a:rPr lang="zh-CN" sz="1350" b="1" dirty="0">
                  <a:solidFill>
                    <a:schemeClr val="dk1"/>
                  </a:solidFill>
                  <a:latin typeface="Segoe UI"/>
                  <a:ea typeface="Microsoft YaHei"/>
                  <a:cs typeface="Segoe UI"/>
                </a:rPr>
                <a:t>论文三种子均值</a:t>
              </a:r>
              <a:r>
                <a:rPr lang="en-US" sz="1350" dirty="0">
                  <a:solidFill>
                    <a:schemeClr val="dk1"/>
                  </a:solidFill>
                  <a:latin typeface="Segoe UI"/>
                  <a:ea typeface="Segoe UI"/>
                  <a:cs typeface="Segoe UI"/>
                </a:rPr>
                <a:t xml:space="preserve">71.70 ± 0.10 · 84.52 ± 1.48 </a:t>
              </a:r>
              <a:r>
                <a:rPr lang="en-US" sz="1350" dirty="0">
                  <a:solidFill>
                    <a:schemeClr val="dk1"/>
                  </a:solidFill>
                  <a:latin typeface="Segoe UI"/>
                  <a:ea typeface="Segoe UI"/>
                  <a:cs typeface="Segoe UI"/>
                </a:rPr>
                <a:t>89.82 ± 1.74 · 77.43 ± 0.69</a:t>
              </a:r>
            </a:p>
            <a:p>
              <a:pPr algn="l">
                <a:lnSpc>
                  <a:spcPts val="1950"/>
                </a:lnSpc>
                <a:spcBef>
                  <a:spcPts val="750"/>
                </a:spcBef>
              </a:pPr>
              <a:r>
                <a:rPr lang="zh-CN" sz="1350" b="1" dirty="0">
                  <a:solidFill>
                    <a:schemeClr val="dk1"/>
                  </a:solidFill>
                  <a:latin typeface="Segoe UI"/>
                  <a:ea typeface="Microsoft YaHei"/>
                  <a:cs typeface="Segoe UI"/>
                </a:rPr>
                <a:t>同枚举 product 对照</a:t>
              </a:r>
              <a:r>
                <a:rPr lang="en-US" sz="1350" dirty="0">
                  <a:solidFill>
                    <a:schemeClr val="dk1"/>
                  </a:solidFill>
                  <a:latin typeface="Segoe UI"/>
                  <a:ea typeface="Segoe UI"/>
                  <a:cs typeface="Segoe UI"/>
                </a:rPr>
                <a:t xml:space="preserve">Combo@1 11.65 · MRR 23.24 </a:t>
              </a:r>
              <a:r>
                <a:rPr lang="zh-CN" sz="1350" dirty="0">
                  <a:solidFill>
                    <a:schemeClr val="dk1"/>
                  </a:solidFill>
                  <a:latin typeface="Segoe UI"/>
                  <a:ea typeface="Microsoft YaHei"/>
                  <a:cs typeface="Segoe UI"/>
                </a:rPr>
                <a:t>→ 增益来自</a:t>
              </a:r>
              <a:r>
                <a:rPr lang="zh-CN" sz="1350" b="1" dirty="0">
                  <a:solidFill>
                    <a:schemeClr val="accent2"/>
                  </a:solidFill>
                  <a:latin typeface="Segoe UI"/>
                  <a:ea typeface="Microsoft YaHei"/>
                  <a:cs typeface="Segoe UI"/>
                </a:rPr>
                <a:t>学习到的集合级排序</a:t>
              </a:r>
              <a:r>
                <a:rPr lang="zh-CN" sz="1350" dirty="0">
                  <a:solidFill>
                    <a:schemeClr val="dk1"/>
                  </a:solidFill>
                  <a:latin typeface="Segoe UI"/>
                  <a:ea typeface="Microsoft YaHei"/>
                  <a:cs typeface="Segoe UI"/>
                </a:rPr>
                <a:t>，</a:t>
              </a:r>
              <a:r>
                <a:rPr lang="zh-CN" sz="1350" dirty="0">
                  <a:solidFill>
                    <a:schemeClr val="dk1"/>
                  </a:solidFill>
                  <a:latin typeface="Segoe UI"/>
                  <a:ea typeface="Microsoft YaHei"/>
                  <a:cs typeface="Segoe UI"/>
                </a:rPr>
                <a:t>而非候选枚举或过滤本身</a:t>
              </a:r>
            </a:p>
          </p:txBody>
        </p:sp>
        <p:sp>
          <p:nvSpPr>
            <p:cNvPr id="50" name="TextBox 50"/>
            <p:cNvSpPr txBox="1"/>
            <p:nvPr/>
          </p:nvSpPr>
          <p:spPr>
            <a:xfrm>
              <a:off x="8223504" y="5509260"/>
              <a:ext cx="3250692" cy="691896"/>
            </a:xfrm>
            <a:prstGeom prst="rect">
              <a:avLst/>
            </a:prstGeom>
            <a:noFill/>
            <a:ln>
              <a:noFill/>
            </a:ln>
          </p:spPr>
          <p:txBody>
            <a:bodyPr wrap="square" lIns="0" tIns="0" rIns="0" bIns="0" anchor="t" anchorCtr="0"/>
            <a:lstStyle/>
            <a:p>
              <a:pPr algn="l">
                <a:lnSpc>
                  <a:spcPts val="1800"/>
                </a:lnSpc>
              </a:pPr>
              <a:r>
                <a:rPr lang="zh-CN" sz="1200" dirty="0">
                  <a:solidFill>
                    <a:schemeClr val="dk2"/>
                  </a:solidFill>
                  <a:latin typeface="Segoe UI"/>
                  <a:ea typeface="Microsoft YaHei"/>
                  <a:cs typeface="Segoe UI"/>
                </a:rPr>
                <a:t>来源：随模型 checkpoint 提交的评测汇总</a:t>
              </a:r>
              <a:r>
                <a:rPr lang="zh-CN" sz="1200" dirty="0">
                  <a:solidFill>
                    <a:schemeClr val="dk2"/>
                  </a:solidFill>
                  <a:latin typeface="Segoe UI"/>
                  <a:ea typeface="Microsoft YaHei"/>
                  <a:cs typeface="Segoe UI"/>
                </a:rPr>
                <a:t>（Retro 测试集 2,558 条）；CPU dry run 数秒</a:t>
              </a:r>
              <a:r>
                <a:rPr lang="zh-CN" sz="1200" dirty="0">
                  <a:solidFill>
                    <a:schemeClr val="dk2"/>
                  </a:solidFill>
                  <a:latin typeface="Segoe UI"/>
                  <a:ea typeface="Microsoft YaHei"/>
                  <a:cs typeface="Segoe UI"/>
                </a:rPr>
                <a:t>即可验证模型可加载、可预测</a:t>
              </a:r>
            </a:p>
          </p:txBody>
        </p:sp>
      </p:grpSp>
      <p:grpSp>
        <p:nvGrpSpPr>
          <p:cNvPr id="54" name="Group 54"/>
          <p:cNvGrpSpPr/>
          <p:nvPr/>
        </p:nvGrpSpPr>
        <p:grpSpPr>
          <a:xfrm>
            <a:off x="679704" y="6480810"/>
            <a:ext cx="10832592" cy="234696"/>
            <a:chOff x="679704" y="6480810"/>
            <a:chExt cx="10832592" cy="234696"/>
          </a:xfrm>
        </p:grpSpPr>
        <p:sp>
          <p:nvSpPr>
            <p:cNvPr id="52" name="TextBox 52"/>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53" name="TextBox 53"/>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9359646" cy="586740"/>
            <a:chOff x="670560" y="590550"/>
            <a:chExt cx="9359646" cy="586740"/>
          </a:xfrm>
        </p:grpSpPr>
        <p:sp>
          <p:nvSpPr>
            <p:cNvPr id="2" name="TextBox 2"/>
            <p:cNvSpPr txBox="1"/>
            <p:nvPr/>
          </p:nvSpPr>
          <p:spPr>
            <a:xfrm>
              <a:off x="670560" y="590550"/>
              <a:ext cx="935964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冷启动只输入一行主题，各类角色各自交出了什么</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7632573" cy="381381"/>
            <a:chOff x="675894" y="1370648"/>
            <a:chExt cx="7632573" cy="381381"/>
          </a:xfrm>
        </p:grpSpPr>
        <p:sp>
          <p:nvSpPr>
            <p:cNvPr id="5" name="TextBox 5"/>
            <p:cNvSpPr txBox="1"/>
            <p:nvPr/>
          </p:nvSpPr>
          <p:spPr>
            <a:xfrm>
              <a:off x="675894" y="1370648"/>
              <a:ext cx="7632573"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唯一输入是一行主题，下面展示各角色交付的亮点与可核对结果。</a:t>
              </a:r>
            </a:p>
          </p:txBody>
        </p:sp>
      </p:grpSp>
      <p:grpSp>
        <p:nvGrpSpPr>
          <p:cNvPr id="11" name="Group 11"/>
          <p:cNvGrpSpPr/>
          <p:nvPr/>
        </p:nvGrpSpPr>
        <p:grpSpPr>
          <a:xfrm>
            <a:off x="685800" y="1943100"/>
            <a:ext cx="10820400" cy="710184"/>
            <a:chOff x="685800" y="1943100"/>
            <a:chExt cx="10820400" cy="710184"/>
          </a:xfrm>
        </p:grpSpPr>
        <p:sp>
          <p:nvSpPr>
            <p:cNvPr id="7" name="Rectangle 7"/>
            <p:cNvSpPr/>
            <p:nvPr/>
          </p:nvSpPr>
          <p:spPr>
            <a:xfrm>
              <a:off x="685800" y="1943100"/>
              <a:ext cx="10820400" cy="685800"/>
            </a:xfrm>
            <a:prstGeom prst="rect">
              <a:avLst/>
            </a:prstGeom>
            <a:solidFill>
              <a:schemeClr val="lt2"/>
            </a:solidFill>
            <a:ln>
              <a:noFill/>
            </a:ln>
          </p:spPr>
        </p:sp>
        <p:sp>
          <p:nvSpPr>
            <p:cNvPr id="8" name="Rectangle 8"/>
            <p:cNvSpPr/>
            <p:nvPr/>
          </p:nvSpPr>
          <p:spPr>
            <a:xfrm>
              <a:off x="685800" y="1943100"/>
              <a:ext cx="57150" cy="685800"/>
            </a:xfrm>
            <a:prstGeom prst="rect">
              <a:avLst/>
            </a:prstGeom>
            <a:solidFill>
              <a:schemeClr val="accent1"/>
            </a:solidFill>
            <a:ln>
              <a:noFill/>
            </a:ln>
          </p:spPr>
        </p:sp>
        <p:sp>
          <p:nvSpPr>
            <p:cNvPr id="9" name="TextBox 9"/>
            <p:cNvSpPr txBox="1"/>
            <p:nvPr/>
          </p:nvSpPr>
          <p:spPr>
            <a:xfrm>
              <a:off x="907542" y="20640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唯一输入</a:t>
              </a:r>
            </a:p>
          </p:txBody>
        </p:sp>
        <p:sp>
          <p:nvSpPr>
            <p:cNvPr id="10" name="TextBox 10"/>
            <p:cNvSpPr txBox="1"/>
            <p:nvPr/>
          </p:nvSpPr>
          <p:spPr>
            <a:xfrm>
              <a:off x="905256" y="2301240"/>
              <a:ext cx="7323201"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调研主题：Ba5Y12Zn[O(SiO4)]8及其结构相近化合物的合成条件</a:t>
              </a:r>
            </a:p>
          </p:txBody>
        </p:sp>
      </p:grpSp>
      <p:grpSp>
        <p:nvGrpSpPr>
          <p:cNvPr id="22" name="Group 22"/>
          <p:cNvGrpSpPr/>
          <p:nvPr/>
        </p:nvGrpSpPr>
        <p:grpSpPr>
          <a:xfrm>
            <a:off x="685800" y="2857500"/>
            <a:ext cx="10820400" cy="914400"/>
            <a:chOff x="685800" y="2857500"/>
            <a:chExt cx="10820400" cy="914400"/>
          </a:xfrm>
        </p:grpSpPr>
        <p:sp>
          <p:nvSpPr>
            <p:cNvPr id="12" name="Rectangle 12"/>
            <p:cNvSpPr/>
            <p:nvPr/>
          </p:nvSpPr>
          <p:spPr>
            <a:xfrm>
              <a:off x="685800" y="2857500"/>
              <a:ext cx="5295900" cy="914400"/>
            </a:xfrm>
            <a:prstGeom prst="rect">
              <a:avLst/>
            </a:prstGeom>
            <a:solidFill>
              <a:schemeClr val="lt2"/>
            </a:solidFill>
            <a:ln>
              <a:noFill/>
            </a:ln>
          </p:spPr>
        </p:sp>
        <p:sp>
          <p:nvSpPr>
            <p:cNvPr id="13" name="Rectangle 13"/>
            <p:cNvSpPr/>
            <p:nvPr/>
          </p:nvSpPr>
          <p:spPr>
            <a:xfrm>
              <a:off x="685800" y="2857500"/>
              <a:ext cx="57150" cy="914400"/>
            </a:xfrm>
            <a:prstGeom prst="rect">
              <a:avLst/>
            </a:prstGeom>
            <a:solidFill>
              <a:schemeClr val="accent1"/>
            </a:solidFill>
            <a:ln>
              <a:noFill/>
            </a:ln>
          </p:spPr>
        </p:sp>
        <p:sp>
          <p:nvSpPr>
            <p:cNvPr id="14" name="TextBox 14"/>
            <p:cNvSpPr txBox="1"/>
            <p:nvPr/>
          </p:nvSpPr>
          <p:spPr>
            <a:xfrm>
              <a:off x="907542" y="2997518"/>
              <a:ext cx="5861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编排器</a:t>
              </a:r>
            </a:p>
          </p:txBody>
        </p:sp>
        <p:sp>
          <p:nvSpPr>
            <p:cNvPr id="15" name="TextBox 15"/>
            <p:cNvSpPr txBox="1"/>
            <p:nvPr/>
          </p:nvSpPr>
          <p:spPr>
            <a:xfrm>
              <a:off x="907542" y="3245168"/>
              <a:ext cx="367571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自动确认范围；在需要人确认的节点续跑 4 次</a:t>
              </a:r>
            </a:p>
          </p:txBody>
        </p:sp>
        <p:sp>
          <p:nvSpPr>
            <p:cNvPr id="16" name="TextBox 16"/>
            <p:cNvSpPr txBox="1"/>
            <p:nvPr/>
          </p:nvSpPr>
          <p:spPr>
            <a:xfrm>
              <a:off x="907542" y="3473768"/>
              <a:ext cx="3712064"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29 批 / 40 个子任务，约 7,084 万输入 token</a:t>
              </a:r>
            </a:p>
          </p:txBody>
        </p:sp>
        <p:sp>
          <p:nvSpPr>
            <p:cNvPr id="17" name="Rectangle 17"/>
            <p:cNvSpPr/>
            <p:nvPr/>
          </p:nvSpPr>
          <p:spPr>
            <a:xfrm>
              <a:off x="6210300" y="2857500"/>
              <a:ext cx="5295900" cy="914400"/>
            </a:xfrm>
            <a:prstGeom prst="rect">
              <a:avLst/>
            </a:prstGeom>
            <a:solidFill>
              <a:schemeClr val="lt2"/>
            </a:solidFill>
            <a:ln>
              <a:noFill/>
            </a:ln>
          </p:spPr>
        </p:sp>
        <p:sp>
          <p:nvSpPr>
            <p:cNvPr id="18" name="Rectangle 18"/>
            <p:cNvSpPr/>
            <p:nvPr/>
          </p:nvSpPr>
          <p:spPr>
            <a:xfrm>
              <a:off x="6210300" y="2857500"/>
              <a:ext cx="57150" cy="914400"/>
            </a:xfrm>
            <a:prstGeom prst="rect">
              <a:avLst/>
            </a:prstGeom>
            <a:solidFill>
              <a:schemeClr val="accent1"/>
            </a:solidFill>
            <a:ln>
              <a:noFill/>
            </a:ln>
          </p:spPr>
        </p:sp>
        <p:sp>
          <p:nvSpPr>
            <p:cNvPr id="19" name="TextBox 19"/>
            <p:cNvSpPr txBox="1"/>
            <p:nvPr/>
          </p:nvSpPr>
          <p:spPr>
            <a:xfrm>
              <a:off x="6432042" y="29975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文献检索</a:t>
              </a:r>
            </a:p>
          </p:txBody>
        </p:sp>
        <p:sp>
          <p:nvSpPr>
            <p:cNvPr id="20" name="TextBox 20"/>
            <p:cNvSpPr txBox="1"/>
            <p:nvPr/>
          </p:nvSpPr>
          <p:spPr>
            <a:xfrm>
              <a:off x="6432042" y="3245168"/>
              <a:ext cx="292150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8 个子主题；在线五源 + 本地全文库</a:t>
              </a:r>
            </a:p>
          </p:txBody>
        </p:sp>
        <p:sp>
          <p:nvSpPr>
            <p:cNvPr id="21" name="TextBox 21"/>
            <p:cNvSpPr txBox="1"/>
            <p:nvPr/>
          </p:nvSpPr>
          <p:spPr>
            <a:xfrm>
              <a:off x="6432042" y="3473768"/>
              <a:ext cx="1176833"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63 条候选文献</a:t>
              </a:r>
            </a:p>
          </p:txBody>
        </p:sp>
      </p:grpSp>
      <p:grpSp>
        <p:nvGrpSpPr>
          <p:cNvPr id="33" name="Group 33"/>
          <p:cNvGrpSpPr/>
          <p:nvPr/>
        </p:nvGrpSpPr>
        <p:grpSpPr>
          <a:xfrm>
            <a:off x="685800" y="3905250"/>
            <a:ext cx="10820400" cy="914400"/>
            <a:chOff x="685800" y="3905250"/>
            <a:chExt cx="10820400" cy="914400"/>
          </a:xfrm>
        </p:grpSpPr>
        <p:sp>
          <p:nvSpPr>
            <p:cNvPr id="23" name="Rectangle 23"/>
            <p:cNvSpPr/>
            <p:nvPr/>
          </p:nvSpPr>
          <p:spPr>
            <a:xfrm>
              <a:off x="685800" y="3905250"/>
              <a:ext cx="5295900" cy="914400"/>
            </a:xfrm>
            <a:prstGeom prst="rect">
              <a:avLst/>
            </a:prstGeom>
            <a:solidFill>
              <a:schemeClr val="lt2"/>
            </a:solidFill>
            <a:ln>
              <a:noFill/>
            </a:ln>
          </p:spPr>
        </p:sp>
        <p:sp>
          <p:nvSpPr>
            <p:cNvPr id="24" name="Rectangle 24"/>
            <p:cNvSpPr/>
            <p:nvPr/>
          </p:nvSpPr>
          <p:spPr>
            <a:xfrm>
              <a:off x="685800" y="3905250"/>
              <a:ext cx="57150" cy="914400"/>
            </a:xfrm>
            <a:prstGeom prst="rect">
              <a:avLst/>
            </a:prstGeom>
            <a:solidFill>
              <a:schemeClr val="accent2"/>
            </a:solidFill>
            <a:ln>
              <a:noFill/>
            </a:ln>
          </p:spPr>
        </p:sp>
        <p:sp>
          <p:nvSpPr>
            <p:cNvPr id="25" name="TextBox 25"/>
            <p:cNvSpPr txBox="1"/>
            <p:nvPr/>
          </p:nvSpPr>
          <p:spPr>
            <a:xfrm>
              <a:off x="907542" y="40452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引用核对</a:t>
              </a:r>
            </a:p>
          </p:txBody>
        </p:sp>
        <p:sp>
          <p:nvSpPr>
            <p:cNvPr id="26" name="TextBox 26"/>
            <p:cNvSpPr txBox="1"/>
            <p:nvPr/>
          </p:nvSpPr>
          <p:spPr>
            <a:xfrm>
              <a:off x="907542" y="4292918"/>
              <a:ext cx="333041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51 篇全部通过；5 条作者名不匹配的文献</a:t>
              </a:r>
            </a:p>
          </p:txBody>
        </p:sp>
        <p:sp>
          <p:nvSpPr>
            <p:cNvPr id="27" name="TextBox 27"/>
            <p:cNvSpPr txBox="1"/>
            <p:nvPr/>
          </p:nvSpPr>
          <p:spPr>
            <a:xfrm>
              <a:off x="907542" y="4521518"/>
              <a:ext cx="237629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三轮未收敛，交人决定后删除</a:t>
              </a:r>
            </a:p>
          </p:txBody>
        </p:sp>
        <p:sp>
          <p:nvSpPr>
            <p:cNvPr id="28" name="Rectangle 28"/>
            <p:cNvSpPr/>
            <p:nvPr/>
          </p:nvSpPr>
          <p:spPr>
            <a:xfrm>
              <a:off x="6210300" y="3905250"/>
              <a:ext cx="5295900" cy="914400"/>
            </a:xfrm>
            <a:prstGeom prst="rect">
              <a:avLst/>
            </a:prstGeom>
            <a:solidFill>
              <a:schemeClr val="lt2"/>
            </a:solidFill>
            <a:ln>
              <a:noFill/>
            </a:ln>
          </p:spPr>
        </p:sp>
        <p:sp>
          <p:nvSpPr>
            <p:cNvPr id="29" name="Rectangle 29"/>
            <p:cNvSpPr/>
            <p:nvPr/>
          </p:nvSpPr>
          <p:spPr>
            <a:xfrm>
              <a:off x="6210300" y="3905250"/>
              <a:ext cx="57150" cy="914400"/>
            </a:xfrm>
            <a:prstGeom prst="rect">
              <a:avLst/>
            </a:prstGeom>
            <a:solidFill>
              <a:schemeClr val="accent2"/>
            </a:solidFill>
            <a:ln>
              <a:noFill/>
            </a:ln>
          </p:spPr>
        </p:sp>
        <p:sp>
          <p:nvSpPr>
            <p:cNvPr id="30" name="TextBox 30"/>
            <p:cNvSpPr txBox="1"/>
            <p:nvPr/>
          </p:nvSpPr>
          <p:spPr>
            <a:xfrm>
              <a:off x="6432042" y="404526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写作</a:t>
              </a:r>
            </a:p>
          </p:txBody>
        </p:sp>
        <p:sp>
          <p:nvSpPr>
            <p:cNvPr id="31" name="TextBox 31"/>
            <p:cNvSpPr txBox="1"/>
            <p:nvPr/>
          </p:nvSpPr>
          <p:spPr>
            <a:xfrm>
              <a:off x="6432042" y="4292918"/>
              <a:ext cx="274885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11 章、219 次引用、整合率 100%</a:t>
              </a:r>
            </a:p>
          </p:txBody>
        </p:sp>
        <p:sp>
          <p:nvSpPr>
            <p:cNvPr id="32" name="TextBox 32"/>
            <p:cNvSpPr txBox="1"/>
            <p:nvPr/>
          </p:nvSpPr>
          <p:spPr>
            <a:xfrm>
              <a:off x="6432042" y="4521518"/>
              <a:ext cx="273977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同类体系单独成节，前人结论汇总</a:t>
              </a:r>
            </a:p>
          </p:txBody>
        </p:sp>
      </p:grpSp>
      <p:grpSp>
        <p:nvGrpSpPr>
          <p:cNvPr id="49" name="Group 49"/>
          <p:cNvGrpSpPr/>
          <p:nvPr/>
        </p:nvGrpSpPr>
        <p:grpSpPr>
          <a:xfrm>
            <a:off x="685800" y="4953000"/>
            <a:ext cx="10820400" cy="914400"/>
            <a:chOff x="685800" y="4953000"/>
            <a:chExt cx="10820400" cy="914400"/>
          </a:xfrm>
        </p:grpSpPr>
        <p:sp>
          <p:nvSpPr>
            <p:cNvPr id="34" name="Rectangle 34"/>
            <p:cNvSpPr/>
            <p:nvPr/>
          </p:nvSpPr>
          <p:spPr>
            <a:xfrm>
              <a:off x="685800" y="4953000"/>
              <a:ext cx="3429000" cy="914400"/>
            </a:xfrm>
            <a:prstGeom prst="rect">
              <a:avLst/>
            </a:prstGeom>
            <a:solidFill>
              <a:schemeClr val="lt2"/>
            </a:solidFill>
            <a:ln>
              <a:noFill/>
            </a:ln>
          </p:spPr>
        </p:sp>
        <p:sp>
          <p:nvSpPr>
            <p:cNvPr id="35" name="Rectangle 35"/>
            <p:cNvSpPr/>
            <p:nvPr/>
          </p:nvSpPr>
          <p:spPr>
            <a:xfrm>
              <a:off x="685800" y="4953000"/>
              <a:ext cx="57150" cy="914400"/>
            </a:xfrm>
            <a:prstGeom prst="rect">
              <a:avLst/>
            </a:prstGeom>
            <a:solidFill>
              <a:schemeClr val="accent3"/>
            </a:solidFill>
            <a:ln>
              <a:noFill/>
            </a:ln>
          </p:spPr>
        </p:sp>
        <p:sp>
          <p:nvSpPr>
            <p:cNvPr id="36" name="TextBox 36"/>
            <p:cNvSpPr txBox="1"/>
            <p:nvPr/>
          </p:nvSpPr>
          <p:spPr>
            <a:xfrm>
              <a:off x="907542" y="509301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绘图</a:t>
              </a:r>
            </a:p>
          </p:txBody>
        </p:sp>
        <p:sp>
          <p:nvSpPr>
            <p:cNvPr id="37" name="TextBox 37"/>
            <p:cNvSpPr txBox="1"/>
            <p:nvPr/>
          </p:nvSpPr>
          <p:spPr>
            <a:xfrm>
              <a:off x="907542" y="5340668"/>
              <a:ext cx="271251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 张图先生成视觉参照，再重建为</a:t>
              </a:r>
            </a:p>
          </p:txBody>
        </p:sp>
        <p:sp>
          <p:nvSpPr>
            <p:cNvPr id="38" name="TextBox 38"/>
            <p:cNvSpPr txBox="1"/>
            <p:nvPr/>
          </p:nvSpPr>
          <p:spPr>
            <a:xfrm>
              <a:off x="907542" y="5569268"/>
              <a:ext cx="237629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可编辑图，全部通过排版检查</a:t>
              </a:r>
            </a:p>
          </p:txBody>
        </p:sp>
        <p:sp>
          <p:nvSpPr>
            <p:cNvPr id="39" name="Rectangle 39"/>
            <p:cNvSpPr/>
            <p:nvPr/>
          </p:nvSpPr>
          <p:spPr>
            <a:xfrm>
              <a:off x="4381500" y="4953000"/>
              <a:ext cx="3429000" cy="914400"/>
            </a:xfrm>
            <a:prstGeom prst="rect">
              <a:avLst/>
            </a:prstGeom>
            <a:solidFill>
              <a:schemeClr val="lt2"/>
            </a:solidFill>
            <a:ln>
              <a:noFill/>
            </a:ln>
          </p:spPr>
        </p:sp>
        <p:sp>
          <p:nvSpPr>
            <p:cNvPr id="40" name="Rectangle 40"/>
            <p:cNvSpPr/>
            <p:nvPr/>
          </p:nvSpPr>
          <p:spPr>
            <a:xfrm>
              <a:off x="4381500" y="4953000"/>
              <a:ext cx="57150" cy="914400"/>
            </a:xfrm>
            <a:prstGeom prst="rect">
              <a:avLst/>
            </a:prstGeom>
            <a:solidFill>
              <a:schemeClr val="accent3"/>
            </a:solidFill>
            <a:ln>
              <a:noFill/>
            </a:ln>
          </p:spPr>
        </p:sp>
        <p:sp>
          <p:nvSpPr>
            <p:cNvPr id="41" name="TextBox 41"/>
            <p:cNvSpPr txBox="1"/>
            <p:nvPr/>
          </p:nvSpPr>
          <p:spPr>
            <a:xfrm>
              <a:off x="46032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想法生成</a:t>
              </a:r>
            </a:p>
          </p:txBody>
        </p:sp>
        <p:sp>
          <p:nvSpPr>
            <p:cNvPr id="42" name="TextBox 42"/>
            <p:cNvSpPr txBox="1"/>
            <p:nvPr/>
          </p:nvSpPr>
          <p:spPr>
            <a:xfrm>
              <a:off x="4603242" y="5340668"/>
              <a:ext cx="291233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调用 RECIPE 3 次（Zn / Mg / Co）</a:t>
              </a:r>
            </a:p>
          </p:txBody>
        </p:sp>
        <p:sp>
          <p:nvSpPr>
            <p:cNvPr id="43" name="TextBox 43"/>
            <p:cNvSpPr txBox="1"/>
            <p:nvPr/>
          </p:nvSpPr>
          <p:spPr>
            <a:xfrm>
              <a:off x="4603242" y="5569268"/>
              <a:ext cx="2558034"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给出四个实验方向及前驱体候选</a:t>
              </a:r>
            </a:p>
          </p:txBody>
        </p:sp>
        <p:sp>
          <p:nvSpPr>
            <p:cNvPr id="44" name="Rectangle 44"/>
            <p:cNvSpPr/>
            <p:nvPr/>
          </p:nvSpPr>
          <p:spPr>
            <a:xfrm>
              <a:off x="8077200" y="4953000"/>
              <a:ext cx="3429000" cy="914400"/>
            </a:xfrm>
            <a:prstGeom prst="rect">
              <a:avLst/>
            </a:prstGeom>
            <a:solidFill>
              <a:schemeClr val="lt2"/>
            </a:solidFill>
            <a:ln>
              <a:noFill/>
            </a:ln>
          </p:spPr>
        </p:sp>
        <p:sp>
          <p:nvSpPr>
            <p:cNvPr id="45" name="Rectangle 45"/>
            <p:cNvSpPr/>
            <p:nvPr/>
          </p:nvSpPr>
          <p:spPr>
            <a:xfrm>
              <a:off x="8077200" y="4953000"/>
              <a:ext cx="57150" cy="914400"/>
            </a:xfrm>
            <a:prstGeom prst="rect">
              <a:avLst/>
            </a:prstGeom>
            <a:solidFill>
              <a:schemeClr val="accent3"/>
            </a:solidFill>
            <a:ln>
              <a:noFill/>
            </a:ln>
          </p:spPr>
        </p:sp>
        <p:sp>
          <p:nvSpPr>
            <p:cNvPr id="46" name="TextBox 46"/>
            <p:cNvSpPr txBox="1"/>
            <p:nvPr/>
          </p:nvSpPr>
          <p:spPr>
            <a:xfrm>
              <a:off x="82989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对抗审稿</a:t>
              </a:r>
            </a:p>
          </p:txBody>
        </p:sp>
        <p:sp>
          <p:nvSpPr>
            <p:cNvPr id="47" name="TextBox 47"/>
            <p:cNvSpPr txBox="1"/>
            <p:nvPr/>
          </p:nvSpPr>
          <p:spPr>
            <a:xfrm>
              <a:off x="8298942" y="5340668"/>
              <a:ext cx="240355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两轮；首轮 7 项问题全部关闭</a:t>
              </a:r>
            </a:p>
          </p:txBody>
        </p:sp>
        <p:sp>
          <p:nvSpPr>
            <p:cNvPr id="48" name="TextBox 48"/>
            <p:cNvSpPr txBox="1"/>
            <p:nvPr/>
          </p:nvSpPr>
          <p:spPr>
            <a:xfrm>
              <a:off x="8298942" y="5569268"/>
              <a:ext cx="94966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终审 0 问题</a:t>
              </a:r>
            </a:p>
          </p:txBody>
        </p:sp>
      </p:grpSp>
      <p:grpSp>
        <p:nvGrpSpPr>
          <p:cNvPr id="52" name="Group 52"/>
          <p:cNvGrpSpPr/>
          <p:nvPr/>
        </p:nvGrpSpPr>
        <p:grpSpPr>
          <a:xfrm>
            <a:off x="679704" y="6038850"/>
            <a:ext cx="10826496" cy="352806"/>
            <a:chOff x="679704" y="6038850"/>
            <a:chExt cx="10826496" cy="352806"/>
          </a:xfrm>
        </p:grpSpPr>
        <p:sp>
          <p:nvSpPr>
            <p:cNvPr id="50" name="Line 50"/>
            <p:cNvSpPr/>
            <p:nvPr/>
          </p:nvSpPr>
          <p:spPr>
            <a:xfrm>
              <a:off x="685800" y="603885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51" name="TextBox 51"/>
            <p:cNvSpPr txBox="1"/>
            <p:nvPr/>
          </p:nvSpPr>
          <p:spPr>
            <a:xfrm>
              <a:off x="679704" y="6156960"/>
              <a:ext cx="695858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七类角色共同交付：从一行主题开始，把检索、核对、写作、绘图、想法与审稿串成可复查结果。</a:t>
              </a:r>
            </a:p>
          </p:txBody>
        </p:sp>
      </p:grpSp>
      <p:grpSp>
        <p:nvGrpSpPr>
          <p:cNvPr id="55" name="Group 55"/>
          <p:cNvGrpSpPr/>
          <p:nvPr/>
        </p:nvGrpSpPr>
        <p:grpSpPr>
          <a:xfrm>
            <a:off x="679704" y="6480810"/>
            <a:ext cx="10832592" cy="234696"/>
            <a:chOff x="679704" y="6480810"/>
            <a:chExt cx="10832592" cy="234696"/>
          </a:xfrm>
        </p:grpSpPr>
        <p:sp>
          <p:nvSpPr>
            <p:cNvPr id="53" name="TextBox 5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54" name="TextBox 54"/>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585924" cy="586740"/>
            <a:chOff x="670560" y="590550"/>
            <a:chExt cx="11585924" cy="586740"/>
          </a:xfrm>
        </p:grpSpPr>
        <p:sp>
          <p:nvSpPr>
            <p:cNvPr id="2" name="TextBox 2"/>
            <p:cNvSpPr txBox="1"/>
            <p:nvPr/>
          </p:nvSpPr>
          <p:spPr>
            <a:xfrm>
              <a:off x="670560" y="590550"/>
              <a:ext cx="1158592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复用开源 Codex，自研并开源 MCP 与绘图工具，仓库全开源</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30512" cy="743331"/>
            <a:chOff x="675894" y="1370648"/>
            <a:chExt cx="9430512" cy="743331"/>
          </a:xfrm>
        </p:grpSpPr>
        <p:sp>
          <p:nvSpPr>
            <p:cNvPr id="5" name="TextBox 5"/>
            <p:cNvSpPr txBox="1"/>
            <p:nvPr/>
          </p:nvSpPr>
          <p:spPr>
            <a:xfrm>
              <a:off x="675894" y="1370648"/>
              <a:ext cx="943051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复现依靠可读的角色说明、可运行的工具和开源产物；同一主题可以重跑整条流水线，</a:t>
              </a:r>
              <a:r>
                <a:rPr lang="zh-CN" sz="1950" dirty="0">
                  <a:solidFill>
                    <a:schemeClr val="dk1"/>
                  </a:solidFill>
                  <a:latin typeface="Segoe UI"/>
                  <a:ea typeface="Microsoft YaHei"/>
                  <a:cs typeface="Segoe UI"/>
                </a:rPr>
                <a:t>并以所有质量关卡通过作为判据。</a:t>
              </a:r>
            </a:p>
          </p:txBody>
        </p:sp>
      </p:grpSp>
      <p:grpSp>
        <p:nvGrpSpPr>
          <p:cNvPr id="16" name="Group 16"/>
          <p:cNvGrpSpPr/>
          <p:nvPr/>
        </p:nvGrpSpPr>
        <p:grpSpPr>
          <a:xfrm>
            <a:off x="685800" y="2190750"/>
            <a:ext cx="5295900" cy="3829050"/>
            <a:chOff x="685800" y="2190750"/>
            <a:chExt cx="5295900" cy="3829050"/>
          </a:xfrm>
        </p:grpSpPr>
        <p:sp>
          <p:nvSpPr>
            <p:cNvPr id="7" name="Rectangle 7"/>
            <p:cNvSpPr/>
            <p:nvPr/>
          </p:nvSpPr>
          <p:spPr>
            <a:xfrm>
              <a:off x="685800" y="2190750"/>
              <a:ext cx="5295900" cy="3829050"/>
            </a:xfrm>
            <a:prstGeom prst="rect">
              <a:avLst/>
            </a:prstGeom>
            <a:solidFill>
              <a:schemeClr val="lt2"/>
            </a:solidFill>
            <a:ln>
              <a:noFill/>
            </a:ln>
          </p:spPr>
        </p:sp>
        <p:sp>
          <p:nvSpPr>
            <p:cNvPr id="8" name="TextBox 8"/>
            <p:cNvSpPr txBox="1"/>
            <p:nvPr/>
          </p:nvSpPr>
          <p:spPr>
            <a:xfrm>
              <a:off x="907542" y="2387918"/>
              <a:ext cx="2093696"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1 复用开源的 Codex CLI</a:t>
              </a:r>
            </a:p>
          </p:txBody>
        </p:sp>
        <p:sp>
          <p:nvSpPr>
            <p:cNvPr id="9" name="TextBox 9"/>
            <p:cNvSpPr txBox="1"/>
            <p:nvPr/>
          </p:nvSpPr>
          <p:spPr>
            <a:xfrm>
              <a:off x="907542" y="2692718"/>
              <a:ext cx="3999928"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把 Codex CLI 作为 Agent 宿主，9 个角色都是可读的</a:t>
              </a:r>
              <a:r>
                <a:rPr lang="zh-CN" sz="1350" dirty="0">
                  <a:solidFill>
                    <a:schemeClr val="dk1"/>
                  </a:solidFill>
                  <a:latin typeface="Segoe UI"/>
                  <a:ea typeface="Microsoft YaHei"/>
                  <a:cs typeface="Segoe UI"/>
                </a:rPr>
                <a:t>Markdown 说明。</a:t>
              </a:r>
            </a:p>
          </p:txBody>
        </p:sp>
        <p:sp>
          <p:nvSpPr>
            <p:cNvPr id="10" name="Line 10"/>
            <p:cNvSpPr/>
            <p:nvPr/>
          </p:nvSpPr>
          <p:spPr>
            <a:xfrm>
              <a:off x="914400" y="325755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11" name="TextBox 11"/>
            <p:cNvSpPr txBox="1"/>
            <p:nvPr/>
          </p:nvSpPr>
          <p:spPr>
            <a:xfrm>
              <a:off x="907542" y="3435668"/>
              <a:ext cx="1888830"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2 四个自研 MCP 服务</a:t>
              </a:r>
            </a:p>
          </p:txBody>
        </p:sp>
        <p:sp>
          <p:nvSpPr>
            <p:cNvPr id="12" name="TextBox 12"/>
            <p:cNvSpPr txBox="1"/>
            <p:nvPr/>
          </p:nvSpPr>
          <p:spPr>
            <a:xfrm>
              <a:off x="907542" y="3740468"/>
              <a:ext cx="3845623"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文献检索、引用核对、绘图、RECIPE 前驱体预测，</a:t>
              </a:r>
              <a:r>
                <a:rPr lang="zh-CN" sz="1350" dirty="0">
                  <a:solidFill>
                    <a:schemeClr val="dk1"/>
                  </a:solidFill>
                  <a:latin typeface="Segoe UI"/>
                  <a:ea typeface="Microsoft YaHei"/>
                  <a:cs typeface="Segoe UI"/>
                </a:rPr>
                <a:t>全部自主设计并开源。</a:t>
              </a:r>
            </a:p>
          </p:txBody>
        </p:sp>
        <p:sp>
          <p:nvSpPr>
            <p:cNvPr id="13" name="Line 13"/>
            <p:cNvSpPr/>
            <p:nvPr/>
          </p:nvSpPr>
          <p:spPr>
            <a:xfrm>
              <a:off x="914400" y="43053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14" name="TextBox 14"/>
            <p:cNvSpPr txBox="1"/>
            <p:nvPr/>
          </p:nvSpPr>
          <p:spPr>
            <a:xfrm>
              <a:off x="907542" y="4483418"/>
              <a:ext cx="1130036"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3 知识库构成</a:t>
              </a:r>
            </a:p>
          </p:txBody>
        </p:sp>
        <p:sp>
          <p:nvSpPr>
            <p:cNvPr id="15" name="TextBox 15"/>
            <p:cNvSpPr txBox="1"/>
            <p:nvPr/>
          </p:nvSpPr>
          <p:spPr>
            <a:xfrm>
              <a:off x="907542" y="4788218"/>
              <a:ext cx="3734181"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部分公开的文献全文库（被引文献中 21 篇全文）</a:t>
              </a:r>
              <a:r>
                <a:rPr lang="zh-CN" sz="1350" dirty="0">
                  <a:solidFill>
                    <a:schemeClr val="dk1"/>
                  </a:solidFill>
                  <a:latin typeface="Segoe UI"/>
                  <a:ea typeface="Microsoft YaHei"/>
                  <a:cs typeface="Segoe UI"/>
                </a:rPr>
                <a:t xml:space="preserve">+ 在线检索：arXiv / OpenAlex / Crossref / </a:t>
              </a:r>
              <a:r>
                <a:rPr lang="en-US" sz="1350" dirty="0">
                  <a:solidFill>
                    <a:schemeClr val="dk1"/>
                  </a:solidFill>
                  <a:latin typeface="Segoe UI"/>
                  <a:ea typeface="Segoe UI"/>
                  <a:cs typeface="Segoe UI"/>
                </a:rPr>
                <a:t>Semantic Scholar</a:t>
              </a:r>
            </a:p>
          </p:txBody>
        </p:sp>
      </p:grpSp>
      <p:grpSp>
        <p:nvGrpSpPr>
          <p:cNvPr id="28" name="Group 28"/>
          <p:cNvGrpSpPr/>
          <p:nvPr/>
        </p:nvGrpSpPr>
        <p:grpSpPr>
          <a:xfrm>
            <a:off x="6210300" y="2190750"/>
            <a:ext cx="5295900" cy="3829050"/>
            <a:chOff x="6210300" y="2190750"/>
            <a:chExt cx="5295900" cy="3829050"/>
          </a:xfrm>
        </p:grpSpPr>
        <p:sp>
          <p:nvSpPr>
            <p:cNvPr id="17" name="Rectangle 17"/>
            <p:cNvSpPr/>
            <p:nvPr/>
          </p:nvSpPr>
          <p:spPr>
            <a:xfrm>
              <a:off x="6210300" y="2190750"/>
              <a:ext cx="5295900" cy="3829050"/>
            </a:xfrm>
            <a:prstGeom prst="rect">
              <a:avLst/>
            </a:prstGeom>
            <a:solidFill>
              <a:schemeClr val="lt2"/>
            </a:solidFill>
            <a:ln>
              <a:noFill/>
            </a:ln>
          </p:spPr>
        </p:sp>
        <p:sp>
          <p:nvSpPr>
            <p:cNvPr id="18" name="Freeform 18"/>
            <p:cNvSpPr/>
            <p:nvPr/>
          </p:nvSpPr>
          <p:spPr>
            <a:xfrm>
              <a:off x="6472238" y="2450465"/>
              <a:ext cx="188913" cy="202248"/>
            </a:xfrm>
            <a:custGeom>
              <a:avLst/>
              <a:gdLst/>
              <a:ahLst/>
              <a:cxnLst/>
              <a:rect l="l" t="t" r="r" b="b"/>
              <a:pathLst>
                <a:path w="188913" h="202248">
                  <a:moveTo>
                    <a:pt x="66675" y="180023"/>
                  </a:moveTo>
                  <a:cubicBezTo>
                    <a:pt x="18891" y="195581"/>
                    <a:pt x="18891" y="152242"/>
                    <a:pt x="0" y="146685"/>
                  </a:cubicBezTo>
                  <a:moveTo>
                    <a:pt x="133350" y="202248"/>
                  </a:moveTo>
                  <a:lnTo>
                    <a:pt x="133350" y="163354"/>
                  </a:lnTo>
                  <a:cubicBezTo>
                    <a:pt x="133350" y="152242"/>
                    <a:pt x="134462" y="147797"/>
                    <a:pt x="127794" y="141129"/>
                  </a:cubicBezTo>
                  <a:cubicBezTo>
                    <a:pt x="158909" y="137795"/>
                    <a:pt x="188913" y="125572"/>
                    <a:pt x="188913" y="74454"/>
                  </a:cubicBezTo>
                  <a:cubicBezTo>
                    <a:pt x="188900" y="61174"/>
                    <a:pt x="183718" y="48421"/>
                    <a:pt x="174467" y="38894"/>
                  </a:cubicBezTo>
                  <a:cubicBezTo>
                    <a:pt x="178806" y="27359"/>
                    <a:pt x="178406" y="14576"/>
                    <a:pt x="173355" y="3334"/>
                  </a:cubicBezTo>
                  <a:cubicBezTo>
                    <a:pt x="173355" y="3334"/>
                    <a:pt x="161132" y="0"/>
                    <a:pt x="134462" y="17780"/>
                  </a:cubicBezTo>
                  <a:cubicBezTo>
                    <a:pt x="111873" y="11897"/>
                    <a:pt x="88153" y="11897"/>
                    <a:pt x="65564" y="17780"/>
                  </a:cubicBezTo>
                  <a:cubicBezTo>
                    <a:pt x="38894" y="0"/>
                    <a:pt x="26670" y="3334"/>
                    <a:pt x="26670" y="3334"/>
                  </a:cubicBezTo>
                  <a:cubicBezTo>
                    <a:pt x="21619" y="14576"/>
                    <a:pt x="21220" y="27359"/>
                    <a:pt x="25559" y="38894"/>
                  </a:cubicBezTo>
                  <a:cubicBezTo>
                    <a:pt x="16307" y="48421"/>
                    <a:pt x="11126" y="61174"/>
                    <a:pt x="11113" y="74454"/>
                  </a:cubicBezTo>
                  <a:cubicBezTo>
                    <a:pt x="11113" y="125572"/>
                    <a:pt x="41116" y="137795"/>
                    <a:pt x="72231" y="141129"/>
                  </a:cubicBezTo>
                  <a:cubicBezTo>
                    <a:pt x="65564" y="147797"/>
                    <a:pt x="65564" y="154464"/>
                    <a:pt x="66675" y="163354"/>
                  </a:cubicBezTo>
                  <a:lnTo>
                    <a:pt x="66675" y="202248"/>
                  </a:lnTo>
                </a:path>
              </a:pathLst>
            </a:custGeom>
            <a:noFill/>
            <a:ln w="19050">
              <a:solidFill>
                <a:schemeClr val="accent1"/>
              </a:solidFill>
            </a:ln>
          </p:spPr>
        </p:sp>
        <p:sp>
          <p:nvSpPr>
            <p:cNvPr id="19" name="TextBox 19"/>
            <p:cNvSpPr txBox="1"/>
            <p:nvPr/>
          </p:nvSpPr>
          <p:spPr>
            <a:xfrm>
              <a:off x="6793992" y="2483168"/>
              <a:ext cx="189333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4 绘图工具与开源仓库</a:t>
              </a:r>
            </a:p>
          </p:txBody>
        </p:sp>
        <p:sp>
          <p:nvSpPr>
            <p:cNvPr id="20" name="TextBox 20"/>
            <p:cNvSpPr txBox="1"/>
            <p:nvPr/>
          </p:nvSpPr>
          <p:spPr>
            <a:xfrm>
              <a:off x="6432042" y="2787968"/>
              <a:ext cx="403421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一份图源同时生成论文图与 draw.io 可编辑图。</a:t>
              </a:r>
              <a:r>
                <a:rPr lang="zh-CN" sz="1350" dirty="0">
                  <a:solidFill>
                    <a:schemeClr val="dk1"/>
                  </a:solidFill>
                  <a:latin typeface="Segoe UI"/>
                  <a:ea typeface="Microsoft YaHei"/>
                  <a:cs typeface="Segoe UI"/>
                </a:rPr>
                <a:t>整个仓库 MIT 开源，一键安装、冒烟测试 1–2 分钟、</a:t>
              </a:r>
              <a:r>
                <a:rPr lang="zh-CN" sz="1350" dirty="0">
                  <a:solidFill>
                    <a:schemeClr val="dk1"/>
                  </a:solidFill>
                  <a:latin typeface="Segoe UI"/>
                  <a:ea typeface="Microsoft YaHei"/>
                  <a:cs typeface="Segoe UI"/>
                </a:rPr>
                <a:t>同一主题可重跑整条流水线。</a:t>
              </a:r>
            </a:p>
          </p:txBody>
        </p:sp>
        <p:sp>
          <p:nvSpPr>
            <p:cNvPr id="21" name="Line 21"/>
            <p:cNvSpPr/>
            <p:nvPr/>
          </p:nvSpPr>
          <p:spPr>
            <a:xfrm>
              <a:off x="6438900" y="3905250"/>
              <a:ext cx="4838700" cy="9525"/>
            </a:xfrm>
            <a:custGeom>
              <a:avLst/>
              <a:gdLst/>
              <a:ahLst/>
              <a:cxnLst/>
              <a:rect l="l" t="t" r="r" b="b"/>
              <a:pathLst>
                <a:path w="4838700" h="9525">
                  <a:moveTo>
                    <a:pt x="0" y="0"/>
                  </a:moveTo>
                  <a:lnTo>
                    <a:pt x="4838700" y="0"/>
                  </a:lnTo>
                </a:path>
              </a:pathLst>
            </a:custGeom>
            <a:noFill/>
            <a:ln w="9525">
              <a:solidFill>
                <a:schemeClr val="accent4"/>
              </a:solidFill>
            </a:ln>
          </p:spPr>
        </p:sp>
        <p:grpSp>
          <p:nvGrpSpPr>
            <p:cNvPr id="25" name="Group 25"/>
            <p:cNvGrpSpPr/>
            <p:nvPr/>
          </p:nvGrpSpPr>
          <p:grpSpPr>
            <a:xfrm>
              <a:off x="6460179" y="4220646"/>
              <a:ext cx="224134" cy="192560"/>
              <a:chOff x="6460179" y="4220646"/>
              <a:chExt cx="224134" cy="192560"/>
            </a:xfrm>
          </p:grpSpPr>
          <p:sp>
            <p:nvSpPr>
              <p:cNvPr id="22" name="Freeform 22"/>
              <p:cNvSpPr/>
              <p:nvPr/>
            </p:nvSpPr>
            <p:spPr>
              <a:xfrm>
                <a:off x="6572250" y="4291013"/>
                <a:ext cx="9525" cy="44450"/>
              </a:xfrm>
              <a:custGeom>
                <a:avLst/>
                <a:gdLst/>
                <a:ahLst/>
                <a:cxnLst/>
                <a:rect l="l" t="t" r="r" b="b"/>
                <a:pathLst>
                  <a:path w="9525" h="44450">
                    <a:moveTo>
                      <a:pt x="0" y="0"/>
                    </a:moveTo>
                    <a:lnTo>
                      <a:pt x="0" y="44450"/>
                    </a:lnTo>
                  </a:path>
                </a:pathLst>
              </a:custGeom>
              <a:noFill/>
              <a:ln w="19050">
                <a:solidFill>
                  <a:schemeClr val="accent2"/>
                </a:solidFill>
              </a:ln>
            </p:spPr>
          </p:sp>
          <p:sp>
            <p:nvSpPr>
              <p:cNvPr id="23" name="Freeform 23"/>
              <p:cNvSpPr/>
              <p:nvPr/>
            </p:nvSpPr>
            <p:spPr>
              <a:xfrm>
                <a:off x="6460179" y="42206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2"/>
                </a:solidFill>
              </a:ln>
            </p:spPr>
          </p:sp>
          <p:sp>
            <p:nvSpPr>
              <p:cNvPr id="24" name="Freeform 24"/>
              <p:cNvSpPr/>
              <p:nvPr/>
            </p:nvSpPr>
            <p:spPr>
              <a:xfrm>
                <a:off x="6572250" y="4368801"/>
                <a:ext cx="9525" cy="9525"/>
              </a:xfrm>
              <a:custGeom>
                <a:avLst/>
                <a:gdLst/>
                <a:ahLst/>
                <a:cxnLst/>
                <a:rect l="l" t="t" r="r" b="b"/>
                <a:pathLst>
                  <a:path w="9525" h="9525">
                    <a:moveTo>
                      <a:pt x="0" y="0"/>
                    </a:moveTo>
                    <a:lnTo>
                      <a:pt x="111" y="0"/>
                    </a:lnTo>
                  </a:path>
                </a:pathLst>
              </a:custGeom>
              <a:noFill/>
              <a:ln w="19050">
                <a:solidFill>
                  <a:schemeClr val="accent2"/>
                </a:solidFill>
              </a:ln>
            </p:spPr>
          </p:sp>
        </p:grpSp>
        <p:sp>
          <p:nvSpPr>
            <p:cNvPr id="26" name="TextBox 26"/>
            <p:cNvSpPr txBox="1"/>
            <p:nvPr/>
          </p:nvSpPr>
          <p:spPr>
            <a:xfrm>
              <a:off x="6793992" y="42548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诚实说明</a:t>
              </a:r>
            </a:p>
          </p:txBody>
        </p:sp>
        <p:sp>
          <p:nvSpPr>
            <p:cNvPr id="27" name="TextBox 27"/>
            <p:cNvSpPr txBox="1"/>
            <p:nvPr/>
          </p:nvSpPr>
          <p:spPr>
            <a:xfrm>
              <a:off x="6432042" y="4559618"/>
              <a:ext cx="3982784"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目标相仅 1 篇直接报道；大模型步骤不可逐字复现，</a:t>
              </a:r>
              <a:r>
                <a:rPr lang="zh-CN" sz="1350" dirty="0">
                  <a:solidFill>
                    <a:schemeClr val="dk1"/>
                  </a:solidFill>
                  <a:latin typeface="Segoe UI"/>
                  <a:ea typeface="Microsoft YaHei"/>
                  <a:cs typeface="Segoe UI"/>
                </a:rPr>
                <a:t>以关卡全部通过作为复现判据。</a:t>
              </a:r>
            </a:p>
          </p:txBody>
        </p:sp>
      </p:grpSp>
      <p:grpSp>
        <p:nvGrpSpPr>
          <p:cNvPr id="31" name="Group 31"/>
          <p:cNvGrpSpPr/>
          <p:nvPr/>
        </p:nvGrpSpPr>
        <p:grpSpPr>
          <a:xfrm>
            <a:off x="679704" y="6480810"/>
            <a:ext cx="10832592" cy="234696"/>
            <a:chOff x="679704" y="6480810"/>
            <a:chExt cx="10832592" cy="234696"/>
          </a:xfrm>
        </p:grpSpPr>
        <p:sp>
          <p:nvSpPr>
            <p:cNvPr id="29" name="TextBox 29"/>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0" name="TextBox 30"/>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0" y="0"/>
              <a:ext cx="12192000" cy="76200"/>
            </a:xfrm>
            <a:prstGeom prst="rect">
              <a:avLst/>
            </a:prstGeom>
            <a:solidFill>
              <a:schemeClr val="accent1"/>
            </a:solidFill>
            <a:ln>
              <a:noFill/>
            </a:ln>
          </p:spPr>
        </p:sp>
      </p:grpSp>
      <p:grpSp>
        <p:nvGrpSpPr>
          <p:cNvPr id="7" name="Group 7"/>
          <p:cNvGrpSpPr/>
          <p:nvPr/>
        </p:nvGrpSpPr>
        <p:grpSpPr>
          <a:xfrm>
            <a:off x="670560" y="590550"/>
            <a:ext cx="8498738" cy="586740"/>
            <a:chOff x="670560" y="590550"/>
            <a:chExt cx="8498738" cy="586740"/>
          </a:xfrm>
        </p:grpSpPr>
        <p:sp>
          <p:nvSpPr>
            <p:cNvPr id="5" name="TextBox 5"/>
            <p:cNvSpPr txBox="1"/>
            <p:nvPr/>
          </p:nvSpPr>
          <p:spPr>
            <a:xfrm>
              <a:off x="670560" y="590550"/>
              <a:ext cx="8498738"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MIT 开源；下一步是跨模型审稿与实验验证</a:t>
              </a:r>
            </a:p>
          </p:txBody>
        </p:sp>
        <p:sp>
          <p:nvSpPr>
            <p:cNvPr id="6" name="Rectangle 6"/>
            <p:cNvSpPr/>
            <p:nvPr/>
          </p:nvSpPr>
          <p:spPr>
            <a:xfrm>
              <a:off x="685800" y="1085850"/>
              <a:ext cx="685800" cy="38100"/>
            </a:xfrm>
            <a:prstGeom prst="rect">
              <a:avLst/>
            </a:prstGeom>
            <a:solidFill>
              <a:schemeClr val="accent1"/>
            </a:solidFill>
            <a:ln>
              <a:noFill/>
            </a:ln>
          </p:spPr>
        </p:sp>
      </p:grpSp>
      <p:grpSp>
        <p:nvGrpSpPr>
          <p:cNvPr id="11" name="Group 11"/>
          <p:cNvGrpSpPr/>
          <p:nvPr/>
        </p:nvGrpSpPr>
        <p:grpSpPr>
          <a:xfrm>
            <a:off x="1350950" y="1776412"/>
            <a:ext cx="9490100" cy="1161289"/>
            <a:chOff x="1350950" y="1776412"/>
            <a:chExt cx="9490100" cy="1161289"/>
          </a:xfrm>
        </p:grpSpPr>
        <p:sp>
          <p:nvSpPr>
            <p:cNvPr id="8" name="TextBox 8"/>
            <p:cNvSpPr txBox="1"/>
            <p:nvPr/>
          </p:nvSpPr>
          <p:spPr>
            <a:xfrm>
              <a:off x="2570231" y="1776412"/>
              <a:ext cx="7051538" cy="440055"/>
            </a:xfrm>
            <a:prstGeom prst="rect">
              <a:avLst/>
            </a:prstGeom>
            <a:noFill/>
            <a:ln>
              <a:noFill/>
            </a:ln>
          </p:spPr>
          <p:txBody>
            <a:bodyPr wrap="none" lIns="0" tIns="0" rIns="0" bIns="0" anchor="t" anchorCtr="0">
              <a:spAutoFit/>
            </a:bodyPr>
            <a:lstStyle/>
            <a:p>
              <a:pPr algn="ctr"/>
              <a:r>
                <a:rPr lang="zh-CN" sz="2250" b="1" dirty="0">
                  <a:solidFill>
                    <a:schemeClr val="dk1"/>
                  </a:solidFill>
                  <a:latin typeface="Segoe UI"/>
                  <a:ea typeface="Microsoft YaHei"/>
                  <a:cs typeface="Segoe UI"/>
                </a:rPr>
                <a:t>这套系统真正改变的，是把“该不该相信这条结论”</a:t>
              </a:r>
            </a:p>
          </p:txBody>
        </p:sp>
        <p:sp>
          <p:nvSpPr>
            <p:cNvPr id="9" name="TextBox 9"/>
            <p:cNvSpPr txBox="1"/>
            <p:nvPr/>
          </p:nvSpPr>
          <p:spPr>
            <a:xfrm>
              <a:off x="2690546" y="2195512"/>
              <a:ext cx="681090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Segoe UI"/>
                  <a:ea typeface="Microsoft YaHei"/>
                  <a:cs typeface="Segoe UI"/>
                </a:rPr>
                <a:t>变成一个可以点开 DOI 与原文段落回答的问题</a:t>
              </a:r>
            </a:p>
          </p:txBody>
        </p:sp>
        <p:sp>
          <p:nvSpPr>
            <p:cNvPr id="10" name="TextBox 10"/>
            <p:cNvSpPr txBox="1"/>
            <p:nvPr/>
          </p:nvSpPr>
          <p:spPr>
            <a:xfrm>
              <a:off x="1350950" y="2673668"/>
              <a:ext cx="9490100"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文献稀缺（BYZSO）与文献丰富但不可比（LLZO）两种情形下，都产出了可逐条核对的结论与可检验的实验建议</a:t>
              </a:r>
            </a:p>
          </p:txBody>
        </p:sp>
      </p:grpSp>
      <p:grpSp>
        <p:nvGrpSpPr>
          <p:cNvPr id="20" name="Group 20"/>
          <p:cNvGrpSpPr/>
          <p:nvPr/>
        </p:nvGrpSpPr>
        <p:grpSpPr>
          <a:xfrm>
            <a:off x="685800" y="3200400"/>
            <a:ext cx="3429000" cy="2514600"/>
            <a:chOff x="685800" y="3200400"/>
            <a:chExt cx="3429000" cy="2514600"/>
          </a:xfrm>
        </p:grpSpPr>
        <p:sp>
          <p:nvSpPr>
            <p:cNvPr id="12" name="Rectangle 12"/>
            <p:cNvSpPr/>
            <p:nvPr/>
          </p:nvSpPr>
          <p:spPr>
            <a:xfrm>
              <a:off x="685800" y="3200400"/>
              <a:ext cx="3429000" cy="2514600"/>
            </a:xfrm>
            <a:prstGeom prst="rect">
              <a:avLst/>
            </a:prstGeom>
            <a:solidFill>
              <a:schemeClr val="lt2"/>
            </a:solidFill>
            <a:ln>
              <a:noFill/>
            </a:ln>
          </p:spPr>
        </p:sp>
        <p:sp>
          <p:nvSpPr>
            <p:cNvPr id="13" name="TextBox 13"/>
            <p:cNvSpPr txBox="1"/>
            <p:nvPr/>
          </p:nvSpPr>
          <p:spPr>
            <a:xfrm>
              <a:off x="905256" y="3406140"/>
              <a:ext cx="106673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MIT 开源</a:t>
              </a:r>
            </a:p>
          </p:txBody>
        </p:sp>
        <p:sp>
          <p:nvSpPr>
            <p:cNvPr id="14" name="Freeform 14"/>
            <p:cNvSpPr/>
            <p:nvPr/>
          </p:nvSpPr>
          <p:spPr>
            <a:xfrm>
              <a:off x="947738" y="3745865"/>
              <a:ext cx="188913" cy="202248"/>
            </a:xfrm>
            <a:custGeom>
              <a:avLst/>
              <a:gdLst/>
              <a:ahLst/>
              <a:cxnLst/>
              <a:rect l="l" t="t" r="r" b="b"/>
              <a:pathLst>
                <a:path w="188913" h="202248">
                  <a:moveTo>
                    <a:pt x="66675" y="180023"/>
                  </a:moveTo>
                  <a:cubicBezTo>
                    <a:pt x="18891" y="195581"/>
                    <a:pt x="18891" y="152242"/>
                    <a:pt x="0" y="146685"/>
                  </a:cubicBezTo>
                  <a:moveTo>
                    <a:pt x="133350" y="202248"/>
                  </a:moveTo>
                  <a:lnTo>
                    <a:pt x="133350" y="163354"/>
                  </a:lnTo>
                  <a:cubicBezTo>
                    <a:pt x="133350" y="152242"/>
                    <a:pt x="134462" y="147797"/>
                    <a:pt x="127794" y="141129"/>
                  </a:cubicBezTo>
                  <a:cubicBezTo>
                    <a:pt x="158909" y="137795"/>
                    <a:pt x="188913" y="125572"/>
                    <a:pt x="188913" y="74454"/>
                  </a:cubicBezTo>
                  <a:cubicBezTo>
                    <a:pt x="188900" y="61174"/>
                    <a:pt x="183718" y="48421"/>
                    <a:pt x="174467" y="38894"/>
                  </a:cubicBezTo>
                  <a:cubicBezTo>
                    <a:pt x="178806" y="27359"/>
                    <a:pt x="178406" y="14576"/>
                    <a:pt x="173355" y="3334"/>
                  </a:cubicBezTo>
                  <a:cubicBezTo>
                    <a:pt x="173355" y="3334"/>
                    <a:pt x="161132" y="0"/>
                    <a:pt x="134462" y="17780"/>
                  </a:cubicBezTo>
                  <a:cubicBezTo>
                    <a:pt x="111873" y="11897"/>
                    <a:pt x="88153" y="11897"/>
                    <a:pt x="65564" y="17780"/>
                  </a:cubicBezTo>
                  <a:cubicBezTo>
                    <a:pt x="38894" y="0"/>
                    <a:pt x="26670" y="3334"/>
                    <a:pt x="26670" y="3334"/>
                  </a:cubicBezTo>
                  <a:cubicBezTo>
                    <a:pt x="21619" y="14576"/>
                    <a:pt x="21220" y="27359"/>
                    <a:pt x="25559" y="38894"/>
                  </a:cubicBezTo>
                  <a:cubicBezTo>
                    <a:pt x="16307" y="48421"/>
                    <a:pt x="11126" y="61174"/>
                    <a:pt x="11113" y="74454"/>
                  </a:cubicBezTo>
                  <a:cubicBezTo>
                    <a:pt x="11113" y="125572"/>
                    <a:pt x="41116" y="137795"/>
                    <a:pt x="72231" y="141129"/>
                  </a:cubicBezTo>
                  <a:cubicBezTo>
                    <a:pt x="65564" y="147797"/>
                    <a:pt x="65564" y="154464"/>
                    <a:pt x="66675" y="163354"/>
                  </a:cubicBezTo>
                  <a:lnTo>
                    <a:pt x="66675" y="202248"/>
                  </a:lnTo>
                </a:path>
              </a:pathLst>
            </a:custGeom>
            <a:noFill/>
            <a:ln w="19050">
              <a:solidFill>
                <a:schemeClr val="accent1"/>
              </a:solidFill>
            </a:ln>
          </p:spPr>
        </p:sp>
        <p:sp>
          <p:nvSpPr>
            <p:cNvPr id="15" name="TextBox 15"/>
            <p:cNvSpPr txBox="1"/>
            <p:nvPr/>
          </p:nvSpPr>
          <p:spPr>
            <a:xfrm>
              <a:off x="1288542" y="3826192"/>
              <a:ext cx="2112778" cy="264033"/>
            </a:xfrm>
            <a:prstGeom prst="rect">
              <a:avLst/>
            </a:prstGeom>
            <a:noFill/>
            <a:ln>
              <a:noFill/>
            </a:ln>
          </p:spPr>
          <p:txBody>
            <a:bodyPr wrap="none" lIns="0" tIns="0" rIns="0" bIns="0" anchor="t" anchorCtr="0">
              <a:spAutoFit/>
            </a:bodyPr>
            <a:lstStyle/>
            <a:p>
              <a:pPr algn="l"/>
              <a:r>
                <a:rPr lang="en-US" sz="1350" dirty="0">
                  <a:solidFill>
                    <a:schemeClr val="dk1"/>
                  </a:solidFill>
                  <a:latin typeface="Segoe UI"/>
                  <a:ea typeface="Segoe UI"/>
                  <a:cs typeface="Segoe UI"/>
                </a:rPr>
                <a:t>asimfish/goai_research</a:t>
              </a:r>
            </a:p>
          </p:txBody>
        </p:sp>
        <p:sp>
          <p:nvSpPr>
            <p:cNvPr id="16" name="TextBox 16"/>
            <p:cNvSpPr txBox="1"/>
            <p:nvPr/>
          </p:nvSpPr>
          <p:spPr>
            <a:xfrm>
              <a:off x="907542" y="4235768"/>
              <a:ext cx="309570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提交全部 Prompt、配置、依赖版本、</a:t>
              </a:r>
            </a:p>
          </p:txBody>
        </p:sp>
        <p:sp>
          <p:nvSpPr>
            <p:cNvPr id="17" name="TextBox 17"/>
            <p:cNvSpPr txBox="1"/>
            <p:nvPr/>
          </p:nvSpPr>
          <p:spPr>
            <a:xfrm>
              <a:off x="907542" y="4483418"/>
              <a:ext cx="3021463"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模型 checkpoint、构筑与运行轨迹、</a:t>
              </a:r>
            </a:p>
          </p:txBody>
        </p:sp>
        <p:sp>
          <p:nvSpPr>
            <p:cNvPr id="18" name="TextBox 18"/>
            <p:cNvSpPr txBox="1"/>
            <p:nvPr/>
          </p:nvSpPr>
          <p:spPr>
            <a:xfrm>
              <a:off x="907542" y="47310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证据包与指标代码</a:t>
              </a:r>
            </a:p>
          </p:txBody>
        </p:sp>
        <p:sp>
          <p:nvSpPr>
            <p:cNvPr id="19" name="TextBox 19"/>
            <p:cNvSpPr txBox="1"/>
            <p:nvPr/>
          </p:nvSpPr>
          <p:spPr>
            <a:xfrm>
              <a:off x="907542" y="5112068"/>
              <a:ext cx="261975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全部代码与产物按 MIT 协议发布，</a:t>
              </a:r>
              <a:r>
                <a:rPr lang="zh-CN" sz="1350" dirty="0">
                  <a:solidFill>
                    <a:schemeClr val="dk1"/>
                  </a:solidFill>
                  <a:latin typeface="Segoe UI"/>
                  <a:ea typeface="Microsoft YaHei"/>
                  <a:cs typeface="Segoe UI"/>
                </a:rPr>
                <a:t>安装、测试与流水线均可复用</a:t>
              </a:r>
            </a:p>
          </p:txBody>
        </p:sp>
      </p:grpSp>
      <p:grpSp>
        <p:nvGrpSpPr>
          <p:cNvPr id="31" name="Group 31"/>
          <p:cNvGrpSpPr/>
          <p:nvPr/>
        </p:nvGrpSpPr>
        <p:grpSpPr>
          <a:xfrm>
            <a:off x="4381500" y="3200400"/>
            <a:ext cx="3429000" cy="2514600"/>
            <a:chOff x="4381500" y="3200400"/>
            <a:chExt cx="3429000" cy="2514600"/>
          </a:xfrm>
        </p:grpSpPr>
        <p:sp>
          <p:nvSpPr>
            <p:cNvPr id="21" name="Rectangle 21"/>
            <p:cNvSpPr/>
            <p:nvPr/>
          </p:nvSpPr>
          <p:spPr>
            <a:xfrm>
              <a:off x="4381500" y="3200400"/>
              <a:ext cx="3429000" cy="2514600"/>
            </a:xfrm>
            <a:prstGeom prst="rect">
              <a:avLst/>
            </a:prstGeom>
            <a:solidFill>
              <a:schemeClr val="lt2"/>
            </a:solidFill>
            <a:ln>
              <a:noFill/>
            </a:ln>
          </p:spPr>
        </p:sp>
        <p:grpSp>
          <p:nvGrpSpPr>
            <p:cNvPr id="28" name="Group 28"/>
            <p:cNvGrpSpPr/>
            <p:nvPr/>
          </p:nvGrpSpPr>
          <p:grpSpPr>
            <a:xfrm>
              <a:off x="4665663" y="3435350"/>
              <a:ext cx="166687" cy="177801"/>
              <a:chOff x="4665663" y="3435350"/>
              <a:chExt cx="166687" cy="177801"/>
            </a:xfrm>
          </p:grpSpPr>
          <p:sp>
            <p:nvSpPr>
              <p:cNvPr id="22" name="Freeform 22"/>
              <p:cNvSpPr/>
              <p:nvPr/>
            </p:nvSpPr>
            <p:spPr>
              <a:xfrm>
                <a:off x="4665663" y="3568701"/>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23" name="Freeform 23"/>
              <p:cNvSpPr/>
              <p:nvPr/>
            </p:nvSpPr>
            <p:spPr>
              <a:xfrm>
                <a:off x="4665663" y="343535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24" name="Freeform 24"/>
              <p:cNvSpPr/>
              <p:nvPr/>
            </p:nvSpPr>
            <p:spPr>
              <a:xfrm>
                <a:off x="4776788" y="343535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25" name="Freeform 25"/>
              <p:cNvSpPr/>
              <p:nvPr/>
            </p:nvSpPr>
            <p:spPr>
              <a:xfrm>
                <a:off x="4687888" y="3479800"/>
                <a:ext cx="9525" cy="88900"/>
              </a:xfrm>
              <a:custGeom>
                <a:avLst/>
                <a:gdLst/>
                <a:ahLst/>
                <a:cxnLst/>
                <a:rect l="l" t="t" r="r" b="b"/>
                <a:pathLst>
                  <a:path w="9525" h="88900">
                    <a:moveTo>
                      <a:pt x="0" y="0"/>
                    </a:moveTo>
                    <a:lnTo>
                      <a:pt x="0" y="88900"/>
                    </a:lnTo>
                  </a:path>
                </a:pathLst>
              </a:custGeom>
              <a:noFill/>
              <a:ln w="19050">
                <a:solidFill>
                  <a:schemeClr val="accent1"/>
                </a:solidFill>
              </a:ln>
            </p:spPr>
          </p:sp>
          <p:sp>
            <p:nvSpPr>
              <p:cNvPr id="26" name="Freeform 26"/>
              <p:cNvSpPr/>
              <p:nvPr/>
            </p:nvSpPr>
            <p:spPr>
              <a:xfrm>
                <a:off x="4710113" y="3513138"/>
                <a:ext cx="88900" cy="77788"/>
              </a:xfrm>
              <a:custGeom>
                <a:avLst/>
                <a:gdLst/>
                <a:ahLst/>
                <a:cxnLst/>
                <a:rect l="l" t="t" r="r" b="b"/>
                <a:pathLst>
                  <a:path w="88900" h="77788">
                    <a:moveTo>
                      <a:pt x="0" y="77788"/>
                    </a:moveTo>
                    <a:lnTo>
                      <a:pt x="66675" y="77788"/>
                    </a:lnTo>
                    <a:cubicBezTo>
                      <a:pt x="78950" y="77788"/>
                      <a:pt x="88900" y="67837"/>
                      <a:pt x="88900" y="55563"/>
                    </a:cubicBezTo>
                    <a:lnTo>
                      <a:pt x="88900" y="0"/>
                    </a:lnTo>
                  </a:path>
                </a:pathLst>
              </a:custGeom>
              <a:noFill/>
              <a:ln w="19050">
                <a:solidFill>
                  <a:schemeClr val="accent1"/>
                </a:solidFill>
              </a:ln>
            </p:spPr>
          </p:sp>
          <p:sp>
            <p:nvSpPr>
              <p:cNvPr id="27" name="Freeform 27"/>
              <p:cNvSpPr/>
              <p:nvPr/>
            </p:nvSpPr>
            <p:spPr>
              <a:xfrm>
                <a:off x="4765675" y="3513138"/>
                <a:ext cx="66675" cy="33338"/>
              </a:xfrm>
              <a:custGeom>
                <a:avLst/>
                <a:gdLst/>
                <a:ahLst/>
                <a:cxnLst/>
                <a:rect l="l" t="t" r="r" b="b"/>
                <a:pathLst>
                  <a:path w="66675" h="33338">
                    <a:moveTo>
                      <a:pt x="0" y="33338"/>
                    </a:moveTo>
                    <a:lnTo>
                      <a:pt x="33338" y="0"/>
                    </a:lnTo>
                    <a:lnTo>
                      <a:pt x="66675" y="33338"/>
                    </a:lnTo>
                  </a:path>
                </a:pathLst>
              </a:custGeom>
              <a:noFill/>
              <a:ln w="19050">
                <a:solidFill>
                  <a:schemeClr val="accent1"/>
                </a:solidFill>
              </a:ln>
            </p:spPr>
          </p:sp>
        </p:grpSp>
        <p:sp>
          <p:nvSpPr>
            <p:cNvPr id="29" name="TextBox 29"/>
            <p:cNvSpPr txBox="1"/>
            <p:nvPr/>
          </p:nvSpPr>
          <p:spPr>
            <a:xfrm>
              <a:off x="4962906" y="3406140"/>
              <a:ext cx="154487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可复用的部分</a:t>
              </a:r>
            </a:p>
          </p:txBody>
        </p:sp>
        <p:sp>
          <p:nvSpPr>
            <p:cNvPr id="30" name="TextBox 30"/>
            <p:cNvSpPr txBox="1"/>
            <p:nvPr/>
          </p:nvSpPr>
          <p:spPr>
            <a:xfrm>
              <a:off x="4603242" y="3816668"/>
              <a:ext cx="2988374" cy="140703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任意主题的综述流程与质量关卡</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引用零信任核验（逐条比对作者）</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figspec 可编辑图纸：SVG + draw.io</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无机前驱体预测 MCP 工具（RECIPE）</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精简知识库导出与结论—证据映射</a:t>
              </a:r>
            </a:p>
          </p:txBody>
        </p:sp>
      </p:grpSp>
      <p:grpSp>
        <p:nvGrpSpPr>
          <p:cNvPr id="39" name="Group 39"/>
          <p:cNvGrpSpPr/>
          <p:nvPr/>
        </p:nvGrpSpPr>
        <p:grpSpPr>
          <a:xfrm>
            <a:off x="8077200" y="3200400"/>
            <a:ext cx="3429000" cy="2514600"/>
            <a:chOff x="8077200" y="3200400"/>
            <a:chExt cx="3429000" cy="2514600"/>
          </a:xfrm>
        </p:grpSpPr>
        <p:sp>
          <p:nvSpPr>
            <p:cNvPr id="32" name="Rectangle 32"/>
            <p:cNvSpPr/>
            <p:nvPr/>
          </p:nvSpPr>
          <p:spPr>
            <a:xfrm>
              <a:off x="8077200" y="3200400"/>
              <a:ext cx="3429000" cy="2514600"/>
            </a:xfrm>
            <a:prstGeom prst="rect">
              <a:avLst/>
            </a:prstGeom>
            <a:solidFill>
              <a:schemeClr val="lt2"/>
            </a:solidFill>
            <a:ln>
              <a:noFill/>
            </a:ln>
          </p:spPr>
        </p:sp>
        <p:grpSp>
          <p:nvGrpSpPr>
            <p:cNvPr id="36" name="Group 36"/>
            <p:cNvGrpSpPr/>
            <p:nvPr/>
          </p:nvGrpSpPr>
          <p:grpSpPr>
            <a:xfrm>
              <a:off x="8371388" y="3424238"/>
              <a:ext cx="135524" cy="200026"/>
              <a:chOff x="8371388" y="3424238"/>
              <a:chExt cx="135524" cy="200026"/>
            </a:xfrm>
          </p:grpSpPr>
          <p:sp>
            <p:nvSpPr>
              <p:cNvPr id="33" name="Freeform 33"/>
              <p:cNvSpPr/>
              <p:nvPr/>
            </p:nvSpPr>
            <p:spPr>
              <a:xfrm>
                <a:off x="8405813" y="3424238"/>
                <a:ext cx="66675" cy="9525"/>
              </a:xfrm>
              <a:custGeom>
                <a:avLst/>
                <a:gdLst/>
                <a:ahLst/>
                <a:cxnLst/>
                <a:rect l="l" t="t" r="r" b="b"/>
                <a:pathLst>
                  <a:path w="66675" h="9525">
                    <a:moveTo>
                      <a:pt x="0" y="0"/>
                    </a:moveTo>
                    <a:lnTo>
                      <a:pt x="66675" y="0"/>
                    </a:lnTo>
                  </a:path>
                </a:pathLst>
              </a:custGeom>
              <a:noFill/>
              <a:ln w="19050">
                <a:solidFill>
                  <a:schemeClr val="accent1"/>
                </a:solidFill>
              </a:ln>
            </p:spPr>
          </p:sp>
          <p:sp>
            <p:nvSpPr>
              <p:cNvPr id="34" name="Freeform 34"/>
              <p:cNvSpPr/>
              <p:nvPr/>
            </p:nvSpPr>
            <p:spPr>
              <a:xfrm>
                <a:off x="8416925" y="3490913"/>
                <a:ext cx="44450" cy="9525"/>
              </a:xfrm>
              <a:custGeom>
                <a:avLst/>
                <a:gdLst/>
                <a:ahLst/>
                <a:cxnLst/>
                <a:rect l="l" t="t" r="r" b="b"/>
                <a:pathLst>
                  <a:path w="44450" h="9525">
                    <a:moveTo>
                      <a:pt x="0" y="0"/>
                    </a:moveTo>
                    <a:lnTo>
                      <a:pt x="44450" y="0"/>
                    </a:lnTo>
                  </a:path>
                </a:pathLst>
              </a:custGeom>
              <a:noFill/>
              <a:ln w="19050">
                <a:solidFill>
                  <a:schemeClr val="accent1"/>
                </a:solidFill>
              </a:ln>
            </p:spPr>
          </p:sp>
          <p:sp>
            <p:nvSpPr>
              <p:cNvPr id="35" name="Freeform 35"/>
              <p:cNvSpPr/>
              <p:nvPr/>
            </p:nvSpPr>
            <p:spPr>
              <a:xfrm>
                <a:off x="8371388" y="3424238"/>
                <a:ext cx="135524" cy="200026"/>
              </a:xfrm>
              <a:custGeom>
                <a:avLst/>
                <a:gdLst/>
                <a:ahLst/>
                <a:cxnLst/>
                <a:rect l="l" t="t" r="r" b="b"/>
                <a:pathLst>
                  <a:path w="135524" h="200026">
                    <a:moveTo>
                      <a:pt x="45537" y="0"/>
                    </a:moveTo>
                    <a:lnTo>
                      <a:pt x="45537" y="66675"/>
                    </a:lnTo>
                    <a:lnTo>
                      <a:pt x="1087" y="188913"/>
                    </a:lnTo>
                    <a:cubicBezTo>
                      <a:pt x="0" y="191100"/>
                      <a:pt x="3" y="193670"/>
                      <a:pt x="1095" y="195854"/>
                    </a:cubicBezTo>
                    <a:cubicBezTo>
                      <a:pt x="2187" y="198039"/>
                      <a:pt x="4242" y="199583"/>
                      <a:pt x="6643" y="200026"/>
                    </a:cubicBezTo>
                    <a:lnTo>
                      <a:pt x="128881" y="200026"/>
                    </a:lnTo>
                    <a:cubicBezTo>
                      <a:pt x="131283" y="199583"/>
                      <a:pt x="133337" y="198039"/>
                      <a:pt x="134429" y="195854"/>
                    </a:cubicBezTo>
                    <a:cubicBezTo>
                      <a:pt x="135521" y="193670"/>
                      <a:pt x="135524" y="191100"/>
                      <a:pt x="134437" y="188913"/>
                    </a:cubicBezTo>
                    <a:lnTo>
                      <a:pt x="89987" y="66675"/>
                    </a:lnTo>
                    <a:lnTo>
                      <a:pt x="89987" y="0"/>
                    </a:lnTo>
                  </a:path>
                </a:pathLst>
              </a:custGeom>
              <a:noFill/>
              <a:ln w="19050">
                <a:solidFill>
                  <a:schemeClr val="accent1"/>
                </a:solidFill>
              </a:ln>
            </p:spPr>
          </p:sp>
        </p:grpSp>
        <p:sp>
          <p:nvSpPr>
            <p:cNvPr id="37" name="TextBox 37"/>
            <p:cNvSpPr txBox="1"/>
            <p:nvPr/>
          </p:nvSpPr>
          <p:spPr>
            <a:xfrm>
              <a:off x="8658606" y="3406140"/>
              <a:ext cx="78158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下一步</a:t>
              </a:r>
            </a:p>
          </p:txBody>
        </p:sp>
        <p:sp>
          <p:nvSpPr>
            <p:cNvPr id="38" name="TextBox 38"/>
            <p:cNvSpPr txBox="1"/>
            <p:nvPr/>
          </p:nvSpPr>
          <p:spPr>
            <a:xfrm>
              <a:off x="8298942" y="3816668"/>
              <a:ext cx="2825496"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接入跨模型审稿（Claude Code），</a:t>
              </a:r>
              <a:r>
                <a:rPr lang="zh-CN" sz="1350" dirty="0">
                  <a:solidFill>
                    <a:schemeClr val="dk1"/>
                  </a:solidFill>
                  <a:latin typeface="Segoe UI"/>
                  <a:ea typeface="Microsoft YaHei"/>
                  <a:cs typeface="Segoe UI"/>
                </a:rPr>
                <a:t>替代同家族复审</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对四个方向开展合成实验，</a:t>
              </a:r>
              <a:r>
                <a:rPr lang="zh-CN" sz="1350" dirty="0">
                  <a:solidFill>
                    <a:schemeClr val="dk1"/>
                  </a:solidFill>
                  <a:latin typeface="Segoe UI"/>
                  <a:ea typeface="Microsoft YaHei"/>
                  <a:cs typeface="Segoe UI"/>
                </a:rPr>
                <a:t>把实验结果回写为证据</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扩展条件预测器（温度 / 气氛 /</a:t>
              </a:r>
              <a:r>
                <a:rPr lang="zh-CN" sz="1350" dirty="0">
                  <a:solidFill>
                    <a:schemeClr val="dk1"/>
                  </a:solidFill>
                  <a:latin typeface="Segoe UI"/>
                  <a:ea typeface="Microsoft YaHei"/>
                  <a:cs typeface="Segoe UI"/>
                </a:rPr>
                <a:t>助熔剂），与前驱体预测联用</a:t>
              </a:r>
            </a:p>
          </p:txBody>
        </p:sp>
      </p:grpSp>
      <p:grpSp>
        <p:nvGrpSpPr>
          <p:cNvPr id="41" name="Group 41"/>
          <p:cNvGrpSpPr/>
          <p:nvPr/>
        </p:nvGrpSpPr>
        <p:grpSpPr>
          <a:xfrm>
            <a:off x="395656" y="6045518"/>
            <a:ext cx="11400688" cy="264033"/>
            <a:chOff x="395656" y="6045518"/>
            <a:chExt cx="11400688" cy="264033"/>
          </a:xfrm>
        </p:grpSpPr>
        <p:sp>
          <p:nvSpPr>
            <p:cNvPr id="40" name="TextBox 40"/>
            <p:cNvSpPr txBox="1"/>
            <p:nvPr/>
          </p:nvSpPr>
          <p:spPr>
            <a:xfrm>
              <a:off x="395656" y="6045518"/>
              <a:ext cx="11400688"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高京（上海交通大学）· 吕丁阳（中国科学院大学）· 李雨峰（上海交通大学） · SafeLab ICML 2026 · AI4Science 黑客松沪京双站三等奖</a:t>
              </a:r>
            </a:p>
          </p:txBody>
        </p:sp>
      </p:grpSp>
      <p:grpSp>
        <p:nvGrpSpPr>
          <p:cNvPr id="44" name="Group 44"/>
          <p:cNvGrpSpPr/>
          <p:nvPr/>
        </p:nvGrpSpPr>
        <p:grpSpPr>
          <a:xfrm>
            <a:off x="679704" y="6480810"/>
            <a:ext cx="10832592" cy="234696"/>
            <a:chOff x="679704" y="6480810"/>
            <a:chExt cx="10832592" cy="234696"/>
          </a:xfrm>
        </p:grpSpPr>
        <p:sp>
          <p:nvSpPr>
            <p:cNvPr id="42" name="TextBox 42"/>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3" name="TextBox 43"/>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2026-09-02T18:45:58Z</dcterms:created>
  <dcterms:modified xsi:type="dcterms:W3CDTF">2026-09-02T18:45:58Z</dcterms:modified>
  <cp:category/>
  <cp:contentStatus/>
</cp:coreProperties>
</file>