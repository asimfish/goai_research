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Default Extension="jpg" ContentType="image/jpeg"/>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  <Relationship Id="rId19" Type="http://schemas.openxmlformats.org/officeDocument/2006/relationships/notesMaster" Target="notesMasters/notesMaster1.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a:lstStyle/>
          <a:p>
            <a:endParaRPr lang="en-US"/>
          </a:p>
        </p:txBody>
      </p:sp>
      <p:sp>
        <p:nvSpPr>
          <p:cNvPr id="3" name="Date Placeholder 2"/>
          <p:cNvSpPr>
            <a:spLocks noGrp="1"/>
          </p:cNvSpPr>
          <p:nvPr>
            <p:ph type="dt" sz="half" idx="1"/>
          </p:nvPr>
        </p:nvSpPr>
        <p:spPr>
          <a:xfrm>
            <a:off x="3884613" y="0"/>
            <a:ext cx="2971800" cy="457200"/>
          </a:xfrm>
          <a:prstGeom prst="rect">
            <a:avLst/>
          </a:prstGeom>
        </p:spPr>
        <p:txBody>
          <a:bodyPr/>
          <a:lstStyle/>
          <a:p>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p:spPr>
      </p:sp>
      <p:sp>
        <p:nvSpPr>
          <p:cNvPr id="5" name="Notes Placeholder 4"/>
          <p:cNvSpPr>
            <a:spLocks noGrp="1"/>
          </p:cNvSpPr>
          <p:nvPr>
            <p:ph type="body" sz="quarter" idx="3"/>
          </p:nvPr>
        </p:nvSpPr>
        <p:spPr>
          <a:xfrm>
            <a:off x="685800" y="4343400"/>
            <a:ext cx="5486400" cy="4114800"/>
          </a:xfrm>
          <a:prstGeom prst="rect">
            <a:avLst/>
          </a:prstGeom>
        </p:spPr>
        <p:txBody>
          <a:bodyPr/>
          <a:lstStyle/>
          <a:p>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a:lstStyle/>
          <a:p>
            <a:endParaRPr lang="en-US"/>
          </a:p>
        </p:txBody>
      </p:sp>
    </p:spTree>
  </p:cSld>
  <p:clrMap bg1="lt1" tx1="dk1" bg2="lt2" tx2="dk2" accent1="accent1" accent2="accent2" accent3="accent3" accent4="accent4" accent5="accent5" accent6="accent6" hlink="hlink" folHlink="folHlink"/>
  <p:hf/>
  <p:notesStyle>
    <a:lvl1pPr marL="0" algn="l">
      <a:defRPr sz="1200" lang="en-US"/>
    </a:lvl1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各位评审好，我们是 SAGE-Mat 团队。我们做的是一个面向无机材料合成调研与合成规划的证据约束多智能体系统，它的目标可以用一句话概括：一行研究主题进去，可核验的综述、证据链和候选合成路线出来。右侧四个数字是复赛阶段的核心结果：正式报告五十一篇文献全部通过三轴核验，一百条结论逐条可追溯，前驱体预测模型在两千五百五十八条留出反应上完成了独立重算，最终形成一份二十三页的正式综述。</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我们先说明要解决的科学问题。无机材料的合成条件散落在成千上万篇论文的实验部分，对于一个只有单篇报道的新化合物，研究者真正需要知道的是：文献能限定什么、哪些近邻体系的条件可以迁移、哪些迁移并不成立，以及下一步做什么实验最有发现价值。我们用两个案例覆盖两种极端情形：正式案例 BYZSO 是文献稀缺但近邻丰富，只有一篇直接合成报道；初赛承诺的 LLZO 则是文献丰富但条件不可比。这个问题难在检索会混入综述与参考文献列表，未检出并不等于未研究，而且温度、气氛和致密度只有在实验语境一致时才能比较。</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接下来看系统本身。它的核心设计是把"生成像论文的结论"改为"保存证据与判定过程"。系统分三层：认知层是九个以 Markdown 写成的 agent 技能，由 Codex 宿主执行，这也是我们提交的全部提示词；确定性层是四个可离线测试的 MCP server，覆盖文献检索与本地全文库、引用三轴核验、可编辑图纸渲染和两阶段前驱体预测，共二十五个工具；控制层是账本驱动的回环，九个出口闸门由代码判定完成，审稿人不改稿，执行者不自判。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方法路线的关键是"完成"不由模型自报。check-done 只在九个闸门全部落账、没有失败项、没有未关闭的严重问题，并且终审通过指向真实存在的审稿记录时才会退出零。正式运行中系统在四个人工停点上停下并以同一主题续跑，其中一次是五条作者名不匹配三轮未收敛后升级人工处理。对抗审稿使用全新上下文，从领域专家、方法严谨派和期刊编辑三个视角产出结构化问题，并路由回属主阶段返工。</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预测部分来自团队投稿 NeurIPS 2026 的 RECIPE 工作。它把无机逆合成重新表述为变长前驱体集合的排序问题：第一阶段用 formula-token Transformer 构建高召回候选池；第二阶段做化学硬过滤并枚举二到五元组合，典型规模约四千九百个集合；第三阶段用目标条件化的集合重排器直接对完整集合排序。它以 MCP 工具的形式进入想法生成环节，skill 层硬性规定输出只能标注为模型候选、待实验验证，并附带各阶段分数和 checkpoint 哈希供审稿人核对。正式报告中对锌、镁、钴三个目标各调用了一次。</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正式案例是纯主题冷启动。系统的唯一输入是一行主题，经过四个人工停点续跑后交出二十页综述，再按材料专家八条意见修订为二十三页正式稿。五十一篇文献全部通过三轴核验，正文两百一十九次引用、整合率百分之百，三张图均为 figspec 同源的可编辑图，两轮对抗审稿的终审没有任何遗留问题。下方是正式报告的研究路线图，右侧是全部留痕的运行事实。</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在科学结论上，系统给出的不是一份配方，而是文献证据限定的可迁移范围。公开证据只能确认目标相采用开放体系高温溶液法并以单晶衍射鉴定，不足以给出经验证的复现配方；无锌四方谱系提供了助熔生长、固相陶瓷和粉体相场筛查三类可比路线，但具体数值不能无条件迁移；获得单晶不等于建立批量相纯窗口，局部相图才是连接复现与发现的核心实验。据此系统提出四个方向，每个方向都配了工艺路线和模型候选前驱体。</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初赛承诺的 LLZO 主题在复赛阶段作为诊断轮跑通了端到端：四十六篇文献六个子主题覆盖、全部核验通过、十页综述，模型给出的首选前驱体路线与文献一致，而第二名之后出现了可疑命名，这正是我们保留模型生成、规范化、文献复核、审稿这一闸门的原因。这一轮暴露了十一类集成失效模式，全部留痕并修复，包括冷启动首次尝试暴露的单闸门即宣告完成的漏洞。</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这是 RECIPE 融入部分的独立复核。我们用与 MCP 工具完全相同的推理代码，在两千五百五十八条留出测试反应上重算：Combo@1 为七十一点八一，比先前最优基线 Retrieval-Retro 高十一点四个百分点；Combo@20 为八十九点二一，Combo MRR 为七十七点四八。结果与 checkpoint 自带汇总逐位一致，并落在论文三种子均值的误差区间内。同枚举下仅用概率乘积排序的对照只有十一点六五，说明增益来自学习到的集合级排序，而不是候选枚举或过滤本身。</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复赛评审强调可追溯，我们的每条结论都能沿同一条链回到提交包中的具体文件：代码版本、配置、数据、日志与轨迹、结果文件。以第十二条结论为例，它对应的引用键、DOI、三轴核验结果、写作子任务的事件流和最终章节都可以逐一打开。运行统计、分目录存放的构筑与运行阶段 Agent 轨迹，以及私有全文库的数据边界，也都在这一页如实列出。</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复现方面，干净环境下一键安装后运行冒烟测试，一到两分钟内无网络、无大模型即可验证环境、四个 MCP server、五十六项离线测试、公开知识库、结论与证据链以及图纸渲染；基准指标可以逐位复现；核心流程用同一主题、同一模型和推理强度重跑，以闸门一致作为复现判据。我们也如实披露限制：目标相只有一篇直接报道，公开知识库只覆盖被引文献中二十一篇全文，终审是同家族模型的复审，正式稿包含有记录的专家反馈修订。</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最后总结。这套系统真正改变的，是把"该不该相信这条结论"变成一个可以点开 DOI 与原文段落回答的问题。全部代码、提示词、配置、模型 checkpoint、轨迹和证据包以 MIT 协议开源，提交时固定 tag。下一步我们会接入跨模型审稿，对四个方向开展合成实验并把结果回写为证据，并扩展条件预测器。感谢各位评审。</a:t>
            </a:r>
          </a:p>
        </p:txBody>
      </p:sp>
    </p:spTree>
  </p:cSld>
  <p:clrMapOvr>
    <a:masterClrMapping/>
  </p:clrMapOvr>
</p:note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2.xml><?xml version="1.0" encoding="utf-8"?>
<p:sldLayout xmlns:a="http://schemas.openxmlformats.org/drawingml/2006/main" xmlns:p="http://schemas.openxmlformats.org/presentationml/2006/main" xmlns:p14="http://schemas.microsoft.com/office/powerpoint/2010/main" type="cust" preserve="1" showMasterSp="1">
  <p:cSld name="Cover">
    <p:spTree>
      <p:nvGrpSpPr>
        <p:cNvPr id="1" name=""/>
        <p:cNvGrpSpPr/>
        <p:nvPr/>
      </p:nvGrpSpPr>
      <p:grpSpPr>
        <a:xfrm>
          <a:off x="0" y="0"/>
          <a:ext cx="0" cy="0"/>
          <a:chOff x="0" y="0"/>
          <a:chExt cx="0" cy="0"/>
        </a:xfrm>
      </p:grpSpPr>
    </p:spTree>
    <p:extLst>
      <p:ext uri="{BB962C8B-B14F-4D97-AF65-F5344CB8AC3E}">
        <p14:creationId val="1212999818"/>
      </p:ext>
    </p:extLst>
  </p:cSld>
  <p:clrMapOvr>
    <a:masterClrMapping/>
  </p:clrMapOvr>
</p:sldLayout>
</file>

<file path=ppt/slideLayouts/slideLayout13.xml><?xml version="1.0" encoding="utf-8"?>
<p:sldLayout xmlns:a="http://schemas.openxmlformats.org/drawingml/2006/main" xmlns:p="http://schemas.openxmlformats.org/presentationml/2006/main" xmlns:p14="http://schemas.microsoft.com/office/powerpoint/2010/main" type="cust" preserve="1" showMasterSp="1">
  <p:cSld name="Content">
    <p:spTree>
      <p:nvGrpSpPr>
        <p:cNvPr id="1" name=""/>
        <p:cNvGrpSpPr/>
        <p:nvPr/>
      </p:nvGrpSpPr>
      <p:grpSpPr>
        <a:xfrm>
          <a:off x="0" y="0"/>
          <a:ext cx="0" cy="0"/>
          <a:chOff x="0" y="0"/>
          <a:chExt cx="0" cy="0"/>
        </a:xfrm>
      </p:grpSpPr>
    </p:spTree>
    <p:extLst>
      <p:ext uri="{BB962C8B-B14F-4D97-AF65-F5344CB8AC3E}">
        <p14:creationId val="1212999818"/>
      </p:ext>
    </p:extLst>
  </p:cSld>
  <p:clrMapOvr>
    <a:masterClrMapping/>
  </p:clrMapOvr>
</p:sldLayout>
</file>

<file path=ppt/slideMasters/_rels/slideMaster1.xml.rels><?xml version='1.0' encoding='UTF-8' standalone='yes'?>
<Relationships xmlns="http://schemas.openxmlformats.org/package/2006/relationships"><Relationship Id="rId12" Type="http://schemas.openxmlformats.org/officeDocument/2006/relationships/theme" Target="../theme/theme1.xml"/>  <Relationship Id="rId13" Type="http://schemas.openxmlformats.org/officeDocument/2006/relationships/slideLayout" Target="../slideLayouts/slideLayout12.xml"/>
  <Relationship Id="rId14" Type="http://schemas.openxmlformats.org/officeDocument/2006/relationships/slideLayout" Target="../slideLayouts/slideLayout13.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60" r:id="rId13"/>
    <p:sldLayoutId id="2147483661" r:id="rId14"/>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12.xml"/>
  <Relationship Id="rId2" Type="http://schemas.openxmlformats.org/officeDocument/2006/relationships/notesSlide" Target="../notesSlides/notesSlide1.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13.xml"/>
  <Relationship Id="rId2" Type="http://schemas.openxmlformats.org/officeDocument/2006/relationships/notesSlide" Target="../notesSlides/notesSlide2.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13.xml"/>
  <Relationship Id="rId2" Type="http://schemas.openxmlformats.org/officeDocument/2006/relationships/image" Target="../media/image_370a4b6d68fb4eac.jpg"/>
  <Relationship Id="rId3" Type="http://schemas.openxmlformats.org/officeDocument/2006/relationships/notesSlide" Target="../notesSlides/notesSlide3.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13.xml"/>
  <Relationship Id="rId2" Type="http://schemas.openxmlformats.org/officeDocument/2006/relationships/notesSlide" Target="../notesSlides/notesSlide4.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13.xml"/>
  <Relationship Id="rId2" Type="http://schemas.openxmlformats.org/officeDocument/2006/relationships/notesSlide" Target="../notesSlides/notesSlide5.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13.xml"/>
  <Relationship Id="rId2" Type="http://schemas.openxmlformats.org/officeDocument/2006/relationships/image" Target="../media/image_9e5f58839e262315.jpg"/>
  <Relationship Id="rId3" Type="http://schemas.openxmlformats.org/officeDocument/2006/relationships/notesSlide" Target="../notesSlides/notesSlide6.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13.xml"/>
  <Relationship Id="rId2" Type="http://schemas.openxmlformats.org/officeDocument/2006/relationships/notesSlide" Target="../notesSlides/notesSlide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13.xml"/>
  <Relationship Id="rId2" Type="http://schemas.openxmlformats.org/officeDocument/2006/relationships/notesSlide" Target="../notesSlides/notesSlide8.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13.xml"/>
  <Relationship Id="rId2" Type="http://schemas.openxmlformats.org/officeDocument/2006/relationships/notesSlide" Target="../notesSlides/notesSlide9.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13.xml"/>
  <Relationship Id="rId2" Type="http://schemas.openxmlformats.org/officeDocument/2006/relationships/notesSlide" Target="../notesSlides/notesSlide10.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13.xml"/>
  <Relationship Id="rId2" Type="http://schemas.openxmlformats.org/officeDocument/2006/relationships/notesSlide" Target="../notesSlides/notesSlide11.xml"/>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13.xml"/>
  <Relationship Id="rId2" Type="http://schemas.openxmlformats.org/officeDocument/2006/relationships/notesSlide" Target="../notesSlides/notesSlide1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4"/>
          <p:cNvGrpSpPr/>
          <p:nvPr/>
        </p:nvGrpSpPr>
        <p:grpSpPr>
          <a:xfrm>
            <a:off x="0" y="0"/>
            <a:ext cx="12192000" cy="6858000"/>
            <a:chOff x="0" y="0"/>
            <a:chExt cx="12192000" cy="6858000"/>
          </a:xfrm>
        </p:grpSpPr>
        <p:sp>
          <p:nvSpPr>
            <p:cNvPr id="2" name="Rectangle 2"/>
            <p:cNvSpPr/>
            <p:nvPr/>
          </p:nvSpPr>
          <p:spPr>
            <a:xfrm>
              <a:off x="0" y="0"/>
              <a:ext cx="12192000" cy="6858000"/>
            </a:xfrm>
            <a:prstGeom prst="rect">
              <a:avLst/>
            </a:prstGeom>
            <a:solidFill>
              <a:schemeClr val="lt1"/>
            </a:solidFill>
            <a:ln>
              <a:noFill/>
            </a:ln>
          </p:spPr>
        </p:sp>
        <p:sp>
          <p:nvSpPr>
            <p:cNvPr id="3" name="Rectangle 3"/>
            <p:cNvSpPr/>
            <p:nvPr/>
          </p:nvSpPr>
          <p:spPr>
            <a:xfrm>
              <a:off x="8572500" y="0"/>
              <a:ext cx="3619500" cy="6858000"/>
            </a:xfrm>
            <a:prstGeom prst="rect">
              <a:avLst/>
            </a:prstGeom>
            <a:solidFill>
              <a:schemeClr val="accent1"/>
            </a:solidFill>
            <a:ln>
              <a:noFill/>
            </a:ln>
          </p:spPr>
        </p:sp>
      </p:grpSp>
      <p:grpSp>
        <p:nvGrpSpPr>
          <p:cNvPr id="7" name="Group 7"/>
          <p:cNvGrpSpPr/>
          <p:nvPr/>
        </p:nvGrpSpPr>
        <p:grpSpPr>
          <a:xfrm>
            <a:off x="678942" y="978218"/>
            <a:ext cx="7046881" cy="355282"/>
            <a:chOff x="678942" y="978218"/>
            <a:chExt cx="7046881" cy="355282"/>
          </a:xfrm>
        </p:grpSpPr>
        <p:sp>
          <p:nvSpPr>
            <p:cNvPr id="5" name="TextBox 5"/>
            <p:cNvSpPr txBox="1"/>
            <p:nvPr/>
          </p:nvSpPr>
          <p:spPr>
            <a:xfrm>
              <a:off x="678942" y="978218"/>
              <a:ext cx="7046881" cy="264033"/>
            </a:xfrm>
            <a:prstGeom prst="rect">
              <a:avLst/>
            </a:prstGeom>
            <a:noFill/>
            <a:ln>
              <a:noFill/>
            </a:ln>
          </p:spPr>
          <p:txBody>
            <a:bodyPr wrap="none" lIns="0" tIns="0" rIns="0" bIns="0" anchor="t" anchorCtr="0">
              <a:spAutoFit/>
            </a:bodyPr>
            <a:lstStyle/>
            <a:p>
              <a:pPr algn="l"/>
              <a:r>
                <a:rPr lang="zh-CN" sz="1350" dirty="0">
                  <a:solidFill>
                    <a:schemeClr val="dk2"/>
                  </a:solidFill>
                  <a:latin typeface="Segoe UI"/>
                  <a:ea typeface="Microsoft YaHei"/>
                  <a:cs typeface="Segoe UI"/>
                </a:rPr>
                <a:t>GOAI 2026 · AI for Research 赛道 · 材料方向 · 进阶路线 C（合成路线与工艺设计）</a:t>
              </a:r>
            </a:p>
          </p:txBody>
        </p:sp>
        <p:sp>
          <p:nvSpPr>
            <p:cNvPr id="6" name="Rectangle 6"/>
            <p:cNvSpPr/>
            <p:nvPr/>
          </p:nvSpPr>
          <p:spPr>
            <a:xfrm>
              <a:off x="685800" y="1295400"/>
              <a:ext cx="685800" cy="38100"/>
            </a:xfrm>
            <a:prstGeom prst="rect">
              <a:avLst/>
            </a:prstGeom>
            <a:solidFill>
              <a:schemeClr val="accent2"/>
            </a:solidFill>
            <a:ln>
              <a:noFill/>
            </a:ln>
          </p:spPr>
        </p:sp>
      </p:grpSp>
      <p:grpSp>
        <p:nvGrpSpPr>
          <p:cNvPr id="11" name="Group 11"/>
          <p:cNvGrpSpPr/>
          <p:nvPr/>
        </p:nvGrpSpPr>
        <p:grpSpPr>
          <a:xfrm>
            <a:off x="666750" y="1762125"/>
            <a:ext cx="8299514" cy="1594676"/>
            <a:chOff x="666750" y="1762125"/>
            <a:chExt cx="8299514" cy="1594676"/>
          </a:xfrm>
        </p:grpSpPr>
        <p:sp>
          <p:nvSpPr>
            <p:cNvPr id="8" name="TextBox 8"/>
            <p:cNvSpPr txBox="1"/>
            <p:nvPr/>
          </p:nvSpPr>
          <p:spPr>
            <a:xfrm>
              <a:off x="666750" y="1762125"/>
              <a:ext cx="3082366" cy="876300"/>
            </a:xfrm>
            <a:prstGeom prst="rect">
              <a:avLst/>
            </a:prstGeom>
            <a:noFill/>
            <a:ln>
              <a:noFill/>
            </a:ln>
          </p:spPr>
          <p:txBody>
            <a:bodyPr wrap="none" lIns="0" tIns="0" rIns="0" bIns="0" anchor="t" anchorCtr="0">
              <a:spAutoFit/>
            </a:bodyPr>
            <a:lstStyle/>
            <a:p>
              <a:pPr algn="l"/>
              <a:r>
                <a:rPr lang="en-US" sz="4500" b="1" dirty="0">
                  <a:solidFill>
                    <a:schemeClr val="dk1"/>
                  </a:solidFill>
                  <a:latin typeface="Segoe UI"/>
                  <a:ea typeface="Segoe UI"/>
                  <a:cs typeface="Segoe UI"/>
                </a:rPr>
                <a:t>SAGE-Mat</a:t>
              </a:r>
            </a:p>
          </p:txBody>
        </p:sp>
        <p:sp>
          <p:nvSpPr>
            <p:cNvPr id="9" name="TextBox 9"/>
            <p:cNvSpPr txBox="1"/>
            <p:nvPr/>
          </p:nvSpPr>
          <p:spPr>
            <a:xfrm>
              <a:off x="674370" y="2576512"/>
              <a:ext cx="8291894" cy="440055"/>
            </a:xfrm>
            <a:prstGeom prst="rect">
              <a:avLst/>
            </a:prstGeom>
            <a:noFill/>
            <a:ln>
              <a:noFill/>
            </a:ln>
          </p:spPr>
          <p:txBody>
            <a:bodyPr wrap="none" lIns="0" tIns="0" rIns="0" bIns="0" anchor="t" anchorCtr="0">
              <a:spAutoFit/>
            </a:bodyPr>
            <a:lstStyle/>
            <a:p>
              <a:pPr algn="l"/>
              <a:r>
                <a:rPr lang="zh-CN" sz="2250" b="1" dirty="0">
                  <a:solidFill>
                    <a:schemeClr val="accent1"/>
                  </a:solidFill>
                  <a:latin typeface="Segoe UI"/>
                  <a:ea typeface="Microsoft YaHei"/>
                  <a:cs typeface="Segoe UI"/>
                </a:rPr>
                <a:t>面向无机材料合成调研与合成规划的证据约束多智能体系统</a:t>
              </a:r>
            </a:p>
          </p:txBody>
        </p:sp>
        <p:sp>
          <p:nvSpPr>
            <p:cNvPr id="10" name="TextBox 10"/>
            <p:cNvSpPr txBox="1"/>
            <p:nvPr/>
          </p:nvSpPr>
          <p:spPr>
            <a:xfrm>
              <a:off x="678942" y="3092768"/>
              <a:ext cx="7292500" cy="264033"/>
            </a:xfrm>
            <a:prstGeom prst="rect">
              <a:avLst/>
            </a:prstGeom>
            <a:noFill/>
            <a:ln>
              <a:noFill/>
            </a:ln>
          </p:spPr>
          <p:txBody>
            <a:bodyPr wrap="none" lIns="0" tIns="0" rIns="0" bIns="0" anchor="t" anchorCtr="0">
              <a:spAutoFit/>
            </a:bodyPr>
            <a:lstStyle/>
            <a:p>
              <a:pPr algn="l"/>
              <a:r>
                <a:rPr lang="zh-CN" sz="1350" dirty="0">
                  <a:solidFill>
                    <a:schemeClr val="dk2"/>
                  </a:solidFill>
                  <a:latin typeface="Segoe UI"/>
                  <a:ea typeface="Microsoft YaHei"/>
                  <a:cs typeface="Segoe UI"/>
                </a:rPr>
                <a:t>开源实现：GoAI Research —— 9 个 agent 技能 · 4 个 MCP server · 账本驱动的质量回环</a:t>
              </a:r>
            </a:p>
          </p:txBody>
        </p:sp>
      </p:grpSp>
      <p:grpSp>
        <p:nvGrpSpPr>
          <p:cNvPr id="13" name="Group 13"/>
          <p:cNvGrpSpPr/>
          <p:nvPr/>
        </p:nvGrpSpPr>
        <p:grpSpPr>
          <a:xfrm>
            <a:off x="675894" y="3789998"/>
            <a:ext cx="7068179" cy="381381"/>
            <a:chOff x="675894" y="3789998"/>
            <a:chExt cx="7068179" cy="381381"/>
          </a:xfrm>
        </p:grpSpPr>
        <p:sp>
          <p:nvSpPr>
            <p:cNvPr id="12" name="TextBox 12"/>
            <p:cNvSpPr txBox="1"/>
            <p:nvPr/>
          </p:nvSpPr>
          <p:spPr>
            <a:xfrm>
              <a:off x="675894" y="3789998"/>
              <a:ext cx="7068179" cy="381381"/>
            </a:xfrm>
            <a:prstGeom prst="rect">
              <a:avLst/>
            </a:prstGeom>
            <a:noFill/>
            <a:ln>
              <a:noFill/>
            </a:ln>
          </p:spPr>
          <p:txBody>
            <a:bodyPr wrap="none" lIns="0" tIns="0" rIns="0" bIns="0" anchor="t" anchorCtr="0">
              <a:spAutoFit/>
            </a:bodyPr>
            <a:lstStyle/>
            <a:p>
              <a:pPr algn="l"/>
              <a:r>
                <a:rPr lang="zh-CN" sz="1950" dirty="0">
                  <a:solidFill>
                    <a:schemeClr val="dk1"/>
                  </a:solidFill>
                  <a:latin typeface="Segoe UI"/>
                  <a:ea typeface="Microsoft YaHei"/>
                  <a:cs typeface="Segoe UI"/>
                </a:rPr>
                <a:t>一行主题进去，</a:t>
              </a:r>
              <a:r>
                <a:rPr lang="zh-CN" sz="1950" b="1" dirty="0">
                  <a:solidFill>
                    <a:schemeClr val="accent2"/>
                  </a:solidFill>
                  <a:latin typeface="Segoe UI"/>
                  <a:ea typeface="Microsoft YaHei"/>
                  <a:cs typeface="Segoe UI"/>
                </a:rPr>
                <a:t>可核验的综述、证据链与候选合成路线</a:t>
              </a:r>
              <a:r>
                <a:rPr lang="zh-CN" sz="1950" dirty="0">
                  <a:solidFill>
                    <a:schemeClr val="dk1"/>
                  </a:solidFill>
                  <a:latin typeface="Segoe UI"/>
                  <a:ea typeface="Microsoft YaHei"/>
                  <a:cs typeface="Segoe UI"/>
                </a:rPr>
                <a:t>出来</a:t>
              </a:r>
            </a:p>
          </p:txBody>
        </p:sp>
      </p:grpSp>
      <p:grpSp>
        <p:nvGrpSpPr>
          <p:cNvPr id="18" name="Group 18"/>
          <p:cNvGrpSpPr/>
          <p:nvPr/>
        </p:nvGrpSpPr>
        <p:grpSpPr>
          <a:xfrm>
            <a:off x="678942" y="5334000"/>
            <a:ext cx="7207758" cy="1070801"/>
            <a:chOff x="678942" y="5334000"/>
            <a:chExt cx="7207758" cy="1070801"/>
          </a:xfrm>
        </p:grpSpPr>
        <p:sp>
          <p:nvSpPr>
            <p:cNvPr id="14" name="Line 14"/>
            <p:cNvSpPr/>
            <p:nvPr/>
          </p:nvSpPr>
          <p:spPr>
            <a:xfrm>
              <a:off x="685800" y="5334000"/>
              <a:ext cx="7200900" cy="9525"/>
            </a:xfrm>
            <a:custGeom>
              <a:avLst/>
              <a:gdLst/>
              <a:ahLst/>
              <a:cxnLst/>
              <a:rect l="l" t="t" r="r" b="b"/>
              <a:pathLst>
                <a:path w="7200900" h="9525">
                  <a:moveTo>
                    <a:pt x="0" y="0"/>
                  </a:moveTo>
                  <a:lnTo>
                    <a:pt x="7200900" y="0"/>
                  </a:lnTo>
                </a:path>
              </a:pathLst>
            </a:custGeom>
            <a:noFill/>
            <a:ln w="9525">
              <a:solidFill>
                <a:schemeClr val="accent4"/>
              </a:solidFill>
            </a:ln>
          </p:spPr>
        </p:sp>
        <p:sp>
          <p:nvSpPr>
            <p:cNvPr id="15" name="TextBox 15"/>
            <p:cNvSpPr txBox="1"/>
            <p:nvPr/>
          </p:nvSpPr>
          <p:spPr>
            <a:xfrm>
              <a:off x="678942" y="5531168"/>
              <a:ext cx="6319990" cy="264033"/>
            </a:xfrm>
            <a:prstGeom prst="rect">
              <a:avLst/>
            </a:prstGeom>
            <a:noFill/>
            <a:ln>
              <a:noFill/>
            </a:ln>
          </p:spPr>
          <p:txBody>
            <a:bodyPr wrap="none" lIns="0" tIns="0" rIns="0" bIns="0" anchor="t" anchorCtr="0">
              <a:spAutoFit/>
            </a:bodyPr>
            <a:lstStyle/>
            <a:p>
              <a:pPr algn="l"/>
              <a:r>
                <a:rPr lang="zh-CN" sz="1350" dirty="0">
                  <a:solidFill>
                    <a:schemeClr val="dk1"/>
                  </a:solidFill>
                  <a:latin typeface="Segoe UI"/>
                  <a:ea typeface="Microsoft YaHei"/>
                  <a:cs typeface="Segoe UI"/>
                </a:rPr>
                <a:t>高京（上海交通大学）· 吕丁阳（中国科学院大学）· 李雨峰（上海交通大学）</a:t>
              </a:r>
            </a:p>
          </p:txBody>
        </p:sp>
        <p:sp>
          <p:nvSpPr>
            <p:cNvPr id="16" name="TextBox 16"/>
            <p:cNvSpPr txBox="1"/>
            <p:nvPr/>
          </p:nvSpPr>
          <p:spPr>
            <a:xfrm>
              <a:off x="678942" y="5835968"/>
              <a:ext cx="5757242" cy="264033"/>
            </a:xfrm>
            <a:prstGeom prst="rect">
              <a:avLst/>
            </a:prstGeom>
            <a:noFill/>
            <a:ln>
              <a:noFill/>
            </a:ln>
          </p:spPr>
          <p:txBody>
            <a:bodyPr wrap="none" lIns="0" tIns="0" rIns="0" bIns="0" anchor="t" anchorCtr="0">
              <a:spAutoFit/>
            </a:bodyPr>
            <a:lstStyle/>
            <a:p>
              <a:pPr algn="l"/>
              <a:r>
                <a:rPr lang="zh-CN" sz="1350" dirty="0">
                  <a:solidFill>
                    <a:schemeClr val="dk2"/>
                  </a:solidFill>
                  <a:latin typeface="Segoe UI"/>
                  <a:ea typeface="Microsoft YaHei"/>
                  <a:cs typeface="Segoe UI"/>
                </a:rPr>
                <a:t>Harness：Codex CLI 0.146.1 · 模型 gpt-5.6-sol · reasoning xhigh</a:t>
              </a:r>
            </a:p>
          </p:txBody>
        </p:sp>
        <p:sp>
          <p:nvSpPr>
            <p:cNvPr id="17" name="TextBox 17"/>
            <p:cNvSpPr txBox="1"/>
            <p:nvPr/>
          </p:nvSpPr>
          <p:spPr>
            <a:xfrm>
              <a:off x="678942" y="6140768"/>
              <a:ext cx="6253109" cy="264033"/>
            </a:xfrm>
            <a:prstGeom prst="rect">
              <a:avLst/>
            </a:prstGeom>
            <a:noFill/>
            <a:ln>
              <a:noFill/>
            </a:ln>
          </p:spPr>
          <p:txBody>
            <a:bodyPr wrap="none" lIns="0" tIns="0" rIns="0" bIns="0" anchor="t" anchorCtr="0">
              <a:spAutoFit/>
            </a:bodyPr>
            <a:lstStyle/>
            <a:p>
              <a:pPr algn="l"/>
              <a:r>
                <a:rPr lang="en-US" sz="1350" dirty="0">
                  <a:solidFill>
                    <a:schemeClr val="dk2"/>
                  </a:solidFill>
                  <a:latin typeface="Segoe UI"/>
                  <a:ea typeface="Segoe UI"/>
                  <a:cs typeface="Segoe UI"/>
                </a:rPr>
                <a:t>github.com/asimfish/goai_research · tag goai-final-2026-09-03 · MIT</a:t>
              </a:r>
            </a:p>
          </p:txBody>
        </p:sp>
      </p:grpSp>
      <p:grpSp>
        <p:nvGrpSpPr>
          <p:cNvPr id="29" name="Group 29"/>
          <p:cNvGrpSpPr/>
          <p:nvPr/>
        </p:nvGrpSpPr>
        <p:grpSpPr>
          <a:xfrm>
            <a:off x="9010650" y="975360"/>
            <a:ext cx="2751963" cy="5644896"/>
            <a:chOff x="9010650" y="975360"/>
            <a:chExt cx="2751963" cy="5644896"/>
          </a:xfrm>
        </p:grpSpPr>
        <p:sp>
          <p:nvSpPr>
            <p:cNvPr id="19" name="TextBox 19"/>
            <p:cNvSpPr txBox="1"/>
            <p:nvPr/>
          </p:nvSpPr>
          <p:spPr>
            <a:xfrm>
              <a:off x="9010650" y="975360"/>
              <a:ext cx="2026909" cy="819150"/>
            </a:xfrm>
            <a:prstGeom prst="rect">
              <a:avLst/>
            </a:prstGeom>
            <a:noFill/>
            <a:ln>
              <a:noFill/>
            </a:ln>
          </p:spPr>
          <p:txBody>
            <a:bodyPr wrap="none" lIns="0" tIns="0" rIns="0" bIns="0" anchor="t" anchorCtr="0">
              <a:spAutoFit/>
            </a:bodyPr>
            <a:lstStyle/>
            <a:p>
              <a:pPr algn="l"/>
              <a:r>
                <a:rPr lang="en-US" sz="4200" b="1" dirty="0">
                  <a:solidFill>
                    <a:srgbClr val="FFFFFF"/>
                  </a:solidFill>
                  <a:latin typeface="Segoe UI"/>
                  <a:ea typeface="Segoe UI"/>
                  <a:cs typeface="Segoe UI"/>
                </a:rPr>
                <a:t>51 / 51</a:t>
              </a:r>
            </a:p>
          </p:txBody>
        </p:sp>
        <p:sp>
          <p:nvSpPr>
            <p:cNvPr id="20" name="TextBox 20"/>
            <p:cNvSpPr txBox="1"/>
            <p:nvPr/>
          </p:nvSpPr>
          <p:spPr>
            <a:xfrm>
              <a:off x="9022842" y="1587818"/>
              <a:ext cx="2558034" cy="264033"/>
            </a:xfrm>
            <a:prstGeom prst="rect">
              <a:avLst/>
            </a:prstGeom>
            <a:noFill/>
            <a:ln>
              <a:noFill/>
            </a:ln>
          </p:spPr>
          <p:txBody>
            <a:bodyPr wrap="none" lIns="0" tIns="0" rIns="0" bIns="0" anchor="t" anchorCtr="0">
              <a:spAutoFit/>
            </a:bodyPr>
            <a:lstStyle/>
            <a:p>
              <a:pPr algn="l"/>
              <a:r>
                <a:rPr lang="zh-CN" sz="1350" dirty="0">
                  <a:solidFill>
                    <a:srgbClr val="FFFFFF">
                      <a:alphaMod val="80000"/>
                    </a:srgbClr>
                  </a:solidFill>
                  <a:latin typeface="Segoe UI"/>
                  <a:ea typeface="Microsoft YaHei"/>
                  <a:cs typeface="Segoe UI"/>
                </a:rPr>
                <a:t>正式报告文献三轴核验全部通过</a:t>
              </a:r>
            </a:p>
          </p:txBody>
        </p:sp>
        <p:sp>
          <p:nvSpPr>
            <p:cNvPr id="21" name="TextBox 21"/>
            <p:cNvSpPr txBox="1"/>
            <p:nvPr/>
          </p:nvSpPr>
          <p:spPr>
            <a:xfrm>
              <a:off x="9010650" y="2308860"/>
              <a:ext cx="1789439" cy="819150"/>
            </a:xfrm>
            <a:prstGeom prst="rect">
              <a:avLst/>
            </a:prstGeom>
            <a:noFill/>
            <a:ln>
              <a:noFill/>
            </a:ln>
          </p:spPr>
          <p:txBody>
            <a:bodyPr wrap="none" lIns="0" tIns="0" rIns="0" bIns="0" anchor="t" anchorCtr="0">
              <a:spAutoFit/>
            </a:bodyPr>
            <a:lstStyle/>
            <a:p>
              <a:pPr algn="l"/>
              <a:r>
                <a:rPr lang="zh-CN" sz="4200" b="1" dirty="0">
                  <a:solidFill>
                    <a:srgbClr val="FFFFFF"/>
                  </a:solidFill>
                  <a:latin typeface="Segoe UI"/>
                  <a:ea typeface="Microsoft YaHei"/>
                  <a:cs typeface="Segoe UI"/>
                </a:rPr>
                <a:t>100 条</a:t>
              </a:r>
            </a:p>
          </p:txBody>
        </p:sp>
        <p:sp>
          <p:nvSpPr>
            <p:cNvPr id="22" name="TextBox 22"/>
            <p:cNvSpPr txBox="1"/>
            <p:nvPr/>
          </p:nvSpPr>
          <p:spPr>
            <a:xfrm>
              <a:off x="9022842" y="2921318"/>
              <a:ext cx="2356409" cy="264033"/>
            </a:xfrm>
            <a:prstGeom prst="rect">
              <a:avLst/>
            </a:prstGeom>
            <a:noFill/>
            <a:ln>
              <a:noFill/>
            </a:ln>
          </p:spPr>
          <p:txBody>
            <a:bodyPr wrap="none" lIns="0" tIns="0" rIns="0" bIns="0" anchor="t" anchorCtr="0">
              <a:spAutoFit/>
            </a:bodyPr>
            <a:lstStyle/>
            <a:p>
              <a:pPr algn="l"/>
              <a:r>
                <a:rPr lang="zh-CN" sz="1350" dirty="0">
                  <a:solidFill>
                    <a:srgbClr val="FFFFFF">
                      <a:alphaMod val="80000"/>
                    </a:srgbClr>
                  </a:solidFill>
                  <a:latin typeface="Segoe UI"/>
                  <a:ea typeface="Microsoft YaHei"/>
                  <a:cs typeface="Segoe UI"/>
                </a:rPr>
                <a:t>结论逐条追溯到 DOI 与原文</a:t>
              </a:r>
            </a:p>
          </p:txBody>
        </p:sp>
        <p:sp>
          <p:nvSpPr>
            <p:cNvPr id="23" name="TextBox 23"/>
            <p:cNvSpPr txBox="1"/>
            <p:nvPr/>
          </p:nvSpPr>
          <p:spPr>
            <a:xfrm>
              <a:off x="9010650" y="3642360"/>
              <a:ext cx="1670704" cy="819150"/>
            </a:xfrm>
            <a:prstGeom prst="rect">
              <a:avLst/>
            </a:prstGeom>
            <a:noFill/>
            <a:ln>
              <a:noFill/>
            </a:ln>
          </p:spPr>
          <p:txBody>
            <a:bodyPr wrap="none" lIns="0" tIns="0" rIns="0" bIns="0" anchor="t" anchorCtr="0">
              <a:spAutoFit/>
            </a:bodyPr>
            <a:lstStyle/>
            <a:p>
              <a:pPr algn="l"/>
              <a:r>
                <a:rPr lang="en-US" sz="4200" b="1" dirty="0">
                  <a:solidFill>
                    <a:srgbClr val="FFFFFF"/>
                  </a:solidFill>
                  <a:latin typeface="Segoe UI"/>
                  <a:ea typeface="Segoe UI"/>
                  <a:cs typeface="Segoe UI"/>
                </a:rPr>
                <a:t>2,558</a:t>
              </a:r>
            </a:p>
          </p:txBody>
        </p:sp>
        <p:sp>
          <p:nvSpPr>
            <p:cNvPr id="24" name="TextBox 24"/>
            <p:cNvSpPr txBox="1"/>
            <p:nvPr/>
          </p:nvSpPr>
          <p:spPr>
            <a:xfrm>
              <a:off x="9022842" y="4254818"/>
              <a:ext cx="2739771" cy="264033"/>
            </a:xfrm>
            <a:prstGeom prst="rect">
              <a:avLst/>
            </a:prstGeom>
            <a:noFill/>
            <a:ln>
              <a:noFill/>
            </a:ln>
          </p:spPr>
          <p:txBody>
            <a:bodyPr wrap="none" lIns="0" tIns="0" rIns="0" bIns="0" anchor="t" anchorCtr="0">
              <a:spAutoFit/>
            </a:bodyPr>
            <a:lstStyle/>
            <a:p>
              <a:pPr algn="l"/>
              <a:r>
                <a:rPr lang="zh-CN" sz="1350" dirty="0">
                  <a:solidFill>
                    <a:srgbClr val="FFFFFF">
                      <a:alphaMod val="80000"/>
                    </a:srgbClr>
                  </a:solidFill>
                  <a:latin typeface="Segoe UI"/>
                  <a:ea typeface="Microsoft YaHei"/>
                  <a:cs typeface="Segoe UI"/>
                </a:rPr>
                <a:t>条留出反应上重算前驱体预测基准</a:t>
              </a:r>
            </a:p>
          </p:txBody>
        </p:sp>
        <p:sp>
          <p:nvSpPr>
            <p:cNvPr id="25" name="TextBox 25"/>
            <p:cNvSpPr txBox="1"/>
            <p:nvPr/>
          </p:nvSpPr>
          <p:spPr>
            <a:xfrm>
              <a:off x="9010650" y="4975860"/>
              <a:ext cx="1462918" cy="819150"/>
            </a:xfrm>
            <a:prstGeom prst="rect">
              <a:avLst/>
            </a:prstGeom>
            <a:noFill/>
            <a:ln>
              <a:noFill/>
            </a:ln>
          </p:spPr>
          <p:txBody>
            <a:bodyPr wrap="none" lIns="0" tIns="0" rIns="0" bIns="0" anchor="t" anchorCtr="0">
              <a:spAutoFit/>
            </a:bodyPr>
            <a:lstStyle/>
            <a:p>
              <a:pPr algn="l"/>
              <a:r>
                <a:rPr lang="zh-CN" sz="4200" b="1" dirty="0">
                  <a:solidFill>
                    <a:srgbClr val="FFFFFF"/>
                  </a:solidFill>
                  <a:latin typeface="Segoe UI"/>
                  <a:ea typeface="Microsoft YaHei"/>
                  <a:cs typeface="Segoe UI"/>
                </a:rPr>
                <a:t>23 页</a:t>
              </a:r>
            </a:p>
          </p:txBody>
        </p:sp>
        <p:sp>
          <p:nvSpPr>
            <p:cNvPr id="26" name="TextBox 26"/>
            <p:cNvSpPr txBox="1"/>
            <p:nvPr/>
          </p:nvSpPr>
          <p:spPr>
            <a:xfrm>
              <a:off x="9022842" y="5588318"/>
              <a:ext cx="2376297" cy="264033"/>
            </a:xfrm>
            <a:prstGeom prst="rect">
              <a:avLst/>
            </a:prstGeom>
            <a:noFill/>
            <a:ln>
              <a:noFill/>
            </a:ln>
          </p:spPr>
          <p:txBody>
            <a:bodyPr wrap="none" lIns="0" tIns="0" rIns="0" bIns="0" anchor="t" anchorCtr="0">
              <a:spAutoFit/>
            </a:bodyPr>
            <a:lstStyle/>
            <a:p>
              <a:pPr algn="l"/>
              <a:r>
                <a:rPr lang="zh-CN" sz="1350" dirty="0">
                  <a:solidFill>
                    <a:srgbClr val="FFFFFF">
                      <a:alphaMod val="80000"/>
                    </a:srgbClr>
                  </a:solidFill>
                  <a:latin typeface="Segoe UI"/>
                  <a:ea typeface="Microsoft YaHei"/>
                  <a:cs typeface="Segoe UI"/>
                </a:rPr>
                <a:t>纯主题冷启动生成的正式综述</a:t>
              </a:r>
            </a:p>
          </p:txBody>
        </p:sp>
        <p:sp>
          <p:nvSpPr>
            <p:cNvPr id="27" name="Line 27"/>
            <p:cNvSpPr/>
            <p:nvPr/>
          </p:nvSpPr>
          <p:spPr>
            <a:xfrm>
              <a:off x="9029700" y="6191250"/>
              <a:ext cx="2705100" cy="9525"/>
            </a:xfrm>
            <a:custGeom>
              <a:avLst/>
              <a:gdLst/>
              <a:ahLst/>
              <a:cxnLst/>
              <a:rect l="l" t="t" r="r" b="b"/>
              <a:pathLst>
                <a:path w="2705100" h="9525">
                  <a:moveTo>
                    <a:pt x="0" y="0"/>
                  </a:moveTo>
                  <a:lnTo>
                    <a:pt x="2705100" y="0"/>
                  </a:lnTo>
                </a:path>
              </a:pathLst>
            </a:custGeom>
            <a:noFill/>
            <a:ln w="9525">
              <a:solidFill>
                <a:srgbClr val="FFFFFF">
                  <a:alpha val="35000"/>
                </a:srgbClr>
              </a:solidFill>
            </a:ln>
          </p:spPr>
        </p:sp>
        <p:sp>
          <p:nvSpPr>
            <p:cNvPr id="28" name="TextBox 28"/>
            <p:cNvSpPr txBox="1"/>
            <p:nvPr/>
          </p:nvSpPr>
          <p:spPr>
            <a:xfrm>
              <a:off x="9023604" y="6385560"/>
              <a:ext cx="1789176" cy="234696"/>
            </a:xfrm>
            <a:prstGeom prst="rect">
              <a:avLst/>
            </a:prstGeom>
            <a:noFill/>
            <a:ln>
              <a:noFill/>
            </a:ln>
          </p:spPr>
          <p:txBody>
            <a:bodyPr wrap="none" lIns="0" tIns="0" rIns="0" bIns="0" anchor="t" anchorCtr="0">
              <a:spAutoFit/>
            </a:bodyPr>
            <a:lstStyle/>
            <a:p>
              <a:pPr algn="l"/>
              <a:r>
                <a:rPr lang="zh-CN" sz="1200" dirty="0">
                  <a:solidFill>
                    <a:srgbClr val="FFFFFF">
                      <a:alphaMod val="80000"/>
                    </a:srgbClr>
                  </a:solidFill>
                  <a:latin typeface="Segoe UI"/>
                  <a:ea typeface="Microsoft YaHei"/>
                  <a:cs typeface="Segoe UI"/>
                </a:rPr>
                <a:t>2026-09 · 复赛作品说明</a:t>
              </a:r>
            </a:p>
          </p:txBody>
        </p:sp>
      </p:grpSp>
    </p:spTree>
  </p:cSld>
  <p:clrMapOvr>
    <a:masterClrMapping/>
  </p:clrMapOvr>
  <p:transition xmlns:p14="http://schemas.microsoft.com/office/powerpoint/2010/main" p14:dur="400">
    <p:fade/>
  </p:transition>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670560" y="590550"/>
            <a:ext cx="11522316" cy="586740"/>
            <a:chOff x="670560" y="590550"/>
            <a:chExt cx="11522316" cy="586740"/>
          </a:xfrm>
        </p:grpSpPr>
        <p:sp>
          <p:nvSpPr>
            <p:cNvPr id="2" name="TextBox 2"/>
            <p:cNvSpPr txBox="1"/>
            <p:nvPr/>
          </p:nvSpPr>
          <p:spPr>
            <a:xfrm>
              <a:off x="670560" y="590550"/>
              <a:ext cx="11522316" cy="586740"/>
            </a:xfrm>
            <a:prstGeom prst="rect">
              <a:avLst/>
            </a:prstGeom>
            <a:noFill/>
            <a:ln>
              <a:noFill/>
            </a:ln>
          </p:spPr>
          <p:txBody>
            <a:bodyPr wrap="none" lIns="0" tIns="0" rIns="0" bIns="0" anchor="t" anchorCtr="0">
              <a:spAutoFit/>
            </a:bodyPr>
            <a:lstStyle/>
            <a:p>
              <a:pPr algn="l"/>
              <a:r>
                <a:rPr lang="zh-CN" sz="3000" b="1" dirty="0">
                  <a:solidFill>
                    <a:schemeClr val="dk1"/>
                  </a:solidFill>
                  <a:latin typeface="Segoe UI"/>
                  <a:ea typeface="Microsoft YaHei"/>
                  <a:cs typeface="Segoe UI"/>
                </a:rPr>
                <a:t>合成条件散落在文献里，“哪些能迁移”才是要回答的科学问题</a:t>
              </a:r>
            </a:p>
          </p:txBody>
        </p:sp>
        <p:sp>
          <p:nvSpPr>
            <p:cNvPr id="3" name="Rectangle 3"/>
            <p:cNvSpPr/>
            <p:nvPr/>
          </p:nvSpPr>
          <p:spPr>
            <a:xfrm>
              <a:off x="685800" y="1085850"/>
              <a:ext cx="685800" cy="38100"/>
            </a:xfrm>
            <a:prstGeom prst="rect">
              <a:avLst/>
            </a:prstGeom>
            <a:solidFill>
              <a:schemeClr val="accent1"/>
            </a:solidFill>
            <a:ln>
              <a:noFill/>
            </a:ln>
          </p:spPr>
        </p:sp>
      </p:grpSp>
      <p:grpSp>
        <p:nvGrpSpPr>
          <p:cNvPr id="6" name="Group 6"/>
          <p:cNvGrpSpPr/>
          <p:nvPr/>
        </p:nvGrpSpPr>
        <p:grpSpPr>
          <a:xfrm>
            <a:off x="675894" y="1370648"/>
            <a:ext cx="9430512" cy="743331"/>
            <a:chOff x="675894" y="1370648"/>
            <a:chExt cx="9430512" cy="743331"/>
          </a:xfrm>
        </p:grpSpPr>
        <p:sp>
          <p:nvSpPr>
            <p:cNvPr id="5" name="TextBox 5"/>
            <p:cNvSpPr txBox="1"/>
            <p:nvPr/>
          </p:nvSpPr>
          <p:spPr>
            <a:xfrm>
              <a:off x="675894" y="1370648"/>
              <a:ext cx="9430512" cy="743331"/>
            </a:xfrm>
            <a:prstGeom prst="rect">
              <a:avLst/>
            </a:prstGeom>
            <a:noFill/>
            <a:ln>
              <a:noFill/>
            </a:ln>
          </p:spPr>
          <p:txBody>
            <a:bodyPr wrap="square" lIns="0" tIns="0" rIns="0" bIns="0" anchor="t" anchorCtr="0"/>
            <a:lstStyle/>
            <a:p>
              <a:pPr algn="l">
                <a:lnSpc>
                  <a:spcPts val="2850"/>
                </a:lnSpc>
              </a:pPr>
              <a:r>
                <a:rPr lang="zh-CN" sz="1950" dirty="0">
                  <a:solidFill>
                    <a:schemeClr val="dk1"/>
                  </a:solidFill>
                  <a:latin typeface="Segoe UI"/>
                  <a:ea typeface="Microsoft YaHei"/>
                  <a:cs typeface="Segoe UI"/>
                </a:rPr>
                <a:t>对只有单篇报道的化合物，研究者需要知道文献能限定什么、哪些近邻条件可以迁移、</a:t>
              </a:r>
              <a:r>
                <a:rPr lang="zh-CN" sz="1950" dirty="0">
                  <a:solidFill>
                    <a:schemeClr val="dk1"/>
                  </a:solidFill>
                  <a:latin typeface="Segoe UI"/>
                  <a:ea typeface="Microsoft YaHei"/>
                  <a:cs typeface="Segoe UI"/>
                </a:rPr>
                <a:t>哪些迁移</a:t>
              </a:r>
              <a:r>
                <a:rPr lang="zh-CN" sz="1950" b="1" dirty="0">
                  <a:solidFill>
                    <a:schemeClr val="accent2"/>
                  </a:solidFill>
                  <a:latin typeface="Segoe UI"/>
                  <a:ea typeface="Microsoft YaHei"/>
                  <a:cs typeface="Segoe UI"/>
                </a:rPr>
                <a:t>不成立</a:t>
              </a:r>
              <a:r>
                <a:rPr lang="zh-CN" sz="1950" dirty="0">
                  <a:solidFill>
                    <a:schemeClr val="dk1"/>
                  </a:solidFill>
                  <a:latin typeface="Segoe UI"/>
                  <a:ea typeface="Microsoft YaHei"/>
                  <a:cs typeface="Segoe UI"/>
                </a:rPr>
                <a:t>，以及下一步做什么实验</a:t>
              </a:r>
              <a:r>
                <a:rPr lang="zh-CN" sz="1950" b="1" dirty="0">
                  <a:solidFill>
                    <a:schemeClr val="accent2"/>
                  </a:solidFill>
                  <a:latin typeface="Segoe UI"/>
                  <a:ea typeface="Microsoft YaHei"/>
                  <a:cs typeface="Segoe UI"/>
                </a:rPr>
                <a:t>最有发现价值</a:t>
              </a:r>
              <a:r>
                <a:rPr lang="zh-CN" sz="1950" dirty="0">
                  <a:solidFill>
                    <a:schemeClr val="dk1"/>
                  </a:solidFill>
                  <a:latin typeface="Segoe UI"/>
                  <a:ea typeface="Microsoft YaHei"/>
                  <a:cs typeface="Segoe UI"/>
                </a:rPr>
                <a:t>。</a:t>
              </a:r>
            </a:p>
          </p:txBody>
        </p:sp>
      </p:grpSp>
      <p:grpSp>
        <p:nvGrpSpPr>
          <p:cNvPr id="12" name="Group 12"/>
          <p:cNvGrpSpPr/>
          <p:nvPr/>
        </p:nvGrpSpPr>
        <p:grpSpPr>
          <a:xfrm>
            <a:off x="685800" y="2266950"/>
            <a:ext cx="5348006" cy="2381250"/>
            <a:chOff x="685800" y="2266950"/>
            <a:chExt cx="5348006" cy="2381250"/>
          </a:xfrm>
        </p:grpSpPr>
        <p:sp>
          <p:nvSpPr>
            <p:cNvPr id="7" name="Rectangle 7"/>
            <p:cNvSpPr/>
            <p:nvPr/>
          </p:nvSpPr>
          <p:spPr>
            <a:xfrm>
              <a:off x="685800" y="2266950"/>
              <a:ext cx="5295900" cy="2381250"/>
            </a:xfrm>
            <a:prstGeom prst="rect">
              <a:avLst/>
            </a:prstGeom>
            <a:solidFill>
              <a:schemeClr val="lt2"/>
            </a:solidFill>
            <a:ln>
              <a:noFill/>
            </a:ln>
          </p:spPr>
        </p:sp>
        <p:sp>
          <p:nvSpPr>
            <p:cNvPr id="8" name="Rectangle 8"/>
            <p:cNvSpPr/>
            <p:nvPr/>
          </p:nvSpPr>
          <p:spPr>
            <a:xfrm>
              <a:off x="685800" y="2266950"/>
              <a:ext cx="57150" cy="2381250"/>
            </a:xfrm>
            <a:prstGeom prst="rect">
              <a:avLst/>
            </a:prstGeom>
            <a:solidFill>
              <a:schemeClr val="accent1"/>
            </a:solidFill>
            <a:ln>
              <a:noFill/>
            </a:ln>
          </p:spPr>
        </p:sp>
        <p:sp>
          <p:nvSpPr>
            <p:cNvPr id="9" name="TextBox 9"/>
            <p:cNvSpPr txBox="1"/>
            <p:nvPr/>
          </p:nvSpPr>
          <p:spPr>
            <a:xfrm>
              <a:off x="962406" y="2453640"/>
              <a:ext cx="5071400"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Segoe UI"/>
                  <a:ea typeface="Microsoft YaHei"/>
                  <a:cs typeface="Segoe UI"/>
                </a:rPr>
                <a:t>案例 A · Ba5Y12Zn[O(SiO4)]8（BYZSO）</a:t>
              </a:r>
            </a:p>
          </p:txBody>
        </p:sp>
        <p:sp>
          <p:nvSpPr>
            <p:cNvPr id="10" name="TextBox 10"/>
            <p:cNvSpPr txBox="1"/>
            <p:nvPr/>
          </p:nvSpPr>
          <p:spPr>
            <a:xfrm>
              <a:off x="962406" y="2872740"/>
              <a:ext cx="4874324" cy="1380744"/>
            </a:xfrm>
            <a:prstGeom prst="rect">
              <a:avLst/>
            </a:prstGeom>
            <a:noFill/>
            <a:ln>
              <a:noFill/>
            </a:ln>
          </p:spPr>
          <p:txBody>
            <a:bodyPr wrap="square" lIns="0" tIns="0" rIns="0" bIns="0" anchor="t" anchorCtr="0"/>
            <a:lstStyle/>
            <a:p>
              <a:pPr algn="l">
                <a:lnSpc>
                  <a:spcPts val="2700"/>
                </a:lnSpc>
              </a:pPr>
              <a:r>
                <a:rPr lang="zh-CN" sz="1800" dirty="0">
                  <a:solidFill>
                    <a:schemeClr val="dk1"/>
                  </a:solidFill>
                  <a:latin typeface="Segoe UI"/>
                  <a:ea typeface="Microsoft YaHei"/>
                  <a:cs typeface="Segoe UI"/>
                </a:rPr>
                <a:t>2024 年首次报道的非中心对称硅酸盐；</a:t>
              </a:r>
              <a:r>
                <a:rPr lang="zh-CN" sz="1800" dirty="0">
                  <a:solidFill>
                    <a:schemeClr val="dk1"/>
                  </a:solidFill>
                  <a:latin typeface="Segoe UI"/>
                  <a:ea typeface="Microsoft YaHei"/>
                  <a:cs typeface="Segoe UI"/>
                </a:rPr>
                <a:t xml:space="preserve">公开文献仅 </a:t>
              </a:r>
              <a:r>
                <a:rPr lang="zh-CN" sz="1800" b="1" dirty="0">
                  <a:solidFill>
                    <a:schemeClr val="accent1"/>
                  </a:solidFill>
                  <a:latin typeface="Segoe UI"/>
                  <a:ea typeface="Microsoft YaHei"/>
                  <a:cs typeface="Segoe UI"/>
                </a:rPr>
                <a:t>1 篇</a:t>
              </a:r>
              <a:r>
                <a:rPr lang="zh-CN" sz="1800" dirty="0">
                  <a:solidFill>
                    <a:schemeClr val="dk1"/>
                  </a:solidFill>
                  <a:latin typeface="Segoe UI"/>
                  <a:ea typeface="Microsoft YaHei"/>
                  <a:cs typeface="Segoe UI"/>
                </a:rPr>
                <a:t>直接合成报道，未给出可复现的</a:t>
              </a:r>
              <a:r>
                <a:rPr lang="zh-CN" sz="1800" dirty="0">
                  <a:solidFill>
                    <a:schemeClr val="dk1"/>
                  </a:solidFill>
                  <a:latin typeface="Segoe UI"/>
                  <a:ea typeface="Microsoft YaHei"/>
                  <a:cs typeface="Segoe UI"/>
                </a:rPr>
                <a:t>投料比、温程与冷却程序；Ba–Y–Si–O、</a:t>
              </a:r>
              <a:r>
                <a:rPr lang="zh-CN" sz="1800" dirty="0">
                  <a:solidFill>
                    <a:schemeClr val="dk1"/>
                  </a:solidFill>
                  <a:latin typeface="Segoe UI"/>
                  <a:ea typeface="Microsoft YaHei"/>
                  <a:cs typeface="Segoe UI"/>
                </a:rPr>
                <a:t>Ba–Zn–Si–O、Y–Si–O 近邻体系证据丰富。</a:t>
              </a:r>
            </a:p>
          </p:txBody>
        </p:sp>
        <p:sp>
          <p:nvSpPr>
            <p:cNvPr id="11" name="TextBox 11"/>
            <p:cNvSpPr txBox="1"/>
            <p:nvPr/>
          </p:nvSpPr>
          <p:spPr>
            <a:xfrm>
              <a:off x="964692" y="4331018"/>
              <a:ext cx="1759754" cy="264033"/>
            </a:xfrm>
            <a:prstGeom prst="rect">
              <a:avLst/>
            </a:prstGeom>
            <a:noFill/>
            <a:ln>
              <a:noFill/>
            </a:ln>
          </p:spPr>
          <p:txBody>
            <a:bodyPr wrap="none" lIns="0" tIns="0" rIns="0" bIns="0" anchor="t" anchorCtr="0">
              <a:spAutoFit/>
            </a:bodyPr>
            <a:lstStyle/>
            <a:p>
              <a:pPr algn="l"/>
              <a:r>
                <a:rPr lang="zh-CN" sz="1350" b="1" dirty="0">
                  <a:solidFill>
                    <a:schemeClr val="accent2"/>
                  </a:solidFill>
                  <a:latin typeface="Segoe UI"/>
                  <a:ea typeface="Microsoft YaHei"/>
                  <a:cs typeface="Segoe UI"/>
                </a:rPr>
                <a:t>文献稀缺 · 近邻丰富</a:t>
              </a:r>
            </a:p>
          </p:txBody>
        </p:sp>
      </p:grpSp>
      <p:grpSp>
        <p:nvGrpSpPr>
          <p:cNvPr id="18" name="Group 18"/>
          <p:cNvGrpSpPr/>
          <p:nvPr/>
        </p:nvGrpSpPr>
        <p:grpSpPr>
          <a:xfrm>
            <a:off x="6210300" y="2266950"/>
            <a:ext cx="5859750" cy="2381250"/>
            <a:chOff x="6210300" y="2266950"/>
            <a:chExt cx="5859750" cy="2381250"/>
          </a:xfrm>
        </p:grpSpPr>
        <p:sp>
          <p:nvSpPr>
            <p:cNvPr id="13" name="Rectangle 13"/>
            <p:cNvSpPr/>
            <p:nvPr/>
          </p:nvSpPr>
          <p:spPr>
            <a:xfrm>
              <a:off x="6210300" y="2266950"/>
              <a:ext cx="5295900" cy="2381250"/>
            </a:xfrm>
            <a:prstGeom prst="rect">
              <a:avLst/>
            </a:prstGeom>
            <a:solidFill>
              <a:schemeClr val="lt2"/>
            </a:solidFill>
            <a:ln>
              <a:noFill/>
            </a:ln>
          </p:spPr>
        </p:sp>
        <p:sp>
          <p:nvSpPr>
            <p:cNvPr id="14" name="Rectangle 14"/>
            <p:cNvSpPr/>
            <p:nvPr/>
          </p:nvSpPr>
          <p:spPr>
            <a:xfrm>
              <a:off x="6210300" y="2266950"/>
              <a:ext cx="57150" cy="2381250"/>
            </a:xfrm>
            <a:prstGeom prst="rect">
              <a:avLst/>
            </a:prstGeom>
            <a:solidFill>
              <a:schemeClr val="accent3"/>
            </a:solidFill>
            <a:ln>
              <a:noFill/>
            </a:ln>
          </p:spPr>
        </p:sp>
        <p:sp>
          <p:nvSpPr>
            <p:cNvPr id="15" name="TextBox 15"/>
            <p:cNvSpPr txBox="1"/>
            <p:nvPr/>
          </p:nvSpPr>
          <p:spPr>
            <a:xfrm>
              <a:off x="6486906" y="2453640"/>
              <a:ext cx="5583144"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Segoe UI"/>
                  <a:ea typeface="Microsoft YaHei"/>
                  <a:cs typeface="Segoe UI"/>
                </a:rPr>
                <a:t>案例 B · LLZO 石榴石固态电解质（初赛承诺）</a:t>
              </a:r>
            </a:p>
          </p:txBody>
        </p:sp>
        <p:sp>
          <p:nvSpPr>
            <p:cNvPr id="16" name="TextBox 16"/>
            <p:cNvSpPr txBox="1"/>
            <p:nvPr/>
          </p:nvSpPr>
          <p:spPr>
            <a:xfrm>
              <a:off x="6486906" y="2872740"/>
              <a:ext cx="4361688" cy="1380744"/>
            </a:xfrm>
            <a:prstGeom prst="rect">
              <a:avLst/>
            </a:prstGeom>
            <a:noFill/>
            <a:ln>
              <a:noFill/>
            </a:ln>
          </p:spPr>
          <p:txBody>
            <a:bodyPr wrap="square" lIns="0" tIns="0" rIns="0" bIns="0" anchor="t" anchorCtr="0"/>
            <a:lstStyle/>
            <a:p>
              <a:pPr algn="l">
                <a:lnSpc>
                  <a:spcPts val="2700"/>
                </a:lnSpc>
              </a:pPr>
              <a:r>
                <a:rPr lang="zh-CN" sz="1800" dirty="0">
                  <a:solidFill>
                    <a:schemeClr val="dk1"/>
                  </a:solidFill>
                  <a:latin typeface="Segoe UI"/>
                  <a:ea typeface="Microsoft YaHei"/>
                  <a:cs typeface="Segoe UI"/>
                </a:rPr>
                <a:t>低温致密化、两步烧结、冷烧结、超快烧结</a:t>
              </a:r>
              <a:r>
                <a:rPr lang="zh-CN" sz="1800" dirty="0">
                  <a:solidFill>
                    <a:schemeClr val="dk1"/>
                  </a:solidFill>
                  <a:latin typeface="Segoe UI"/>
                  <a:ea typeface="Microsoft YaHei"/>
                  <a:cs typeface="Segoe UI"/>
                </a:rPr>
                <a:t>各有先例，却缺少</a:t>
              </a:r>
              <a:r>
                <a:rPr lang="zh-CN" sz="1800" b="1" dirty="0">
                  <a:solidFill>
                    <a:schemeClr val="accent1"/>
                  </a:solidFill>
                  <a:latin typeface="Segoe UI"/>
                  <a:ea typeface="Microsoft YaHei"/>
                  <a:cs typeface="Segoe UI"/>
                </a:rPr>
                <a:t>跨掺杂体系可比</a:t>
              </a:r>
              <a:r>
                <a:rPr lang="zh-CN" sz="1800" dirty="0">
                  <a:solidFill>
                    <a:schemeClr val="dk1"/>
                  </a:solidFill>
                  <a:latin typeface="Segoe UI"/>
                  <a:ea typeface="Microsoft YaHei"/>
                  <a:cs typeface="Segoe UI"/>
                </a:rPr>
                <a:t>的统一</a:t>
              </a:r>
              <a:r>
                <a:rPr lang="zh-CN" sz="1800" dirty="0">
                  <a:solidFill>
                    <a:schemeClr val="dk1"/>
                  </a:solidFill>
                  <a:latin typeface="Segoe UI"/>
                  <a:ea typeface="Microsoft YaHei"/>
                  <a:cs typeface="Segoe UI"/>
                </a:rPr>
                <a:t>工艺图景；温度、气氛与致密度只有在实验</a:t>
              </a:r>
              <a:r>
                <a:rPr lang="zh-CN" sz="1800" dirty="0">
                  <a:solidFill>
                    <a:schemeClr val="dk1"/>
                  </a:solidFill>
                  <a:latin typeface="Segoe UI"/>
                  <a:ea typeface="Microsoft YaHei"/>
                  <a:cs typeface="Segoe UI"/>
                </a:rPr>
                <a:t>语境一致时才能比较。</a:t>
              </a:r>
            </a:p>
          </p:txBody>
        </p:sp>
        <p:sp>
          <p:nvSpPr>
            <p:cNvPr id="17" name="TextBox 17"/>
            <p:cNvSpPr txBox="1"/>
            <p:nvPr/>
          </p:nvSpPr>
          <p:spPr>
            <a:xfrm>
              <a:off x="6489192" y="4331018"/>
              <a:ext cx="1950578" cy="264033"/>
            </a:xfrm>
            <a:prstGeom prst="rect">
              <a:avLst/>
            </a:prstGeom>
            <a:noFill/>
            <a:ln>
              <a:noFill/>
            </a:ln>
          </p:spPr>
          <p:txBody>
            <a:bodyPr wrap="none" lIns="0" tIns="0" rIns="0" bIns="0" anchor="t" anchorCtr="0">
              <a:spAutoFit/>
            </a:bodyPr>
            <a:lstStyle/>
            <a:p>
              <a:pPr algn="l"/>
              <a:r>
                <a:rPr lang="zh-CN" sz="1350" b="1" dirty="0">
                  <a:solidFill>
                    <a:schemeClr val="accent2"/>
                  </a:solidFill>
                  <a:latin typeface="Segoe UI"/>
                  <a:ea typeface="Microsoft YaHei"/>
                  <a:cs typeface="Segoe UI"/>
                </a:rPr>
                <a:t>文献丰富 · 条件不可比</a:t>
              </a:r>
            </a:p>
          </p:txBody>
        </p:sp>
      </p:grpSp>
      <p:grpSp>
        <p:nvGrpSpPr>
          <p:cNvPr id="38" name="Group 38"/>
          <p:cNvGrpSpPr/>
          <p:nvPr/>
        </p:nvGrpSpPr>
        <p:grpSpPr>
          <a:xfrm>
            <a:off x="678942" y="5029200"/>
            <a:ext cx="10827258" cy="1147001"/>
            <a:chOff x="678942" y="5029200"/>
            <a:chExt cx="10827258" cy="1147001"/>
          </a:xfrm>
        </p:grpSpPr>
        <p:sp>
          <p:nvSpPr>
            <p:cNvPr id="19" name="Line 19"/>
            <p:cNvSpPr/>
            <p:nvPr/>
          </p:nvSpPr>
          <p:spPr>
            <a:xfrm>
              <a:off x="685800" y="5029200"/>
              <a:ext cx="10820400" cy="9525"/>
            </a:xfrm>
            <a:custGeom>
              <a:avLst/>
              <a:gdLst/>
              <a:ahLst/>
              <a:cxnLst/>
              <a:rect l="l" t="t" r="r" b="b"/>
              <a:pathLst>
                <a:path w="10820400" h="9525">
                  <a:moveTo>
                    <a:pt x="0" y="0"/>
                  </a:moveTo>
                  <a:lnTo>
                    <a:pt x="10820400" y="0"/>
                  </a:lnTo>
                </a:path>
              </a:pathLst>
            </a:custGeom>
            <a:noFill/>
            <a:ln w="9525">
              <a:solidFill>
                <a:schemeClr val="accent4"/>
              </a:solidFill>
            </a:ln>
          </p:spPr>
        </p:sp>
        <p:sp>
          <p:nvSpPr>
            <p:cNvPr id="20" name="TextBox 20"/>
            <p:cNvSpPr txBox="1"/>
            <p:nvPr/>
          </p:nvSpPr>
          <p:spPr>
            <a:xfrm>
              <a:off x="678942" y="5188268"/>
              <a:ext cx="740664" cy="264033"/>
            </a:xfrm>
            <a:prstGeom prst="rect">
              <a:avLst/>
            </a:prstGeom>
            <a:noFill/>
            <a:ln>
              <a:noFill/>
            </a:ln>
          </p:spPr>
          <p:txBody>
            <a:bodyPr wrap="none" lIns="0" tIns="0" rIns="0" bIns="0" anchor="t" anchorCtr="0">
              <a:spAutoFit/>
            </a:bodyPr>
            <a:lstStyle/>
            <a:p>
              <a:pPr algn="l"/>
              <a:r>
                <a:rPr lang="zh-CN" sz="1350" dirty="0">
                  <a:solidFill>
                    <a:schemeClr val="dk2"/>
                  </a:solidFill>
                  <a:latin typeface="Segoe UI"/>
                  <a:ea typeface="Microsoft YaHei"/>
                  <a:cs typeface="Segoe UI"/>
                </a:rPr>
                <a:t>三个难点</a:t>
              </a:r>
            </a:p>
          </p:txBody>
        </p:sp>
        <p:grpSp>
          <p:nvGrpSpPr>
            <p:cNvPr id="23" name="Group 23"/>
            <p:cNvGrpSpPr/>
            <p:nvPr/>
          </p:nvGrpSpPr>
          <p:grpSpPr>
            <a:xfrm>
              <a:off x="723900" y="5581650"/>
              <a:ext cx="228600" cy="228600"/>
              <a:chOff x="723900" y="5581650"/>
              <a:chExt cx="228600" cy="228600"/>
            </a:xfrm>
          </p:grpSpPr>
          <p:sp>
            <p:nvSpPr>
              <p:cNvPr id="21" name="Freeform 21"/>
              <p:cNvSpPr/>
              <p:nvPr/>
            </p:nvSpPr>
            <p:spPr>
              <a:xfrm>
                <a:off x="723900" y="5581650"/>
                <a:ext cx="177800" cy="177800"/>
              </a:xfrm>
              <a:custGeom>
                <a:avLst/>
                <a:gdLst/>
                <a:ahLst/>
                <a:cxnLst/>
                <a:rect l="l" t="t" r="r" b="b"/>
                <a:pathLst>
                  <a:path w="177800" h="177800">
                    <a:moveTo>
                      <a:pt x="0" y="88900"/>
                    </a:moveTo>
                    <a:cubicBezTo>
                      <a:pt x="0" y="137998"/>
                      <a:pt x="39802" y="177800"/>
                      <a:pt x="88900" y="177800"/>
                    </a:cubicBezTo>
                    <a:cubicBezTo>
                      <a:pt x="137998" y="177800"/>
                      <a:pt x="177800" y="137998"/>
                      <a:pt x="177800" y="88900"/>
                    </a:cubicBezTo>
                    <a:cubicBezTo>
                      <a:pt x="177800" y="39802"/>
                      <a:pt x="137998" y="0"/>
                      <a:pt x="88900" y="0"/>
                    </a:cubicBezTo>
                    <a:cubicBezTo>
                      <a:pt x="39802" y="0"/>
                      <a:pt x="0" y="39802"/>
                      <a:pt x="0" y="88900"/>
                    </a:cubicBezTo>
                  </a:path>
                </a:pathLst>
              </a:custGeom>
              <a:noFill/>
              <a:ln w="19050">
                <a:solidFill>
                  <a:schemeClr val="accent1"/>
                </a:solidFill>
              </a:ln>
            </p:spPr>
          </p:sp>
          <p:sp>
            <p:nvSpPr>
              <p:cNvPr id="22" name="Freeform 22"/>
              <p:cNvSpPr/>
              <p:nvPr/>
            </p:nvSpPr>
            <p:spPr>
              <a:xfrm>
                <a:off x="876300" y="5734050"/>
                <a:ext cx="76200" cy="76200"/>
              </a:xfrm>
              <a:custGeom>
                <a:avLst/>
                <a:gdLst/>
                <a:ahLst/>
                <a:cxnLst/>
                <a:rect l="l" t="t" r="r" b="b"/>
                <a:pathLst>
                  <a:path w="76200" h="76200">
                    <a:moveTo>
                      <a:pt x="76200" y="76200"/>
                    </a:moveTo>
                    <a:lnTo>
                      <a:pt x="0" y="0"/>
                    </a:lnTo>
                  </a:path>
                </a:pathLst>
              </a:custGeom>
              <a:noFill/>
              <a:ln w="19050">
                <a:solidFill>
                  <a:schemeClr val="accent1"/>
                </a:solidFill>
              </a:ln>
            </p:spPr>
          </p:sp>
        </p:grpSp>
        <p:sp>
          <p:nvSpPr>
            <p:cNvPr id="24" name="TextBox 24"/>
            <p:cNvSpPr txBox="1"/>
            <p:nvPr/>
          </p:nvSpPr>
          <p:spPr>
            <a:xfrm>
              <a:off x="1095756" y="5577840"/>
              <a:ext cx="3168396" cy="352044"/>
            </a:xfrm>
            <a:prstGeom prst="rect">
              <a:avLst/>
            </a:prstGeom>
            <a:noFill/>
            <a:ln>
              <a:noFill/>
            </a:ln>
          </p:spPr>
          <p:txBody>
            <a:bodyPr wrap="none" lIns="0" tIns="0" rIns="0" bIns="0" anchor="t" anchorCtr="0">
              <a:spAutoFit/>
            </a:bodyPr>
            <a:lstStyle/>
            <a:p>
              <a:pPr algn="l"/>
              <a:r>
                <a:rPr lang="zh-CN" sz="1800" dirty="0">
                  <a:solidFill>
                    <a:schemeClr val="dk1"/>
                  </a:solidFill>
                  <a:latin typeface="Segoe UI"/>
                  <a:ea typeface="Microsoft YaHei"/>
                  <a:cs typeface="Segoe UI"/>
                </a:rPr>
                <a:t>检索混入综述与参考文献列表</a:t>
              </a:r>
            </a:p>
          </p:txBody>
        </p:sp>
        <p:sp>
          <p:nvSpPr>
            <p:cNvPr id="25" name="TextBox 25"/>
            <p:cNvSpPr txBox="1"/>
            <p:nvPr/>
          </p:nvSpPr>
          <p:spPr>
            <a:xfrm>
              <a:off x="1098042" y="5912168"/>
              <a:ext cx="2194560" cy="264033"/>
            </a:xfrm>
            <a:prstGeom prst="rect">
              <a:avLst/>
            </a:prstGeom>
            <a:noFill/>
            <a:ln>
              <a:noFill/>
            </a:ln>
          </p:spPr>
          <p:txBody>
            <a:bodyPr wrap="none" lIns="0" tIns="0" rIns="0" bIns="0" anchor="t" anchorCtr="0">
              <a:spAutoFit/>
            </a:bodyPr>
            <a:lstStyle/>
            <a:p>
              <a:pPr algn="l"/>
              <a:r>
                <a:rPr lang="zh-CN" sz="1350" dirty="0">
                  <a:solidFill>
                    <a:schemeClr val="dk2"/>
                  </a:solidFill>
                  <a:latin typeface="Segoe UI"/>
                  <a:ea typeface="Microsoft YaHei"/>
                  <a:cs typeface="Segoe UI"/>
                </a:rPr>
                <a:t>召回率与阅读成本相互牵制</a:t>
              </a:r>
            </a:p>
          </p:txBody>
        </p:sp>
        <p:grpSp>
          <p:nvGrpSpPr>
            <p:cNvPr id="29" name="Group 29"/>
            <p:cNvGrpSpPr/>
            <p:nvPr/>
          </p:nvGrpSpPr>
          <p:grpSpPr>
            <a:xfrm>
              <a:off x="4329619" y="5577431"/>
              <a:ext cx="256151" cy="220068"/>
              <a:chOff x="4329619" y="5577431"/>
              <a:chExt cx="256151" cy="220068"/>
            </a:xfrm>
          </p:grpSpPr>
          <p:sp>
            <p:nvSpPr>
              <p:cNvPr id="26" name="Freeform 26"/>
              <p:cNvSpPr/>
              <p:nvPr/>
            </p:nvSpPr>
            <p:spPr>
              <a:xfrm>
                <a:off x="4457700" y="5657850"/>
                <a:ext cx="9525" cy="50800"/>
              </a:xfrm>
              <a:custGeom>
                <a:avLst/>
                <a:gdLst/>
                <a:ahLst/>
                <a:cxnLst/>
                <a:rect l="l" t="t" r="r" b="b"/>
                <a:pathLst>
                  <a:path w="9525" h="50800">
                    <a:moveTo>
                      <a:pt x="0" y="0"/>
                    </a:moveTo>
                    <a:lnTo>
                      <a:pt x="0" y="50800"/>
                    </a:lnTo>
                  </a:path>
                </a:pathLst>
              </a:custGeom>
              <a:noFill/>
              <a:ln w="19050">
                <a:solidFill>
                  <a:schemeClr val="accent1"/>
                </a:solidFill>
              </a:ln>
            </p:spPr>
          </p:sp>
          <p:sp>
            <p:nvSpPr>
              <p:cNvPr id="27" name="Freeform 27"/>
              <p:cNvSpPr/>
              <p:nvPr/>
            </p:nvSpPr>
            <p:spPr>
              <a:xfrm>
                <a:off x="4329619" y="5577431"/>
                <a:ext cx="256151" cy="220068"/>
              </a:xfrm>
              <a:custGeom>
                <a:avLst/>
                <a:gdLst/>
                <a:ahLst/>
                <a:cxnLst/>
                <a:rect l="l" t="t" r="r" b="b"/>
                <a:pathLst>
                  <a:path w="256151" h="220068">
                    <a:moveTo>
                      <a:pt x="107291" y="11725"/>
                    </a:moveTo>
                    <a:lnTo>
                      <a:pt x="4345" y="183606"/>
                    </a:lnTo>
                    <a:cubicBezTo>
                      <a:pt x="26" y="191085"/>
                      <a:pt x="0" y="200293"/>
                      <a:pt x="4276" y="207796"/>
                    </a:cubicBezTo>
                    <a:cubicBezTo>
                      <a:pt x="8551" y="215299"/>
                      <a:pt x="16487" y="219971"/>
                      <a:pt x="25122" y="220068"/>
                    </a:cubicBezTo>
                    <a:lnTo>
                      <a:pt x="231039" y="220068"/>
                    </a:lnTo>
                    <a:cubicBezTo>
                      <a:pt x="239671" y="219968"/>
                      <a:pt x="247602" y="215299"/>
                      <a:pt x="251877" y="207800"/>
                    </a:cubicBezTo>
                    <a:cubicBezTo>
                      <a:pt x="256151" y="200300"/>
                      <a:pt x="256128" y="191097"/>
                      <a:pt x="251816" y="183619"/>
                    </a:cubicBezTo>
                    <a:lnTo>
                      <a:pt x="148870" y="11712"/>
                    </a:lnTo>
                    <a:cubicBezTo>
                      <a:pt x="144465" y="4441"/>
                      <a:pt x="136582" y="0"/>
                      <a:pt x="128081" y="0"/>
                    </a:cubicBezTo>
                    <a:cubicBezTo>
                      <a:pt x="119579" y="0"/>
                      <a:pt x="111696" y="4441"/>
                      <a:pt x="107291" y="11712"/>
                    </a:cubicBezTo>
                  </a:path>
                </a:pathLst>
              </a:custGeom>
              <a:noFill/>
              <a:ln w="19050">
                <a:solidFill>
                  <a:schemeClr val="accent1"/>
                </a:solidFill>
              </a:ln>
            </p:spPr>
          </p:sp>
          <p:sp>
            <p:nvSpPr>
              <p:cNvPr id="28" name="Freeform 28"/>
              <p:cNvSpPr/>
              <p:nvPr/>
            </p:nvSpPr>
            <p:spPr>
              <a:xfrm>
                <a:off x="4457700" y="5746749"/>
                <a:ext cx="9525" cy="9525"/>
              </a:xfrm>
              <a:custGeom>
                <a:avLst/>
                <a:gdLst/>
                <a:ahLst/>
                <a:cxnLst/>
                <a:rect l="l" t="t" r="r" b="b"/>
                <a:pathLst>
                  <a:path w="9525" h="9525">
                    <a:moveTo>
                      <a:pt x="0" y="0"/>
                    </a:moveTo>
                    <a:lnTo>
                      <a:pt x="127" y="0"/>
                    </a:lnTo>
                  </a:path>
                </a:pathLst>
              </a:custGeom>
              <a:noFill/>
              <a:ln w="19050">
                <a:solidFill>
                  <a:schemeClr val="accent1"/>
                </a:solidFill>
              </a:ln>
            </p:spPr>
          </p:sp>
        </p:grpSp>
        <p:sp>
          <p:nvSpPr>
            <p:cNvPr id="30" name="TextBox 30"/>
            <p:cNvSpPr txBox="1"/>
            <p:nvPr/>
          </p:nvSpPr>
          <p:spPr>
            <a:xfrm>
              <a:off x="4715256" y="5577840"/>
              <a:ext cx="2732227" cy="352044"/>
            </a:xfrm>
            <a:prstGeom prst="rect">
              <a:avLst/>
            </a:prstGeom>
            <a:noFill/>
            <a:ln>
              <a:noFill/>
            </a:ln>
          </p:spPr>
          <p:txBody>
            <a:bodyPr wrap="none" lIns="0" tIns="0" rIns="0" bIns="0" anchor="t" anchorCtr="0">
              <a:spAutoFit/>
            </a:bodyPr>
            <a:lstStyle/>
            <a:p>
              <a:pPr algn="l"/>
              <a:r>
                <a:rPr lang="zh-CN" sz="1800" dirty="0">
                  <a:solidFill>
                    <a:schemeClr val="dk1"/>
                  </a:solidFill>
                  <a:latin typeface="Segoe UI"/>
                  <a:ea typeface="Microsoft YaHei"/>
                  <a:cs typeface="Segoe UI"/>
                </a:rPr>
                <a:t>“未检出”不等于“未研究”</a:t>
              </a:r>
            </a:p>
          </p:txBody>
        </p:sp>
        <p:sp>
          <p:nvSpPr>
            <p:cNvPr id="31" name="TextBox 31"/>
            <p:cNvSpPr txBox="1"/>
            <p:nvPr/>
          </p:nvSpPr>
          <p:spPr>
            <a:xfrm>
              <a:off x="4717542" y="5912168"/>
              <a:ext cx="2921508" cy="264033"/>
            </a:xfrm>
            <a:prstGeom prst="rect">
              <a:avLst/>
            </a:prstGeom>
            <a:noFill/>
            <a:ln>
              <a:noFill/>
            </a:ln>
          </p:spPr>
          <p:txBody>
            <a:bodyPr wrap="none" lIns="0" tIns="0" rIns="0" bIns="0" anchor="t" anchorCtr="0">
              <a:spAutoFit/>
            </a:bodyPr>
            <a:lstStyle/>
            <a:p>
              <a:pPr algn="l"/>
              <a:r>
                <a:rPr lang="zh-CN" sz="1350" dirty="0">
                  <a:solidFill>
                    <a:schemeClr val="dk2"/>
                  </a:solidFill>
                  <a:latin typeface="Segoe UI"/>
                  <a:ea typeface="Microsoft YaHei"/>
                  <a:cs typeface="Segoe UI"/>
                </a:rPr>
                <a:t>别名、缩写与语料覆盖会制造假空白</a:t>
              </a:r>
            </a:p>
          </p:txBody>
        </p:sp>
        <p:grpSp>
          <p:nvGrpSpPr>
            <p:cNvPr id="35" name="Group 35"/>
            <p:cNvGrpSpPr/>
            <p:nvPr/>
          </p:nvGrpSpPr>
          <p:grpSpPr>
            <a:xfrm>
              <a:off x="7999758" y="5581650"/>
              <a:ext cx="154884" cy="228599"/>
              <a:chOff x="7999758" y="5581650"/>
              <a:chExt cx="154884" cy="228599"/>
            </a:xfrm>
          </p:grpSpPr>
          <p:sp>
            <p:nvSpPr>
              <p:cNvPr id="32" name="Freeform 32"/>
              <p:cNvSpPr/>
              <p:nvPr/>
            </p:nvSpPr>
            <p:spPr>
              <a:xfrm>
                <a:off x="8039100" y="5581650"/>
                <a:ext cx="76200" cy="9525"/>
              </a:xfrm>
              <a:custGeom>
                <a:avLst/>
                <a:gdLst/>
                <a:ahLst/>
                <a:cxnLst/>
                <a:rect l="l" t="t" r="r" b="b"/>
                <a:pathLst>
                  <a:path w="76200" h="9525">
                    <a:moveTo>
                      <a:pt x="0" y="0"/>
                    </a:moveTo>
                    <a:lnTo>
                      <a:pt x="76200" y="0"/>
                    </a:lnTo>
                  </a:path>
                </a:pathLst>
              </a:custGeom>
              <a:noFill/>
              <a:ln w="19050">
                <a:solidFill>
                  <a:schemeClr val="accent1"/>
                </a:solidFill>
              </a:ln>
            </p:spPr>
          </p:sp>
          <p:sp>
            <p:nvSpPr>
              <p:cNvPr id="33" name="Freeform 33"/>
              <p:cNvSpPr/>
              <p:nvPr/>
            </p:nvSpPr>
            <p:spPr>
              <a:xfrm>
                <a:off x="8051800" y="5657850"/>
                <a:ext cx="50800" cy="9525"/>
              </a:xfrm>
              <a:custGeom>
                <a:avLst/>
                <a:gdLst/>
                <a:ahLst/>
                <a:cxnLst/>
                <a:rect l="l" t="t" r="r" b="b"/>
                <a:pathLst>
                  <a:path w="50800" h="9525">
                    <a:moveTo>
                      <a:pt x="0" y="0"/>
                    </a:moveTo>
                    <a:lnTo>
                      <a:pt x="50800" y="0"/>
                    </a:lnTo>
                  </a:path>
                </a:pathLst>
              </a:custGeom>
              <a:noFill/>
              <a:ln w="19050">
                <a:solidFill>
                  <a:schemeClr val="accent1"/>
                </a:solidFill>
              </a:ln>
            </p:spPr>
          </p:sp>
          <p:sp>
            <p:nvSpPr>
              <p:cNvPr id="34" name="Freeform 34"/>
              <p:cNvSpPr/>
              <p:nvPr/>
            </p:nvSpPr>
            <p:spPr>
              <a:xfrm>
                <a:off x="7999758" y="5581650"/>
                <a:ext cx="154884" cy="228599"/>
              </a:xfrm>
              <a:custGeom>
                <a:avLst/>
                <a:gdLst/>
                <a:ahLst/>
                <a:cxnLst/>
                <a:rect l="l" t="t" r="r" b="b"/>
                <a:pathLst>
                  <a:path w="154884" h="228599">
                    <a:moveTo>
                      <a:pt x="52042" y="0"/>
                    </a:moveTo>
                    <a:lnTo>
                      <a:pt x="52042" y="76200"/>
                    </a:lnTo>
                    <a:lnTo>
                      <a:pt x="1242" y="215899"/>
                    </a:lnTo>
                    <a:cubicBezTo>
                      <a:pt x="0" y="218399"/>
                      <a:pt x="3" y="221336"/>
                      <a:pt x="1252" y="223832"/>
                    </a:cubicBezTo>
                    <a:cubicBezTo>
                      <a:pt x="2500" y="226329"/>
                      <a:pt x="4848" y="228094"/>
                      <a:pt x="7592" y="228599"/>
                    </a:cubicBezTo>
                    <a:lnTo>
                      <a:pt x="147292" y="228599"/>
                    </a:lnTo>
                    <a:cubicBezTo>
                      <a:pt x="150037" y="228094"/>
                      <a:pt x="152385" y="226329"/>
                      <a:pt x="153633" y="223832"/>
                    </a:cubicBezTo>
                    <a:cubicBezTo>
                      <a:pt x="154881" y="221336"/>
                      <a:pt x="154884" y="218399"/>
                      <a:pt x="153642" y="215899"/>
                    </a:cubicBezTo>
                    <a:lnTo>
                      <a:pt x="102842" y="76200"/>
                    </a:lnTo>
                    <a:lnTo>
                      <a:pt x="102842" y="0"/>
                    </a:lnTo>
                  </a:path>
                </a:pathLst>
              </a:custGeom>
              <a:noFill/>
              <a:ln w="19050">
                <a:solidFill>
                  <a:schemeClr val="accent1"/>
                </a:solidFill>
              </a:ln>
            </p:spPr>
          </p:sp>
        </p:grpSp>
        <p:sp>
          <p:nvSpPr>
            <p:cNvPr id="36" name="TextBox 36"/>
            <p:cNvSpPr txBox="1"/>
            <p:nvPr/>
          </p:nvSpPr>
          <p:spPr>
            <a:xfrm>
              <a:off x="8334756" y="5577840"/>
              <a:ext cx="2683764" cy="352044"/>
            </a:xfrm>
            <a:prstGeom prst="rect">
              <a:avLst/>
            </a:prstGeom>
            <a:noFill/>
            <a:ln>
              <a:noFill/>
            </a:ln>
          </p:spPr>
          <p:txBody>
            <a:bodyPr wrap="none" lIns="0" tIns="0" rIns="0" bIns="0" anchor="t" anchorCtr="0">
              <a:spAutoFit/>
            </a:bodyPr>
            <a:lstStyle/>
            <a:p>
              <a:pPr algn="l"/>
              <a:r>
                <a:rPr lang="zh-CN" sz="1800" dirty="0">
                  <a:solidFill>
                    <a:schemeClr val="dk1"/>
                  </a:solidFill>
                  <a:latin typeface="Segoe UI"/>
                  <a:ea typeface="Microsoft YaHei"/>
                  <a:cs typeface="Segoe UI"/>
                </a:rPr>
                <a:t>数值只在语境一致时可比</a:t>
              </a:r>
            </a:p>
          </p:txBody>
        </p:sp>
        <p:sp>
          <p:nvSpPr>
            <p:cNvPr id="37" name="TextBox 37"/>
            <p:cNvSpPr txBox="1"/>
            <p:nvPr/>
          </p:nvSpPr>
          <p:spPr>
            <a:xfrm>
              <a:off x="8337042" y="5912168"/>
              <a:ext cx="3103245" cy="264033"/>
            </a:xfrm>
            <a:prstGeom prst="rect">
              <a:avLst/>
            </a:prstGeom>
            <a:noFill/>
            <a:ln>
              <a:noFill/>
            </a:ln>
          </p:spPr>
          <p:txBody>
            <a:bodyPr wrap="none" lIns="0" tIns="0" rIns="0" bIns="0" anchor="t" anchorCtr="0">
              <a:spAutoFit/>
            </a:bodyPr>
            <a:lstStyle/>
            <a:p>
              <a:pPr algn="l"/>
              <a:r>
                <a:rPr lang="zh-CN" sz="1350" dirty="0">
                  <a:solidFill>
                    <a:schemeClr val="dk2"/>
                  </a:solidFill>
                  <a:latin typeface="Segoe UI"/>
                  <a:ea typeface="Microsoft YaHei"/>
                  <a:cs typeface="Segoe UI"/>
                </a:rPr>
                <a:t>误读升温节点或淬火温度会产生假规律</a:t>
              </a:r>
            </a:p>
          </p:txBody>
        </p:sp>
      </p:grpSp>
      <p:grpSp>
        <p:nvGrpSpPr>
          <p:cNvPr id="41" name="Group 41"/>
          <p:cNvGrpSpPr/>
          <p:nvPr/>
        </p:nvGrpSpPr>
        <p:grpSpPr>
          <a:xfrm>
            <a:off x="679704" y="6480810"/>
            <a:ext cx="10832592" cy="234696"/>
            <a:chOff x="679704" y="6480810"/>
            <a:chExt cx="10832592" cy="234696"/>
          </a:xfrm>
        </p:grpSpPr>
        <p:sp>
          <p:nvSpPr>
            <p:cNvPr id="39" name="TextBox 39"/>
            <p:cNvSpPr txBox="1"/>
            <p:nvPr/>
          </p:nvSpPr>
          <p:spPr>
            <a:xfrm>
              <a:off x="679704" y="6480810"/>
              <a:ext cx="3429795"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Segoe UI"/>
                  <a:ea typeface="Microsoft YaHei"/>
                  <a:cs typeface="Segoe UI"/>
                </a:rPr>
                <a:t>SAGE-Mat · GoAI Research · GOAI 2026 复赛</a:t>
              </a:r>
            </a:p>
          </p:txBody>
        </p:sp>
        <p:sp>
          <p:nvSpPr>
            <p:cNvPr id="40" name="TextBox 40"/>
            <p:cNvSpPr txBox="1"/>
            <p:nvPr/>
          </p:nvSpPr>
          <p:spPr>
            <a:xfrm>
              <a:off x="11047781" y="6480810"/>
              <a:ext cx="464515" cy="234696"/>
            </a:xfrm>
            <a:prstGeom prst="rect">
              <a:avLst/>
            </a:prstGeom>
            <a:noFill/>
            <a:ln>
              <a:noFill/>
            </a:ln>
          </p:spPr>
          <p:txBody>
            <a:bodyPr wrap="none" lIns="0" tIns="0" rIns="0" bIns="0" anchor="t" anchorCtr="0">
              <a:spAutoFit/>
            </a:bodyPr>
            <a:lstStyle/>
            <a:p>
              <a:pPr algn="r"/>
              <a:r>
                <a:rPr lang="en-US" sz="1200" dirty="0">
                  <a:solidFill>
                    <a:schemeClr val="accent5"/>
                  </a:solidFill>
                  <a:latin typeface="Segoe UI"/>
                  <a:ea typeface="Segoe UI"/>
                  <a:cs typeface="Segoe UI"/>
                </a:rPr>
                <a:t>2 / 12</a:t>
              </a:r>
            </a:p>
          </p:txBody>
        </p:sp>
      </p:grpSp>
    </p:spTree>
  </p:cSld>
  <p:clrMapOvr>
    <a:masterClrMapping/>
  </p:clrMapOvr>
  <p:transition xmlns:p14="http://schemas.microsoft.com/office/powerpoint/2010/main" p14:dur="400">
    <p:fade/>
  </p:transition>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670560" y="590550"/>
            <a:ext cx="10292563" cy="586740"/>
            <a:chOff x="670560" y="590550"/>
            <a:chExt cx="10292563" cy="586740"/>
          </a:xfrm>
        </p:grpSpPr>
        <p:sp>
          <p:nvSpPr>
            <p:cNvPr id="2" name="TextBox 2"/>
            <p:cNvSpPr txBox="1"/>
            <p:nvPr/>
          </p:nvSpPr>
          <p:spPr>
            <a:xfrm>
              <a:off x="670560" y="590550"/>
              <a:ext cx="10292563" cy="586740"/>
            </a:xfrm>
            <a:prstGeom prst="rect">
              <a:avLst/>
            </a:prstGeom>
            <a:noFill/>
            <a:ln>
              <a:noFill/>
            </a:ln>
          </p:spPr>
          <p:txBody>
            <a:bodyPr wrap="none" lIns="0" tIns="0" rIns="0" bIns="0" anchor="t" anchorCtr="0">
              <a:spAutoFit/>
            </a:bodyPr>
            <a:lstStyle/>
            <a:p>
              <a:pPr algn="l"/>
              <a:r>
                <a:rPr lang="zh-CN" sz="3000" b="1" dirty="0">
                  <a:solidFill>
                    <a:schemeClr val="dk1"/>
                  </a:solidFill>
                  <a:latin typeface="Segoe UI"/>
                  <a:ea typeface="Microsoft YaHei"/>
                  <a:cs typeface="Segoe UI"/>
                </a:rPr>
                <a:t>系统把“生成像论文的结论”改为“保存证据与判定过程”</a:t>
              </a:r>
            </a:p>
          </p:txBody>
        </p:sp>
        <p:sp>
          <p:nvSpPr>
            <p:cNvPr id="3" name="Rectangle 3"/>
            <p:cNvSpPr/>
            <p:nvPr/>
          </p:nvSpPr>
          <p:spPr>
            <a:xfrm>
              <a:off x="685800" y="1085850"/>
              <a:ext cx="685800" cy="38100"/>
            </a:xfrm>
            <a:prstGeom prst="rect">
              <a:avLst/>
            </a:prstGeom>
            <a:solidFill>
              <a:schemeClr val="accent1"/>
            </a:solidFill>
            <a:ln>
              <a:noFill/>
            </a:ln>
          </p:spPr>
        </p:sp>
      </p:grpSp>
      <p:grpSp>
        <p:nvGrpSpPr>
          <p:cNvPr id="6" name="Group 6"/>
          <p:cNvGrpSpPr/>
          <p:nvPr/>
        </p:nvGrpSpPr>
        <p:grpSpPr>
          <a:xfrm>
            <a:off x="675894" y="1370648"/>
            <a:ext cx="9716647" cy="381381"/>
            <a:chOff x="675894" y="1370648"/>
            <a:chExt cx="9716647" cy="381381"/>
          </a:xfrm>
        </p:grpSpPr>
        <p:sp>
          <p:nvSpPr>
            <p:cNvPr id="5" name="TextBox 5"/>
            <p:cNvSpPr txBox="1"/>
            <p:nvPr/>
          </p:nvSpPr>
          <p:spPr>
            <a:xfrm>
              <a:off x="675894" y="1370648"/>
              <a:ext cx="9716647" cy="381381"/>
            </a:xfrm>
            <a:prstGeom prst="rect">
              <a:avLst/>
            </a:prstGeom>
            <a:noFill/>
            <a:ln>
              <a:noFill/>
            </a:ln>
          </p:spPr>
          <p:txBody>
            <a:bodyPr wrap="none" lIns="0" tIns="0" rIns="0" bIns="0" anchor="t" anchorCtr="0">
              <a:spAutoFit/>
            </a:bodyPr>
            <a:lstStyle/>
            <a:p>
              <a:pPr algn="l"/>
              <a:r>
                <a:rPr lang="zh-CN" sz="1950" dirty="0">
                  <a:solidFill>
                    <a:schemeClr val="dk1"/>
                  </a:solidFill>
                  <a:latin typeface="Segoe UI"/>
                  <a:ea typeface="Microsoft YaHei"/>
                  <a:cs typeface="Segoe UI"/>
                </a:rPr>
                <a:t>三层分离：认知交给宿主模型，确定性工作进 MCP server，</a:t>
              </a:r>
              <a:r>
                <a:rPr lang="zh-CN" sz="1950" b="1" dirty="0">
                  <a:solidFill>
                    <a:schemeClr val="accent2"/>
                  </a:solidFill>
                  <a:latin typeface="Segoe UI"/>
                  <a:ea typeface="Microsoft YaHei"/>
                  <a:cs typeface="Segoe UI"/>
                </a:rPr>
                <a:t>“完成”由代码判定</a:t>
              </a:r>
              <a:r>
                <a:rPr lang="zh-CN" sz="1950" dirty="0">
                  <a:solidFill>
                    <a:schemeClr val="dk1"/>
                  </a:solidFill>
                  <a:latin typeface="Segoe UI"/>
                  <a:ea typeface="Microsoft YaHei"/>
                  <a:cs typeface="Segoe UI"/>
                </a:rPr>
                <a:t>。</a:t>
              </a:r>
            </a:p>
          </p:txBody>
        </p:sp>
      </p:grpSp>
      <p:grpSp>
        <p:nvGrpSpPr>
          <p:cNvPr id="10" name="Group 10"/>
          <p:cNvGrpSpPr/>
          <p:nvPr/>
        </p:nvGrpSpPr>
        <p:grpSpPr>
          <a:xfrm>
            <a:off x="678942" y="1905000"/>
            <a:ext cx="8379694" cy="4137851"/>
            <a:chOff x="678942" y="1905000"/>
            <a:chExt cx="8379694" cy="4137851"/>
          </a:xfrm>
        </p:grpSpPr>
        <p:sp>
          <p:nvSpPr>
            <p:cNvPr id="7" name="Rectangle 7"/>
            <p:cNvSpPr/>
            <p:nvPr/>
          </p:nvSpPr>
          <p:spPr>
            <a:xfrm>
              <a:off x="685800" y="1905000"/>
              <a:ext cx="6667500" cy="3705225"/>
            </a:xfrm>
            <a:prstGeom prst="rect">
              <a:avLst/>
            </a:prstGeom>
            <a:solidFill>
              <a:schemeClr val="lt1"/>
            </a:solidFill>
            <a:ln w="9525">
              <a:solidFill>
                <a:schemeClr val="accent4"/>
              </a:solidFill>
            </a:ln>
          </p:spPr>
        </p:sp>
        <p:pic>
          <p:nvPicPr>
            <p:cNvPr id="8" name="Image 8"/>
            <p:cNvPicPr>
              <a:picLocks noChangeAspect="1"/>
            </p:cNvPicPr>
            <p:nvPr/>
          </p:nvPicPr>
          <p:blipFill>
            <a:blip r:embed="rId2"/>
            <a:stretch>
              <a:fillRect/>
            </a:stretch>
          </p:blipFill>
          <p:spPr>
            <a:xfrm>
              <a:off x="692777" y="1905000"/>
              <a:ext cx="6653546" cy="3705225"/>
            </a:xfrm>
            <a:prstGeom prst="rect">
              <a:avLst/>
            </a:prstGeom>
          </p:spPr>
        </p:pic>
        <p:sp>
          <p:nvSpPr>
            <p:cNvPr id="9" name="TextBox 9"/>
            <p:cNvSpPr txBox="1"/>
            <p:nvPr/>
          </p:nvSpPr>
          <p:spPr>
            <a:xfrm>
              <a:off x="678942" y="5778818"/>
              <a:ext cx="8379694" cy="264033"/>
            </a:xfrm>
            <a:prstGeom prst="rect">
              <a:avLst/>
            </a:prstGeom>
            <a:noFill/>
            <a:ln>
              <a:noFill/>
            </a:ln>
          </p:spPr>
          <p:txBody>
            <a:bodyPr wrap="none" lIns="0" tIns="0" rIns="0" bIns="0" anchor="t" anchorCtr="0">
              <a:spAutoFit/>
            </a:bodyPr>
            <a:lstStyle/>
            <a:p>
              <a:pPr algn="l"/>
              <a:r>
                <a:rPr lang="zh-CN" sz="1350" dirty="0">
                  <a:solidFill>
                    <a:schemeClr val="dk2"/>
                  </a:solidFill>
                  <a:latin typeface="Segoe UI"/>
                  <a:ea typeface="Microsoft YaHei"/>
                  <a:cs typeface="Segoe UI"/>
                </a:rPr>
                <a:t>图：发现 → 生产（并行）→ 质量回环。由系统自身的 figspec 渲染器生成，同源输出 SVG 与 draw.io。</a:t>
              </a:r>
            </a:p>
          </p:txBody>
        </p:sp>
      </p:grpSp>
      <p:grpSp>
        <p:nvGrpSpPr>
          <p:cNvPr id="20" name="Group 20"/>
          <p:cNvGrpSpPr/>
          <p:nvPr/>
        </p:nvGrpSpPr>
        <p:grpSpPr>
          <a:xfrm>
            <a:off x="7734300" y="1905000"/>
            <a:ext cx="4144518" cy="1166051"/>
            <a:chOff x="7734300" y="1905000"/>
            <a:chExt cx="4144518" cy="1166051"/>
          </a:xfrm>
        </p:grpSpPr>
        <p:sp>
          <p:nvSpPr>
            <p:cNvPr id="11" name="Rectangle 11"/>
            <p:cNvSpPr/>
            <p:nvPr/>
          </p:nvSpPr>
          <p:spPr>
            <a:xfrm>
              <a:off x="7734300" y="1905000"/>
              <a:ext cx="57150" cy="1123950"/>
            </a:xfrm>
            <a:prstGeom prst="rect">
              <a:avLst/>
            </a:prstGeom>
            <a:solidFill>
              <a:schemeClr val="accent1"/>
            </a:solidFill>
            <a:ln>
              <a:noFill/>
            </a:ln>
          </p:spPr>
        </p:sp>
        <p:grpSp>
          <p:nvGrpSpPr>
            <p:cNvPr id="17" name="Group 17"/>
            <p:cNvGrpSpPr/>
            <p:nvPr/>
          </p:nvGrpSpPr>
          <p:grpSpPr>
            <a:xfrm>
              <a:off x="7996238" y="1976438"/>
              <a:ext cx="200025" cy="200025"/>
              <a:chOff x="7996238" y="1976438"/>
              <a:chExt cx="200025" cy="200025"/>
            </a:xfrm>
          </p:grpSpPr>
          <p:sp>
            <p:nvSpPr>
              <p:cNvPr id="12" name="Freeform 12"/>
              <p:cNvSpPr/>
              <p:nvPr/>
            </p:nvSpPr>
            <p:spPr>
              <a:xfrm>
                <a:off x="8074025" y="1976438"/>
                <a:ext cx="44450" cy="44450"/>
              </a:xfrm>
              <a:custGeom>
                <a:avLst/>
                <a:gdLst/>
                <a:ahLst/>
                <a:cxnLst/>
                <a:rect l="l" t="t" r="r" b="b"/>
                <a:pathLst>
                  <a:path w="44450" h="44450">
                    <a:moveTo>
                      <a:pt x="0" y="0"/>
                    </a:moveTo>
                    <a:lnTo>
                      <a:pt x="44450" y="0"/>
                    </a:lnTo>
                    <a:lnTo>
                      <a:pt x="44450" y="44450"/>
                    </a:lnTo>
                    <a:lnTo>
                      <a:pt x="0" y="44450"/>
                    </a:lnTo>
                    <a:lnTo>
                      <a:pt x="0" y="0"/>
                    </a:lnTo>
                  </a:path>
                </a:pathLst>
              </a:custGeom>
              <a:noFill/>
              <a:ln w="19050">
                <a:solidFill>
                  <a:schemeClr val="accent1"/>
                </a:solidFill>
              </a:ln>
            </p:spPr>
          </p:sp>
          <p:sp>
            <p:nvSpPr>
              <p:cNvPr id="13" name="Freeform 13"/>
              <p:cNvSpPr/>
              <p:nvPr/>
            </p:nvSpPr>
            <p:spPr>
              <a:xfrm>
                <a:off x="7996238" y="2132013"/>
                <a:ext cx="44450" cy="44450"/>
              </a:xfrm>
              <a:custGeom>
                <a:avLst/>
                <a:gdLst/>
                <a:ahLst/>
                <a:cxnLst/>
                <a:rect l="l" t="t" r="r" b="b"/>
                <a:pathLst>
                  <a:path w="44450" h="44450">
                    <a:moveTo>
                      <a:pt x="0" y="0"/>
                    </a:moveTo>
                    <a:lnTo>
                      <a:pt x="44450" y="0"/>
                    </a:lnTo>
                    <a:lnTo>
                      <a:pt x="44450" y="44450"/>
                    </a:lnTo>
                    <a:lnTo>
                      <a:pt x="0" y="44450"/>
                    </a:lnTo>
                    <a:lnTo>
                      <a:pt x="0" y="0"/>
                    </a:lnTo>
                  </a:path>
                </a:pathLst>
              </a:custGeom>
              <a:noFill/>
              <a:ln w="19050">
                <a:solidFill>
                  <a:schemeClr val="accent1"/>
                </a:solidFill>
              </a:ln>
            </p:spPr>
          </p:sp>
          <p:sp>
            <p:nvSpPr>
              <p:cNvPr id="14" name="Freeform 14"/>
              <p:cNvSpPr/>
              <p:nvPr/>
            </p:nvSpPr>
            <p:spPr>
              <a:xfrm>
                <a:off x="8151813" y="2132013"/>
                <a:ext cx="44450" cy="44450"/>
              </a:xfrm>
              <a:custGeom>
                <a:avLst/>
                <a:gdLst/>
                <a:ahLst/>
                <a:cxnLst/>
                <a:rect l="l" t="t" r="r" b="b"/>
                <a:pathLst>
                  <a:path w="44450" h="44450">
                    <a:moveTo>
                      <a:pt x="0" y="0"/>
                    </a:moveTo>
                    <a:lnTo>
                      <a:pt x="44450" y="0"/>
                    </a:lnTo>
                    <a:lnTo>
                      <a:pt x="44450" y="44450"/>
                    </a:lnTo>
                    <a:lnTo>
                      <a:pt x="0" y="44450"/>
                    </a:lnTo>
                    <a:lnTo>
                      <a:pt x="0" y="0"/>
                    </a:lnTo>
                  </a:path>
                </a:pathLst>
              </a:custGeom>
              <a:noFill/>
              <a:ln w="19050">
                <a:solidFill>
                  <a:schemeClr val="accent1"/>
                </a:solidFill>
              </a:ln>
            </p:spPr>
          </p:sp>
          <p:sp>
            <p:nvSpPr>
              <p:cNvPr id="15" name="Freeform 15"/>
              <p:cNvSpPr/>
              <p:nvPr/>
            </p:nvSpPr>
            <p:spPr>
              <a:xfrm>
                <a:off x="8040688" y="2087563"/>
                <a:ext cx="111125" cy="44450"/>
              </a:xfrm>
              <a:custGeom>
                <a:avLst/>
                <a:gdLst/>
                <a:ahLst/>
                <a:cxnLst/>
                <a:rect l="l" t="t" r="r" b="b"/>
                <a:pathLst>
                  <a:path w="111125" h="44450">
                    <a:moveTo>
                      <a:pt x="0" y="44450"/>
                    </a:moveTo>
                    <a:lnTo>
                      <a:pt x="55563" y="0"/>
                    </a:lnTo>
                    <a:lnTo>
                      <a:pt x="111125" y="44450"/>
                    </a:lnTo>
                  </a:path>
                </a:pathLst>
              </a:custGeom>
              <a:noFill/>
              <a:ln w="19050">
                <a:solidFill>
                  <a:schemeClr val="accent1"/>
                </a:solidFill>
              </a:ln>
            </p:spPr>
          </p:sp>
          <p:sp>
            <p:nvSpPr>
              <p:cNvPr id="16" name="Freeform 16"/>
              <p:cNvSpPr/>
              <p:nvPr/>
            </p:nvSpPr>
            <p:spPr>
              <a:xfrm>
                <a:off x="8096250" y="2020888"/>
                <a:ext cx="9525" cy="66675"/>
              </a:xfrm>
              <a:custGeom>
                <a:avLst/>
                <a:gdLst/>
                <a:ahLst/>
                <a:cxnLst/>
                <a:rect l="l" t="t" r="r" b="b"/>
                <a:pathLst>
                  <a:path w="9525" h="66675">
                    <a:moveTo>
                      <a:pt x="0" y="0"/>
                    </a:moveTo>
                    <a:lnTo>
                      <a:pt x="0" y="66675"/>
                    </a:lnTo>
                  </a:path>
                </a:pathLst>
              </a:custGeom>
              <a:noFill/>
              <a:ln w="19050">
                <a:solidFill>
                  <a:schemeClr val="accent1"/>
                </a:solidFill>
              </a:ln>
            </p:spPr>
          </p:sp>
        </p:grpSp>
        <p:sp>
          <p:nvSpPr>
            <p:cNvPr id="18" name="TextBox 18"/>
            <p:cNvSpPr txBox="1"/>
            <p:nvPr/>
          </p:nvSpPr>
          <p:spPr>
            <a:xfrm>
              <a:off x="8315706" y="1958340"/>
              <a:ext cx="2906089"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Segoe UI"/>
                  <a:ea typeface="Microsoft YaHei"/>
                  <a:cs typeface="Segoe UI"/>
                </a:rPr>
                <a:t>认知层 · 9 个 agent 技能</a:t>
              </a:r>
            </a:p>
          </p:txBody>
        </p:sp>
        <p:sp>
          <p:nvSpPr>
            <p:cNvPr id="19" name="TextBox 19"/>
            <p:cNvSpPr txBox="1"/>
            <p:nvPr/>
          </p:nvSpPr>
          <p:spPr>
            <a:xfrm>
              <a:off x="7956042" y="2311718"/>
              <a:ext cx="3922776" cy="759333"/>
            </a:xfrm>
            <a:prstGeom prst="rect">
              <a:avLst/>
            </a:prstGeom>
            <a:noFill/>
            <a:ln>
              <a:noFill/>
            </a:ln>
          </p:spPr>
          <p:txBody>
            <a:bodyPr wrap="square" lIns="0" tIns="0" rIns="0" bIns="0" anchor="t" anchorCtr="0"/>
            <a:lstStyle/>
            <a:p>
              <a:pPr algn="l">
                <a:lnSpc>
                  <a:spcPts val="1950"/>
                </a:lnSpc>
              </a:pPr>
              <a:r>
                <a:rPr lang="zh-CN" sz="1350" dirty="0">
                  <a:solidFill>
                    <a:schemeClr val="dk1"/>
                  </a:solidFill>
                  <a:latin typeface="Segoe UI"/>
                  <a:ea typeface="Microsoft YaHei"/>
                  <a:cs typeface="Segoe UI"/>
                </a:rPr>
                <a:t>编排 / 检索 / 风格库 / 引用核验 / 分类法与写作 /</a:t>
              </a:r>
              <a:r>
                <a:rPr lang="zh-CN" sz="1350" dirty="0">
                  <a:solidFill>
                    <a:schemeClr val="dk1"/>
                  </a:solidFill>
                  <a:latin typeface="Segoe UI"/>
                  <a:ea typeface="Microsoft YaHei"/>
                  <a:cs typeface="Segoe UI"/>
                </a:rPr>
                <a:t>图纸 ×2 / 想法与方案 / 对抗审稿；纯 Markdown，</a:t>
              </a:r>
              <a:r>
                <a:rPr lang="zh-CN" sz="1350" dirty="0">
                  <a:solidFill>
                    <a:schemeClr val="dk1"/>
                  </a:solidFill>
                  <a:latin typeface="Segoe UI"/>
                  <a:ea typeface="Microsoft YaHei"/>
                  <a:cs typeface="Segoe UI"/>
                </a:rPr>
                <a:t>由 Codex 宿主执行，即提交的 Prompt 全集。</a:t>
              </a:r>
            </a:p>
          </p:txBody>
        </p:sp>
      </p:grpSp>
      <p:grpSp>
        <p:nvGrpSpPr>
          <p:cNvPr id="28" name="Group 28"/>
          <p:cNvGrpSpPr/>
          <p:nvPr/>
        </p:nvGrpSpPr>
        <p:grpSpPr>
          <a:xfrm>
            <a:off x="7734300" y="3219450"/>
            <a:ext cx="4667440" cy="1166051"/>
            <a:chOff x="7734300" y="3219450"/>
            <a:chExt cx="4667440" cy="1166051"/>
          </a:xfrm>
        </p:grpSpPr>
        <p:sp>
          <p:nvSpPr>
            <p:cNvPr id="21" name="Rectangle 21"/>
            <p:cNvSpPr/>
            <p:nvPr/>
          </p:nvSpPr>
          <p:spPr>
            <a:xfrm>
              <a:off x="7734300" y="3219450"/>
              <a:ext cx="57150" cy="1123950"/>
            </a:xfrm>
            <a:prstGeom prst="rect">
              <a:avLst/>
            </a:prstGeom>
            <a:solidFill>
              <a:schemeClr val="accent3"/>
            </a:solidFill>
            <a:ln>
              <a:noFill/>
            </a:ln>
          </p:spPr>
        </p:sp>
        <p:grpSp>
          <p:nvGrpSpPr>
            <p:cNvPr id="25" name="Group 25"/>
            <p:cNvGrpSpPr/>
            <p:nvPr/>
          </p:nvGrpSpPr>
          <p:grpSpPr>
            <a:xfrm>
              <a:off x="8007350" y="3290888"/>
              <a:ext cx="177801" cy="200025"/>
              <a:chOff x="8007350" y="3290888"/>
              <a:chExt cx="177801" cy="200025"/>
            </a:xfrm>
          </p:grpSpPr>
          <p:sp>
            <p:nvSpPr>
              <p:cNvPr id="22" name="Freeform 22"/>
              <p:cNvSpPr/>
              <p:nvPr/>
            </p:nvSpPr>
            <p:spPr>
              <a:xfrm>
                <a:off x="8007350" y="3290888"/>
                <a:ext cx="177801" cy="66675"/>
              </a:xfrm>
              <a:custGeom>
                <a:avLst/>
                <a:gdLst/>
                <a:ahLst/>
                <a:cxnLst/>
                <a:rect l="l" t="t" r="r" b="b"/>
                <a:pathLst>
                  <a:path w="177801" h="66675">
                    <a:moveTo>
                      <a:pt x="0" y="33338"/>
                    </a:moveTo>
                    <a:cubicBezTo>
                      <a:pt x="0" y="51749"/>
                      <a:pt x="39802" y="66675"/>
                      <a:pt x="88900" y="66675"/>
                    </a:cubicBezTo>
                    <a:cubicBezTo>
                      <a:pt x="137999" y="66675"/>
                      <a:pt x="177801" y="51749"/>
                      <a:pt x="177801" y="33338"/>
                    </a:cubicBezTo>
                    <a:cubicBezTo>
                      <a:pt x="177801" y="14926"/>
                      <a:pt x="137999" y="0"/>
                      <a:pt x="88900" y="0"/>
                    </a:cubicBezTo>
                    <a:cubicBezTo>
                      <a:pt x="39802" y="0"/>
                      <a:pt x="0" y="14926"/>
                      <a:pt x="0" y="33338"/>
                    </a:cubicBezTo>
                  </a:path>
                </a:pathLst>
              </a:custGeom>
              <a:noFill/>
              <a:ln w="19050">
                <a:solidFill>
                  <a:schemeClr val="accent1"/>
                </a:solidFill>
              </a:ln>
            </p:spPr>
          </p:sp>
          <p:sp>
            <p:nvSpPr>
              <p:cNvPr id="23" name="Freeform 23"/>
              <p:cNvSpPr/>
              <p:nvPr/>
            </p:nvSpPr>
            <p:spPr>
              <a:xfrm>
                <a:off x="8007350" y="3324225"/>
                <a:ext cx="177801" cy="100013"/>
              </a:xfrm>
              <a:custGeom>
                <a:avLst/>
                <a:gdLst/>
                <a:ahLst/>
                <a:cxnLst/>
                <a:rect l="l" t="t" r="r" b="b"/>
                <a:pathLst>
                  <a:path w="177801" h="100013">
                    <a:moveTo>
                      <a:pt x="0" y="0"/>
                    </a:moveTo>
                    <a:lnTo>
                      <a:pt x="0" y="66675"/>
                    </a:lnTo>
                    <a:cubicBezTo>
                      <a:pt x="0" y="85087"/>
                      <a:pt x="39802" y="100013"/>
                      <a:pt x="88900" y="100013"/>
                    </a:cubicBezTo>
                    <a:cubicBezTo>
                      <a:pt x="137999" y="100013"/>
                      <a:pt x="177801" y="85087"/>
                      <a:pt x="177801" y="66675"/>
                    </a:cubicBezTo>
                    <a:lnTo>
                      <a:pt x="177801" y="0"/>
                    </a:lnTo>
                  </a:path>
                </a:pathLst>
              </a:custGeom>
              <a:noFill/>
              <a:ln w="19050">
                <a:solidFill>
                  <a:schemeClr val="accent1"/>
                </a:solidFill>
              </a:ln>
            </p:spPr>
          </p:sp>
          <p:sp>
            <p:nvSpPr>
              <p:cNvPr id="24" name="Freeform 24"/>
              <p:cNvSpPr/>
              <p:nvPr/>
            </p:nvSpPr>
            <p:spPr>
              <a:xfrm>
                <a:off x="8007350" y="3390900"/>
                <a:ext cx="177801" cy="100013"/>
              </a:xfrm>
              <a:custGeom>
                <a:avLst/>
                <a:gdLst/>
                <a:ahLst/>
                <a:cxnLst/>
                <a:rect l="l" t="t" r="r" b="b"/>
                <a:pathLst>
                  <a:path w="177801" h="100013">
                    <a:moveTo>
                      <a:pt x="0" y="0"/>
                    </a:moveTo>
                    <a:lnTo>
                      <a:pt x="0" y="66675"/>
                    </a:lnTo>
                    <a:cubicBezTo>
                      <a:pt x="0" y="85087"/>
                      <a:pt x="39802" y="100013"/>
                      <a:pt x="88900" y="100013"/>
                    </a:cubicBezTo>
                    <a:cubicBezTo>
                      <a:pt x="137999" y="100013"/>
                      <a:pt x="177801" y="85087"/>
                      <a:pt x="177801" y="66675"/>
                    </a:cubicBezTo>
                    <a:lnTo>
                      <a:pt x="177801" y="0"/>
                    </a:lnTo>
                  </a:path>
                </a:pathLst>
              </a:custGeom>
              <a:noFill/>
              <a:ln w="19050">
                <a:solidFill>
                  <a:schemeClr val="accent1"/>
                </a:solidFill>
              </a:ln>
            </p:spPr>
          </p:sp>
        </p:grpSp>
        <p:sp>
          <p:nvSpPr>
            <p:cNvPr id="26" name="TextBox 26"/>
            <p:cNvSpPr txBox="1"/>
            <p:nvPr/>
          </p:nvSpPr>
          <p:spPr>
            <a:xfrm>
              <a:off x="8315706" y="3272790"/>
              <a:ext cx="3323501"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Segoe UI"/>
                  <a:ea typeface="Microsoft YaHei"/>
                  <a:cs typeface="Segoe UI"/>
                </a:rPr>
                <a:t>确定性层 · 4 个 MCP server</a:t>
              </a:r>
            </a:p>
          </p:txBody>
        </p:sp>
        <p:sp>
          <p:nvSpPr>
            <p:cNvPr id="27" name="TextBox 27"/>
            <p:cNvSpPr txBox="1"/>
            <p:nvPr/>
          </p:nvSpPr>
          <p:spPr>
            <a:xfrm>
              <a:off x="7956042" y="3626168"/>
              <a:ext cx="4445698" cy="759333"/>
            </a:xfrm>
            <a:prstGeom prst="rect">
              <a:avLst/>
            </a:prstGeom>
            <a:noFill/>
            <a:ln>
              <a:noFill/>
            </a:ln>
          </p:spPr>
          <p:txBody>
            <a:bodyPr wrap="square" lIns="0" tIns="0" rIns="0" bIns="0" anchor="t" anchorCtr="0"/>
            <a:lstStyle/>
            <a:p>
              <a:pPr algn="l">
                <a:lnSpc>
                  <a:spcPts val="1950"/>
                </a:lnSpc>
              </a:pPr>
              <a:r>
                <a:rPr lang="zh-CN" sz="1350" dirty="0">
                  <a:solidFill>
                    <a:schemeClr val="dk1"/>
                  </a:solidFill>
                  <a:latin typeface="Segoe UI"/>
                  <a:ea typeface="Microsoft YaHei"/>
                  <a:cs typeface="Segoe UI"/>
                </a:rPr>
                <a:t>litsearch（在线五源 + 本地库）· refcheck（三轴核验）</a:t>
              </a:r>
            </a:p>
            <a:p>
              <a:pPr algn="l" marL="145732" indent="-145732">
                <a:lnSpc>
                  <a:spcPts val="1950"/>
                </a:lnSpc>
                <a:buClr>
                  <a:schemeClr val="dk1"/>
                </a:buClr>
                <a:buSzTx/>
                <a:buFontTx/>
                <a:buChar char="•"/>
              </a:pPr>
              <a:r>
                <a:rPr lang="zh-CN" sz="1350" dirty="0">
                  <a:solidFill>
                    <a:schemeClr val="dk1"/>
                  </a:solidFill>
                  <a:latin typeface="Segoe UI"/>
                  <a:ea typeface="Microsoft YaHei"/>
                  <a:cs typeface="Segoe UI"/>
                </a:rPr>
                <a:t>figure（figspec → SVG + draw.io）· retro（两阶段</a:t>
              </a:r>
              <a:r>
                <a:rPr lang="zh-CN" sz="1350" dirty="0">
                  <a:solidFill>
                    <a:schemeClr val="dk1"/>
                  </a:solidFill>
                  <a:latin typeface="Segoe UI"/>
                  <a:ea typeface="Microsoft YaHei"/>
                  <a:cs typeface="Segoe UI"/>
                </a:rPr>
                <a:t>前驱体预测）；25 个工具全部可离线测试。</a:t>
              </a:r>
            </a:p>
          </p:txBody>
        </p:sp>
      </p:grpSp>
      <p:grpSp>
        <p:nvGrpSpPr>
          <p:cNvPr id="35" name="Group 35"/>
          <p:cNvGrpSpPr/>
          <p:nvPr/>
        </p:nvGrpSpPr>
        <p:grpSpPr>
          <a:xfrm>
            <a:off x="7734300" y="4533900"/>
            <a:ext cx="4435983" cy="1166051"/>
            <a:chOff x="7734300" y="4533900"/>
            <a:chExt cx="4435983" cy="1166051"/>
          </a:xfrm>
        </p:grpSpPr>
        <p:sp>
          <p:nvSpPr>
            <p:cNvPr id="29" name="Rectangle 29"/>
            <p:cNvSpPr/>
            <p:nvPr/>
          </p:nvSpPr>
          <p:spPr>
            <a:xfrm>
              <a:off x="7734300" y="4533900"/>
              <a:ext cx="57150" cy="1123950"/>
            </a:xfrm>
            <a:prstGeom prst="rect">
              <a:avLst/>
            </a:prstGeom>
            <a:solidFill>
              <a:schemeClr val="accent2"/>
            </a:solidFill>
            <a:ln>
              <a:noFill/>
            </a:ln>
          </p:spPr>
        </p:sp>
        <p:grpSp>
          <p:nvGrpSpPr>
            <p:cNvPr id="32" name="Group 32"/>
            <p:cNvGrpSpPr/>
            <p:nvPr/>
          </p:nvGrpSpPr>
          <p:grpSpPr>
            <a:xfrm>
              <a:off x="8007350" y="4605338"/>
              <a:ext cx="177801" cy="200025"/>
              <a:chOff x="8007350" y="4605338"/>
              <a:chExt cx="177801" cy="200025"/>
            </a:xfrm>
          </p:grpSpPr>
          <p:sp>
            <p:nvSpPr>
              <p:cNvPr id="30" name="Freeform 30"/>
              <p:cNvSpPr/>
              <p:nvPr/>
            </p:nvSpPr>
            <p:spPr>
              <a:xfrm>
                <a:off x="8007350" y="4605338"/>
                <a:ext cx="177801" cy="100013"/>
              </a:xfrm>
              <a:custGeom>
                <a:avLst/>
                <a:gdLst/>
                <a:ahLst/>
                <a:cxnLst/>
                <a:rect l="l" t="t" r="r" b="b"/>
                <a:pathLst>
                  <a:path w="177801" h="100013">
                    <a:moveTo>
                      <a:pt x="0" y="100013"/>
                    </a:moveTo>
                    <a:lnTo>
                      <a:pt x="0" y="66675"/>
                    </a:lnTo>
                    <a:cubicBezTo>
                      <a:pt x="0" y="48263"/>
                      <a:pt x="14926" y="33338"/>
                      <a:pt x="33338" y="33338"/>
                    </a:cubicBezTo>
                    <a:lnTo>
                      <a:pt x="177801" y="33338"/>
                    </a:lnTo>
                    <a:moveTo>
                      <a:pt x="144463" y="0"/>
                    </a:moveTo>
                    <a:lnTo>
                      <a:pt x="177801" y="33338"/>
                    </a:lnTo>
                    <a:lnTo>
                      <a:pt x="144463" y="66675"/>
                    </a:lnTo>
                  </a:path>
                </a:pathLst>
              </a:custGeom>
              <a:noFill/>
              <a:ln w="19050">
                <a:solidFill>
                  <a:schemeClr val="accent1"/>
                </a:solidFill>
              </a:ln>
            </p:spPr>
          </p:sp>
          <p:sp>
            <p:nvSpPr>
              <p:cNvPr id="31" name="Freeform 31"/>
              <p:cNvSpPr/>
              <p:nvPr/>
            </p:nvSpPr>
            <p:spPr>
              <a:xfrm>
                <a:off x="8007350" y="4705350"/>
                <a:ext cx="177801" cy="100013"/>
              </a:xfrm>
              <a:custGeom>
                <a:avLst/>
                <a:gdLst/>
                <a:ahLst/>
                <a:cxnLst/>
                <a:rect l="l" t="t" r="r" b="b"/>
                <a:pathLst>
                  <a:path w="177801" h="100013">
                    <a:moveTo>
                      <a:pt x="177801" y="0"/>
                    </a:moveTo>
                    <a:lnTo>
                      <a:pt x="177801" y="33338"/>
                    </a:lnTo>
                    <a:cubicBezTo>
                      <a:pt x="177801" y="51749"/>
                      <a:pt x="162875" y="66675"/>
                      <a:pt x="144463" y="66675"/>
                    </a:cubicBezTo>
                    <a:lnTo>
                      <a:pt x="0" y="66675"/>
                    </a:lnTo>
                    <a:moveTo>
                      <a:pt x="33338" y="100013"/>
                    </a:moveTo>
                    <a:lnTo>
                      <a:pt x="0" y="66675"/>
                    </a:lnTo>
                    <a:lnTo>
                      <a:pt x="33338" y="33338"/>
                    </a:lnTo>
                  </a:path>
                </a:pathLst>
              </a:custGeom>
              <a:noFill/>
              <a:ln w="19050">
                <a:solidFill>
                  <a:schemeClr val="accent1"/>
                </a:solidFill>
              </a:ln>
            </p:spPr>
          </p:sp>
        </p:grpSp>
        <p:sp>
          <p:nvSpPr>
            <p:cNvPr id="33" name="TextBox 33"/>
            <p:cNvSpPr txBox="1"/>
            <p:nvPr/>
          </p:nvSpPr>
          <p:spPr>
            <a:xfrm>
              <a:off x="8315706" y="4587240"/>
              <a:ext cx="2855203"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Segoe UI"/>
                  <a:ea typeface="Microsoft YaHei"/>
                  <a:cs typeface="Segoe UI"/>
                </a:rPr>
                <a:t>控制层 · 账本驱动的回环</a:t>
              </a:r>
            </a:p>
          </p:txBody>
        </p:sp>
        <p:sp>
          <p:nvSpPr>
            <p:cNvPr id="34" name="TextBox 34"/>
            <p:cNvSpPr txBox="1"/>
            <p:nvPr/>
          </p:nvSpPr>
          <p:spPr>
            <a:xfrm>
              <a:off x="7956042" y="4940618"/>
              <a:ext cx="4214241" cy="759333"/>
            </a:xfrm>
            <a:prstGeom prst="rect">
              <a:avLst/>
            </a:prstGeom>
            <a:noFill/>
            <a:ln>
              <a:noFill/>
            </a:ln>
          </p:spPr>
          <p:txBody>
            <a:bodyPr wrap="square" lIns="0" tIns="0" rIns="0" bIns="0" anchor="t" anchorCtr="0"/>
            <a:lstStyle/>
            <a:p>
              <a:pPr algn="l">
                <a:lnSpc>
                  <a:spcPts val="1950"/>
                </a:lnSpc>
              </a:pPr>
              <a:r>
                <a:rPr lang="zh-CN" sz="1350" dirty="0">
                  <a:solidFill>
                    <a:schemeClr val="dk1"/>
                  </a:solidFill>
                  <a:latin typeface="Segoe UI"/>
                  <a:ea typeface="Microsoft YaHei"/>
                  <a:cs typeface="Segoe UI"/>
                </a:rPr>
                <a:t>9 个出口闸门记录在 ledger.json；check-done 需全部</a:t>
              </a:r>
              <a:r>
                <a:rPr lang="zh-CN" sz="1350" dirty="0">
                  <a:solidFill>
                    <a:schemeClr val="dk1"/>
                  </a:solidFill>
                  <a:latin typeface="Segoe UI"/>
                  <a:ea typeface="Microsoft YaHei"/>
                  <a:cs typeface="Segoe UI"/>
                </a:rPr>
                <a:t>落账、无 FAIL、审稿 PASS 带真实回执；</a:t>
              </a:r>
              <a:r>
                <a:rPr lang="zh-CN" sz="1350" b="1" dirty="0">
                  <a:solidFill>
                    <a:schemeClr val="accent2"/>
                  </a:solidFill>
                  <a:latin typeface="Segoe UI"/>
                  <a:ea typeface="Microsoft YaHei"/>
                  <a:cs typeface="Segoe UI"/>
                </a:rPr>
                <a:t>审稿人不改稿，执行者不自判</a:t>
              </a:r>
              <a:r>
                <a:rPr lang="zh-CN" sz="1350" dirty="0">
                  <a:solidFill>
                    <a:schemeClr val="dk1"/>
                  </a:solidFill>
                  <a:latin typeface="Segoe UI"/>
                  <a:ea typeface="Microsoft YaHei"/>
                  <a:cs typeface="Segoe UI"/>
                </a:rPr>
                <a:t>。</a:t>
              </a:r>
            </a:p>
          </p:txBody>
        </p:sp>
      </p:grpSp>
      <p:grpSp>
        <p:nvGrpSpPr>
          <p:cNvPr id="38" name="Group 38"/>
          <p:cNvGrpSpPr/>
          <p:nvPr/>
        </p:nvGrpSpPr>
        <p:grpSpPr>
          <a:xfrm>
            <a:off x="679704" y="6480810"/>
            <a:ext cx="10832592" cy="234696"/>
            <a:chOff x="679704" y="6480810"/>
            <a:chExt cx="10832592" cy="234696"/>
          </a:xfrm>
        </p:grpSpPr>
        <p:sp>
          <p:nvSpPr>
            <p:cNvPr id="36" name="TextBox 36"/>
            <p:cNvSpPr txBox="1"/>
            <p:nvPr/>
          </p:nvSpPr>
          <p:spPr>
            <a:xfrm>
              <a:off x="679704" y="6480810"/>
              <a:ext cx="3429795"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Segoe UI"/>
                  <a:ea typeface="Microsoft YaHei"/>
                  <a:cs typeface="Segoe UI"/>
                </a:rPr>
                <a:t>SAGE-Mat · GoAI Research · GOAI 2026 复赛</a:t>
              </a:r>
            </a:p>
          </p:txBody>
        </p:sp>
        <p:sp>
          <p:nvSpPr>
            <p:cNvPr id="37" name="TextBox 37"/>
            <p:cNvSpPr txBox="1"/>
            <p:nvPr/>
          </p:nvSpPr>
          <p:spPr>
            <a:xfrm>
              <a:off x="11047781" y="6480810"/>
              <a:ext cx="464515" cy="234696"/>
            </a:xfrm>
            <a:prstGeom prst="rect">
              <a:avLst/>
            </a:prstGeom>
            <a:noFill/>
            <a:ln>
              <a:noFill/>
            </a:ln>
          </p:spPr>
          <p:txBody>
            <a:bodyPr wrap="none" lIns="0" tIns="0" rIns="0" bIns="0" anchor="t" anchorCtr="0">
              <a:spAutoFit/>
            </a:bodyPr>
            <a:lstStyle/>
            <a:p>
              <a:pPr algn="r"/>
              <a:r>
                <a:rPr lang="en-US" sz="1200" dirty="0">
                  <a:solidFill>
                    <a:schemeClr val="accent5"/>
                  </a:solidFill>
                  <a:latin typeface="Segoe UI"/>
                  <a:ea typeface="Segoe UI"/>
                  <a:cs typeface="Segoe UI"/>
                </a:rPr>
                <a:t>3 / 12</a:t>
              </a:r>
            </a:p>
          </p:txBody>
        </p:sp>
      </p:grpSp>
    </p:spTree>
  </p:cSld>
  <p:clrMapOvr>
    <a:masterClrMapping/>
  </p:clrMapOvr>
  <p:transition xmlns:p14="http://schemas.microsoft.com/office/powerpoint/2010/main" p14:dur="400">
    <p:fade/>
  </p:transition>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670560" y="590550"/>
            <a:ext cx="8087487" cy="586740"/>
            <a:chOff x="670560" y="590550"/>
            <a:chExt cx="8087487" cy="586740"/>
          </a:xfrm>
        </p:grpSpPr>
        <p:sp>
          <p:nvSpPr>
            <p:cNvPr id="2" name="TextBox 2"/>
            <p:cNvSpPr txBox="1"/>
            <p:nvPr/>
          </p:nvSpPr>
          <p:spPr>
            <a:xfrm>
              <a:off x="670560" y="590550"/>
              <a:ext cx="8087487" cy="586740"/>
            </a:xfrm>
            <a:prstGeom prst="rect">
              <a:avLst/>
            </a:prstGeom>
            <a:noFill/>
            <a:ln>
              <a:noFill/>
            </a:ln>
          </p:spPr>
          <p:txBody>
            <a:bodyPr wrap="none" lIns="0" tIns="0" rIns="0" bIns="0" anchor="t" anchorCtr="0">
              <a:spAutoFit/>
            </a:bodyPr>
            <a:lstStyle/>
            <a:p>
              <a:pPr algn="l"/>
              <a:r>
                <a:rPr lang="zh-CN" sz="3000" b="1" dirty="0">
                  <a:solidFill>
                    <a:schemeClr val="dk1"/>
                  </a:solidFill>
                  <a:latin typeface="Segoe UI"/>
                  <a:ea typeface="Microsoft YaHei"/>
                  <a:cs typeface="Segoe UI"/>
                </a:rPr>
                <a:t>九个出口闸门由代码判定完成，审与做分离</a:t>
              </a:r>
            </a:p>
          </p:txBody>
        </p:sp>
        <p:sp>
          <p:nvSpPr>
            <p:cNvPr id="3" name="Rectangle 3"/>
            <p:cNvSpPr/>
            <p:nvPr/>
          </p:nvSpPr>
          <p:spPr>
            <a:xfrm>
              <a:off x="685800" y="1085850"/>
              <a:ext cx="685800" cy="38100"/>
            </a:xfrm>
            <a:prstGeom prst="rect">
              <a:avLst/>
            </a:prstGeom>
            <a:solidFill>
              <a:schemeClr val="accent1"/>
            </a:solidFill>
            <a:ln>
              <a:noFill/>
            </a:ln>
          </p:spPr>
        </p:sp>
      </p:grpSp>
      <p:grpSp>
        <p:nvGrpSpPr>
          <p:cNvPr id="6" name="Group 6"/>
          <p:cNvGrpSpPr/>
          <p:nvPr/>
        </p:nvGrpSpPr>
        <p:grpSpPr>
          <a:xfrm>
            <a:off x="675894" y="1370648"/>
            <a:ext cx="9442895" cy="743331"/>
            <a:chOff x="675894" y="1370648"/>
            <a:chExt cx="9442895" cy="743331"/>
          </a:xfrm>
        </p:grpSpPr>
        <p:sp>
          <p:nvSpPr>
            <p:cNvPr id="5" name="TextBox 5"/>
            <p:cNvSpPr txBox="1"/>
            <p:nvPr/>
          </p:nvSpPr>
          <p:spPr>
            <a:xfrm>
              <a:off x="675894" y="1370648"/>
              <a:ext cx="9442895" cy="743331"/>
            </a:xfrm>
            <a:prstGeom prst="rect">
              <a:avLst/>
            </a:prstGeom>
            <a:noFill/>
            <a:ln>
              <a:noFill/>
            </a:ln>
          </p:spPr>
          <p:txBody>
            <a:bodyPr wrap="square" lIns="0" tIns="0" rIns="0" bIns="0" anchor="t" anchorCtr="0"/>
            <a:lstStyle/>
            <a:p>
              <a:pPr algn="l">
                <a:lnSpc>
                  <a:spcPts val="2850"/>
                </a:lnSpc>
              </a:pPr>
              <a:r>
                <a:rPr lang="zh-CN" sz="1950" dirty="0">
                  <a:solidFill>
                    <a:schemeClr val="dk1"/>
                  </a:solidFill>
                  <a:latin typeface="Segoe UI"/>
                  <a:ea typeface="Microsoft YaHei"/>
                  <a:cs typeface="Segoe UI"/>
                </a:rPr>
                <a:t>完成不是模型自报：</a:t>
              </a:r>
              <a:r>
                <a:rPr lang="en-US" sz="1950" dirty="0">
                  <a:solidFill>
                    <a:schemeClr val="dk1"/>
                  </a:solidFill>
                  <a:latin typeface="Consolas"/>
                  <a:ea typeface="Consolas"/>
                  <a:cs typeface="Consolas"/>
                </a:rPr>
                <a:t>check-done</a:t>
              </a:r>
              <a:r>
                <a:rPr lang="zh-CN" sz="1950" dirty="0">
                  <a:solidFill>
                    <a:schemeClr val="dk1"/>
                  </a:solidFill>
                  <a:latin typeface="Segoe UI"/>
                  <a:ea typeface="Microsoft YaHei"/>
                  <a:cs typeface="Segoe UI"/>
                </a:rPr>
                <a:t xml:space="preserve"> 只在九个闸门全部落账、无 FAIL、</a:t>
              </a:r>
              <a:r>
                <a:rPr lang="zh-CN" sz="1950" dirty="0">
                  <a:solidFill>
                    <a:schemeClr val="dk1"/>
                  </a:solidFill>
                  <a:latin typeface="Segoe UI"/>
                  <a:ea typeface="Microsoft YaHei"/>
                  <a:cs typeface="Segoe UI"/>
                </a:rPr>
                <a:t xml:space="preserve">无 open blocker / major，且 </a:t>
              </a:r>
              <a:r>
                <a:rPr lang="en-US" sz="1950" dirty="0">
                  <a:solidFill>
                    <a:schemeClr val="dk1"/>
                  </a:solidFill>
                  <a:latin typeface="Consolas"/>
                  <a:ea typeface="Consolas"/>
                  <a:cs typeface="Consolas"/>
                </a:rPr>
                <a:t>review_pass</a:t>
              </a:r>
              <a:r>
                <a:rPr lang="zh-CN" sz="1950" dirty="0">
                  <a:solidFill>
                    <a:schemeClr val="dk1"/>
                  </a:solidFill>
                  <a:latin typeface="Segoe UI"/>
                  <a:ea typeface="Microsoft YaHei"/>
                  <a:cs typeface="Segoe UI"/>
                </a:rPr>
                <a:t xml:space="preserve"> 指向真实存在的审稿 trace 时才退出 0。</a:t>
              </a:r>
            </a:p>
          </p:txBody>
        </p:sp>
      </p:grpSp>
      <p:grpSp>
        <p:nvGrpSpPr>
          <p:cNvPr id="38" name="Group 38"/>
          <p:cNvGrpSpPr/>
          <p:nvPr/>
        </p:nvGrpSpPr>
        <p:grpSpPr>
          <a:xfrm>
            <a:off x="685800" y="2286000"/>
            <a:ext cx="10820400" cy="971931"/>
            <a:chOff x="685800" y="2286000"/>
            <a:chExt cx="10820400" cy="971931"/>
          </a:xfrm>
        </p:grpSpPr>
        <p:sp>
          <p:nvSpPr>
            <p:cNvPr id="7" name="Line 7"/>
            <p:cNvSpPr/>
            <p:nvPr/>
          </p:nvSpPr>
          <p:spPr>
            <a:xfrm>
              <a:off x="1200150" y="2590800"/>
              <a:ext cx="9791700" cy="9525"/>
            </a:xfrm>
            <a:custGeom>
              <a:avLst/>
              <a:gdLst/>
              <a:ahLst/>
              <a:cxnLst/>
              <a:rect l="l" t="t" r="r" b="b"/>
              <a:pathLst>
                <a:path w="9791700" h="9525">
                  <a:moveTo>
                    <a:pt x="0" y="0"/>
                  </a:moveTo>
                  <a:lnTo>
                    <a:pt x="9791700" y="0"/>
                  </a:lnTo>
                </a:path>
              </a:pathLst>
            </a:custGeom>
            <a:noFill/>
            <a:ln w="19050">
              <a:solidFill>
                <a:schemeClr val="accent4"/>
              </a:solidFill>
            </a:ln>
          </p:spPr>
        </p:sp>
        <p:sp>
          <p:nvSpPr>
            <p:cNvPr id="8" name="Rectangle 8"/>
            <p:cNvSpPr/>
            <p:nvPr/>
          </p:nvSpPr>
          <p:spPr>
            <a:xfrm>
              <a:off x="685800" y="2286000"/>
              <a:ext cx="1028700" cy="609600"/>
            </a:xfrm>
            <a:prstGeom prst="rect">
              <a:avLst/>
            </a:prstGeom>
            <a:solidFill>
              <a:schemeClr val="lt1"/>
            </a:solidFill>
            <a:ln w="14288">
              <a:solidFill>
                <a:schemeClr val="accent1"/>
              </a:solidFill>
            </a:ln>
          </p:spPr>
        </p:sp>
        <p:sp>
          <p:nvSpPr>
            <p:cNvPr id="9" name="Rectangle 9"/>
            <p:cNvSpPr/>
            <p:nvPr/>
          </p:nvSpPr>
          <p:spPr>
            <a:xfrm>
              <a:off x="685800" y="2286000"/>
              <a:ext cx="1028700" cy="47625"/>
            </a:xfrm>
            <a:prstGeom prst="rect">
              <a:avLst/>
            </a:prstGeom>
            <a:solidFill>
              <a:schemeClr val="accent1"/>
            </a:solidFill>
            <a:ln>
              <a:noFill/>
            </a:ln>
          </p:spPr>
        </p:sp>
        <p:sp>
          <p:nvSpPr>
            <p:cNvPr id="10" name="TextBox 10"/>
            <p:cNvSpPr txBox="1"/>
            <p:nvPr/>
          </p:nvSpPr>
          <p:spPr>
            <a:xfrm>
              <a:off x="829818" y="2521268"/>
              <a:ext cx="740664" cy="264033"/>
            </a:xfrm>
            <a:prstGeom prst="rect">
              <a:avLst/>
            </a:prstGeom>
            <a:noFill/>
            <a:ln>
              <a:noFill/>
            </a:ln>
          </p:spPr>
          <p:txBody>
            <a:bodyPr wrap="none" lIns="0" tIns="0" rIns="0" bIns="0" anchor="t" anchorCtr="0">
              <a:spAutoFit/>
            </a:bodyPr>
            <a:lstStyle/>
            <a:p>
              <a:pPr algn="ctr"/>
              <a:r>
                <a:rPr lang="zh-CN" sz="1350" dirty="0">
                  <a:solidFill>
                    <a:schemeClr val="dk1"/>
                  </a:solidFill>
                  <a:latin typeface="Segoe UI"/>
                  <a:ea typeface="Microsoft YaHei"/>
                  <a:cs typeface="Segoe UI"/>
                </a:rPr>
                <a:t>范围确认</a:t>
              </a:r>
            </a:p>
          </p:txBody>
        </p:sp>
        <p:sp>
          <p:nvSpPr>
            <p:cNvPr id="11" name="Rectangle 11"/>
            <p:cNvSpPr/>
            <p:nvPr/>
          </p:nvSpPr>
          <p:spPr>
            <a:xfrm>
              <a:off x="1909762" y="2286000"/>
              <a:ext cx="1028700" cy="609600"/>
            </a:xfrm>
            <a:prstGeom prst="rect">
              <a:avLst/>
            </a:prstGeom>
            <a:solidFill>
              <a:schemeClr val="lt1"/>
            </a:solidFill>
            <a:ln w="14288">
              <a:solidFill>
                <a:schemeClr val="accent1"/>
              </a:solidFill>
            </a:ln>
          </p:spPr>
        </p:sp>
        <p:sp>
          <p:nvSpPr>
            <p:cNvPr id="12" name="Rectangle 12"/>
            <p:cNvSpPr/>
            <p:nvPr/>
          </p:nvSpPr>
          <p:spPr>
            <a:xfrm>
              <a:off x="1909762" y="2286000"/>
              <a:ext cx="1028700" cy="47625"/>
            </a:xfrm>
            <a:prstGeom prst="rect">
              <a:avLst/>
            </a:prstGeom>
            <a:solidFill>
              <a:schemeClr val="accent2"/>
            </a:solidFill>
            <a:ln>
              <a:noFill/>
            </a:ln>
          </p:spPr>
        </p:sp>
        <p:sp>
          <p:nvSpPr>
            <p:cNvPr id="13" name="TextBox 13"/>
            <p:cNvSpPr txBox="1"/>
            <p:nvPr/>
          </p:nvSpPr>
          <p:spPr>
            <a:xfrm>
              <a:off x="2053780" y="2521268"/>
              <a:ext cx="740664" cy="264033"/>
            </a:xfrm>
            <a:prstGeom prst="rect">
              <a:avLst/>
            </a:prstGeom>
            <a:noFill/>
            <a:ln>
              <a:noFill/>
            </a:ln>
          </p:spPr>
          <p:txBody>
            <a:bodyPr wrap="none" lIns="0" tIns="0" rIns="0" bIns="0" anchor="t" anchorCtr="0">
              <a:spAutoFit/>
            </a:bodyPr>
            <a:lstStyle/>
            <a:p>
              <a:pPr algn="ctr"/>
              <a:r>
                <a:rPr lang="zh-CN" sz="1350" dirty="0">
                  <a:solidFill>
                    <a:schemeClr val="dk1"/>
                  </a:solidFill>
                  <a:latin typeface="Segoe UI"/>
                  <a:ea typeface="Microsoft YaHei"/>
                  <a:cs typeface="Segoe UI"/>
                </a:rPr>
                <a:t>文献覆盖</a:t>
              </a:r>
            </a:p>
          </p:txBody>
        </p:sp>
        <p:sp>
          <p:nvSpPr>
            <p:cNvPr id="14" name="Rectangle 14"/>
            <p:cNvSpPr/>
            <p:nvPr/>
          </p:nvSpPr>
          <p:spPr>
            <a:xfrm>
              <a:off x="3133725" y="2286000"/>
              <a:ext cx="1028700" cy="609600"/>
            </a:xfrm>
            <a:prstGeom prst="rect">
              <a:avLst/>
            </a:prstGeom>
            <a:solidFill>
              <a:schemeClr val="lt1"/>
            </a:solidFill>
            <a:ln w="14288">
              <a:solidFill>
                <a:schemeClr val="accent1"/>
              </a:solidFill>
            </a:ln>
          </p:spPr>
        </p:sp>
        <p:sp>
          <p:nvSpPr>
            <p:cNvPr id="15" name="Rectangle 15"/>
            <p:cNvSpPr/>
            <p:nvPr/>
          </p:nvSpPr>
          <p:spPr>
            <a:xfrm>
              <a:off x="3133725" y="2286000"/>
              <a:ext cx="1028700" cy="47625"/>
            </a:xfrm>
            <a:prstGeom prst="rect">
              <a:avLst/>
            </a:prstGeom>
            <a:solidFill>
              <a:schemeClr val="accent2"/>
            </a:solidFill>
            <a:ln>
              <a:noFill/>
            </a:ln>
          </p:spPr>
        </p:sp>
        <p:sp>
          <p:nvSpPr>
            <p:cNvPr id="16" name="TextBox 16"/>
            <p:cNvSpPr txBox="1"/>
            <p:nvPr/>
          </p:nvSpPr>
          <p:spPr>
            <a:xfrm>
              <a:off x="3368611" y="2521268"/>
              <a:ext cx="558927" cy="264033"/>
            </a:xfrm>
            <a:prstGeom prst="rect">
              <a:avLst/>
            </a:prstGeom>
            <a:noFill/>
            <a:ln>
              <a:noFill/>
            </a:ln>
          </p:spPr>
          <p:txBody>
            <a:bodyPr wrap="none" lIns="0" tIns="0" rIns="0" bIns="0" anchor="t" anchorCtr="0">
              <a:spAutoFit/>
            </a:bodyPr>
            <a:lstStyle/>
            <a:p>
              <a:pPr algn="ctr"/>
              <a:r>
                <a:rPr lang="zh-CN" sz="1350" dirty="0">
                  <a:solidFill>
                    <a:schemeClr val="dk1"/>
                  </a:solidFill>
                  <a:latin typeface="Segoe UI"/>
                  <a:ea typeface="Microsoft YaHei"/>
                  <a:cs typeface="Segoe UI"/>
                </a:rPr>
                <a:t>风格库</a:t>
              </a:r>
            </a:p>
          </p:txBody>
        </p:sp>
        <p:sp>
          <p:nvSpPr>
            <p:cNvPr id="17" name="Rectangle 17"/>
            <p:cNvSpPr/>
            <p:nvPr/>
          </p:nvSpPr>
          <p:spPr>
            <a:xfrm>
              <a:off x="4357688" y="2286000"/>
              <a:ext cx="1028700" cy="609600"/>
            </a:xfrm>
            <a:prstGeom prst="rect">
              <a:avLst/>
            </a:prstGeom>
            <a:solidFill>
              <a:schemeClr val="lt1"/>
            </a:solidFill>
            <a:ln w="14288">
              <a:solidFill>
                <a:schemeClr val="accent1"/>
              </a:solidFill>
            </a:ln>
          </p:spPr>
        </p:sp>
        <p:sp>
          <p:nvSpPr>
            <p:cNvPr id="18" name="Rectangle 18"/>
            <p:cNvSpPr/>
            <p:nvPr/>
          </p:nvSpPr>
          <p:spPr>
            <a:xfrm>
              <a:off x="4357688" y="2286000"/>
              <a:ext cx="1028700" cy="47625"/>
            </a:xfrm>
            <a:prstGeom prst="rect">
              <a:avLst/>
            </a:prstGeom>
            <a:solidFill>
              <a:schemeClr val="accent1"/>
            </a:solidFill>
            <a:ln>
              <a:noFill/>
            </a:ln>
          </p:spPr>
        </p:sp>
        <p:sp>
          <p:nvSpPr>
            <p:cNvPr id="19" name="TextBox 19"/>
            <p:cNvSpPr txBox="1"/>
            <p:nvPr/>
          </p:nvSpPr>
          <p:spPr>
            <a:xfrm>
              <a:off x="4410837" y="2521268"/>
              <a:ext cx="922401" cy="264033"/>
            </a:xfrm>
            <a:prstGeom prst="rect">
              <a:avLst/>
            </a:prstGeom>
            <a:noFill/>
            <a:ln>
              <a:noFill/>
            </a:ln>
          </p:spPr>
          <p:txBody>
            <a:bodyPr wrap="none" lIns="0" tIns="0" rIns="0" bIns="0" anchor="t" anchorCtr="0">
              <a:spAutoFit/>
            </a:bodyPr>
            <a:lstStyle/>
            <a:p>
              <a:pPr algn="ctr"/>
              <a:r>
                <a:rPr lang="zh-CN" sz="1350" dirty="0">
                  <a:solidFill>
                    <a:schemeClr val="dk1"/>
                  </a:solidFill>
                  <a:latin typeface="Segoe UI"/>
                  <a:ea typeface="Microsoft YaHei"/>
                  <a:cs typeface="Segoe UI"/>
                </a:rPr>
                <a:t>引用完整性</a:t>
              </a:r>
            </a:p>
          </p:txBody>
        </p:sp>
        <p:sp>
          <p:nvSpPr>
            <p:cNvPr id="20" name="Rectangle 20"/>
            <p:cNvSpPr/>
            <p:nvPr/>
          </p:nvSpPr>
          <p:spPr>
            <a:xfrm>
              <a:off x="5581650" y="2286000"/>
              <a:ext cx="1028700" cy="609600"/>
            </a:xfrm>
            <a:prstGeom prst="rect">
              <a:avLst/>
            </a:prstGeom>
            <a:solidFill>
              <a:schemeClr val="lt1"/>
            </a:solidFill>
            <a:ln w="14288">
              <a:solidFill>
                <a:schemeClr val="accent1"/>
              </a:solidFill>
            </a:ln>
          </p:spPr>
        </p:sp>
        <p:sp>
          <p:nvSpPr>
            <p:cNvPr id="21" name="Rectangle 21"/>
            <p:cNvSpPr/>
            <p:nvPr/>
          </p:nvSpPr>
          <p:spPr>
            <a:xfrm>
              <a:off x="5581650" y="2286000"/>
              <a:ext cx="1028700" cy="47625"/>
            </a:xfrm>
            <a:prstGeom prst="rect">
              <a:avLst/>
            </a:prstGeom>
            <a:solidFill>
              <a:schemeClr val="accent1"/>
            </a:solidFill>
            <a:ln>
              <a:noFill/>
            </a:ln>
          </p:spPr>
        </p:sp>
        <p:sp>
          <p:nvSpPr>
            <p:cNvPr id="22" name="TextBox 22"/>
            <p:cNvSpPr txBox="1"/>
            <p:nvPr/>
          </p:nvSpPr>
          <p:spPr>
            <a:xfrm>
              <a:off x="5816536" y="2521268"/>
              <a:ext cx="558927" cy="264033"/>
            </a:xfrm>
            <a:prstGeom prst="rect">
              <a:avLst/>
            </a:prstGeom>
            <a:noFill/>
            <a:ln>
              <a:noFill/>
            </a:ln>
          </p:spPr>
          <p:txBody>
            <a:bodyPr wrap="none" lIns="0" tIns="0" rIns="0" bIns="0" anchor="t" anchorCtr="0">
              <a:spAutoFit/>
            </a:bodyPr>
            <a:lstStyle/>
            <a:p>
              <a:pPr algn="ctr"/>
              <a:r>
                <a:rPr lang="zh-CN" sz="1350" dirty="0">
                  <a:solidFill>
                    <a:schemeClr val="dk1"/>
                  </a:solidFill>
                  <a:latin typeface="Segoe UI"/>
                  <a:ea typeface="Microsoft YaHei"/>
                  <a:cs typeface="Segoe UI"/>
                </a:rPr>
                <a:t>分类法</a:t>
              </a:r>
            </a:p>
          </p:txBody>
        </p:sp>
        <p:sp>
          <p:nvSpPr>
            <p:cNvPr id="23" name="Rectangle 23"/>
            <p:cNvSpPr/>
            <p:nvPr/>
          </p:nvSpPr>
          <p:spPr>
            <a:xfrm>
              <a:off x="6805612" y="2286000"/>
              <a:ext cx="1028700" cy="609600"/>
            </a:xfrm>
            <a:prstGeom prst="rect">
              <a:avLst/>
            </a:prstGeom>
            <a:solidFill>
              <a:schemeClr val="lt1"/>
            </a:solidFill>
            <a:ln w="14288">
              <a:solidFill>
                <a:schemeClr val="accent1"/>
              </a:solidFill>
            </a:ln>
          </p:spPr>
        </p:sp>
        <p:sp>
          <p:nvSpPr>
            <p:cNvPr id="24" name="Rectangle 24"/>
            <p:cNvSpPr/>
            <p:nvPr/>
          </p:nvSpPr>
          <p:spPr>
            <a:xfrm>
              <a:off x="6805612" y="2286000"/>
              <a:ext cx="1028700" cy="47625"/>
            </a:xfrm>
            <a:prstGeom prst="rect">
              <a:avLst/>
            </a:prstGeom>
            <a:solidFill>
              <a:schemeClr val="accent1"/>
            </a:solidFill>
            <a:ln>
              <a:noFill/>
            </a:ln>
          </p:spPr>
        </p:sp>
        <p:sp>
          <p:nvSpPr>
            <p:cNvPr id="25" name="TextBox 25"/>
            <p:cNvSpPr txBox="1"/>
            <p:nvPr/>
          </p:nvSpPr>
          <p:spPr>
            <a:xfrm>
              <a:off x="7131367" y="2521268"/>
              <a:ext cx="377190" cy="264033"/>
            </a:xfrm>
            <a:prstGeom prst="rect">
              <a:avLst/>
            </a:prstGeom>
            <a:noFill/>
            <a:ln>
              <a:noFill/>
            </a:ln>
          </p:spPr>
          <p:txBody>
            <a:bodyPr wrap="none" lIns="0" tIns="0" rIns="0" bIns="0" anchor="t" anchorCtr="0">
              <a:spAutoFit/>
            </a:bodyPr>
            <a:lstStyle/>
            <a:p>
              <a:pPr algn="ctr"/>
              <a:r>
                <a:rPr lang="zh-CN" sz="1350" dirty="0">
                  <a:solidFill>
                    <a:schemeClr val="dk1"/>
                  </a:solidFill>
                  <a:latin typeface="Segoe UI"/>
                  <a:ea typeface="Microsoft YaHei"/>
                  <a:cs typeface="Segoe UI"/>
                </a:rPr>
                <a:t>图纸</a:t>
              </a:r>
            </a:p>
          </p:txBody>
        </p:sp>
        <p:sp>
          <p:nvSpPr>
            <p:cNvPr id="26" name="Rectangle 26"/>
            <p:cNvSpPr/>
            <p:nvPr/>
          </p:nvSpPr>
          <p:spPr>
            <a:xfrm>
              <a:off x="8029575" y="2286000"/>
              <a:ext cx="1028700" cy="609600"/>
            </a:xfrm>
            <a:prstGeom prst="rect">
              <a:avLst/>
            </a:prstGeom>
            <a:solidFill>
              <a:schemeClr val="lt1"/>
            </a:solidFill>
            <a:ln w="14288">
              <a:solidFill>
                <a:schemeClr val="accent1"/>
              </a:solidFill>
            </a:ln>
          </p:spPr>
        </p:sp>
        <p:sp>
          <p:nvSpPr>
            <p:cNvPr id="27" name="Rectangle 27"/>
            <p:cNvSpPr/>
            <p:nvPr/>
          </p:nvSpPr>
          <p:spPr>
            <a:xfrm>
              <a:off x="8029575" y="2286000"/>
              <a:ext cx="1028700" cy="47625"/>
            </a:xfrm>
            <a:prstGeom prst="rect">
              <a:avLst/>
            </a:prstGeom>
            <a:solidFill>
              <a:schemeClr val="accent1"/>
            </a:solidFill>
            <a:ln>
              <a:noFill/>
            </a:ln>
          </p:spPr>
        </p:sp>
        <p:sp>
          <p:nvSpPr>
            <p:cNvPr id="28" name="TextBox 28"/>
            <p:cNvSpPr txBox="1"/>
            <p:nvPr/>
          </p:nvSpPr>
          <p:spPr>
            <a:xfrm>
              <a:off x="8355330" y="2521268"/>
              <a:ext cx="377190" cy="264033"/>
            </a:xfrm>
            <a:prstGeom prst="rect">
              <a:avLst/>
            </a:prstGeom>
            <a:noFill/>
            <a:ln>
              <a:noFill/>
            </a:ln>
          </p:spPr>
          <p:txBody>
            <a:bodyPr wrap="none" lIns="0" tIns="0" rIns="0" bIns="0" anchor="t" anchorCtr="0">
              <a:spAutoFit/>
            </a:bodyPr>
            <a:lstStyle/>
            <a:p>
              <a:pPr algn="ctr"/>
              <a:r>
                <a:rPr lang="zh-CN" sz="1350" dirty="0">
                  <a:solidFill>
                    <a:schemeClr val="dk1"/>
                  </a:solidFill>
                  <a:latin typeface="Segoe UI"/>
                  <a:ea typeface="Microsoft YaHei"/>
                  <a:cs typeface="Segoe UI"/>
                </a:rPr>
                <a:t>稿件</a:t>
              </a:r>
            </a:p>
          </p:txBody>
        </p:sp>
        <p:sp>
          <p:nvSpPr>
            <p:cNvPr id="29" name="Rectangle 29"/>
            <p:cNvSpPr/>
            <p:nvPr/>
          </p:nvSpPr>
          <p:spPr>
            <a:xfrm>
              <a:off x="9253538" y="2286000"/>
              <a:ext cx="1028700" cy="609600"/>
            </a:xfrm>
            <a:prstGeom prst="rect">
              <a:avLst/>
            </a:prstGeom>
            <a:solidFill>
              <a:schemeClr val="lt1"/>
            </a:solidFill>
            <a:ln w="14288">
              <a:solidFill>
                <a:schemeClr val="accent1"/>
              </a:solidFill>
            </a:ln>
          </p:spPr>
        </p:sp>
        <p:sp>
          <p:nvSpPr>
            <p:cNvPr id="30" name="Rectangle 30"/>
            <p:cNvSpPr/>
            <p:nvPr/>
          </p:nvSpPr>
          <p:spPr>
            <a:xfrm>
              <a:off x="9253538" y="2286000"/>
              <a:ext cx="1028700" cy="47625"/>
            </a:xfrm>
            <a:prstGeom prst="rect">
              <a:avLst/>
            </a:prstGeom>
            <a:solidFill>
              <a:schemeClr val="accent2"/>
            </a:solidFill>
            <a:ln>
              <a:noFill/>
            </a:ln>
          </p:spPr>
        </p:sp>
        <p:sp>
          <p:nvSpPr>
            <p:cNvPr id="31" name="TextBox 31"/>
            <p:cNvSpPr txBox="1"/>
            <p:nvPr/>
          </p:nvSpPr>
          <p:spPr>
            <a:xfrm>
              <a:off x="9397556" y="2521268"/>
              <a:ext cx="740664" cy="264033"/>
            </a:xfrm>
            <a:prstGeom prst="rect">
              <a:avLst/>
            </a:prstGeom>
            <a:noFill/>
            <a:ln>
              <a:noFill/>
            </a:ln>
          </p:spPr>
          <p:txBody>
            <a:bodyPr wrap="none" lIns="0" tIns="0" rIns="0" bIns="0" anchor="t" anchorCtr="0">
              <a:spAutoFit/>
            </a:bodyPr>
            <a:lstStyle/>
            <a:p>
              <a:pPr algn="ctr"/>
              <a:r>
                <a:rPr lang="zh-CN" sz="1350" dirty="0">
                  <a:solidFill>
                    <a:schemeClr val="dk1"/>
                  </a:solidFill>
                  <a:latin typeface="Segoe UI"/>
                  <a:ea typeface="Microsoft YaHei"/>
                  <a:cs typeface="Segoe UI"/>
                </a:rPr>
                <a:t>想法审稿</a:t>
              </a:r>
            </a:p>
          </p:txBody>
        </p:sp>
        <p:sp>
          <p:nvSpPr>
            <p:cNvPr id="32" name="Rectangle 32"/>
            <p:cNvSpPr/>
            <p:nvPr/>
          </p:nvSpPr>
          <p:spPr>
            <a:xfrm>
              <a:off x="10477500" y="2286000"/>
              <a:ext cx="1028700" cy="609600"/>
            </a:xfrm>
            <a:prstGeom prst="rect">
              <a:avLst/>
            </a:prstGeom>
            <a:solidFill>
              <a:schemeClr val="accent1"/>
            </a:solidFill>
            <a:ln w="14288">
              <a:solidFill>
                <a:schemeClr val="accent1"/>
              </a:solidFill>
            </a:ln>
          </p:spPr>
        </p:sp>
        <p:sp>
          <p:nvSpPr>
            <p:cNvPr id="33" name="TextBox 33"/>
            <p:cNvSpPr txBox="1"/>
            <p:nvPr/>
          </p:nvSpPr>
          <p:spPr>
            <a:xfrm>
              <a:off x="10794168" y="2521268"/>
              <a:ext cx="395364" cy="264033"/>
            </a:xfrm>
            <a:prstGeom prst="rect">
              <a:avLst/>
            </a:prstGeom>
            <a:noFill/>
            <a:ln>
              <a:noFill/>
            </a:ln>
          </p:spPr>
          <p:txBody>
            <a:bodyPr wrap="none" lIns="0" tIns="0" rIns="0" bIns="0" anchor="t" anchorCtr="0">
              <a:spAutoFit/>
            </a:bodyPr>
            <a:lstStyle/>
            <a:p>
              <a:pPr algn="ctr"/>
              <a:r>
                <a:rPr lang="zh-CN" sz="1350" b="1" dirty="0">
                  <a:solidFill>
                    <a:srgbClr val="FFFFFF"/>
                  </a:solidFill>
                  <a:latin typeface="Segoe UI"/>
                  <a:ea typeface="Microsoft YaHei"/>
                  <a:cs typeface="Segoe UI"/>
                </a:rPr>
                <a:t>终审</a:t>
              </a:r>
            </a:p>
          </p:txBody>
        </p:sp>
        <p:sp>
          <p:nvSpPr>
            <p:cNvPr id="34" name="Rectangle 34"/>
            <p:cNvSpPr/>
            <p:nvPr/>
          </p:nvSpPr>
          <p:spPr>
            <a:xfrm>
              <a:off x="685800" y="3067050"/>
              <a:ext cx="133350" cy="47625"/>
            </a:xfrm>
            <a:prstGeom prst="rect">
              <a:avLst/>
            </a:prstGeom>
            <a:solidFill>
              <a:schemeClr val="accent1"/>
            </a:solidFill>
            <a:ln>
              <a:noFill/>
            </a:ln>
          </p:spPr>
        </p:sp>
        <p:sp>
          <p:nvSpPr>
            <p:cNvPr id="35" name="TextBox 35"/>
            <p:cNvSpPr txBox="1"/>
            <p:nvPr/>
          </p:nvSpPr>
          <p:spPr>
            <a:xfrm>
              <a:off x="889254" y="3023235"/>
              <a:ext cx="1411834" cy="234696"/>
            </a:xfrm>
            <a:prstGeom prst="rect">
              <a:avLst/>
            </a:prstGeom>
            <a:noFill/>
            <a:ln>
              <a:noFill/>
            </a:ln>
          </p:spPr>
          <p:txBody>
            <a:bodyPr wrap="none" lIns="0" tIns="0" rIns="0" bIns="0" anchor="t" anchorCtr="0">
              <a:spAutoFit/>
            </a:bodyPr>
            <a:lstStyle/>
            <a:p>
              <a:pPr algn="l"/>
              <a:r>
                <a:rPr lang="zh-CN" sz="1200" dirty="0">
                  <a:solidFill>
                    <a:schemeClr val="dk2"/>
                  </a:solidFill>
                  <a:latin typeface="Segoe UI"/>
                  <a:ea typeface="Microsoft YaHei"/>
                  <a:cs typeface="Segoe UI"/>
                </a:rPr>
                <a:t>PASS（正式运行）</a:t>
              </a:r>
            </a:p>
          </p:txBody>
        </p:sp>
        <p:sp>
          <p:nvSpPr>
            <p:cNvPr id="36" name="Rectangle 36"/>
            <p:cNvSpPr/>
            <p:nvPr/>
          </p:nvSpPr>
          <p:spPr>
            <a:xfrm>
              <a:off x="2209800" y="3067050"/>
              <a:ext cx="133350" cy="47625"/>
            </a:xfrm>
            <a:prstGeom prst="rect">
              <a:avLst/>
            </a:prstGeom>
            <a:solidFill>
              <a:schemeClr val="accent2"/>
            </a:solidFill>
            <a:ln>
              <a:noFill/>
            </a:ln>
          </p:spPr>
        </p:sp>
        <p:sp>
          <p:nvSpPr>
            <p:cNvPr id="37" name="TextBox 37"/>
            <p:cNvSpPr txBox="1"/>
            <p:nvPr/>
          </p:nvSpPr>
          <p:spPr>
            <a:xfrm>
              <a:off x="2413254" y="3023235"/>
              <a:ext cx="6494535" cy="234696"/>
            </a:xfrm>
            <a:prstGeom prst="rect">
              <a:avLst/>
            </a:prstGeom>
            <a:noFill/>
            <a:ln>
              <a:noFill/>
            </a:ln>
          </p:spPr>
          <p:txBody>
            <a:bodyPr wrap="none" lIns="0" tIns="0" rIns="0" bIns="0" anchor="t" anchorCtr="0">
              <a:spAutoFit/>
            </a:bodyPr>
            <a:lstStyle/>
            <a:p>
              <a:pPr algn="l"/>
              <a:r>
                <a:rPr lang="zh-CN" sz="1200" dirty="0">
                  <a:solidFill>
                    <a:schemeClr val="dk2"/>
                  </a:solidFill>
                  <a:latin typeface="Segoe UI"/>
                  <a:ea typeface="Microsoft YaHei"/>
                  <a:cs typeface="Segoe UI"/>
                </a:rPr>
                <a:t>WARN：显式记录的降级（niche-balanced 覆盖档、风格库仅 15 篇综述、想法为诊断级）</a:t>
              </a:r>
            </a:p>
          </p:txBody>
        </p:sp>
      </p:grpSp>
      <p:grpSp>
        <p:nvGrpSpPr>
          <p:cNvPr id="47" name="Group 47"/>
          <p:cNvGrpSpPr/>
          <p:nvPr/>
        </p:nvGrpSpPr>
        <p:grpSpPr>
          <a:xfrm>
            <a:off x="685800" y="3543300"/>
            <a:ext cx="5726495" cy="2571750"/>
            <a:chOff x="685800" y="3543300"/>
            <a:chExt cx="5726495" cy="2571750"/>
          </a:xfrm>
        </p:grpSpPr>
        <p:sp>
          <p:nvSpPr>
            <p:cNvPr id="39" name="Rectangle 39"/>
            <p:cNvSpPr/>
            <p:nvPr/>
          </p:nvSpPr>
          <p:spPr>
            <a:xfrm>
              <a:off x="685800" y="3543300"/>
              <a:ext cx="5295900" cy="2571750"/>
            </a:xfrm>
            <a:prstGeom prst="rect">
              <a:avLst/>
            </a:prstGeom>
            <a:solidFill>
              <a:schemeClr val="lt2"/>
            </a:solidFill>
            <a:ln>
              <a:noFill/>
            </a:ln>
          </p:spPr>
        </p:sp>
        <p:grpSp>
          <p:nvGrpSpPr>
            <p:cNvPr id="44" name="Group 44"/>
            <p:cNvGrpSpPr/>
            <p:nvPr/>
          </p:nvGrpSpPr>
          <p:grpSpPr>
            <a:xfrm>
              <a:off x="947738" y="3767138"/>
              <a:ext cx="200026" cy="200025"/>
              <a:chOff x="947738" y="3767138"/>
              <a:chExt cx="200026" cy="200025"/>
            </a:xfrm>
          </p:grpSpPr>
          <p:sp>
            <p:nvSpPr>
              <p:cNvPr id="40" name="Freeform 40"/>
              <p:cNvSpPr/>
              <p:nvPr/>
            </p:nvSpPr>
            <p:spPr>
              <a:xfrm>
                <a:off x="969963" y="3767138"/>
                <a:ext cx="88900" cy="88900"/>
              </a:xfrm>
              <a:custGeom>
                <a:avLst/>
                <a:gdLst/>
                <a:ahLst/>
                <a:cxnLst/>
                <a:rect l="l" t="t" r="r" b="b"/>
                <a:pathLst>
                  <a:path w="88900" h="88900">
                    <a:moveTo>
                      <a:pt x="0" y="44450"/>
                    </a:moveTo>
                    <a:cubicBezTo>
                      <a:pt x="0" y="68999"/>
                      <a:pt x="19901" y="88900"/>
                      <a:pt x="44450" y="88900"/>
                    </a:cubicBezTo>
                    <a:cubicBezTo>
                      <a:pt x="68999" y="88900"/>
                      <a:pt x="88900" y="68999"/>
                      <a:pt x="88900" y="44450"/>
                    </a:cubicBezTo>
                    <a:cubicBezTo>
                      <a:pt x="88900" y="19901"/>
                      <a:pt x="68999" y="0"/>
                      <a:pt x="44450" y="0"/>
                    </a:cubicBezTo>
                    <a:cubicBezTo>
                      <a:pt x="19901" y="0"/>
                      <a:pt x="0" y="19901"/>
                      <a:pt x="0" y="44450"/>
                    </a:cubicBezTo>
                  </a:path>
                </a:pathLst>
              </a:custGeom>
              <a:noFill/>
              <a:ln w="19050">
                <a:solidFill>
                  <a:schemeClr val="accent1"/>
                </a:solidFill>
              </a:ln>
            </p:spPr>
          </p:sp>
          <p:sp>
            <p:nvSpPr>
              <p:cNvPr id="41" name="Freeform 41"/>
              <p:cNvSpPr/>
              <p:nvPr/>
            </p:nvSpPr>
            <p:spPr>
              <a:xfrm>
                <a:off x="947738" y="3900488"/>
                <a:ext cx="133350" cy="66675"/>
              </a:xfrm>
              <a:custGeom>
                <a:avLst/>
                <a:gdLst/>
                <a:ahLst/>
                <a:cxnLst/>
                <a:rect l="l" t="t" r="r" b="b"/>
                <a:pathLst>
                  <a:path w="133350" h="66675">
                    <a:moveTo>
                      <a:pt x="0" y="66675"/>
                    </a:moveTo>
                    <a:lnTo>
                      <a:pt x="0" y="44450"/>
                    </a:lnTo>
                    <a:cubicBezTo>
                      <a:pt x="0" y="19901"/>
                      <a:pt x="19901" y="0"/>
                      <a:pt x="44450" y="0"/>
                    </a:cubicBezTo>
                    <a:lnTo>
                      <a:pt x="88900" y="0"/>
                    </a:lnTo>
                    <a:cubicBezTo>
                      <a:pt x="113449" y="0"/>
                      <a:pt x="133350" y="19901"/>
                      <a:pt x="133350" y="44450"/>
                    </a:cubicBezTo>
                    <a:lnTo>
                      <a:pt x="133350" y="66675"/>
                    </a:lnTo>
                  </a:path>
                </a:pathLst>
              </a:custGeom>
              <a:noFill/>
              <a:ln w="19050">
                <a:solidFill>
                  <a:schemeClr val="accent1"/>
                </a:solidFill>
              </a:ln>
            </p:spPr>
          </p:sp>
          <p:sp>
            <p:nvSpPr>
              <p:cNvPr id="42" name="Freeform 42"/>
              <p:cNvSpPr/>
              <p:nvPr/>
            </p:nvSpPr>
            <p:spPr>
              <a:xfrm>
                <a:off x="1092201" y="3768582"/>
                <a:ext cx="33425" cy="86122"/>
              </a:xfrm>
              <a:custGeom>
                <a:avLst/>
                <a:gdLst/>
                <a:ahLst/>
                <a:cxnLst/>
                <a:rect l="l" t="t" r="r" b="b"/>
                <a:pathLst>
                  <a:path w="33425" h="86122">
                    <a:moveTo>
                      <a:pt x="0" y="0"/>
                    </a:moveTo>
                    <a:cubicBezTo>
                      <a:pt x="19668" y="5036"/>
                      <a:pt x="33425" y="22758"/>
                      <a:pt x="33425" y="43061"/>
                    </a:cubicBezTo>
                    <a:cubicBezTo>
                      <a:pt x="33425" y="63364"/>
                      <a:pt x="19668" y="81086"/>
                      <a:pt x="0" y="86122"/>
                    </a:cubicBezTo>
                  </a:path>
                </a:pathLst>
              </a:custGeom>
              <a:noFill/>
              <a:ln w="19050">
                <a:solidFill>
                  <a:schemeClr val="accent1"/>
                </a:solidFill>
              </a:ln>
            </p:spPr>
          </p:sp>
          <p:sp>
            <p:nvSpPr>
              <p:cNvPr id="43" name="Freeform 43"/>
              <p:cNvSpPr/>
              <p:nvPr/>
            </p:nvSpPr>
            <p:spPr>
              <a:xfrm>
                <a:off x="1114426" y="3902155"/>
                <a:ext cx="33338" cy="65008"/>
              </a:xfrm>
              <a:custGeom>
                <a:avLst/>
                <a:gdLst/>
                <a:ahLst/>
                <a:cxnLst/>
                <a:rect l="l" t="t" r="r" b="b"/>
                <a:pathLst>
                  <a:path w="33338" h="65008">
                    <a:moveTo>
                      <a:pt x="33338" y="65008"/>
                    </a:moveTo>
                    <a:lnTo>
                      <a:pt x="33338" y="42783"/>
                    </a:lnTo>
                    <a:cubicBezTo>
                      <a:pt x="33222" y="22609"/>
                      <a:pt x="19534" y="5043"/>
                      <a:pt x="0" y="0"/>
                    </a:cubicBezTo>
                  </a:path>
                </a:pathLst>
              </a:custGeom>
              <a:noFill/>
              <a:ln w="19050">
                <a:solidFill>
                  <a:schemeClr val="accent1"/>
                </a:solidFill>
              </a:ln>
            </p:spPr>
          </p:sp>
        </p:grpSp>
        <p:sp>
          <p:nvSpPr>
            <p:cNvPr id="45" name="TextBox 45"/>
            <p:cNvSpPr txBox="1"/>
            <p:nvPr/>
          </p:nvSpPr>
          <p:spPr>
            <a:xfrm>
              <a:off x="1267206" y="3749040"/>
              <a:ext cx="5145089"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Segoe UI"/>
                  <a:ea typeface="Microsoft YaHei"/>
                  <a:cs typeface="Segoe UI"/>
                </a:rPr>
                <a:t>人工停点：正式运行触发 4 次，同一主题续跑</a:t>
              </a:r>
            </a:p>
          </p:txBody>
        </p:sp>
        <p:sp>
          <p:nvSpPr>
            <p:cNvPr id="46" name="TextBox 46"/>
            <p:cNvSpPr txBox="1"/>
            <p:nvPr/>
          </p:nvSpPr>
          <p:spPr>
            <a:xfrm>
              <a:off x="907542" y="4197668"/>
              <a:ext cx="4685728" cy="1483233"/>
            </a:xfrm>
            <a:prstGeom prst="rect">
              <a:avLst/>
            </a:prstGeom>
            <a:noFill/>
            <a:ln>
              <a:noFill/>
            </a:ln>
          </p:spPr>
          <p:txBody>
            <a:bodyPr wrap="square" lIns="0" tIns="0" rIns="0" bIns="0" anchor="t" anchorCtr="0"/>
            <a:lstStyle/>
            <a:p>
              <a:pPr algn="l">
                <a:lnSpc>
                  <a:spcPts val="1950"/>
                </a:lnSpc>
              </a:pPr>
              <a:r>
                <a:rPr lang="zh-CN" sz="1350" dirty="0">
                  <a:solidFill>
                    <a:schemeClr val="dk1"/>
                  </a:solidFill>
                  <a:latin typeface="Segoe UI"/>
                  <a:ea typeface="Microsoft YaHei"/>
                  <a:cs typeface="Segoe UI"/>
                </a:rPr>
                <a:t>① 范围草案自动确认（裸主题、范围无实质歧义）</a:t>
              </a:r>
            </a:p>
            <a:p>
              <a:pPr algn="l">
                <a:lnSpc>
                  <a:spcPts val="1950"/>
                </a:lnSpc>
                <a:spcBef>
                  <a:spcPts val="600"/>
                </a:spcBef>
              </a:pPr>
              <a:r>
                <a:rPr lang="zh-CN" sz="1350" dirty="0">
                  <a:solidFill>
                    <a:schemeClr val="dk1"/>
                  </a:solidFill>
                  <a:latin typeface="Segoe UI"/>
                  <a:ea typeface="Microsoft YaHei"/>
                  <a:cs typeface="Segoe UI"/>
                </a:rPr>
                <a:t>② 5 条作者名 MISMATCH 三轮未收敛 → 升级人工，</a:t>
              </a:r>
              <a:r>
                <a:rPr lang="zh-CN" sz="1350" dirty="0">
                  <a:solidFill>
                    <a:schemeClr val="dk1"/>
                  </a:solidFill>
                  <a:latin typeface="Segoe UI"/>
                  <a:ea typeface="Microsoft YaHei"/>
                  <a:cs typeface="Segoe UI"/>
                </a:rPr>
                <a:t>采纳“删除这 5 条背景文献并继续”</a:t>
              </a:r>
            </a:p>
            <a:p>
              <a:pPr algn="l">
                <a:lnSpc>
                  <a:spcPts val="1950"/>
                </a:lnSpc>
                <a:spcBef>
                  <a:spcPts val="600"/>
                </a:spcBef>
              </a:pPr>
              <a:r>
                <a:rPr lang="zh-CN" sz="1350" dirty="0">
                  <a:solidFill>
                    <a:schemeClr val="dk1"/>
                  </a:solidFill>
                  <a:latin typeface="Segoe UI"/>
                  <a:ea typeface="Microsoft YaHei"/>
                  <a:cs typeface="Segoe UI"/>
                </a:rPr>
                <a:t>③ 贡献结构确认：身份谱系 / 路线—变量—验证矩阵 / 迁移边界</a:t>
              </a:r>
            </a:p>
            <a:p>
              <a:pPr algn="l">
                <a:lnSpc>
                  <a:spcPts val="1950"/>
                </a:lnSpc>
                <a:spcBef>
                  <a:spcPts val="600"/>
                </a:spcBef>
              </a:pPr>
              <a:r>
                <a:rPr lang="zh-CN" sz="1350" dirty="0">
                  <a:solidFill>
                    <a:schemeClr val="dk1"/>
                  </a:solidFill>
                  <a:latin typeface="Segoe UI"/>
                  <a:ea typeface="Microsoft YaHei"/>
                  <a:cs typeface="Segoe UI"/>
                </a:rPr>
                <a:t>④ 终审：0 blocker / 0 major / 0 minor，PASS 带回执落账</a:t>
              </a:r>
            </a:p>
          </p:txBody>
        </p:sp>
      </p:grpSp>
      <p:grpSp>
        <p:nvGrpSpPr>
          <p:cNvPr id="54" name="Group 54"/>
          <p:cNvGrpSpPr/>
          <p:nvPr/>
        </p:nvGrpSpPr>
        <p:grpSpPr>
          <a:xfrm>
            <a:off x="6210300" y="3543300"/>
            <a:ext cx="5295900" cy="2571750"/>
            <a:chOff x="6210300" y="3543300"/>
            <a:chExt cx="5295900" cy="2571750"/>
          </a:xfrm>
        </p:grpSpPr>
        <p:sp>
          <p:nvSpPr>
            <p:cNvPr id="48" name="Rectangle 48"/>
            <p:cNvSpPr/>
            <p:nvPr/>
          </p:nvSpPr>
          <p:spPr>
            <a:xfrm>
              <a:off x="6210300" y="3543300"/>
              <a:ext cx="5295900" cy="2571750"/>
            </a:xfrm>
            <a:prstGeom prst="rect">
              <a:avLst/>
            </a:prstGeom>
            <a:solidFill>
              <a:schemeClr val="lt2"/>
            </a:solidFill>
            <a:ln>
              <a:noFill/>
            </a:ln>
          </p:spPr>
        </p:sp>
        <p:grpSp>
          <p:nvGrpSpPr>
            <p:cNvPr id="51" name="Group 51"/>
            <p:cNvGrpSpPr/>
            <p:nvPr/>
          </p:nvGrpSpPr>
          <p:grpSpPr>
            <a:xfrm>
              <a:off x="6457241" y="3767138"/>
              <a:ext cx="217008" cy="200025"/>
              <a:chOff x="6457241" y="3767138"/>
              <a:chExt cx="217008" cy="200025"/>
            </a:xfrm>
          </p:grpSpPr>
          <p:sp>
            <p:nvSpPr>
              <p:cNvPr id="49" name="Freeform 49"/>
              <p:cNvSpPr/>
              <p:nvPr/>
            </p:nvSpPr>
            <p:spPr>
              <a:xfrm>
                <a:off x="6457241" y="3767138"/>
                <a:ext cx="217008" cy="198314"/>
              </a:xfrm>
              <a:custGeom>
                <a:avLst/>
                <a:gdLst/>
                <a:ahLst/>
                <a:cxnLst/>
                <a:rect l="l" t="t" r="r" b="b"/>
                <a:pathLst>
                  <a:path w="217008" h="198314">
                    <a:moveTo>
                      <a:pt x="109009" y="198314"/>
                    </a:moveTo>
                    <a:cubicBezTo>
                      <a:pt x="39394" y="176735"/>
                      <a:pt x="0" y="103262"/>
                      <a:pt x="20553" y="33338"/>
                    </a:cubicBezTo>
                    <a:cubicBezTo>
                      <a:pt x="55175" y="34922"/>
                      <a:pt x="89053" y="22965"/>
                      <a:pt x="115010" y="0"/>
                    </a:cubicBezTo>
                    <a:cubicBezTo>
                      <a:pt x="140967" y="22965"/>
                      <a:pt x="174845" y="34922"/>
                      <a:pt x="209466" y="33338"/>
                    </a:cubicBezTo>
                    <a:cubicBezTo>
                      <a:pt x="217008" y="58998"/>
                      <a:pt x="216660" y="86333"/>
                      <a:pt x="208466" y="111792"/>
                    </a:cubicBezTo>
                  </a:path>
                </a:pathLst>
              </a:custGeom>
              <a:noFill/>
              <a:ln w="19050">
                <a:solidFill>
                  <a:schemeClr val="accent1"/>
                </a:solidFill>
              </a:ln>
            </p:spPr>
          </p:sp>
          <p:sp>
            <p:nvSpPr>
              <p:cNvPr id="50" name="Freeform 50"/>
              <p:cNvSpPr/>
              <p:nvPr/>
            </p:nvSpPr>
            <p:spPr>
              <a:xfrm>
                <a:off x="6605588" y="3922713"/>
                <a:ext cx="66675" cy="44450"/>
              </a:xfrm>
              <a:custGeom>
                <a:avLst/>
                <a:gdLst/>
                <a:ahLst/>
                <a:cxnLst/>
                <a:rect l="l" t="t" r="r" b="b"/>
                <a:pathLst>
                  <a:path w="66675" h="44450">
                    <a:moveTo>
                      <a:pt x="0" y="22225"/>
                    </a:moveTo>
                    <a:lnTo>
                      <a:pt x="22225" y="44450"/>
                    </a:lnTo>
                    <a:lnTo>
                      <a:pt x="66675" y="0"/>
                    </a:lnTo>
                  </a:path>
                </a:pathLst>
              </a:custGeom>
              <a:noFill/>
              <a:ln w="19050">
                <a:solidFill>
                  <a:schemeClr val="accent1"/>
                </a:solidFill>
              </a:ln>
            </p:spPr>
          </p:sp>
        </p:grpSp>
        <p:sp>
          <p:nvSpPr>
            <p:cNvPr id="52" name="TextBox 52"/>
            <p:cNvSpPr txBox="1"/>
            <p:nvPr/>
          </p:nvSpPr>
          <p:spPr>
            <a:xfrm>
              <a:off x="6791706" y="3749040"/>
              <a:ext cx="3071470"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Segoe UI"/>
                  <a:ea typeface="Microsoft YaHei"/>
                  <a:cs typeface="Segoe UI"/>
                </a:rPr>
                <a:t>对抗审稿：审与做永远分离</a:t>
              </a:r>
            </a:p>
          </p:txBody>
        </p:sp>
        <p:sp>
          <p:nvSpPr>
            <p:cNvPr id="53" name="TextBox 53"/>
            <p:cNvSpPr txBox="1"/>
            <p:nvPr/>
          </p:nvSpPr>
          <p:spPr>
            <a:xfrm>
              <a:off x="6432042" y="4197668"/>
              <a:ext cx="4771453" cy="1730883"/>
            </a:xfrm>
            <a:prstGeom prst="rect">
              <a:avLst/>
            </a:prstGeom>
            <a:noFill/>
            <a:ln>
              <a:noFill/>
            </a:ln>
          </p:spPr>
          <p:txBody>
            <a:bodyPr wrap="square" lIns="0" tIns="0" rIns="0" bIns="0" anchor="t" anchorCtr="0"/>
            <a:lstStyle/>
            <a:p>
              <a:pPr algn="l" marL="145732" indent="-145732">
                <a:lnSpc>
                  <a:spcPts val="1950"/>
                </a:lnSpc>
                <a:buClr>
                  <a:schemeClr val="dk1"/>
                </a:buClr>
                <a:buSzTx/>
                <a:buFontTx/>
                <a:buChar char="•"/>
              </a:pPr>
              <a:r>
                <a:rPr lang="zh-CN" sz="1350" dirty="0">
                  <a:solidFill>
                    <a:schemeClr val="dk1"/>
                  </a:solidFill>
                  <a:latin typeface="Segoe UI"/>
                  <a:ea typeface="Microsoft YaHei"/>
                  <a:cs typeface="Segoe UI"/>
                </a:rPr>
                <a:t>全新上下文的独立 reviewer；先验证后批评</a:t>
              </a:r>
              <a:r>
                <a:rPr lang="zh-CN" sz="1350" dirty="0">
                  <a:solidFill>
                    <a:schemeClr val="dk1"/>
                  </a:solidFill>
                  <a:latin typeface="Segoe UI"/>
                  <a:ea typeface="Microsoft YaHei"/>
                  <a:cs typeface="Segoe UI"/>
                </a:rPr>
                <a:t>（指控引用造假前必须先跑 verify_entry）</a:t>
              </a:r>
            </a:p>
            <a:p>
              <a:pPr algn="l" marL="145732" indent="-145732">
                <a:lnSpc>
                  <a:spcPts val="1950"/>
                </a:lnSpc>
                <a:spcBef>
                  <a:spcPts val="600"/>
                </a:spcBef>
                <a:buClr>
                  <a:schemeClr val="dk1"/>
                </a:buClr>
                <a:buSzTx/>
                <a:buFontTx/>
                <a:buChar char="•"/>
              </a:pPr>
              <a:r>
                <a:rPr lang="zh-CN" sz="1350" dirty="0">
                  <a:solidFill>
                    <a:schemeClr val="dk1"/>
                  </a:solidFill>
                  <a:latin typeface="Segoe UI"/>
                  <a:ea typeface="Microsoft YaHei"/>
                  <a:cs typeface="Segoe UI"/>
                </a:rPr>
                <a:t>三视角裁决：领域专家 / 方法严谨派 / 期刊编辑</a:t>
              </a:r>
            </a:p>
            <a:p>
              <a:pPr algn="l" marL="145732" indent="-145732">
                <a:lnSpc>
                  <a:spcPts val="1950"/>
                </a:lnSpc>
                <a:spcBef>
                  <a:spcPts val="600"/>
                </a:spcBef>
                <a:buClr>
                  <a:schemeClr val="dk1"/>
                </a:buClr>
                <a:buSzTx/>
                <a:buFontTx/>
                <a:buChar char="•"/>
              </a:pPr>
              <a:r>
                <a:rPr lang="zh-CN" sz="1350" dirty="0">
                  <a:solidFill>
                    <a:schemeClr val="dk1"/>
                  </a:solidFill>
                  <a:latin typeface="Segoe UI"/>
                  <a:ea typeface="Microsoft YaHei"/>
                  <a:cs typeface="Segoe UI"/>
                </a:rPr>
                <a:t>结构化 issue 带 target 阶段，路由回属主返工，</a:t>
              </a:r>
              <a:r>
                <a:rPr lang="zh-CN" sz="1350" dirty="0">
                  <a:solidFill>
                    <a:schemeClr val="dk1"/>
                  </a:solidFill>
                  <a:latin typeface="Segoe UI"/>
                  <a:ea typeface="Microsoft YaHei"/>
                  <a:cs typeface="Segoe UI"/>
                </a:rPr>
                <a:t>上游变更级联重置下游闸门</a:t>
              </a:r>
            </a:p>
            <a:p>
              <a:pPr algn="l" marL="145732" indent="-145732">
                <a:lnSpc>
                  <a:spcPts val="1950"/>
                </a:lnSpc>
                <a:spcBef>
                  <a:spcPts val="600"/>
                </a:spcBef>
                <a:buClr>
                  <a:schemeClr val="dk1"/>
                </a:buClr>
                <a:buSzTx/>
                <a:buFontTx/>
                <a:buChar char="•"/>
              </a:pPr>
              <a:r>
                <a:rPr lang="zh-CN" sz="1350" dirty="0">
                  <a:solidFill>
                    <a:schemeClr val="dk1"/>
                  </a:solidFill>
                  <a:latin typeface="Segoe UI"/>
                  <a:ea typeface="Microsoft YaHei"/>
                  <a:cs typeface="Segoe UI"/>
                </a:rPr>
                <a:t>同一 issue 三轮未收敛升级人类；无回执的 PASS 被账本拒绝</a:t>
              </a:r>
            </a:p>
          </p:txBody>
        </p:sp>
      </p:grpSp>
      <p:grpSp>
        <p:nvGrpSpPr>
          <p:cNvPr id="57" name="Group 57"/>
          <p:cNvGrpSpPr/>
          <p:nvPr/>
        </p:nvGrpSpPr>
        <p:grpSpPr>
          <a:xfrm>
            <a:off x="679704" y="6480810"/>
            <a:ext cx="10832592" cy="234696"/>
            <a:chOff x="679704" y="6480810"/>
            <a:chExt cx="10832592" cy="234696"/>
          </a:xfrm>
        </p:grpSpPr>
        <p:sp>
          <p:nvSpPr>
            <p:cNvPr id="55" name="TextBox 55"/>
            <p:cNvSpPr txBox="1"/>
            <p:nvPr/>
          </p:nvSpPr>
          <p:spPr>
            <a:xfrm>
              <a:off x="679704" y="6480810"/>
              <a:ext cx="3429795"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Segoe UI"/>
                  <a:ea typeface="Microsoft YaHei"/>
                  <a:cs typeface="Segoe UI"/>
                </a:rPr>
                <a:t>SAGE-Mat · GoAI Research · GOAI 2026 复赛</a:t>
              </a:r>
            </a:p>
          </p:txBody>
        </p:sp>
        <p:sp>
          <p:nvSpPr>
            <p:cNvPr id="56" name="TextBox 56"/>
            <p:cNvSpPr txBox="1"/>
            <p:nvPr/>
          </p:nvSpPr>
          <p:spPr>
            <a:xfrm>
              <a:off x="11047781" y="6480810"/>
              <a:ext cx="464515" cy="234696"/>
            </a:xfrm>
            <a:prstGeom prst="rect">
              <a:avLst/>
            </a:prstGeom>
            <a:noFill/>
            <a:ln>
              <a:noFill/>
            </a:ln>
          </p:spPr>
          <p:txBody>
            <a:bodyPr wrap="none" lIns="0" tIns="0" rIns="0" bIns="0" anchor="t" anchorCtr="0">
              <a:spAutoFit/>
            </a:bodyPr>
            <a:lstStyle/>
            <a:p>
              <a:pPr algn="r"/>
              <a:r>
                <a:rPr lang="en-US" sz="1200" dirty="0">
                  <a:solidFill>
                    <a:schemeClr val="accent5"/>
                  </a:solidFill>
                  <a:latin typeface="Segoe UI"/>
                  <a:ea typeface="Segoe UI"/>
                  <a:cs typeface="Segoe UI"/>
                </a:rPr>
                <a:t>4 / 12</a:t>
              </a:r>
            </a:p>
          </p:txBody>
        </p:sp>
      </p:grpSp>
    </p:spTree>
  </p:cSld>
  <p:clrMapOvr>
    <a:masterClrMapping/>
  </p:clrMapOvr>
  <p:transition xmlns:p14="http://schemas.microsoft.com/office/powerpoint/2010/main" p14:dur="400">
    <p:fade/>
  </p:transition>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670560" y="590550"/>
            <a:ext cx="11254283" cy="586740"/>
            <a:chOff x="670560" y="590550"/>
            <a:chExt cx="11254283" cy="586740"/>
          </a:xfrm>
        </p:grpSpPr>
        <p:sp>
          <p:nvSpPr>
            <p:cNvPr id="2" name="TextBox 2"/>
            <p:cNvSpPr txBox="1"/>
            <p:nvPr/>
          </p:nvSpPr>
          <p:spPr>
            <a:xfrm>
              <a:off x="670560" y="590550"/>
              <a:ext cx="11254283" cy="586740"/>
            </a:xfrm>
            <a:prstGeom prst="rect">
              <a:avLst/>
            </a:prstGeom>
            <a:noFill/>
            <a:ln>
              <a:noFill/>
            </a:ln>
          </p:spPr>
          <p:txBody>
            <a:bodyPr wrap="none" lIns="0" tIns="0" rIns="0" bIns="0" anchor="t" anchorCtr="0">
              <a:spAutoFit/>
            </a:bodyPr>
            <a:lstStyle/>
            <a:p>
              <a:pPr algn="l"/>
              <a:r>
                <a:rPr lang="zh-CN" sz="3000" b="1" dirty="0">
                  <a:solidFill>
                    <a:schemeClr val="dk1"/>
                  </a:solidFill>
                  <a:latin typeface="Segoe UI"/>
                  <a:ea typeface="Microsoft YaHei"/>
                  <a:cs typeface="Segoe UI"/>
                </a:rPr>
                <a:t>RECIPE：把无机逆合成重述为变长前驱体集合的排序问题</a:t>
              </a:r>
            </a:p>
          </p:txBody>
        </p:sp>
        <p:sp>
          <p:nvSpPr>
            <p:cNvPr id="3" name="Rectangle 3"/>
            <p:cNvSpPr/>
            <p:nvPr/>
          </p:nvSpPr>
          <p:spPr>
            <a:xfrm>
              <a:off x="685800" y="1085850"/>
              <a:ext cx="685800" cy="38100"/>
            </a:xfrm>
            <a:prstGeom prst="rect">
              <a:avLst/>
            </a:prstGeom>
            <a:solidFill>
              <a:schemeClr val="accent1"/>
            </a:solidFill>
            <a:ln>
              <a:noFill/>
            </a:ln>
          </p:spPr>
        </p:sp>
      </p:grpSp>
      <p:grpSp>
        <p:nvGrpSpPr>
          <p:cNvPr id="6" name="Group 6"/>
          <p:cNvGrpSpPr/>
          <p:nvPr/>
        </p:nvGrpSpPr>
        <p:grpSpPr>
          <a:xfrm>
            <a:off x="675894" y="1370648"/>
            <a:ext cx="10693527" cy="743331"/>
            <a:chOff x="675894" y="1370648"/>
            <a:chExt cx="10693527" cy="743331"/>
          </a:xfrm>
        </p:grpSpPr>
        <p:sp>
          <p:nvSpPr>
            <p:cNvPr id="5" name="TextBox 5"/>
            <p:cNvSpPr txBox="1"/>
            <p:nvPr/>
          </p:nvSpPr>
          <p:spPr>
            <a:xfrm>
              <a:off x="675894" y="1370648"/>
              <a:ext cx="10693527" cy="743331"/>
            </a:xfrm>
            <a:prstGeom prst="rect">
              <a:avLst/>
            </a:prstGeom>
            <a:noFill/>
            <a:ln>
              <a:noFill/>
            </a:ln>
          </p:spPr>
          <p:txBody>
            <a:bodyPr wrap="square" lIns="0" tIns="0" rIns="0" bIns="0" anchor="t" anchorCtr="0"/>
            <a:lstStyle/>
            <a:p>
              <a:pPr algn="l">
                <a:lnSpc>
                  <a:spcPts val="2850"/>
                </a:lnSpc>
              </a:pPr>
              <a:r>
                <a:rPr lang="zh-CN" sz="1950" dirty="0">
                  <a:solidFill>
                    <a:schemeClr val="dk1"/>
                  </a:solidFill>
                  <a:latin typeface="Segoe UI"/>
                  <a:ea typeface="Microsoft YaHei"/>
                  <a:cs typeface="Segoe UI"/>
                </a:rPr>
                <a:t>团队 NeurIPS 2026 投稿。Generator 先保证召回，再对</a:t>
              </a:r>
              <a:r>
                <a:rPr lang="zh-CN" sz="1950" b="1" dirty="0">
                  <a:solidFill>
                    <a:schemeClr val="accent2"/>
                  </a:solidFill>
                  <a:latin typeface="Segoe UI"/>
                  <a:ea typeface="Microsoft YaHei"/>
                  <a:cs typeface="Segoe UI"/>
                </a:rPr>
                <a:t>完整前驱体集合</a:t>
              </a:r>
              <a:r>
                <a:rPr lang="zh-CN" sz="1950" dirty="0">
                  <a:solidFill>
                    <a:schemeClr val="dk1"/>
                  </a:solidFill>
                  <a:latin typeface="Segoe UI"/>
                  <a:ea typeface="Microsoft YaHei"/>
                  <a:cs typeface="Segoe UI"/>
                </a:rPr>
                <a:t>直接排序；</a:t>
              </a:r>
              <a:r>
                <a:rPr lang="zh-CN" sz="1950" dirty="0">
                  <a:solidFill>
                    <a:schemeClr val="dk1"/>
                  </a:solidFill>
                  <a:latin typeface="Segoe UI"/>
                  <a:ea typeface="Microsoft YaHei"/>
                  <a:cs typeface="Segoe UI"/>
                </a:rPr>
                <a:t xml:space="preserve">以 MCP 工具 </a:t>
              </a:r>
              <a:r>
                <a:rPr lang="en-US" sz="1950" dirty="0">
                  <a:solidFill>
                    <a:schemeClr val="dk1"/>
                  </a:solidFill>
                  <a:latin typeface="Consolas"/>
                  <a:ea typeface="Consolas"/>
                  <a:cs typeface="Consolas"/>
                </a:rPr>
                <a:t>predict_precursor_routes</a:t>
              </a:r>
              <a:r>
                <a:rPr lang="zh-CN" sz="1950" dirty="0">
                  <a:solidFill>
                    <a:schemeClr val="dk1"/>
                  </a:solidFill>
                  <a:latin typeface="Segoe UI"/>
                  <a:ea typeface="Microsoft YaHei"/>
                  <a:cs typeface="Segoe UI"/>
                </a:rPr>
                <a:t xml:space="preserve"> 进入想法环节，输出只能是“模型候选、待实验验证”。</a:t>
              </a:r>
            </a:p>
          </p:txBody>
        </p:sp>
      </p:grpSp>
      <p:grpSp>
        <p:nvGrpSpPr>
          <p:cNvPr id="12" name="Group 12"/>
          <p:cNvGrpSpPr/>
          <p:nvPr/>
        </p:nvGrpSpPr>
        <p:grpSpPr>
          <a:xfrm>
            <a:off x="685800" y="2247900"/>
            <a:ext cx="3238500" cy="1428750"/>
            <a:chOff x="685800" y="2247900"/>
            <a:chExt cx="3238500" cy="1428750"/>
          </a:xfrm>
        </p:grpSpPr>
        <p:sp>
          <p:nvSpPr>
            <p:cNvPr id="7" name="Rectangle 7"/>
            <p:cNvSpPr/>
            <p:nvPr/>
          </p:nvSpPr>
          <p:spPr>
            <a:xfrm>
              <a:off x="685800" y="2247900"/>
              <a:ext cx="3238500" cy="1428750"/>
            </a:xfrm>
            <a:prstGeom prst="rect">
              <a:avLst/>
            </a:prstGeom>
            <a:solidFill>
              <a:schemeClr val="lt1"/>
            </a:solidFill>
            <a:ln w="9525">
              <a:solidFill>
                <a:schemeClr val="accent4"/>
              </a:solidFill>
            </a:ln>
          </p:spPr>
        </p:sp>
        <p:sp>
          <p:nvSpPr>
            <p:cNvPr id="8" name="Rectangle 8"/>
            <p:cNvSpPr/>
            <p:nvPr/>
          </p:nvSpPr>
          <p:spPr>
            <a:xfrm>
              <a:off x="685800" y="2247900"/>
              <a:ext cx="3238500" cy="381000"/>
            </a:xfrm>
            <a:prstGeom prst="rect">
              <a:avLst/>
            </a:prstGeom>
            <a:solidFill>
              <a:schemeClr val="accent1"/>
            </a:solidFill>
            <a:ln>
              <a:noFill/>
            </a:ln>
          </p:spPr>
        </p:sp>
        <p:sp>
          <p:nvSpPr>
            <p:cNvPr id="9" name="TextBox 9"/>
            <p:cNvSpPr txBox="1"/>
            <p:nvPr/>
          </p:nvSpPr>
          <p:spPr>
            <a:xfrm>
              <a:off x="829056" y="2320290"/>
              <a:ext cx="2783434" cy="352044"/>
            </a:xfrm>
            <a:prstGeom prst="rect">
              <a:avLst/>
            </a:prstGeom>
            <a:noFill/>
            <a:ln>
              <a:noFill/>
            </a:ln>
          </p:spPr>
          <p:txBody>
            <a:bodyPr wrap="none" lIns="0" tIns="0" rIns="0" bIns="0" anchor="t" anchorCtr="0">
              <a:spAutoFit/>
            </a:bodyPr>
            <a:lstStyle/>
            <a:p>
              <a:pPr algn="l"/>
              <a:r>
                <a:rPr lang="en-US" sz="1800" b="1" dirty="0">
                  <a:solidFill>
                    <a:srgbClr val="FFFFFF"/>
                  </a:solidFill>
                  <a:latin typeface="Segoe UI"/>
                  <a:ea typeface="Segoe UI"/>
                  <a:cs typeface="Segoe UI"/>
                </a:rPr>
                <a:t>① Candidate Generator</a:t>
              </a:r>
            </a:p>
          </p:txBody>
        </p:sp>
        <p:sp>
          <p:nvSpPr>
            <p:cNvPr id="10" name="TextBox 10"/>
            <p:cNvSpPr txBox="1"/>
            <p:nvPr/>
          </p:nvSpPr>
          <p:spPr>
            <a:xfrm>
              <a:off x="831342" y="2749868"/>
              <a:ext cx="2919794" cy="511683"/>
            </a:xfrm>
            <a:prstGeom prst="rect">
              <a:avLst/>
            </a:prstGeom>
            <a:noFill/>
            <a:ln>
              <a:noFill/>
            </a:ln>
          </p:spPr>
          <p:txBody>
            <a:bodyPr wrap="square" lIns="0" tIns="0" rIns="0" bIns="0" anchor="t" anchorCtr="0"/>
            <a:lstStyle/>
            <a:p>
              <a:pPr algn="l">
                <a:lnSpc>
                  <a:spcPts val="1950"/>
                </a:lnSpc>
              </a:pPr>
              <a:r>
                <a:rPr lang="zh-CN" sz="1350" dirty="0">
                  <a:solidFill>
                    <a:schemeClr val="dk1"/>
                  </a:solidFill>
                  <a:latin typeface="Segoe UI"/>
                  <a:ea typeface="Microsoft YaHei"/>
                  <a:cs typeface="Segoe UI"/>
                </a:rPr>
                <a:t>formula-token Transformer 打分：</a:t>
              </a:r>
              <a:r>
                <a:rPr lang="zh-CN" sz="1350" dirty="0">
                  <a:solidFill>
                    <a:schemeClr val="dk1"/>
                  </a:solidFill>
                  <a:latin typeface="Segoe UI"/>
                  <a:ea typeface="Microsoft YaHei"/>
                  <a:cs typeface="Segoe UI"/>
                </a:rPr>
                <a:t>目标式 × 798 个前驱体，多标签 BCE</a:t>
              </a:r>
            </a:p>
          </p:txBody>
        </p:sp>
        <p:sp>
          <p:nvSpPr>
            <p:cNvPr id="11" name="TextBox 11"/>
            <p:cNvSpPr txBox="1"/>
            <p:nvPr/>
          </p:nvSpPr>
          <p:spPr>
            <a:xfrm>
              <a:off x="832104" y="3413760"/>
              <a:ext cx="2189744" cy="234696"/>
            </a:xfrm>
            <a:prstGeom prst="rect">
              <a:avLst/>
            </a:prstGeom>
            <a:noFill/>
            <a:ln>
              <a:noFill/>
            </a:ln>
          </p:spPr>
          <p:txBody>
            <a:bodyPr wrap="none" lIns="0" tIns="0" rIns="0" bIns="0" anchor="t" anchorCtr="0">
              <a:spAutoFit/>
            </a:bodyPr>
            <a:lstStyle/>
            <a:p>
              <a:pPr algn="l"/>
              <a:r>
                <a:rPr lang="zh-CN" sz="1200" b="1" dirty="0">
                  <a:solidFill>
                    <a:schemeClr val="accent2"/>
                  </a:solidFill>
                  <a:latin typeface="Segoe UI"/>
                  <a:ea typeface="Microsoft YaHei"/>
                  <a:cs typeface="Segoe UI"/>
                </a:rPr>
                <a:t>产物：Top-30 高召回候选池</a:t>
              </a:r>
            </a:p>
          </p:txBody>
        </p:sp>
      </p:grpSp>
      <p:grpSp>
        <p:nvGrpSpPr>
          <p:cNvPr id="19" name="Group 19"/>
          <p:cNvGrpSpPr/>
          <p:nvPr/>
        </p:nvGrpSpPr>
        <p:grpSpPr>
          <a:xfrm>
            <a:off x="3943350" y="2247900"/>
            <a:ext cx="3771900" cy="1428750"/>
            <a:chOff x="3943350" y="2247900"/>
            <a:chExt cx="3771900" cy="1428750"/>
          </a:xfrm>
        </p:grpSpPr>
        <p:sp>
          <p:nvSpPr>
            <p:cNvPr id="13" name="Line 13"/>
            <p:cNvSpPr/>
            <p:nvPr/>
          </p:nvSpPr>
          <p:spPr>
            <a:xfrm>
              <a:off x="3943350" y="2962275"/>
              <a:ext cx="495300" cy="1"/>
            </a:xfrm>
            <a:prstGeom prst="line">
              <a:avLst/>
            </a:prstGeom>
            <a:noFill/>
            <a:ln w="19050">
              <a:solidFill>
                <a:schemeClr val="accent1"/>
              </a:solidFill>
              <a:tailEnd type="triangle" w="med" len="med"/>
            </a:ln>
          </p:spPr>
        </p:sp>
        <p:sp>
          <p:nvSpPr>
            <p:cNvPr id="14" name="Rectangle 14"/>
            <p:cNvSpPr/>
            <p:nvPr/>
          </p:nvSpPr>
          <p:spPr>
            <a:xfrm>
              <a:off x="4476750" y="2247900"/>
              <a:ext cx="3238500" cy="1428750"/>
            </a:xfrm>
            <a:prstGeom prst="rect">
              <a:avLst/>
            </a:prstGeom>
            <a:solidFill>
              <a:schemeClr val="lt1"/>
            </a:solidFill>
            <a:ln w="9525">
              <a:solidFill>
                <a:schemeClr val="accent4"/>
              </a:solidFill>
            </a:ln>
          </p:spPr>
        </p:sp>
        <p:sp>
          <p:nvSpPr>
            <p:cNvPr id="15" name="Rectangle 15"/>
            <p:cNvSpPr/>
            <p:nvPr/>
          </p:nvSpPr>
          <p:spPr>
            <a:xfrm>
              <a:off x="4476750" y="2247900"/>
              <a:ext cx="3238500" cy="381000"/>
            </a:xfrm>
            <a:prstGeom prst="rect">
              <a:avLst/>
            </a:prstGeom>
            <a:solidFill>
              <a:schemeClr val="accent3"/>
            </a:solidFill>
            <a:ln>
              <a:noFill/>
            </a:ln>
          </p:spPr>
        </p:sp>
        <p:sp>
          <p:nvSpPr>
            <p:cNvPr id="16" name="TextBox 16"/>
            <p:cNvSpPr txBox="1"/>
            <p:nvPr/>
          </p:nvSpPr>
          <p:spPr>
            <a:xfrm>
              <a:off x="4620006" y="2320290"/>
              <a:ext cx="2817038" cy="352044"/>
            </a:xfrm>
            <a:prstGeom prst="rect">
              <a:avLst/>
            </a:prstGeom>
            <a:noFill/>
            <a:ln>
              <a:noFill/>
            </a:ln>
          </p:spPr>
          <p:txBody>
            <a:bodyPr wrap="none" lIns="0" tIns="0" rIns="0" bIns="0" anchor="t" anchorCtr="0">
              <a:spAutoFit/>
            </a:bodyPr>
            <a:lstStyle/>
            <a:p>
              <a:pPr algn="l"/>
              <a:r>
                <a:rPr lang="zh-CN" sz="1800" b="1" dirty="0">
                  <a:solidFill>
                    <a:srgbClr val="FFFFFF"/>
                  </a:solidFill>
                  <a:latin typeface="Segoe UI"/>
                  <a:ea typeface="Microsoft YaHei"/>
                  <a:cs typeface="Segoe UI"/>
                </a:rPr>
                <a:t>② 化学硬过滤 + 变长枚举</a:t>
              </a:r>
            </a:p>
          </p:txBody>
        </p:sp>
        <p:sp>
          <p:nvSpPr>
            <p:cNvPr id="17" name="TextBox 17"/>
            <p:cNvSpPr txBox="1"/>
            <p:nvPr/>
          </p:nvSpPr>
          <p:spPr>
            <a:xfrm>
              <a:off x="4622292" y="2749868"/>
              <a:ext cx="2988374" cy="511683"/>
            </a:xfrm>
            <a:prstGeom prst="rect">
              <a:avLst/>
            </a:prstGeom>
            <a:noFill/>
            <a:ln>
              <a:noFill/>
            </a:ln>
          </p:spPr>
          <p:txBody>
            <a:bodyPr wrap="square" lIns="0" tIns="0" rIns="0" bIns="0" anchor="t" anchorCtr="0"/>
            <a:lstStyle/>
            <a:p>
              <a:pPr algn="l">
                <a:lnSpc>
                  <a:spcPts val="1950"/>
                </a:lnSpc>
              </a:pPr>
              <a:r>
                <a:rPr lang="zh-CN" sz="1350" dirty="0">
                  <a:solidFill>
                    <a:schemeClr val="dk1"/>
                  </a:solidFill>
                  <a:latin typeface="Segoe UI"/>
                  <a:ea typeface="Microsoft YaHei"/>
                  <a:cs typeface="Segoe UI"/>
                </a:rPr>
                <a:t>非挥发元素 ⊆ 目标元素（pool ≤ 15）；</a:t>
              </a:r>
              <a:r>
                <a:rPr lang="zh-CN" sz="1350" dirty="0">
                  <a:solidFill>
                    <a:schemeClr val="dk1"/>
                  </a:solidFill>
                  <a:latin typeface="Segoe UI"/>
                  <a:ea typeface="Microsoft YaHei"/>
                  <a:cs typeface="Segoe UI"/>
                </a:rPr>
                <a:t>枚举 2–5 元组合，不预设真实集合大小</a:t>
              </a:r>
            </a:p>
          </p:txBody>
        </p:sp>
        <p:sp>
          <p:nvSpPr>
            <p:cNvPr id="18" name="TextBox 18"/>
            <p:cNvSpPr txBox="1"/>
            <p:nvPr/>
          </p:nvSpPr>
          <p:spPr>
            <a:xfrm>
              <a:off x="4623054" y="3413760"/>
              <a:ext cx="2276635" cy="234696"/>
            </a:xfrm>
            <a:prstGeom prst="rect">
              <a:avLst/>
            </a:prstGeom>
            <a:noFill/>
            <a:ln>
              <a:noFill/>
            </a:ln>
          </p:spPr>
          <p:txBody>
            <a:bodyPr wrap="none" lIns="0" tIns="0" rIns="0" bIns="0" anchor="t" anchorCtr="0">
              <a:spAutoFit/>
            </a:bodyPr>
            <a:lstStyle/>
            <a:p>
              <a:pPr algn="l"/>
              <a:r>
                <a:rPr lang="zh-CN" sz="1200" b="1" dirty="0">
                  <a:solidFill>
                    <a:schemeClr val="accent2"/>
                  </a:solidFill>
                  <a:latin typeface="Segoe UI"/>
                  <a:ea typeface="Microsoft YaHei"/>
                  <a:cs typeface="Segoe UI"/>
                </a:rPr>
                <a:t>产物：典型 4,928 个候选集合</a:t>
              </a:r>
            </a:p>
          </p:txBody>
        </p:sp>
      </p:grpSp>
      <p:grpSp>
        <p:nvGrpSpPr>
          <p:cNvPr id="26" name="Group 26"/>
          <p:cNvGrpSpPr/>
          <p:nvPr/>
        </p:nvGrpSpPr>
        <p:grpSpPr>
          <a:xfrm>
            <a:off x="7734300" y="2247900"/>
            <a:ext cx="3804476" cy="1428750"/>
            <a:chOff x="7734300" y="2247900"/>
            <a:chExt cx="3804476" cy="1428750"/>
          </a:xfrm>
        </p:grpSpPr>
        <p:sp>
          <p:nvSpPr>
            <p:cNvPr id="20" name="Line 20"/>
            <p:cNvSpPr/>
            <p:nvPr/>
          </p:nvSpPr>
          <p:spPr>
            <a:xfrm>
              <a:off x="7734300" y="2962275"/>
              <a:ext cx="495300" cy="1"/>
            </a:xfrm>
            <a:prstGeom prst="line">
              <a:avLst/>
            </a:prstGeom>
            <a:noFill/>
            <a:ln w="19050">
              <a:solidFill>
                <a:schemeClr val="accent1"/>
              </a:solidFill>
              <a:tailEnd type="triangle" w="med" len="med"/>
            </a:ln>
          </p:spPr>
        </p:sp>
        <p:sp>
          <p:nvSpPr>
            <p:cNvPr id="21" name="Rectangle 21"/>
            <p:cNvSpPr/>
            <p:nvPr/>
          </p:nvSpPr>
          <p:spPr>
            <a:xfrm>
              <a:off x="8267700" y="2247900"/>
              <a:ext cx="3238500" cy="1428750"/>
            </a:xfrm>
            <a:prstGeom prst="rect">
              <a:avLst/>
            </a:prstGeom>
            <a:solidFill>
              <a:schemeClr val="lt1"/>
            </a:solidFill>
            <a:ln w="9525">
              <a:solidFill>
                <a:schemeClr val="accent4"/>
              </a:solidFill>
            </a:ln>
          </p:spPr>
        </p:sp>
        <p:sp>
          <p:nvSpPr>
            <p:cNvPr id="22" name="Rectangle 22"/>
            <p:cNvSpPr/>
            <p:nvPr/>
          </p:nvSpPr>
          <p:spPr>
            <a:xfrm>
              <a:off x="8267700" y="2247900"/>
              <a:ext cx="3238500" cy="381000"/>
            </a:xfrm>
            <a:prstGeom prst="rect">
              <a:avLst/>
            </a:prstGeom>
            <a:solidFill>
              <a:schemeClr val="accent1"/>
            </a:solidFill>
            <a:ln>
              <a:noFill/>
            </a:ln>
          </p:spPr>
        </p:sp>
        <p:sp>
          <p:nvSpPr>
            <p:cNvPr id="23" name="TextBox 23"/>
            <p:cNvSpPr txBox="1"/>
            <p:nvPr/>
          </p:nvSpPr>
          <p:spPr>
            <a:xfrm>
              <a:off x="8410956" y="2320290"/>
              <a:ext cx="3124428" cy="352044"/>
            </a:xfrm>
            <a:prstGeom prst="rect">
              <a:avLst/>
            </a:prstGeom>
            <a:noFill/>
            <a:ln>
              <a:noFill/>
            </a:ln>
          </p:spPr>
          <p:txBody>
            <a:bodyPr wrap="none" lIns="0" tIns="0" rIns="0" bIns="0" anchor="t" anchorCtr="0">
              <a:spAutoFit/>
            </a:bodyPr>
            <a:lstStyle/>
            <a:p>
              <a:pPr algn="l"/>
              <a:r>
                <a:rPr lang="en-US" sz="1800" b="1" dirty="0">
                  <a:solidFill>
                    <a:srgbClr val="FFFFFF"/>
                  </a:solidFill>
                  <a:latin typeface="Segoe UI"/>
                  <a:ea typeface="Segoe UI"/>
                  <a:cs typeface="Segoe UI"/>
                </a:rPr>
                <a:t>③ Complete-Set Reranker</a:t>
              </a:r>
            </a:p>
          </p:txBody>
        </p:sp>
        <p:sp>
          <p:nvSpPr>
            <p:cNvPr id="24" name="TextBox 24"/>
            <p:cNvSpPr txBox="1"/>
            <p:nvPr/>
          </p:nvSpPr>
          <p:spPr>
            <a:xfrm>
              <a:off x="8413242" y="2749868"/>
              <a:ext cx="3125534" cy="511683"/>
            </a:xfrm>
            <a:prstGeom prst="rect">
              <a:avLst/>
            </a:prstGeom>
            <a:noFill/>
            <a:ln>
              <a:noFill/>
            </a:ln>
          </p:spPr>
          <p:txBody>
            <a:bodyPr wrap="square" lIns="0" tIns="0" rIns="0" bIns="0" anchor="t" anchorCtr="0"/>
            <a:lstStyle/>
            <a:p>
              <a:pPr algn="l">
                <a:lnSpc>
                  <a:spcPts val="1950"/>
                </a:lnSpc>
              </a:pPr>
              <a:r>
                <a:rPr lang="zh-CN" sz="1350" dirty="0">
                  <a:solidFill>
                    <a:schemeClr val="dk1"/>
                  </a:solidFill>
                  <a:latin typeface="Segoe UI"/>
                  <a:ea typeface="Microsoft YaHei"/>
                  <a:cs typeface="Segoe UI"/>
                </a:rPr>
                <a:t>目标条件化集合 token + 374 维描述子，</a:t>
              </a:r>
              <a:r>
                <a:rPr lang="zh-CN" sz="1350" dirty="0">
                  <a:solidFill>
                    <a:schemeClr val="dk1"/>
                  </a:solidFill>
                  <a:latin typeface="Segoe UI"/>
                  <a:ea typeface="Microsoft YaHei"/>
                  <a:cs typeface="Segoe UI"/>
                </a:rPr>
                <a:t>listwise 排序 · 负样本间隔 · 覆盖监督</a:t>
              </a:r>
            </a:p>
          </p:txBody>
        </p:sp>
        <p:sp>
          <p:nvSpPr>
            <p:cNvPr id="25" name="TextBox 25"/>
            <p:cNvSpPr txBox="1"/>
            <p:nvPr/>
          </p:nvSpPr>
          <p:spPr>
            <a:xfrm>
              <a:off x="8414004" y="3413760"/>
              <a:ext cx="2288396" cy="234696"/>
            </a:xfrm>
            <a:prstGeom prst="rect">
              <a:avLst/>
            </a:prstGeom>
            <a:noFill/>
            <a:ln>
              <a:noFill/>
            </a:ln>
          </p:spPr>
          <p:txBody>
            <a:bodyPr wrap="none" lIns="0" tIns="0" rIns="0" bIns="0" anchor="t" anchorCtr="0">
              <a:spAutoFit/>
            </a:bodyPr>
            <a:lstStyle/>
            <a:p>
              <a:pPr algn="l"/>
              <a:r>
                <a:rPr lang="zh-CN" sz="1200" b="1" dirty="0">
                  <a:solidFill>
                    <a:schemeClr val="accent2"/>
                  </a:solidFill>
                  <a:latin typeface="Segoe UI"/>
                  <a:ea typeface="Microsoft YaHei"/>
                  <a:cs typeface="Segoe UI"/>
                </a:rPr>
                <a:t>产物：Top-K 完整集合及分数</a:t>
              </a:r>
            </a:p>
          </p:txBody>
        </p:sp>
      </p:grpSp>
      <p:grpSp>
        <p:nvGrpSpPr>
          <p:cNvPr id="30" name="Group 30"/>
          <p:cNvGrpSpPr/>
          <p:nvPr/>
        </p:nvGrpSpPr>
        <p:grpSpPr>
          <a:xfrm>
            <a:off x="685800" y="3981450"/>
            <a:ext cx="5295900" cy="2133600"/>
            <a:chOff x="685800" y="3981450"/>
            <a:chExt cx="5295900" cy="2133600"/>
          </a:xfrm>
        </p:grpSpPr>
        <p:sp>
          <p:nvSpPr>
            <p:cNvPr id="27" name="Rectangle 27"/>
            <p:cNvSpPr/>
            <p:nvPr/>
          </p:nvSpPr>
          <p:spPr>
            <a:xfrm>
              <a:off x="685800" y="3981450"/>
              <a:ext cx="5295900" cy="2133600"/>
            </a:xfrm>
            <a:prstGeom prst="rect">
              <a:avLst/>
            </a:prstGeom>
            <a:solidFill>
              <a:schemeClr val="lt2"/>
            </a:solidFill>
            <a:ln>
              <a:noFill/>
            </a:ln>
          </p:spPr>
        </p:sp>
        <p:sp>
          <p:nvSpPr>
            <p:cNvPr id="28" name="TextBox 28"/>
            <p:cNvSpPr txBox="1"/>
            <p:nvPr/>
          </p:nvSpPr>
          <p:spPr>
            <a:xfrm>
              <a:off x="905256" y="4110990"/>
              <a:ext cx="3147799"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Segoe UI"/>
                  <a:ea typeface="Microsoft YaHei"/>
                  <a:cs typeface="Segoe UI"/>
                </a:rPr>
                <a:t>融入规则（skill 层硬约束）</a:t>
              </a:r>
            </a:p>
          </p:txBody>
        </p:sp>
        <p:sp>
          <p:nvSpPr>
            <p:cNvPr id="29" name="TextBox 29"/>
            <p:cNvSpPr txBox="1"/>
            <p:nvPr/>
          </p:nvSpPr>
          <p:spPr>
            <a:xfrm>
              <a:off x="907542" y="4521518"/>
              <a:ext cx="4651438" cy="1407033"/>
            </a:xfrm>
            <a:prstGeom prst="rect">
              <a:avLst/>
            </a:prstGeom>
            <a:noFill/>
            <a:ln>
              <a:noFill/>
            </a:ln>
          </p:spPr>
          <p:txBody>
            <a:bodyPr wrap="square" lIns="0" tIns="0" rIns="0" bIns="0" anchor="t" anchorCtr="0"/>
            <a:lstStyle/>
            <a:p>
              <a:pPr algn="l" marL="145732" indent="-145732">
                <a:lnSpc>
                  <a:spcPts val="1950"/>
                </a:lnSpc>
                <a:buClr>
                  <a:schemeClr val="dk1"/>
                </a:buClr>
                <a:buSzTx/>
                <a:buFontTx/>
                <a:buChar char="•"/>
              </a:pPr>
              <a:r>
                <a:rPr lang="zh-CN" sz="1350" dirty="0">
                  <a:solidFill>
                    <a:schemeClr val="dk1"/>
                  </a:solidFill>
                  <a:latin typeface="Segoe UI"/>
                  <a:ea typeface="Microsoft YaHei"/>
                  <a:cs typeface="Segoe UI"/>
                </a:rPr>
                <a:t>每条路线带 chemical_route_verified=false，正文只能写</a:t>
              </a:r>
              <a:r>
                <a:rPr lang="zh-CN" sz="1350" dirty="0">
                  <a:solidFill>
                    <a:schemeClr val="dk1"/>
                  </a:solidFill>
                  <a:latin typeface="Segoe UI"/>
                  <a:ea typeface="Microsoft YaHei"/>
                  <a:cs typeface="Segoe UI"/>
                </a:rPr>
                <a:t>“模型候选，待实验验证”，不得表述为实验真值</a:t>
              </a:r>
            </a:p>
            <a:p>
              <a:pPr algn="l" marL="145732" indent="-145732">
                <a:lnSpc>
                  <a:spcPts val="1950"/>
                </a:lnSpc>
                <a:spcBef>
                  <a:spcPts val="600"/>
                </a:spcBef>
                <a:buClr>
                  <a:schemeClr val="dk1"/>
                </a:buClr>
                <a:buSzTx/>
                <a:buFontTx/>
                <a:buChar char="•"/>
              </a:pPr>
              <a:r>
                <a:rPr lang="zh-CN" sz="1350" dirty="0">
                  <a:solidFill>
                    <a:schemeClr val="dk1"/>
                  </a:solidFill>
                  <a:latin typeface="Segoe UI"/>
                  <a:ea typeface="Microsoft YaHei"/>
                  <a:cs typeface="Segoe UI"/>
                </a:rPr>
                <a:t>返回 Stage-1 概率、Stage-2 分数、候选池内概率、</a:t>
              </a:r>
              <a:r>
                <a:rPr lang="zh-CN" sz="1350" dirty="0">
                  <a:solidFill>
                    <a:schemeClr val="dk1"/>
                  </a:solidFill>
                  <a:latin typeface="Segoe UI"/>
                  <a:ea typeface="Microsoft YaHei"/>
                  <a:cs typeface="Segoe UI"/>
                </a:rPr>
                <a:t>checkpoint SHA-256，供审稿人逐条核对</a:t>
              </a:r>
            </a:p>
            <a:p>
              <a:pPr algn="l" marL="145732" indent="-145732">
                <a:lnSpc>
                  <a:spcPts val="1950"/>
                </a:lnSpc>
                <a:spcBef>
                  <a:spcPts val="600"/>
                </a:spcBef>
                <a:buClr>
                  <a:schemeClr val="dk1"/>
                </a:buClr>
                <a:buSzTx/>
                <a:buFontTx/>
                <a:buChar char="•"/>
              </a:pPr>
              <a:r>
                <a:rPr lang="zh-CN" sz="1350" dirty="0">
                  <a:solidFill>
                    <a:schemeClr val="dk1"/>
                  </a:solidFill>
                  <a:latin typeface="Segoe UI"/>
                  <a:ea typeface="Microsoft YaHei"/>
                  <a:cs typeface="Segoe UI"/>
                </a:rPr>
                <a:t>路线须经文献证据补全与 reviewer 复核后才能进入方案</a:t>
              </a:r>
            </a:p>
          </p:txBody>
        </p:sp>
      </p:grpSp>
      <p:grpSp>
        <p:nvGrpSpPr>
          <p:cNvPr id="34" name="Group 34"/>
          <p:cNvGrpSpPr/>
          <p:nvPr/>
        </p:nvGrpSpPr>
        <p:grpSpPr>
          <a:xfrm>
            <a:off x="6210300" y="3981450"/>
            <a:ext cx="5914934" cy="2133600"/>
            <a:chOff x="6210300" y="3981450"/>
            <a:chExt cx="5914934" cy="2133600"/>
          </a:xfrm>
        </p:grpSpPr>
        <p:sp>
          <p:nvSpPr>
            <p:cNvPr id="31" name="Rectangle 31"/>
            <p:cNvSpPr/>
            <p:nvPr/>
          </p:nvSpPr>
          <p:spPr>
            <a:xfrm>
              <a:off x="6210300" y="3981450"/>
              <a:ext cx="5295900" cy="2133600"/>
            </a:xfrm>
            <a:prstGeom prst="rect">
              <a:avLst/>
            </a:prstGeom>
            <a:solidFill>
              <a:schemeClr val="lt2"/>
            </a:solidFill>
            <a:ln>
              <a:noFill/>
            </a:ln>
          </p:spPr>
        </p:sp>
        <p:sp>
          <p:nvSpPr>
            <p:cNvPr id="32" name="TextBox 32"/>
            <p:cNvSpPr txBox="1"/>
            <p:nvPr/>
          </p:nvSpPr>
          <p:spPr>
            <a:xfrm>
              <a:off x="6429756" y="4110990"/>
              <a:ext cx="5695478"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Segoe UI"/>
                  <a:ea typeface="Microsoft YaHei"/>
                  <a:cs typeface="Segoe UI"/>
                </a:rPr>
                <a:t>正式报告中的三次调用（Top-1 · 候选池内概率）</a:t>
              </a:r>
            </a:p>
          </p:txBody>
        </p:sp>
        <p:sp>
          <p:nvSpPr>
            <p:cNvPr id="33" name="TextBox 33"/>
            <p:cNvSpPr txBox="1"/>
            <p:nvPr/>
          </p:nvSpPr>
          <p:spPr>
            <a:xfrm>
              <a:off x="6432042" y="4559618"/>
              <a:ext cx="3905631" cy="1445133"/>
            </a:xfrm>
            <a:prstGeom prst="rect">
              <a:avLst/>
            </a:prstGeom>
            <a:noFill/>
            <a:ln>
              <a:noFill/>
            </a:ln>
          </p:spPr>
          <p:txBody>
            <a:bodyPr wrap="square" lIns="0" tIns="0" rIns="0" bIns="0" anchor="t" anchorCtr="0"/>
            <a:lstStyle/>
            <a:p>
              <a:pPr algn="l">
                <a:lnSpc>
                  <a:spcPts val="1950"/>
                </a:lnSpc>
              </a:pPr>
              <a:r>
                <a:rPr lang="zh-CN" sz="1350" b="1" dirty="0">
                  <a:solidFill>
                    <a:schemeClr val="dk1"/>
                  </a:solidFill>
                  <a:latin typeface="Segoe UI"/>
                  <a:ea typeface="Microsoft YaHei"/>
                  <a:cs typeface="Segoe UI"/>
                </a:rPr>
                <a:t>Zn 目标</a:t>
              </a:r>
              <a:r>
                <a:rPr lang="en-US" sz="1350" dirty="0">
                  <a:solidFill>
                    <a:schemeClr val="dk1"/>
                  </a:solidFill>
                  <a:latin typeface="Segoe UI"/>
                  <a:ea typeface="Segoe UI"/>
                  <a:cs typeface="Segoe UI"/>
                </a:rPr>
                <a:t xml:space="preserve"> → ZnO + Y2O3 + SiO2 + BaCO3</a:t>
              </a:r>
              <a:r>
                <a:rPr lang="zh-CN" sz="1350" dirty="0">
                  <a:solidFill>
                    <a:schemeClr val="dk1"/>
                  </a:solidFill>
                  <a:latin typeface="Segoe UI"/>
                  <a:ea typeface="Microsoft YaHei"/>
                  <a:cs typeface="Segoe UI"/>
                </a:rPr>
                <a:t xml:space="preserve">常规氧化物 / 碳酸盐原料集合 · </a:t>
              </a:r>
              <a:r>
                <a:rPr lang="en-US" sz="1350" b="1" dirty="0">
                  <a:solidFill>
                    <a:schemeClr val="accent2"/>
                  </a:solidFill>
                  <a:latin typeface="Segoe UI"/>
                  <a:ea typeface="Segoe UI"/>
                  <a:cs typeface="Segoe UI"/>
                </a:rPr>
                <a:t>0.594</a:t>
              </a:r>
            </a:p>
            <a:p>
              <a:pPr algn="l">
                <a:lnSpc>
                  <a:spcPts val="1950"/>
                </a:lnSpc>
                <a:spcBef>
                  <a:spcPts val="750"/>
                </a:spcBef>
              </a:pPr>
              <a:r>
                <a:rPr lang="zh-CN" sz="1350" b="1" dirty="0">
                  <a:solidFill>
                    <a:schemeClr val="dk1"/>
                  </a:solidFill>
                  <a:latin typeface="Segoe UI"/>
                  <a:ea typeface="Microsoft YaHei"/>
                  <a:cs typeface="Segoe UI"/>
                </a:rPr>
                <a:t>Mg 类比</a:t>
              </a:r>
              <a:r>
                <a:rPr lang="en-US" sz="1350" dirty="0">
                  <a:solidFill>
                    <a:schemeClr val="dk1"/>
                  </a:solidFill>
                  <a:latin typeface="Segoe UI"/>
                  <a:ea typeface="Segoe UI"/>
                  <a:cs typeface="Segoe UI"/>
                </a:rPr>
                <a:t xml:space="preserve"> → MgO + Y2O3 + BaCO3 + SiO2 · </a:t>
              </a:r>
              <a:r>
                <a:rPr lang="en-US" sz="1350" b="1" dirty="0">
                  <a:solidFill>
                    <a:schemeClr val="accent2"/>
                  </a:solidFill>
                  <a:latin typeface="Segoe UI"/>
                  <a:ea typeface="Segoe UI"/>
                  <a:cs typeface="Segoe UI"/>
                </a:rPr>
                <a:t>0.522</a:t>
              </a:r>
            </a:p>
            <a:p>
              <a:pPr algn="l">
                <a:lnSpc>
                  <a:spcPts val="1950"/>
                </a:lnSpc>
                <a:spcBef>
                  <a:spcPts val="750"/>
                </a:spcBef>
              </a:pPr>
              <a:r>
                <a:rPr lang="zh-CN" sz="1350" b="1" dirty="0">
                  <a:solidFill>
                    <a:schemeClr val="dk1"/>
                  </a:solidFill>
                  <a:latin typeface="Segoe UI"/>
                  <a:ea typeface="Microsoft YaHei"/>
                  <a:cs typeface="Segoe UI"/>
                </a:rPr>
                <a:t>Co 类比</a:t>
              </a:r>
              <a:r>
                <a:rPr lang="en-US" sz="1350" dirty="0">
                  <a:solidFill>
                    <a:schemeClr val="dk1"/>
                  </a:solidFill>
                  <a:latin typeface="Segoe UI"/>
                  <a:ea typeface="Segoe UI"/>
                  <a:cs typeface="Segoe UI"/>
                </a:rPr>
                <a:t xml:space="preserve"> → Co3O4 + Y2O3 + BaCO3 + SiO2 · </a:t>
              </a:r>
              <a:r>
                <a:rPr lang="en-US" sz="1350" b="1" dirty="0">
                  <a:solidFill>
                    <a:schemeClr val="accent2"/>
                  </a:solidFill>
                  <a:latin typeface="Segoe UI"/>
                  <a:ea typeface="Segoe UI"/>
                  <a:cs typeface="Segoe UI"/>
                </a:rPr>
                <a:t>0.298</a:t>
              </a:r>
              <a:r>
                <a:rPr lang="zh-CN" sz="1350" dirty="0">
                  <a:solidFill>
                    <a:schemeClr val="dk1"/>
                  </a:solidFill>
                  <a:latin typeface="Segoe UI"/>
                  <a:ea typeface="Microsoft YaHei"/>
                  <a:cs typeface="Segoe UI"/>
                </a:rPr>
                <a:t>前三名反映 Co 氧化态不确定性，而非三条等价处方</a:t>
              </a:r>
            </a:p>
          </p:txBody>
        </p:sp>
      </p:grpSp>
      <p:grpSp>
        <p:nvGrpSpPr>
          <p:cNvPr id="37" name="Group 37"/>
          <p:cNvGrpSpPr/>
          <p:nvPr/>
        </p:nvGrpSpPr>
        <p:grpSpPr>
          <a:xfrm>
            <a:off x="679704" y="6480810"/>
            <a:ext cx="10832592" cy="234696"/>
            <a:chOff x="679704" y="6480810"/>
            <a:chExt cx="10832592" cy="234696"/>
          </a:xfrm>
        </p:grpSpPr>
        <p:sp>
          <p:nvSpPr>
            <p:cNvPr id="35" name="TextBox 35"/>
            <p:cNvSpPr txBox="1"/>
            <p:nvPr/>
          </p:nvSpPr>
          <p:spPr>
            <a:xfrm>
              <a:off x="679704" y="6480810"/>
              <a:ext cx="6494115"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Segoe UI"/>
                  <a:ea typeface="Microsoft YaHei"/>
                  <a:cs typeface="Segoe UI"/>
                </a:rPr>
                <a:t>SAGE-Mat · GoAI Research · GOAI 2026 复赛 · 原始请求与返回：run/tool_calls.jsonl</a:t>
              </a:r>
            </a:p>
          </p:txBody>
        </p:sp>
        <p:sp>
          <p:nvSpPr>
            <p:cNvPr id="36" name="TextBox 36"/>
            <p:cNvSpPr txBox="1"/>
            <p:nvPr/>
          </p:nvSpPr>
          <p:spPr>
            <a:xfrm>
              <a:off x="11047781" y="6480810"/>
              <a:ext cx="464515" cy="234696"/>
            </a:xfrm>
            <a:prstGeom prst="rect">
              <a:avLst/>
            </a:prstGeom>
            <a:noFill/>
            <a:ln>
              <a:noFill/>
            </a:ln>
          </p:spPr>
          <p:txBody>
            <a:bodyPr wrap="none" lIns="0" tIns="0" rIns="0" bIns="0" anchor="t" anchorCtr="0">
              <a:spAutoFit/>
            </a:bodyPr>
            <a:lstStyle/>
            <a:p>
              <a:pPr algn="r"/>
              <a:r>
                <a:rPr lang="en-US" sz="1200" dirty="0">
                  <a:solidFill>
                    <a:schemeClr val="accent5"/>
                  </a:solidFill>
                  <a:latin typeface="Segoe UI"/>
                  <a:ea typeface="Segoe UI"/>
                  <a:cs typeface="Segoe UI"/>
                </a:rPr>
                <a:t>5 / 12</a:t>
              </a:r>
            </a:p>
          </p:txBody>
        </p:sp>
      </p:grpSp>
    </p:spTree>
  </p:cSld>
  <p:clrMapOvr>
    <a:masterClrMapping/>
  </p:clrMapOvr>
  <p:transition xmlns:p14="http://schemas.microsoft.com/office/powerpoint/2010/main" p14:dur="400">
    <p:fade/>
  </p:transition>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670560" y="590550"/>
            <a:ext cx="11204277" cy="586740"/>
            <a:chOff x="670560" y="590550"/>
            <a:chExt cx="11204277" cy="586740"/>
          </a:xfrm>
        </p:grpSpPr>
        <p:sp>
          <p:nvSpPr>
            <p:cNvPr id="2" name="TextBox 2"/>
            <p:cNvSpPr txBox="1"/>
            <p:nvPr/>
          </p:nvSpPr>
          <p:spPr>
            <a:xfrm>
              <a:off x="670560" y="590550"/>
              <a:ext cx="11204277" cy="586740"/>
            </a:xfrm>
            <a:prstGeom prst="rect">
              <a:avLst/>
            </a:prstGeom>
            <a:noFill/>
            <a:ln>
              <a:noFill/>
            </a:ln>
          </p:spPr>
          <p:txBody>
            <a:bodyPr wrap="none" lIns="0" tIns="0" rIns="0" bIns="0" anchor="t" anchorCtr="0">
              <a:spAutoFit/>
            </a:bodyPr>
            <a:lstStyle/>
            <a:p>
              <a:pPr algn="l"/>
              <a:r>
                <a:rPr lang="zh-CN" sz="3000" b="1" dirty="0">
                  <a:solidFill>
                    <a:schemeClr val="dk1"/>
                  </a:solidFill>
                  <a:latin typeface="Segoe UI"/>
                  <a:ea typeface="Microsoft YaHei"/>
                  <a:cs typeface="Segoe UI"/>
                </a:rPr>
                <a:t>纯主题冷启动：51 篇文献全部核验、100 条结论全部可追溯</a:t>
              </a:r>
            </a:p>
          </p:txBody>
        </p:sp>
        <p:sp>
          <p:nvSpPr>
            <p:cNvPr id="3" name="Rectangle 3"/>
            <p:cNvSpPr/>
            <p:nvPr/>
          </p:nvSpPr>
          <p:spPr>
            <a:xfrm>
              <a:off x="685800" y="1085850"/>
              <a:ext cx="685800" cy="38100"/>
            </a:xfrm>
            <a:prstGeom prst="rect">
              <a:avLst/>
            </a:prstGeom>
            <a:solidFill>
              <a:schemeClr val="accent1"/>
            </a:solidFill>
            <a:ln>
              <a:noFill/>
            </a:ln>
          </p:spPr>
        </p:sp>
      </p:grpSp>
      <p:grpSp>
        <p:nvGrpSpPr>
          <p:cNvPr id="6" name="Group 6"/>
          <p:cNvGrpSpPr/>
          <p:nvPr/>
        </p:nvGrpSpPr>
        <p:grpSpPr>
          <a:xfrm>
            <a:off x="675894" y="1370648"/>
            <a:ext cx="10074402" cy="743331"/>
            <a:chOff x="675894" y="1370648"/>
            <a:chExt cx="10074402" cy="743331"/>
          </a:xfrm>
        </p:grpSpPr>
        <p:sp>
          <p:nvSpPr>
            <p:cNvPr id="5" name="TextBox 5"/>
            <p:cNvSpPr txBox="1"/>
            <p:nvPr/>
          </p:nvSpPr>
          <p:spPr>
            <a:xfrm>
              <a:off x="675894" y="1370648"/>
              <a:ext cx="10074402" cy="743331"/>
            </a:xfrm>
            <a:prstGeom prst="rect">
              <a:avLst/>
            </a:prstGeom>
            <a:noFill/>
            <a:ln>
              <a:noFill/>
            </a:ln>
          </p:spPr>
          <p:txBody>
            <a:bodyPr wrap="square" lIns="0" tIns="0" rIns="0" bIns="0" anchor="t" anchorCtr="0"/>
            <a:lstStyle/>
            <a:p>
              <a:pPr algn="l">
                <a:lnSpc>
                  <a:spcPts val="2850"/>
                </a:lnSpc>
              </a:pPr>
              <a:r>
                <a:rPr lang="zh-CN" sz="1950" dirty="0">
                  <a:solidFill>
                    <a:schemeClr val="dk1"/>
                  </a:solidFill>
                  <a:latin typeface="Segoe UI"/>
                  <a:ea typeface="Microsoft YaHei"/>
                  <a:cs typeface="Segoe UI"/>
                </a:rPr>
                <a:t>唯一输入是一行主题“Ba5Y12Zn[O(SiO4)]8 及其结构相近化合物的合成条件”；系统在 4 个</a:t>
              </a:r>
              <a:r>
                <a:rPr lang="zh-CN" sz="1950" dirty="0">
                  <a:solidFill>
                    <a:schemeClr val="dk1"/>
                  </a:solidFill>
                  <a:latin typeface="Segoe UI"/>
                  <a:ea typeface="Microsoft YaHei"/>
                  <a:cs typeface="Segoe UI"/>
                </a:rPr>
                <a:t xml:space="preserve">人工停点续跑后交出 20 页综述，再按材料专家 8 条意见修订为 </a:t>
              </a:r>
              <a:r>
                <a:rPr lang="zh-CN" sz="1950" b="1" dirty="0">
                  <a:solidFill>
                    <a:schemeClr val="accent2"/>
                  </a:solidFill>
                  <a:latin typeface="Segoe UI"/>
                  <a:ea typeface="Microsoft YaHei"/>
                  <a:cs typeface="Segoe UI"/>
                </a:rPr>
                <a:t>23 页正式稿</a:t>
              </a:r>
              <a:r>
                <a:rPr lang="zh-CN" sz="1950" dirty="0">
                  <a:solidFill>
                    <a:schemeClr val="dk1"/>
                  </a:solidFill>
                  <a:latin typeface="Segoe UI"/>
                  <a:ea typeface="Microsoft YaHei"/>
                  <a:cs typeface="Segoe UI"/>
                </a:rPr>
                <a:t>。</a:t>
              </a:r>
            </a:p>
          </p:txBody>
        </p:sp>
      </p:grpSp>
      <p:grpSp>
        <p:nvGrpSpPr>
          <p:cNvPr id="11" name="Group 11"/>
          <p:cNvGrpSpPr/>
          <p:nvPr/>
        </p:nvGrpSpPr>
        <p:grpSpPr>
          <a:xfrm>
            <a:off x="685800" y="2247900"/>
            <a:ext cx="2590800" cy="1085850"/>
            <a:chOff x="685800" y="2247900"/>
            <a:chExt cx="2590800" cy="1085850"/>
          </a:xfrm>
        </p:grpSpPr>
        <p:sp>
          <p:nvSpPr>
            <p:cNvPr id="7" name="Rectangle 7"/>
            <p:cNvSpPr/>
            <p:nvPr/>
          </p:nvSpPr>
          <p:spPr>
            <a:xfrm>
              <a:off x="685800" y="2247900"/>
              <a:ext cx="2590800" cy="1085850"/>
            </a:xfrm>
            <a:prstGeom prst="rect">
              <a:avLst/>
            </a:prstGeom>
            <a:solidFill>
              <a:schemeClr val="lt2"/>
            </a:solidFill>
            <a:ln>
              <a:noFill/>
            </a:ln>
          </p:spPr>
        </p:sp>
        <p:sp>
          <p:nvSpPr>
            <p:cNvPr id="8" name="Rectangle 8"/>
            <p:cNvSpPr/>
            <p:nvPr/>
          </p:nvSpPr>
          <p:spPr>
            <a:xfrm>
              <a:off x="685800" y="2247900"/>
              <a:ext cx="2590800" cy="38100"/>
            </a:xfrm>
            <a:prstGeom prst="rect">
              <a:avLst/>
            </a:prstGeom>
            <a:solidFill>
              <a:schemeClr val="accent1"/>
            </a:solidFill>
            <a:ln>
              <a:noFill/>
            </a:ln>
          </p:spPr>
        </p:sp>
        <p:sp>
          <p:nvSpPr>
            <p:cNvPr id="9" name="TextBox 9"/>
            <p:cNvSpPr txBox="1"/>
            <p:nvPr/>
          </p:nvSpPr>
          <p:spPr>
            <a:xfrm>
              <a:off x="857250" y="2404110"/>
              <a:ext cx="2026909" cy="819150"/>
            </a:xfrm>
            <a:prstGeom prst="rect">
              <a:avLst/>
            </a:prstGeom>
            <a:noFill/>
            <a:ln>
              <a:noFill/>
            </a:ln>
          </p:spPr>
          <p:txBody>
            <a:bodyPr wrap="none" lIns="0" tIns="0" rIns="0" bIns="0" anchor="t" anchorCtr="0">
              <a:spAutoFit/>
            </a:bodyPr>
            <a:lstStyle/>
            <a:p>
              <a:pPr algn="l"/>
              <a:r>
                <a:rPr lang="en-US" sz="4200" b="1" dirty="0">
                  <a:solidFill>
                    <a:schemeClr val="accent1"/>
                  </a:solidFill>
                  <a:latin typeface="Segoe UI"/>
                  <a:ea typeface="Segoe UI"/>
                  <a:cs typeface="Segoe UI"/>
                </a:rPr>
                <a:t>51 / 51</a:t>
              </a:r>
            </a:p>
          </p:txBody>
        </p:sp>
        <p:sp>
          <p:nvSpPr>
            <p:cNvPr id="10" name="TextBox 10"/>
            <p:cNvSpPr txBox="1"/>
            <p:nvPr/>
          </p:nvSpPr>
          <p:spPr>
            <a:xfrm>
              <a:off x="869442" y="3016568"/>
              <a:ext cx="2029968" cy="264033"/>
            </a:xfrm>
            <a:prstGeom prst="rect">
              <a:avLst/>
            </a:prstGeom>
            <a:noFill/>
            <a:ln>
              <a:noFill/>
            </a:ln>
          </p:spPr>
          <p:txBody>
            <a:bodyPr wrap="none" lIns="0" tIns="0" rIns="0" bIns="0" anchor="t" anchorCtr="0">
              <a:spAutoFit/>
            </a:bodyPr>
            <a:lstStyle/>
            <a:p>
              <a:pPr algn="l"/>
              <a:r>
                <a:rPr lang="zh-CN" sz="1350" dirty="0">
                  <a:solidFill>
                    <a:schemeClr val="dk2"/>
                  </a:solidFill>
                  <a:latin typeface="Segoe UI"/>
                  <a:ea typeface="Microsoft YaHei"/>
                  <a:cs typeface="Segoe UI"/>
                </a:rPr>
                <a:t>文献三轴核验全部 PASS</a:t>
              </a:r>
            </a:p>
          </p:txBody>
        </p:sp>
      </p:grpSp>
      <p:grpSp>
        <p:nvGrpSpPr>
          <p:cNvPr id="16" name="Group 16"/>
          <p:cNvGrpSpPr/>
          <p:nvPr/>
        </p:nvGrpSpPr>
        <p:grpSpPr>
          <a:xfrm>
            <a:off x="3429000" y="2247900"/>
            <a:ext cx="2590800" cy="1085850"/>
            <a:chOff x="3429000" y="2247900"/>
            <a:chExt cx="2590800" cy="1085850"/>
          </a:xfrm>
        </p:grpSpPr>
        <p:sp>
          <p:nvSpPr>
            <p:cNvPr id="12" name="Rectangle 12"/>
            <p:cNvSpPr/>
            <p:nvPr/>
          </p:nvSpPr>
          <p:spPr>
            <a:xfrm>
              <a:off x="3429000" y="2247900"/>
              <a:ext cx="2590800" cy="1085850"/>
            </a:xfrm>
            <a:prstGeom prst="rect">
              <a:avLst/>
            </a:prstGeom>
            <a:solidFill>
              <a:schemeClr val="lt2"/>
            </a:solidFill>
            <a:ln>
              <a:noFill/>
            </a:ln>
          </p:spPr>
        </p:sp>
        <p:sp>
          <p:nvSpPr>
            <p:cNvPr id="13" name="Rectangle 13"/>
            <p:cNvSpPr/>
            <p:nvPr/>
          </p:nvSpPr>
          <p:spPr>
            <a:xfrm>
              <a:off x="3429000" y="2247900"/>
              <a:ext cx="2590800" cy="38100"/>
            </a:xfrm>
            <a:prstGeom prst="rect">
              <a:avLst/>
            </a:prstGeom>
            <a:solidFill>
              <a:schemeClr val="accent1"/>
            </a:solidFill>
            <a:ln>
              <a:noFill/>
            </a:ln>
          </p:spPr>
        </p:sp>
        <p:sp>
          <p:nvSpPr>
            <p:cNvPr id="14" name="TextBox 14"/>
            <p:cNvSpPr txBox="1"/>
            <p:nvPr/>
          </p:nvSpPr>
          <p:spPr>
            <a:xfrm>
              <a:off x="3600450" y="2404110"/>
              <a:ext cx="1017662" cy="819150"/>
            </a:xfrm>
            <a:prstGeom prst="rect">
              <a:avLst/>
            </a:prstGeom>
            <a:noFill/>
            <a:ln>
              <a:noFill/>
            </a:ln>
          </p:spPr>
          <p:txBody>
            <a:bodyPr wrap="none" lIns="0" tIns="0" rIns="0" bIns="0" anchor="t" anchorCtr="0">
              <a:spAutoFit/>
            </a:bodyPr>
            <a:lstStyle/>
            <a:p>
              <a:pPr algn="l"/>
              <a:r>
                <a:rPr lang="en-US" sz="4200" b="1" dirty="0">
                  <a:solidFill>
                    <a:schemeClr val="accent1"/>
                  </a:solidFill>
                  <a:latin typeface="Segoe UI"/>
                  <a:ea typeface="Segoe UI"/>
                  <a:cs typeface="Segoe UI"/>
                </a:rPr>
                <a:t>219</a:t>
              </a:r>
            </a:p>
          </p:txBody>
        </p:sp>
        <p:sp>
          <p:nvSpPr>
            <p:cNvPr id="15" name="TextBox 15"/>
            <p:cNvSpPr txBox="1"/>
            <p:nvPr/>
          </p:nvSpPr>
          <p:spPr>
            <a:xfrm>
              <a:off x="3612642" y="3016568"/>
              <a:ext cx="1776565" cy="264033"/>
            </a:xfrm>
            <a:prstGeom prst="rect">
              <a:avLst/>
            </a:prstGeom>
            <a:noFill/>
            <a:ln>
              <a:noFill/>
            </a:ln>
          </p:spPr>
          <p:txBody>
            <a:bodyPr wrap="none" lIns="0" tIns="0" rIns="0" bIns="0" anchor="t" anchorCtr="0">
              <a:spAutoFit/>
            </a:bodyPr>
            <a:lstStyle/>
            <a:p>
              <a:pPr algn="l"/>
              <a:r>
                <a:rPr lang="zh-CN" sz="1350" dirty="0">
                  <a:solidFill>
                    <a:schemeClr val="dk2"/>
                  </a:solidFill>
                  <a:latin typeface="Segoe UI"/>
                  <a:ea typeface="Microsoft YaHei"/>
                  <a:cs typeface="Segoe UI"/>
                </a:rPr>
                <a:t>次引用，整合率 100%</a:t>
              </a:r>
            </a:p>
          </p:txBody>
        </p:sp>
      </p:grpSp>
      <p:grpSp>
        <p:nvGrpSpPr>
          <p:cNvPr id="21" name="Group 21"/>
          <p:cNvGrpSpPr/>
          <p:nvPr/>
        </p:nvGrpSpPr>
        <p:grpSpPr>
          <a:xfrm>
            <a:off x="6172200" y="2247900"/>
            <a:ext cx="2590800" cy="1085850"/>
            <a:chOff x="6172200" y="2247900"/>
            <a:chExt cx="2590800" cy="1085850"/>
          </a:xfrm>
        </p:grpSpPr>
        <p:sp>
          <p:nvSpPr>
            <p:cNvPr id="17" name="Rectangle 17"/>
            <p:cNvSpPr/>
            <p:nvPr/>
          </p:nvSpPr>
          <p:spPr>
            <a:xfrm>
              <a:off x="6172200" y="2247900"/>
              <a:ext cx="2590800" cy="1085850"/>
            </a:xfrm>
            <a:prstGeom prst="rect">
              <a:avLst/>
            </a:prstGeom>
            <a:solidFill>
              <a:schemeClr val="lt2"/>
            </a:solidFill>
            <a:ln>
              <a:noFill/>
            </a:ln>
          </p:spPr>
        </p:sp>
        <p:sp>
          <p:nvSpPr>
            <p:cNvPr id="18" name="Rectangle 18"/>
            <p:cNvSpPr/>
            <p:nvPr/>
          </p:nvSpPr>
          <p:spPr>
            <a:xfrm>
              <a:off x="6172200" y="2247900"/>
              <a:ext cx="2590800" cy="38100"/>
            </a:xfrm>
            <a:prstGeom prst="rect">
              <a:avLst/>
            </a:prstGeom>
            <a:solidFill>
              <a:schemeClr val="accent1"/>
            </a:solidFill>
            <a:ln>
              <a:noFill/>
            </a:ln>
          </p:spPr>
        </p:sp>
        <p:sp>
          <p:nvSpPr>
            <p:cNvPr id="19" name="TextBox 19"/>
            <p:cNvSpPr txBox="1"/>
            <p:nvPr/>
          </p:nvSpPr>
          <p:spPr>
            <a:xfrm>
              <a:off x="6343650" y="2404110"/>
              <a:ext cx="1136397" cy="819150"/>
            </a:xfrm>
            <a:prstGeom prst="rect">
              <a:avLst/>
            </a:prstGeom>
            <a:noFill/>
            <a:ln>
              <a:noFill/>
            </a:ln>
          </p:spPr>
          <p:txBody>
            <a:bodyPr wrap="none" lIns="0" tIns="0" rIns="0" bIns="0" anchor="t" anchorCtr="0">
              <a:spAutoFit/>
            </a:bodyPr>
            <a:lstStyle/>
            <a:p>
              <a:pPr algn="l"/>
              <a:r>
                <a:rPr lang="zh-CN" sz="4200" b="1" dirty="0">
                  <a:solidFill>
                    <a:schemeClr val="accent1"/>
                  </a:solidFill>
                  <a:latin typeface="Segoe UI"/>
                  <a:ea typeface="Microsoft YaHei"/>
                  <a:cs typeface="Segoe UI"/>
                </a:rPr>
                <a:t>3 张</a:t>
              </a:r>
            </a:p>
          </p:txBody>
        </p:sp>
        <p:sp>
          <p:nvSpPr>
            <p:cNvPr id="20" name="TextBox 20"/>
            <p:cNvSpPr txBox="1"/>
            <p:nvPr/>
          </p:nvSpPr>
          <p:spPr>
            <a:xfrm>
              <a:off x="6355842" y="3016568"/>
              <a:ext cx="1812912" cy="264033"/>
            </a:xfrm>
            <a:prstGeom prst="rect">
              <a:avLst/>
            </a:prstGeom>
            <a:noFill/>
            <a:ln>
              <a:noFill/>
            </a:ln>
          </p:spPr>
          <p:txBody>
            <a:bodyPr wrap="none" lIns="0" tIns="0" rIns="0" bIns="0" anchor="t" anchorCtr="0">
              <a:spAutoFit/>
            </a:bodyPr>
            <a:lstStyle/>
            <a:p>
              <a:pPr algn="l"/>
              <a:r>
                <a:rPr lang="zh-CN" sz="1350" dirty="0">
                  <a:solidFill>
                    <a:schemeClr val="dk2"/>
                  </a:solidFill>
                  <a:latin typeface="Segoe UI"/>
                  <a:ea typeface="Microsoft YaHei"/>
                  <a:cs typeface="Segoe UI"/>
                </a:rPr>
                <a:t>figspec 同源可编辑图</a:t>
              </a:r>
            </a:p>
          </p:txBody>
        </p:sp>
      </p:grpSp>
      <p:grpSp>
        <p:nvGrpSpPr>
          <p:cNvPr id="26" name="Group 26"/>
          <p:cNvGrpSpPr/>
          <p:nvPr/>
        </p:nvGrpSpPr>
        <p:grpSpPr>
          <a:xfrm>
            <a:off x="8915400" y="2247900"/>
            <a:ext cx="2590800" cy="1085850"/>
            <a:chOff x="8915400" y="2247900"/>
            <a:chExt cx="2590800" cy="1085850"/>
          </a:xfrm>
        </p:grpSpPr>
        <p:sp>
          <p:nvSpPr>
            <p:cNvPr id="22" name="Rectangle 22"/>
            <p:cNvSpPr/>
            <p:nvPr/>
          </p:nvSpPr>
          <p:spPr>
            <a:xfrm>
              <a:off x="8915400" y="2247900"/>
              <a:ext cx="2590800" cy="1085850"/>
            </a:xfrm>
            <a:prstGeom prst="rect">
              <a:avLst/>
            </a:prstGeom>
            <a:solidFill>
              <a:schemeClr val="lt2"/>
            </a:solidFill>
            <a:ln>
              <a:noFill/>
            </a:ln>
          </p:spPr>
        </p:sp>
        <p:sp>
          <p:nvSpPr>
            <p:cNvPr id="23" name="Rectangle 23"/>
            <p:cNvSpPr/>
            <p:nvPr/>
          </p:nvSpPr>
          <p:spPr>
            <a:xfrm>
              <a:off x="8915400" y="2247900"/>
              <a:ext cx="2590800" cy="38100"/>
            </a:xfrm>
            <a:prstGeom prst="rect">
              <a:avLst/>
            </a:prstGeom>
            <a:solidFill>
              <a:schemeClr val="accent2"/>
            </a:solidFill>
            <a:ln>
              <a:noFill/>
            </a:ln>
          </p:spPr>
        </p:sp>
        <p:sp>
          <p:nvSpPr>
            <p:cNvPr id="24" name="TextBox 24"/>
            <p:cNvSpPr txBox="1"/>
            <p:nvPr/>
          </p:nvSpPr>
          <p:spPr>
            <a:xfrm>
              <a:off x="9086850" y="2404110"/>
              <a:ext cx="364621" cy="819150"/>
            </a:xfrm>
            <a:prstGeom prst="rect">
              <a:avLst/>
            </a:prstGeom>
            <a:noFill/>
            <a:ln>
              <a:noFill/>
            </a:ln>
          </p:spPr>
          <p:txBody>
            <a:bodyPr wrap="none" lIns="0" tIns="0" rIns="0" bIns="0" anchor="t" anchorCtr="0">
              <a:spAutoFit/>
            </a:bodyPr>
            <a:lstStyle/>
            <a:p>
              <a:pPr algn="l"/>
              <a:r>
                <a:rPr lang="en-US" sz="4200" b="1" dirty="0">
                  <a:solidFill>
                    <a:schemeClr val="accent1"/>
                  </a:solidFill>
                  <a:latin typeface="Segoe UI"/>
                  <a:ea typeface="Segoe UI"/>
                  <a:cs typeface="Segoe UI"/>
                </a:rPr>
                <a:t>0</a:t>
              </a:r>
            </a:p>
          </p:txBody>
        </p:sp>
        <p:sp>
          <p:nvSpPr>
            <p:cNvPr id="25" name="TextBox 25"/>
            <p:cNvSpPr txBox="1"/>
            <p:nvPr/>
          </p:nvSpPr>
          <p:spPr>
            <a:xfrm>
              <a:off x="9099042" y="3016568"/>
              <a:ext cx="2394471" cy="264033"/>
            </a:xfrm>
            <a:prstGeom prst="rect">
              <a:avLst/>
            </a:prstGeom>
            <a:noFill/>
            <a:ln>
              <a:noFill/>
            </a:ln>
          </p:spPr>
          <p:txBody>
            <a:bodyPr wrap="none" lIns="0" tIns="0" rIns="0" bIns="0" anchor="t" anchorCtr="0">
              <a:spAutoFit/>
            </a:bodyPr>
            <a:lstStyle/>
            <a:p>
              <a:pPr algn="l"/>
              <a:r>
                <a:rPr lang="zh-CN" sz="1350" dirty="0">
                  <a:solidFill>
                    <a:schemeClr val="dk2"/>
                  </a:solidFill>
                  <a:latin typeface="Segoe UI"/>
                  <a:ea typeface="Microsoft YaHei"/>
                  <a:cs typeface="Segoe UI"/>
                </a:rPr>
                <a:t>两轮对抗审稿的终审 issue 数</a:t>
              </a:r>
            </a:p>
          </p:txBody>
        </p:sp>
      </p:grpSp>
      <p:grpSp>
        <p:nvGrpSpPr>
          <p:cNvPr id="29" name="Group 29"/>
          <p:cNvGrpSpPr/>
          <p:nvPr/>
        </p:nvGrpSpPr>
        <p:grpSpPr>
          <a:xfrm>
            <a:off x="685800" y="3581400"/>
            <a:ext cx="4543425" cy="2552700"/>
            <a:chOff x="685800" y="3581400"/>
            <a:chExt cx="4543425" cy="2552700"/>
          </a:xfrm>
        </p:grpSpPr>
        <p:sp>
          <p:nvSpPr>
            <p:cNvPr id="27" name="Rectangle 27"/>
            <p:cNvSpPr/>
            <p:nvPr/>
          </p:nvSpPr>
          <p:spPr>
            <a:xfrm>
              <a:off x="685800" y="3581400"/>
              <a:ext cx="4543425" cy="2552700"/>
            </a:xfrm>
            <a:prstGeom prst="rect">
              <a:avLst/>
            </a:prstGeom>
            <a:solidFill>
              <a:schemeClr val="lt1"/>
            </a:solidFill>
            <a:ln w="9525">
              <a:solidFill>
                <a:schemeClr val="accent4"/>
              </a:solidFill>
            </a:ln>
          </p:spPr>
        </p:sp>
        <p:pic>
          <p:nvPicPr>
            <p:cNvPr id="28" name="Image 28"/>
            <p:cNvPicPr>
              <a:picLocks noChangeAspect="1"/>
            </p:cNvPicPr>
            <p:nvPr/>
          </p:nvPicPr>
          <p:blipFill>
            <a:blip r:embed="rId2"/>
            <a:stretch>
              <a:fillRect/>
            </a:stretch>
          </p:blipFill>
          <p:spPr>
            <a:xfrm>
              <a:off x="688446" y="3581400"/>
              <a:ext cx="4538133" cy="2552700"/>
            </a:xfrm>
            <a:prstGeom prst="rect">
              <a:avLst/>
            </a:prstGeom>
          </p:spPr>
        </p:pic>
      </p:grpSp>
      <p:grpSp>
        <p:nvGrpSpPr>
          <p:cNvPr id="33" name="Group 33"/>
          <p:cNvGrpSpPr/>
          <p:nvPr/>
        </p:nvGrpSpPr>
        <p:grpSpPr>
          <a:xfrm>
            <a:off x="5591556" y="3653790"/>
            <a:ext cx="6124651" cy="2484311"/>
            <a:chOff x="5591556" y="3653790"/>
            <a:chExt cx="6124651" cy="2484311"/>
          </a:xfrm>
        </p:grpSpPr>
        <p:sp>
          <p:nvSpPr>
            <p:cNvPr id="30" name="TextBox 30"/>
            <p:cNvSpPr txBox="1"/>
            <p:nvPr/>
          </p:nvSpPr>
          <p:spPr>
            <a:xfrm>
              <a:off x="5591556" y="3653790"/>
              <a:ext cx="6124651"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Segoe UI"/>
                  <a:ea typeface="Microsoft YaHei"/>
                  <a:cs typeface="Segoe UI"/>
                </a:rPr>
                <a:t>运行事实（全部留痕于 submission/goai_final/run）</a:t>
              </a:r>
            </a:p>
          </p:txBody>
        </p:sp>
        <p:sp>
          <p:nvSpPr>
            <p:cNvPr id="31" name="TextBox 31"/>
            <p:cNvSpPr txBox="1"/>
            <p:nvPr/>
          </p:nvSpPr>
          <p:spPr>
            <a:xfrm>
              <a:off x="5593842" y="4064318"/>
              <a:ext cx="5302948" cy="1654683"/>
            </a:xfrm>
            <a:prstGeom prst="rect">
              <a:avLst/>
            </a:prstGeom>
            <a:noFill/>
            <a:ln>
              <a:noFill/>
            </a:ln>
          </p:spPr>
          <p:txBody>
            <a:bodyPr wrap="square" lIns="0" tIns="0" rIns="0" bIns="0" anchor="t" anchorCtr="0"/>
            <a:lstStyle/>
            <a:p>
              <a:pPr algn="l" marL="145732" indent="-145732">
                <a:lnSpc>
                  <a:spcPts val="1950"/>
                </a:lnSpc>
                <a:buClr>
                  <a:schemeClr val="dk1"/>
                </a:buClr>
                <a:buSzTx/>
                <a:buFontTx/>
                <a:buChar char="•"/>
              </a:pPr>
              <a:r>
                <a:rPr lang="zh-CN" sz="1350" dirty="0">
                  <a:solidFill>
                    <a:schemeClr val="dk1"/>
                  </a:solidFill>
                  <a:latin typeface="Segoe UI"/>
                  <a:ea typeface="Microsoft YaHei"/>
                  <a:cs typeface="Segoe UI"/>
                </a:rPr>
                <a:t>顶层编排器 5 次调用（首轮 + 4 次续跑），29 批 / 40 个子任务</a:t>
              </a:r>
            </a:p>
            <a:p>
              <a:pPr algn="l" marL="145732" indent="-145732">
                <a:lnSpc>
                  <a:spcPts val="1950"/>
                </a:lnSpc>
                <a:spcBef>
                  <a:spcPts val="300"/>
                </a:spcBef>
                <a:buClr>
                  <a:schemeClr val="dk1"/>
                </a:buClr>
                <a:buSzTx/>
                <a:buFontTx/>
                <a:buChar char="•"/>
              </a:pPr>
              <a:r>
                <a:rPr lang="zh-CN" sz="1350" dirty="0">
                  <a:solidFill>
                    <a:schemeClr val="dk1"/>
                  </a:solidFill>
                  <a:latin typeface="Segoe UI"/>
                  <a:ea typeface="Microsoft YaHei"/>
                  <a:cs typeface="Segoe UI"/>
                </a:rPr>
                <a:t>63 条候选 → 51 篇入库；5 条作者名 MISMATCH 经人工停点删除</a:t>
              </a:r>
            </a:p>
            <a:p>
              <a:pPr algn="l" marL="145732" indent="-145732">
                <a:lnSpc>
                  <a:spcPts val="1950"/>
                </a:lnSpc>
                <a:spcBef>
                  <a:spcPts val="300"/>
                </a:spcBef>
                <a:buClr>
                  <a:schemeClr val="dk1"/>
                </a:buClr>
                <a:buSzTx/>
                <a:buFontTx/>
                <a:buChar char="•"/>
              </a:pPr>
              <a:r>
                <a:rPr lang="zh-CN" sz="1350" dirty="0">
                  <a:solidFill>
                    <a:schemeClr val="dk1"/>
                  </a:solidFill>
                  <a:latin typeface="Segoe UI"/>
                  <a:ea typeface="Microsoft YaHei"/>
                  <a:cs typeface="Segoe UI"/>
                </a:rPr>
                <a:t>两轮对抗审稿：首轮 7 项 issue 路由返工，第二轮 0 / 0 / 0</a:t>
              </a:r>
            </a:p>
            <a:p>
              <a:pPr algn="l" marL="145732" indent="-145732">
                <a:lnSpc>
                  <a:spcPts val="1950"/>
                </a:lnSpc>
                <a:spcBef>
                  <a:spcPts val="300"/>
                </a:spcBef>
                <a:buClr>
                  <a:schemeClr val="dk1"/>
                </a:buClr>
                <a:buSzTx/>
                <a:buFontTx/>
                <a:buChar char="•"/>
              </a:pPr>
              <a:r>
                <a:rPr lang="zh-CN" sz="1350" dirty="0">
                  <a:solidFill>
                    <a:schemeClr val="dk1"/>
                  </a:solidFill>
                  <a:latin typeface="Segoe UI"/>
                  <a:ea typeface="Microsoft YaHei"/>
                  <a:cs typeface="Segoe UI"/>
                </a:rPr>
                <a:t>正式报告调用前驱体预测 3 次（Zn / Mg / Co 目标）</a:t>
              </a:r>
            </a:p>
            <a:p>
              <a:pPr algn="l" marL="145732" indent="-145732">
                <a:lnSpc>
                  <a:spcPts val="1950"/>
                </a:lnSpc>
                <a:spcBef>
                  <a:spcPts val="300"/>
                </a:spcBef>
                <a:buClr>
                  <a:schemeClr val="dk1"/>
                </a:buClr>
                <a:buSzTx/>
                <a:buFontTx/>
                <a:buChar char="•"/>
              </a:pPr>
              <a:r>
                <a:rPr lang="zh-CN" sz="1350" dirty="0">
                  <a:solidFill>
                    <a:schemeClr val="dk1"/>
                  </a:solidFill>
                  <a:latin typeface="Segoe UI"/>
                  <a:ea typeface="Microsoft YaHei"/>
                  <a:cs typeface="Segoe UI"/>
                </a:rPr>
                <a:t>专家反馈修订：正规论文语言、同类体系单独成节、前人结论汇总、</a:t>
              </a:r>
              <a:r>
                <a:rPr lang="zh-CN" sz="1350" dirty="0">
                  <a:solidFill>
                    <a:schemeClr val="dk1"/>
                  </a:solidFill>
                  <a:latin typeface="Segoe UI"/>
                  <a:ea typeface="Microsoft YaHei"/>
                  <a:cs typeface="Segoe UI"/>
                </a:rPr>
                <a:t>方向落到工艺与前驱体、相图讨论、学术排版图、去除工程术语</a:t>
              </a:r>
            </a:p>
          </p:txBody>
        </p:sp>
        <p:sp>
          <p:nvSpPr>
            <p:cNvPr id="32" name="TextBox 32"/>
            <p:cNvSpPr txBox="1"/>
            <p:nvPr/>
          </p:nvSpPr>
          <p:spPr>
            <a:xfrm>
              <a:off x="5593842" y="5874068"/>
              <a:ext cx="4011930" cy="264033"/>
            </a:xfrm>
            <a:prstGeom prst="rect">
              <a:avLst/>
            </a:prstGeom>
            <a:noFill/>
            <a:ln>
              <a:noFill/>
            </a:ln>
          </p:spPr>
          <p:txBody>
            <a:bodyPr wrap="none" lIns="0" tIns="0" rIns="0" bIns="0" anchor="t" anchorCtr="0">
              <a:spAutoFit/>
            </a:bodyPr>
            <a:lstStyle/>
            <a:p>
              <a:pPr algn="l"/>
              <a:r>
                <a:rPr lang="zh-CN" sz="1350" dirty="0">
                  <a:solidFill>
                    <a:schemeClr val="dk2"/>
                  </a:solidFill>
                  <a:latin typeface="Segoe UI"/>
                  <a:ea typeface="Microsoft YaHei"/>
                  <a:cs typeface="Segoe UI"/>
                </a:rPr>
                <a:t>左图：正式报告研究路线图（第三轮学术化重绘）</a:t>
              </a:r>
            </a:p>
          </p:txBody>
        </p:sp>
      </p:grpSp>
      <p:grpSp>
        <p:nvGrpSpPr>
          <p:cNvPr id="36" name="Group 36"/>
          <p:cNvGrpSpPr/>
          <p:nvPr/>
        </p:nvGrpSpPr>
        <p:grpSpPr>
          <a:xfrm>
            <a:off x="679704" y="6480810"/>
            <a:ext cx="10832592" cy="234696"/>
            <a:chOff x="679704" y="6480810"/>
            <a:chExt cx="10832592" cy="234696"/>
          </a:xfrm>
        </p:grpSpPr>
        <p:sp>
          <p:nvSpPr>
            <p:cNvPr id="34" name="TextBox 34"/>
            <p:cNvSpPr txBox="1"/>
            <p:nvPr/>
          </p:nvSpPr>
          <p:spPr>
            <a:xfrm>
              <a:off x="679704" y="6480810"/>
              <a:ext cx="3429795"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Segoe UI"/>
                  <a:ea typeface="Microsoft YaHei"/>
                  <a:cs typeface="Segoe UI"/>
                </a:rPr>
                <a:t>SAGE-Mat · GoAI Research · GOAI 2026 复赛</a:t>
              </a:r>
            </a:p>
          </p:txBody>
        </p:sp>
        <p:sp>
          <p:nvSpPr>
            <p:cNvPr id="35" name="TextBox 35"/>
            <p:cNvSpPr txBox="1"/>
            <p:nvPr/>
          </p:nvSpPr>
          <p:spPr>
            <a:xfrm>
              <a:off x="11047781" y="6480810"/>
              <a:ext cx="464515" cy="234696"/>
            </a:xfrm>
            <a:prstGeom prst="rect">
              <a:avLst/>
            </a:prstGeom>
            <a:noFill/>
            <a:ln>
              <a:noFill/>
            </a:ln>
          </p:spPr>
          <p:txBody>
            <a:bodyPr wrap="none" lIns="0" tIns="0" rIns="0" bIns="0" anchor="t" anchorCtr="0">
              <a:spAutoFit/>
            </a:bodyPr>
            <a:lstStyle/>
            <a:p>
              <a:pPr algn="r"/>
              <a:r>
                <a:rPr lang="en-US" sz="1200" dirty="0">
                  <a:solidFill>
                    <a:schemeClr val="accent5"/>
                  </a:solidFill>
                  <a:latin typeface="Segoe UI"/>
                  <a:ea typeface="Segoe UI"/>
                  <a:cs typeface="Segoe UI"/>
                </a:rPr>
                <a:t>6 / 12</a:t>
              </a:r>
            </a:p>
          </p:txBody>
        </p:sp>
      </p:grpSp>
    </p:spTree>
  </p:cSld>
  <p:clrMapOvr>
    <a:masterClrMapping/>
  </p:clrMapOvr>
  <p:transition xmlns:p14="http://schemas.microsoft.com/office/powerpoint/2010/main" p14:dur="400">
    <p:fade/>
  </p:transition>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670560" y="590550"/>
            <a:ext cx="11479911" cy="586740"/>
            <a:chOff x="670560" y="590550"/>
            <a:chExt cx="11479911" cy="586740"/>
          </a:xfrm>
        </p:grpSpPr>
        <p:sp>
          <p:nvSpPr>
            <p:cNvPr id="2" name="TextBox 2"/>
            <p:cNvSpPr txBox="1"/>
            <p:nvPr/>
          </p:nvSpPr>
          <p:spPr>
            <a:xfrm>
              <a:off x="670560" y="590550"/>
              <a:ext cx="11479911" cy="586740"/>
            </a:xfrm>
            <a:prstGeom prst="rect">
              <a:avLst/>
            </a:prstGeom>
            <a:noFill/>
            <a:ln>
              <a:noFill/>
            </a:ln>
          </p:spPr>
          <p:txBody>
            <a:bodyPr wrap="none" lIns="0" tIns="0" rIns="0" bIns="0" anchor="t" anchorCtr="0">
              <a:spAutoFit/>
            </a:bodyPr>
            <a:lstStyle/>
            <a:p>
              <a:pPr algn="l"/>
              <a:r>
                <a:rPr lang="zh-CN" sz="3000" b="1" dirty="0">
                  <a:solidFill>
                    <a:schemeClr val="dk1"/>
                  </a:solidFill>
                  <a:latin typeface="Segoe UI"/>
                  <a:ea typeface="Microsoft YaHei"/>
                  <a:cs typeface="Segoe UI"/>
                </a:rPr>
                <a:t>目标相只有一篇直接报道；组成坐标比单一温度更能解释成相</a:t>
              </a:r>
            </a:p>
          </p:txBody>
        </p:sp>
        <p:sp>
          <p:nvSpPr>
            <p:cNvPr id="3" name="Rectangle 3"/>
            <p:cNvSpPr/>
            <p:nvPr/>
          </p:nvSpPr>
          <p:spPr>
            <a:xfrm>
              <a:off x="685800" y="1085850"/>
              <a:ext cx="685800" cy="38100"/>
            </a:xfrm>
            <a:prstGeom prst="rect">
              <a:avLst/>
            </a:prstGeom>
            <a:solidFill>
              <a:schemeClr val="accent1"/>
            </a:solidFill>
            <a:ln>
              <a:noFill/>
            </a:ln>
          </p:spPr>
        </p:sp>
      </p:grpSp>
      <p:grpSp>
        <p:nvGrpSpPr>
          <p:cNvPr id="6" name="Group 6"/>
          <p:cNvGrpSpPr/>
          <p:nvPr/>
        </p:nvGrpSpPr>
        <p:grpSpPr>
          <a:xfrm>
            <a:off x="675894" y="1370648"/>
            <a:ext cx="9640767" cy="381381"/>
            <a:chOff x="675894" y="1370648"/>
            <a:chExt cx="9640767" cy="381381"/>
          </a:xfrm>
        </p:grpSpPr>
        <p:sp>
          <p:nvSpPr>
            <p:cNvPr id="5" name="TextBox 5"/>
            <p:cNvSpPr txBox="1"/>
            <p:nvPr/>
          </p:nvSpPr>
          <p:spPr>
            <a:xfrm>
              <a:off x="675894" y="1370648"/>
              <a:ext cx="9640767" cy="381381"/>
            </a:xfrm>
            <a:prstGeom prst="rect">
              <a:avLst/>
            </a:prstGeom>
            <a:noFill/>
            <a:ln>
              <a:noFill/>
            </a:ln>
          </p:spPr>
          <p:txBody>
            <a:bodyPr wrap="none" lIns="0" tIns="0" rIns="0" bIns="0" anchor="t" anchorCtr="0">
              <a:spAutoFit/>
            </a:bodyPr>
            <a:lstStyle/>
            <a:p>
              <a:pPr algn="l"/>
              <a:r>
                <a:rPr lang="zh-CN" sz="1950" dirty="0">
                  <a:solidFill>
                    <a:schemeClr val="dk1"/>
                  </a:solidFill>
                  <a:latin typeface="Segoe UI"/>
                  <a:ea typeface="Microsoft YaHei"/>
                  <a:cs typeface="Segoe UI"/>
                </a:rPr>
                <a:t>系统给出的不是配方，而是文献证据限定的</a:t>
              </a:r>
              <a:r>
                <a:rPr lang="zh-CN" sz="1950" b="1" dirty="0">
                  <a:solidFill>
                    <a:schemeClr val="accent2"/>
                  </a:solidFill>
                  <a:latin typeface="Segoe UI"/>
                  <a:ea typeface="Microsoft YaHei"/>
                  <a:cs typeface="Segoe UI"/>
                </a:rPr>
                <a:t>可迁移范围</a:t>
              </a:r>
              <a:r>
                <a:rPr lang="zh-CN" sz="1950" dirty="0">
                  <a:solidFill>
                    <a:schemeClr val="dk1"/>
                  </a:solidFill>
                  <a:latin typeface="Segoe UI"/>
                  <a:ea typeface="Microsoft YaHei"/>
                  <a:cs typeface="Segoe UI"/>
                </a:rPr>
                <a:t>与四类</a:t>
              </a:r>
              <a:r>
                <a:rPr lang="zh-CN" sz="1950" b="1" dirty="0">
                  <a:solidFill>
                    <a:schemeClr val="accent2"/>
                  </a:solidFill>
                  <a:latin typeface="Segoe UI"/>
                  <a:ea typeface="Microsoft YaHei"/>
                  <a:cs typeface="Segoe UI"/>
                </a:rPr>
                <a:t>可检验的实验方向</a:t>
              </a:r>
              <a:r>
                <a:rPr lang="zh-CN" sz="1950" dirty="0">
                  <a:solidFill>
                    <a:schemeClr val="dk1"/>
                  </a:solidFill>
                  <a:latin typeface="Segoe UI"/>
                  <a:ea typeface="Microsoft YaHei"/>
                  <a:cs typeface="Segoe UI"/>
                </a:rPr>
                <a:t>。</a:t>
              </a:r>
            </a:p>
          </p:txBody>
        </p:sp>
      </p:grpSp>
      <p:grpSp>
        <p:nvGrpSpPr>
          <p:cNvPr id="16" name="Group 16"/>
          <p:cNvGrpSpPr/>
          <p:nvPr/>
        </p:nvGrpSpPr>
        <p:grpSpPr>
          <a:xfrm>
            <a:off x="676656" y="1920240"/>
            <a:ext cx="5361432" cy="3551111"/>
            <a:chOff x="676656" y="1920240"/>
            <a:chExt cx="5361432" cy="3551111"/>
          </a:xfrm>
        </p:grpSpPr>
        <p:sp>
          <p:nvSpPr>
            <p:cNvPr id="7" name="TextBox 7"/>
            <p:cNvSpPr txBox="1"/>
            <p:nvPr/>
          </p:nvSpPr>
          <p:spPr>
            <a:xfrm>
              <a:off x="676656" y="1920240"/>
              <a:ext cx="2562606"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Segoe UI"/>
                  <a:ea typeface="Microsoft YaHei"/>
                  <a:cs typeface="Segoe UI"/>
                </a:rPr>
                <a:t>既有文献能够确认什么</a:t>
              </a:r>
            </a:p>
          </p:txBody>
        </p:sp>
        <p:sp>
          <p:nvSpPr>
            <p:cNvPr id="8" name="TextBox 8"/>
            <p:cNvSpPr txBox="1"/>
            <p:nvPr/>
          </p:nvSpPr>
          <p:spPr>
            <a:xfrm>
              <a:off x="676656" y="2377440"/>
              <a:ext cx="158225" cy="352044"/>
            </a:xfrm>
            <a:prstGeom prst="rect">
              <a:avLst/>
            </a:prstGeom>
            <a:noFill/>
            <a:ln>
              <a:noFill/>
            </a:ln>
          </p:spPr>
          <p:txBody>
            <a:bodyPr wrap="none" lIns="0" tIns="0" rIns="0" bIns="0" anchor="t" anchorCtr="0">
              <a:spAutoFit/>
            </a:bodyPr>
            <a:lstStyle/>
            <a:p>
              <a:pPr algn="l"/>
              <a:r>
                <a:rPr lang="en-US" sz="1800" b="1" dirty="0">
                  <a:solidFill>
                    <a:schemeClr val="accent2"/>
                  </a:solidFill>
                  <a:latin typeface="Segoe UI"/>
                  <a:ea typeface="Segoe UI"/>
                  <a:cs typeface="Segoe UI"/>
                </a:rPr>
                <a:t>1</a:t>
              </a:r>
            </a:p>
          </p:txBody>
        </p:sp>
        <p:sp>
          <p:nvSpPr>
            <p:cNvPr id="9" name="TextBox 9"/>
            <p:cNvSpPr txBox="1"/>
            <p:nvPr/>
          </p:nvSpPr>
          <p:spPr>
            <a:xfrm>
              <a:off x="983742" y="2426018"/>
              <a:ext cx="5054346" cy="511683"/>
            </a:xfrm>
            <a:prstGeom prst="rect">
              <a:avLst/>
            </a:prstGeom>
            <a:noFill/>
            <a:ln>
              <a:noFill/>
            </a:ln>
          </p:spPr>
          <p:txBody>
            <a:bodyPr wrap="square" lIns="0" tIns="0" rIns="0" bIns="0" anchor="t" anchorCtr="0"/>
            <a:lstStyle/>
            <a:p>
              <a:pPr algn="l">
                <a:lnSpc>
                  <a:spcPts val="1950"/>
                </a:lnSpc>
              </a:pPr>
              <a:r>
                <a:rPr lang="zh-CN" sz="1350" dirty="0">
                  <a:solidFill>
                    <a:schemeClr val="dk1"/>
                  </a:solidFill>
                  <a:latin typeface="Segoe UI"/>
                  <a:ea typeface="Microsoft YaHei"/>
                  <a:cs typeface="Segoe UI"/>
                </a:rPr>
                <a:t>公开证据只能确认“开放体系高温溶液法 + 单晶 X 射线衍射鉴定”，</a:t>
              </a:r>
              <a:r>
                <a:rPr lang="zh-CN" sz="1350" dirty="0">
                  <a:solidFill>
                    <a:schemeClr val="dk1"/>
                  </a:solidFill>
                  <a:latin typeface="Segoe UI"/>
                  <a:ea typeface="Microsoft YaHei"/>
                  <a:cs typeface="Segoe UI"/>
                </a:rPr>
                <a:t>不足以给出经验证的目标相复现配方。</a:t>
              </a:r>
            </a:p>
          </p:txBody>
        </p:sp>
        <p:sp>
          <p:nvSpPr>
            <p:cNvPr id="10" name="TextBox 10"/>
            <p:cNvSpPr txBox="1"/>
            <p:nvPr/>
          </p:nvSpPr>
          <p:spPr>
            <a:xfrm>
              <a:off x="676656" y="3044190"/>
              <a:ext cx="158225" cy="352044"/>
            </a:xfrm>
            <a:prstGeom prst="rect">
              <a:avLst/>
            </a:prstGeom>
            <a:noFill/>
            <a:ln>
              <a:noFill/>
            </a:ln>
          </p:spPr>
          <p:txBody>
            <a:bodyPr wrap="none" lIns="0" tIns="0" rIns="0" bIns="0" anchor="t" anchorCtr="0">
              <a:spAutoFit/>
            </a:bodyPr>
            <a:lstStyle/>
            <a:p>
              <a:pPr algn="l"/>
              <a:r>
                <a:rPr lang="en-US" sz="1800" b="1" dirty="0">
                  <a:solidFill>
                    <a:schemeClr val="accent2"/>
                  </a:solidFill>
                  <a:latin typeface="Segoe UI"/>
                  <a:ea typeface="Segoe UI"/>
                  <a:cs typeface="Segoe UI"/>
                </a:rPr>
                <a:t>2</a:t>
              </a:r>
            </a:p>
          </p:txBody>
        </p:sp>
        <p:sp>
          <p:nvSpPr>
            <p:cNvPr id="11" name="TextBox 11"/>
            <p:cNvSpPr txBox="1"/>
            <p:nvPr/>
          </p:nvSpPr>
          <p:spPr>
            <a:xfrm>
              <a:off x="983742" y="3092768"/>
              <a:ext cx="4917186" cy="759333"/>
            </a:xfrm>
            <a:prstGeom prst="rect">
              <a:avLst/>
            </a:prstGeom>
            <a:noFill/>
            <a:ln>
              <a:noFill/>
            </a:ln>
          </p:spPr>
          <p:txBody>
            <a:bodyPr wrap="square" lIns="0" tIns="0" rIns="0" bIns="0" anchor="t" anchorCtr="0"/>
            <a:lstStyle/>
            <a:p>
              <a:pPr algn="l">
                <a:lnSpc>
                  <a:spcPts val="1950"/>
                </a:lnSpc>
              </a:pPr>
              <a:r>
                <a:rPr lang="zh-CN" sz="1350" dirty="0">
                  <a:solidFill>
                    <a:schemeClr val="dk1"/>
                  </a:solidFill>
                  <a:latin typeface="Segoe UI"/>
                  <a:ea typeface="Microsoft YaHei"/>
                  <a:cs typeface="Segoe UI"/>
                </a:rPr>
                <a:t>无 Zn 谱系提供三类可比路线：MoO3 助熔（Pt 坩埚、1150 °C、</a:t>
              </a:r>
              <a:r>
                <a:rPr lang="zh-CN" sz="1350" dirty="0">
                  <a:solidFill>
                    <a:schemeClr val="dk1"/>
                  </a:solidFill>
                  <a:latin typeface="Segoe UI"/>
                  <a:ea typeface="Microsoft YaHei"/>
                  <a:cs typeface="Segoe UI"/>
                </a:rPr>
                <a:t>2 K/h）、x:26:16 固相陶瓷（1300 / 1600 °C）、5:13:8 粉体</a:t>
              </a:r>
              <a:r>
                <a:rPr lang="zh-CN" sz="1350" dirty="0">
                  <a:solidFill>
                    <a:schemeClr val="dk1"/>
                  </a:solidFill>
                  <a:latin typeface="Segoe UI"/>
                  <a:ea typeface="Microsoft YaHei"/>
                  <a:cs typeface="Segoe UI"/>
                </a:rPr>
                <a:t>相场筛查（1273 / 1573 K）；</a:t>
              </a:r>
              <a:r>
                <a:rPr lang="zh-CN" sz="1350" b="1" dirty="0">
                  <a:solidFill>
                    <a:schemeClr val="dk1"/>
                  </a:solidFill>
                  <a:latin typeface="Segoe UI"/>
                  <a:ea typeface="Microsoft YaHei"/>
                  <a:cs typeface="Segoe UI"/>
                </a:rPr>
                <a:t>具体数值不得无条件迁移</a:t>
              </a:r>
              <a:r>
                <a:rPr lang="zh-CN" sz="1350" dirty="0">
                  <a:solidFill>
                    <a:schemeClr val="dk1"/>
                  </a:solidFill>
                  <a:latin typeface="Segoe UI"/>
                  <a:ea typeface="Microsoft YaHei"/>
                  <a:cs typeface="Segoe UI"/>
                </a:rPr>
                <a:t>。</a:t>
              </a:r>
            </a:p>
          </p:txBody>
        </p:sp>
        <p:sp>
          <p:nvSpPr>
            <p:cNvPr id="12" name="TextBox 12"/>
            <p:cNvSpPr txBox="1"/>
            <p:nvPr/>
          </p:nvSpPr>
          <p:spPr>
            <a:xfrm>
              <a:off x="676656" y="3958590"/>
              <a:ext cx="158225" cy="352044"/>
            </a:xfrm>
            <a:prstGeom prst="rect">
              <a:avLst/>
            </a:prstGeom>
            <a:noFill/>
            <a:ln>
              <a:noFill/>
            </a:ln>
          </p:spPr>
          <p:txBody>
            <a:bodyPr wrap="none" lIns="0" tIns="0" rIns="0" bIns="0" anchor="t" anchorCtr="0">
              <a:spAutoFit/>
            </a:bodyPr>
            <a:lstStyle/>
            <a:p>
              <a:pPr algn="l"/>
              <a:r>
                <a:rPr lang="en-US" sz="1800" b="1" dirty="0">
                  <a:solidFill>
                    <a:schemeClr val="accent2"/>
                  </a:solidFill>
                  <a:latin typeface="Segoe UI"/>
                  <a:ea typeface="Segoe UI"/>
                  <a:cs typeface="Segoe UI"/>
                </a:rPr>
                <a:t>3</a:t>
              </a:r>
            </a:p>
          </p:txBody>
        </p:sp>
        <p:sp>
          <p:nvSpPr>
            <p:cNvPr id="13" name="TextBox 13"/>
            <p:cNvSpPr txBox="1"/>
            <p:nvPr/>
          </p:nvSpPr>
          <p:spPr>
            <a:xfrm>
              <a:off x="983742" y="4007168"/>
              <a:ext cx="3477006" cy="511683"/>
            </a:xfrm>
            <a:prstGeom prst="rect">
              <a:avLst/>
            </a:prstGeom>
            <a:noFill/>
            <a:ln>
              <a:noFill/>
            </a:ln>
          </p:spPr>
          <p:txBody>
            <a:bodyPr wrap="square" lIns="0" tIns="0" rIns="0" bIns="0" anchor="t" anchorCtr="0"/>
            <a:lstStyle/>
            <a:p>
              <a:pPr algn="l">
                <a:lnSpc>
                  <a:spcPts val="1950"/>
                </a:lnSpc>
              </a:pPr>
              <a:r>
                <a:rPr lang="zh-CN" sz="1350" dirty="0">
                  <a:solidFill>
                    <a:schemeClr val="dk1"/>
                  </a:solidFill>
                  <a:latin typeface="Segoe UI"/>
                  <a:ea typeface="Microsoft YaHei"/>
                  <a:cs typeface="Segoe UI"/>
                </a:rPr>
                <a:t>“获得单晶”不等于“建立批量相纯窗口”；</a:t>
              </a:r>
              <a:r>
                <a:rPr lang="zh-CN" sz="1350" b="1" dirty="0">
                  <a:solidFill>
                    <a:schemeClr val="dk1"/>
                  </a:solidFill>
                  <a:latin typeface="Segoe UI"/>
                  <a:ea typeface="Microsoft YaHei"/>
                  <a:cs typeface="Segoe UI"/>
                </a:rPr>
                <a:t>局部相图</a:t>
              </a:r>
              <a:r>
                <a:rPr lang="zh-CN" sz="1350" dirty="0">
                  <a:solidFill>
                    <a:schemeClr val="dk1"/>
                  </a:solidFill>
                  <a:latin typeface="Segoe UI"/>
                  <a:ea typeface="Microsoft YaHei"/>
                  <a:cs typeface="Segoe UI"/>
                </a:rPr>
                <a:t>是连接复现与科学发现的核心实验。</a:t>
              </a:r>
            </a:p>
          </p:txBody>
        </p:sp>
        <p:sp>
          <p:nvSpPr>
            <p:cNvPr id="14" name="Line 14"/>
            <p:cNvSpPr/>
            <p:nvPr/>
          </p:nvSpPr>
          <p:spPr>
            <a:xfrm>
              <a:off x="685800" y="4762500"/>
              <a:ext cx="5295900" cy="9525"/>
            </a:xfrm>
            <a:custGeom>
              <a:avLst/>
              <a:gdLst/>
              <a:ahLst/>
              <a:cxnLst/>
              <a:rect l="l" t="t" r="r" b="b"/>
              <a:pathLst>
                <a:path w="5295900" h="9525">
                  <a:moveTo>
                    <a:pt x="0" y="0"/>
                  </a:moveTo>
                  <a:lnTo>
                    <a:pt x="5295900" y="0"/>
                  </a:lnTo>
                </a:path>
              </a:pathLst>
            </a:custGeom>
            <a:noFill/>
            <a:ln w="9525">
              <a:solidFill>
                <a:schemeClr val="accent4"/>
              </a:solidFill>
            </a:ln>
          </p:spPr>
        </p:sp>
        <p:sp>
          <p:nvSpPr>
            <p:cNvPr id="15" name="TextBox 15"/>
            <p:cNvSpPr txBox="1"/>
            <p:nvPr/>
          </p:nvSpPr>
          <p:spPr>
            <a:xfrm>
              <a:off x="678942" y="4959668"/>
              <a:ext cx="5268658" cy="511683"/>
            </a:xfrm>
            <a:prstGeom prst="rect">
              <a:avLst/>
            </a:prstGeom>
            <a:noFill/>
            <a:ln>
              <a:noFill/>
            </a:ln>
          </p:spPr>
          <p:txBody>
            <a:bodyPr wrap="square" lIns="0" tIns="0" rIns="0" bIns="0" anchor="t" anchorCtr="0"/>
            <a:lstStyle/>
            <a:p>
              <a:pPr algn="l">
                <a:lnSpc>
                  <a:spcPts val="1950"/>
                </a:lnSpc>
              </a:pPr>
              <a:r>
                <a:rPr lang="zh-CN" sz="1350" dirty="0">
                  <a:solidFill>
                    <a:schemeClr val="dk2"/>
                  </a:solidFill>
                  <a:latin typeface="Segoe UI"/>
                  <a:ea typeface="Microsoft YaHei"/>
                  <a:cs typeface="Segoe UI"/>
                </a:rPr>
                <a:t>条件单元格逐字段区分“可支持 / 不可支持”，36 条带原文页、节定位</a:t>
              </a:r>
              <a:r>
                <a:rPr lang="zh-CN" sz="1350" dirty="0">
                  <a:solidFill>
                    <a:schemeClr val="dk2"/>
                  </a:solidFill>
                  <a:latin typeface="Segoe UI"/>
                  <a:ea typeface="Microsoft YaHei"/>
                  <a:cs typeface="Segoe UI"/>
                </a:rPr>
                <a:t>（evidence/notes/condition_source_trace.md）</a:t>
              </a:r>
            </a:p>
          </p:txBody>
        </p:sp>
      </p:grpSp>
      <p:grpSp>
        <p:nvGrpSpPr>
          <p:cNvPr id="29" name="Group 29"/>
          <p:cNvGrpSpPr/>
          <p:nvPr/>
        </p:nvGrpSpPr>
        <p:grpSpPr>
          <a:xfrm>
            <a:off x="6210300" y="1905000"/>
            <a:ext cx="5311750" cy="4233101"/>
            <a:chOff x="6210300" y="1905000"/>
            <a:chExt cx="5311750" cy="4233101"/>
          </a:xfrm>
        </p:grpSpPr>
        <p:sp>
          <p:nvSpPr>
            <p:cNvPr id="17" name="Rectangle 17"/>
            <p:cNvSpPr/>
            <p:nvPr/>
          </p:nvSpPr>
          <p:spPr>
            <a:xfrm>
              <a:off x="6210300" y="1905000"/>
              <a:ext cx="5295900" cy="4229100"/>
            </a:xfrm>
            <a:prstGeom prst="rect">
              <a:avLst/>
            </a:prstGeom>
            <a:solidFill>
              <a:schemeClr val="lt2"/>
            </a:solidFill>
            <a:ln>
              <a:noFill/>
            </a:ln>
          </p:spPr>
        </p:sp>
        <p:sp>
          <p:nvSpPr>
            <p:cNvPr id="18" name="TextBox 18"/>
            <p:cNvSpPr txBox="1"/>
            <p:nvPr/>
          </p:nvSpPr>
          <p:spPr>
            <a:xfrm>
              <a:off x="6429756" y="2053590"/>
              <a:ext cx="4852492"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Segoe UI"/>
                  <a:ea typeface="Microsoft YaHei"/>
                  <a:cs typeface="Segoe UI"/>
                </a:rPr>
                <a:t>四个值得探索的方向（各配工艺与前驱体）</a:t>
              </a:r>
            </a:p>
          </p:txBody>
        </p:sp>
        <p:sp>
          <p:nvSpPr>
            <p:cNvPr id="19" name="TextBox 19"/>
            <p:cNvSpPr txBox="1"/>
            <p:nvPr/>
          </p:nvSpPr>
          <p:spPr>
            <a:xfrm>
              <a:off x="6429756" y="2491740"/>
              <a:ext cx="2896396" cy="352044"/>
            </a:xfrm>
            <a:prstGeom prst="rect">
              <a:avLst/>
            </a:prstGeom>
            <a:noFill/>
            <a:ln>
              <a:noFill/>
            </a:ln>
          </p:spPr>
          <p:txBody>
            <a:bodyPr wrap="none" lIns="0" tIns="0" rIns="0" bIns="0" anchor="t" anchorCtr="0">
              <a:spAutoFit/>
            </a:bodyPr>
            <a:lstStyle/>
            <a:p>
              <a:pPr algn="l"/>
              <a:r>
                <a:rPr lang="en-US" sz="1800" b="1" dirty="0">
                  <a:solidFill>
                    <a:schemeClr val="accent2"/>
                  </a:solidFill>
                  <a:latin typeface="Segoe UI"/>
                  <a:ea typeface="Segoe UI"/>
                  <a:cs typeface="Segoe UI"/>
                </a:rPr>
                <a:t>①</a:t>
              </a:r>
              <a:r>
                <a:rPr lang="zh-CN" sz="1800" dirty="0">
                  <a:solidFill>
                    <a:schemeClr val="dk1"/>
                  </a:solidFill>
                  <a:latin typeface="Segoe UI"/>
                  <a:ea typeface="Microsoft YaHei"/>
                  <a:cs typeface="Segoe UI"/>
                </a:rPr>
                <a:t xml:space="preserve"> 目标组成附近的局部相图</a:t>
              </a:r>
            </a:p>
          </p:txBody>
        </p:sp>
        <p:sp>
          <p:nvSpPr>
            <p:cNvPr id="20" name="TextBox 20"/>
            <p:cNvSpPr txBox="1"/>
            <p:nvPr/>
          </p:nvSpPr>
          <p:spPr>
            <a:xfrm>
              <a:off x="6774942" y="2807018"/>
              <a:ext cx="4106227" cy="264033"/>
            </a:xfrm>
            <a:prstGeom prst="rect">
              <a:avLst/>
            </a:prstGeom>
            <a:noFill/>
            <a:ln>
              <a:noFill/>
            </a:ln>
          </p:spPr>
          <p:txBody>
            <a:bodyPr wrap="none" lIns="0" tIns="0" rIns="0" bIns="0" anchor="t" anchorCtr="0">
              <a:spAutoFit/>
            </a:bodyPr>
            <a:lstStyle/>
            <a:p>
              <a:pPr algn="l"/>
              <a:r>
                <a:rPr lang="zh-CN" sz="1350" dirty="0">
                  <a:solidFill>
                    <a:schemeClr val="dk2"/>
                  </a:solidFill>
                  <a:latin typeface="Segoe UI"/>
                  <a:ea typeface="Microsoft YaHei"/>
                  <a:cs typeface="Segoe UI"/>
                </a:rPr>
                <a:t>固相成相组成系列 + 定量 PXRD / Rietveld 相分数</a:t>
              </a:r>
            </a:p>
          </p:txBody>
        </p:sp>
        <p:sp>
          <p:nvSpPr>
            <p:cNvPr id="21" name="TextBox 21"/>
            <p:cNvSpPr txBox="1"/>
            <p:nvPr/>
          </p:nvSpPr>
          <p:spPr>
            <a:xfrm>
              <a:off x="6429756" y="3158490"/>
              <a:ext cx="2187759" cy="352044"/>
            </a:xfrm>
            <a:prstGeom prst="rect">
              <a:avLst/>
            </a:prstGeom>
            <a:noFill/>
            <a:ln>
              <a:noFill/>
            </a:ln>
          </p:spPr>
          <p:txBody>
            <a:bodyPr wrap="none" lIns="0" tIns="0" rIns="0" bIns="0" anchor="t" anchorCtr="0">
              <a:spAutoFit/>
            </a:bodyPr>
            <a:lstStyle/>
            <a:p>
              <a:pPr algn="l"/>
              <a:r>
                <a:rPr lang="en-US" sz="1800" b="1" dirty="0">
                  <a:solidFill>
                    <a:schemeClr val="accent2"/>
                  </a:solidFill>
                  <a:latin typeface="Segoe UI"/>
                  <a:ea typeface="Segoe UI"/>
                  <a:cs typeface="Segoe UI"/>
                </a:rPr>
                <a:t>②</a:t>
              </a:r>
              <a:r>
                <a:rPr lang="zh-CN" sz="1800" dirty="0">
                  <a:solidFill>
                    <a:schemeClr val="dk1"/>
                  </a:solidFill>
                  <a:latin typeface="Segoe UI"/>
                  <a:ea typeface="Microsoft YaHei"/>
                  <a:cs typeface="Segoe UI"/>
                </a:rPr>
                <a:t xml:space="preserve"> Zn–Y–氧计量耦合</a:t>
              </a:r>
            </a:p>
          </p:txBody>
        </p:sp>
        <p:sp>
          <p:nvSpPr>
            <p:cNvPr id="22" name="TextBox 22"/>
            <p:cNvSpPr txBox="1"/>
            <p:nvPr/>
          </p:nvSpPr>
          <p:spPr>
            <a:xfrm>
              <a:off x="6774942" y="3473768"/>
              <a:ext cx="4747108" cy="264033"/>
            </a:xfrm>
            <a:prstGeom prst="rect">
              <a:avLst/>
            </a:prstGeom>
            <a:noFill/>
            <a:ln>
              <a:noFill/>
            </a:ln>
          </p:spPr>
          <p:txBody>
            <a:bodyPr wrap="none" lIns="0" tIns="0" rIns="0" bIns="0" anchor="t" anchorCtr="0">
              <a:spAutoFit/>
            </a:bodyPr>
            <a:lstStyle/>
            <a:p>
              <a:pPr algn="l"/>
              <a:r>
                <a:rPr lang="zh-CN" sz="1350" dirty="0">
                  <a:solidFill>
                    <a:schemeClr val="dk2"/>
                  </a:solidFill>
                  <a:latin typeface="Segoe UI"/>
                  <a:ea typeface="Microsoft YaHei"/>
                  <a:cs typeface="Segoe UI"/>
                </a:rPr>
                <a:t>名义 / 实际化学计量对照，EDS / EPMA 与结构模型互证</a:t>
              </a:r>
            </a:p>
          </p:txBody>
        </p:sp>
        <p:sp>
          <p:nvSpPr>
            <p:cNvPr id="23" name="TextBox 23"/>
            <p:cNvSpPr txBox="1"/>
            <p:nvPr/>
          </p:nvSpPr>
          <p:spPr>
            <a:xfrm>
              <a:off x="6429756" y="3825240"/>
              <a:ext cx="3381028" cy="352044"/>
            </a:xfrm>
            <a:prstGeom prst="rect">
              <a:avLst/>
            </a:prstGeom>
            <a:noFill/>
            <a:ln>
              <a:noFill/>
            </a:ln>
          </p:spPr>
          <p:txBody>
            <a:bodyPr wrap="none" lIns="0" tIns="0" rIns="0" bIns="0" anchor="t" anchorCtr="0">
              <a:spAutoFit/>
            </a:bodyPr>
            <a:lstStyle/>
            <a:p>
              <a:pPr algn="l"/>
              <a:r>
                <a:rPr lang="en-US" sz="1800" b="1" dirty="0">
                  <a:solidFill>
                    <a:schemeClr val="accent2"/>
                  </a:solidFill>
                  <a:latin typeface="Segoe UI"/>
                  <a:ea typeface="Segoe UI"/>
                  <a:cs typeface="Segoe UI"/>
                </a:rPr>
                <a:t>③</a:t>
              </a:r>
              <a:r>
                <a:rPr lang="zh-CN" sz="1800" dirty="0">
                  <a:solidFill>
                    <a:schemeClr val="dk1"/>
                  </a:solidFill>
                  <a:latin typeface="Segoe UI"/>
                  <a:ea typeface="Microsoft YaHei"/>
                  <a:cs typeface="Segoe UI"/>
                </a:rPr>
                <a:t xml:space="preserve"> 固相成相与高温溶液长晶并行</a:t>
              </a:r>
            </a:p>
          </p:txBody>
        </p:sp>
        <p:sp>
          <p:nvSpPr>
            <p:cNvPr id="24" name="TextBox 24"/>
            <p:cNvSpPr txBox="1"/>
            <p:nvPr/>
          </p:nvSpPr>
          <p:spPr>
            <a:xfrm>
              <a:off x="6774942" y="4140518"/>
              <a:ext cx="3648456" cy="264033"/>
            </a:xfrm>
            <a:prstGeom prst="rect">
              <a:avLst/>
            </a:prstGeom>
            <a:noFill/>
            <a:ln>
              <a:noFill/>
            </a:ln>
          </p:spPr>
          <p:txBody>
            <a:bodyPr wrap="none" lIns="0" tIns="0" rIns="0" bIns="0" anchor="t" anchorCtr="0">
              <a:spAutoFit/>
            </a:bodyPr>
            <a:lstStyle/>
            <a:p>
              <a:pPr algn="l"/>
              <a:r>
                <a:rPr lang="zh-CN" sz="1350" dirty="0">
                  <a:solidFill>
                    <a:schemeClr val="dk2"/>
                  </a:solidFill>
                  <a:latin typeface="Segoe UI"/>
                  <a:ea typeface="Microsoft YaHei"/>
                  <a:cs typeface="Segoe UI"/>
                </a:rPr>
                <a:t>单晶确认结构模型，批量样品测定目标相比例</a:t>
              </a:r>
            </a:p>
          </p:txBody>
        </p:sp>
        <p:sp>
          <p:nvSpPr>
            <p:cNvPr id="25" name="TextBox 25"/>
            <p:cNvSpPr txBox="1"/>
            <p:nvPr/>
          </p:nvSpPr>
          <p:spPr>
            <a:xfrm>
              <a:off x="6429756" y="4491990"/>
              <a:ext cx="3189650" cy="352044"/>
            </a:xfrm>
            <a:prstGeom prst="rect">
              <a:avLst/>
            </a:prstGeom>
            <a:noFill/>
            <a:ln>
              <a:noFill/>
            </a:ln>
          </p:spPr>
          <p:txBody>
            <a:bodyPr wrap="none" lIns="0" tIns="0" rIns="0" bIns="0" anchor="t" anchorCtr="0">
              <a:spAutoFit/>
            </a:bodyPr>
            <a:lstStyle/>
            <a:p>
              <a:pPr algn="l"/>
              <a:r>
                <a:rPr lang="en-US" sz="1800" b="1" dirty="0">
                  <a:solidFill>
                    <a:schemeClr val="accent2"/>
                  </a:solidFill>
                  <a:latin typeface="Segoe UI"/>
                  <a:ea typeface="Segoe UI"/>
                  <a:cs typeface="Segoe UI"/>
                </a:rPr>
                <a:t>④</a:t>
              </a:r>
              <a:r>
                <a:rPr lang="zh-CN" sz="1800" dirty="0">
                  <a:solidFill>
                    <a:schemeClr val="dk1"/>
                  </a:solidFill>
                  <a:latin typeface="Segoe UI"/>
                  <a:ea typeface="Microsoft YaHei"/>
                  <a:cs typeface="Segoe UI"/>
                </a:rPr>
                <a:t xml:space="preserve"> Mg / Co 类比与模型前驱体</a:t>
              </a:r>
            </a:p>
          </p:txBody>
        </p:sp>
        <p:sp>
          <p:nvSpPr>
            <p:cNvPr id="26" name="TextBox 26"/>
            <p:cNvSpPr txBox="1"/>
            <p:nvPr/>
          </p:nvSpPr>
          <p:spPr>
            <a:xfrm>
              <a:off x="6774942" y="4807268"/>
              <a:ext cx="3854110" cy="264033"/>
            </a:xfrm>
            <a:prstGeom prst="rect">
              <a:avLst/>
            </a:prstGeom>
            <a:noFill/>
            <a:ln>
              <a:noFill/>
            </a:ln>
          </p:spPr>
          <p:txBody>
            <a:bodyPr wrap="none" lIns="0" tIns="0" rIns="0" bIns="0" anchor="t" anchorCtr="0">
              <a:spAutoFit/>
            </a:bodyPr>
            <a:lstStyle/>
            <a:p>
              <a:pPr algn="l"/>
              <a:r>
                <a:rPr lang="zh-CN" sz="1350" dirty="0">
                  <a:solidFill>
                    <a:schemeClr val="dk2"/>
                  </a:solidFill>
                  <a:latin typeface="Segoe UI"/>
                  <a:ea typeface="Microsoft YaHei"/>
                  <a:cs typeface="Segoe UI"/>
                </a:rPr>
                <a:t>位点 / 价态探针；Co 需联测氧分压与烧后价态</a:t>
              </a:r>
            </a:p>
          </p:txBody>
        </p:sp>
        <p:sp>
          <p:nvSpPr>
            <p:cNvPr id="27" name="Line 27"/>
            <p:cNvSpPr/>
            <p:nvPr/>
          </p:nvSpPr>
          <p:spPr>
            <a:xfrm>
              <a:off x="6438900" y="5219700"/>
              <a:ext cx="4838700" cy="9525"/>
            </a:xfrm>
            <a:custGeom>
              <a:avLst/>
              <a:gdLst/>
              <a:ahLst/>
              <a:cxnLst/>
              <a:rect l="l" t="t" r="r" b="b"/>
              <a:pathLst>
                <a:path w="4838700" h="9525">
                  <a:moveTo>
                    <a:pt x="0" y="0"/>
                  </a:moveTo>
                  <a:lnTo>
                    <a:pt x="4838700" y="0"/>
                  </a:lnTo>
                </a:path>
              </a:pathLst>
            </a:custGeom>
            <a:noFill/>
            <a:ln w="9525">
              <a:solidFill>
                <a:schemeClr val="accent4"/>
              </a:solidFill>
            </a:ln>
          </p:spPr>
        </p:sp>
        <p:sp>
          <p:nvSpPr>
            <p:cNvPr id="28" name="TextBox 28"/>
            <p:cNvSpPr txBox="1"/>
            <p:nvPr/>
          </p:nvSpPr>
          <p:spPr>
            <a:xfrm>
              <a:off x="6432042" y="5378768"/>
              <a:ext cx="4600004" cy="759333"/>
            </a:xfrm>
            <a:prstGeom prst="rect">
              <a:avLst/>
            </a:prstGeom>
            <a:noFill/>
            <a:ln>
              <a:noFill/>
            </a:ln>
          </p:spPr>
          <p:txBody>
            <a:bodyPr wrap="square" lIns="0" tIns="0" rIns="0" bIns="0" anchor="t" anchorCtr="0"/>
            <a:lstStyle/>
            <a:p>
              <a:pPr algn="l">
                <a:lnSpc>
                  <a:spcPts val="1950"/>
                </a:lnSpc>
              </a:pPr>
              <a:r>
                <a:rPr lang="zh-CN" sz="1350" b="1" dirty="0">
                  <a:solidFill>
                    <a:schemeClr val="accent1"/>
                  </a:solidFill>
                  <a:latin typeface="Segoe UI"/>
                  <a:ea typeface="Microsoft YaHei"/>
                  <a:cs typeface="Segoe UI"/>
                </a:rPr>
                <a:t>模型候选（待实验验证）</a:t>
              </a:r>
              <a:r>
                <a:rPr lang="zh-CN" sz="1350" dirty="0">
                  <a:solidFill>
                    <a:schemeClr val="dk1"/>
                  </a:solidFill>
                  <a:latin typeface="Segoe UI"/>
                  <a:ea typeface="Microsoft YaHei"/>
                  <a:cs typeface="Segoe UI"/>
                </a:rPr>
                <a:t xml:space="preserve"> Zn：ZnO + Y2O3 + SiO2 + BaCO3 </a:t>
              </a:r>
              <a:r>
                <a:rPr lang="zh-CN" sz="1350" dirty="0">
                  <a:solidFill>
                    <a:schemeClr val="dk1"/>
                  </a:solidFill>
                  <a:latin typeface="Segoe UI"/>
                  <a:ea typeface="Microsoft YaHei"/>
                  <a:cs typeface="Segoe UI"/>
                </a:rPr>
                <a:t xml:space="preserve">Mg：MgO + Y2O3 + BaCO3 + SiO2 </a:t>
              </a:r>
              <a:r>
                <a:rPr lang="zh-CN" sz="1350" dirty="0">
                  <a:solidFill>
                    <a:schemeClr val="dk1"/>
                  </a:solidFill>
                  <a:latin typeface="Segoe UI"/>
                  <a:ea typeface="Microsoft YaHei"/>
                  <a:cs typeface="Segoe UI"/>
                </a:rPr>
                <a:t>Co：Co3O4 + Y2O3 + BaCO3 + SiO2</a:t>
              </a:r>
            </a:p>
          </p:txBody>
        </p:sp>
      </p:grpSp>
      <p:grpSp>
        <p:nvGrpSpPr>
          <p:cNvPr id="32" name="Group 32"/>
          <p:cNvGrpSpPr/>
          <p:nvPr/>
        </p:nvGrpSpPr>
        <p:grpSpPr>
          <a:xfrm>
            <a:off x="679704" y="6480810"/>
            <a:ext cx="10832592" cy="234696"/>
            <a:chOff x="679704" y="6480810"/>
            <a:chExt cx="10832592" cy="234696"/>
          </a:xfrm>
        </p:grpSpPr>
        <p:sp>
          <p:nvSpPr>
            <p:cNvPr id="30" name="TextBox 30"/>
            <p:cNvSpPr txBox="1"/>
            <p:nvPr/>
          </p:nvSpPr>
          <p:spPr>
            <a:xfrm>
              <a:off x="679704" y="6480810"/>
              <a:ext cx="5572049"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Segoe UI"/>
                  <a:ea typeface="Microsoft YaHei"/>
                  <a:cs typeface="Segoe UI"/>
                </a:rPr>
                <a:t>SAGE-Mat · GoAI Research · GOAI 2026 复赛 · 来源：正式报告第 4、8 章</a:t>
              </a:r>
            </a:p>
          </p:txBody>
        </p:sp>
        <p:sp>
          <p:nvSpPr>
            <p:cNvPr id="31" name="TextBox 31"/>
            <p:cNvSpPr txBox="1"/>
            <p:nvPr/>
          </p:nvSpPr>
          <p:spPr>
            <a:xfrm>
              <a:off x="11047781" y="6480810"/>
              <a:ext cx="464515" cy="234696"/>
            </a:xfrm>
            <a:prstGeom prst="rect">
              <a:avLst/>
            </a:prstGeom>
            <a:noFill/>
            <a:ln>
              <a:noFill/>
            </a:ln>
          </p:spPr>
          <p:txBody>
            <a:bodyPr wrap="none" lIns="0" tIns="0" rIns="0" bIns="0" anchor="t" anchorCtr="0">
              <a:spAutoFit/>
            </a:bodyPr>
            <a:lstStyle/>
            <a:p>
              <a:pPr algn="r"/>
              <a:r>
                <a:rPr lang="en-US" sz="1200" dirty="0">
                  <a:solidFill>
                    <a:schemeClr val="accent5"/>
                  </a:solidFill>
                  <a:latin typeface="Segoe UI"/>
                  <a:ea typeface="Segoe UI"/>
                  <a:cs typeface="Segoe UI"/>
                </a:rPr>
                <a:t>7 / 12</a:t>
              </a:r>
            </a:p>
          </p:txBody>
        </p:sp>
      </p:grpSp>
    </p:spTree>
  </p:cSld>
  <p:clrMapOvr>
    <a:masterClrMapping/>
  </p:clrMapOvr>
  <p:transition xmlns:p14="http://schemas.microsoft.com/office/powerpoint/2010/main" p14:dur="400">
    <p:fade/>
  </p:transition>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670560" y="590550"/>
            <a:ext cx="12307214" cy="586740"/>
            <a:chOff x="670560" y="590550"/>
            <a:chExt cx="12307214" cy="586740"/>
          </a:xfrm>
        </p:grpSpPr>
        <p:sp>
          <p:nvSpPr>
            <p:cNvPr id="2" name="TextBox 2"/>
            <p:cNvSpPr txBox="1"/>
            <p:nvPr/>
          </p:nvSpPr>
          <p:spPr>
            <a:xfrm>
              <a:off x="670560" y="590550"/>
              <a:ext cx="12307214" cy="586740"/>
            </a:xfrm>
            <a:prstGeom prst="rect">
              <a:avLst/>
            </a:prstGeom>
            <a:noFill/>
            <a:ln>
              <a:noFill/>
            </a:ln>
          </p:spPr>
          <p:txBody>
            <a:bodyPr wrap="none" lIns="0" tIns="0" rIns="0" bIns="0" anchor="t" anchorCtr="0">
              <a:spAutoFit/>
            </a:bodyPr>
            <a:lstStyle/>
            <a:p>
              <a:pPr algn="l"/>
              <a:r>
                <a:rPr lang="zh-CN" sz="3000" b="1" dirty="0">
                  <a:solidFill>
                    <a:schemeClr val="dk1"/>
                  </a:solidFill>
                  <a:latin typeface="Segoe UI"/>
                  <a:ea typeface="Microsoft YaHei"/>
                  <a:cs typeface="Segoe UI"/>
                </a:rPr>
                <a:t>LLZO 诊断轮跑通端到端，并暴露、修复了 11 类集成失效模式</a:t>
              </a:r>
            </a:p>
          </p:txBody>
        </p:sp>
        <p:sp>
          <p:nvSpPr>
            <p:cNvPr id="3" name="Rectangle 3"/>
            <p:cNvSpPr/>
            <p:nvPr/>
          </p:nvSpPr>
          <p:spPr>
            <a:xfrm>
              <a:off x="685800" y="1085850"/>
              <a:ext cx="685800" cy="38100"/>
            </a:xfrm>
            <a:prstGeom prst="rect">
              <a:avLst/>
            </a:prstGeom>
            <a:solidFill>
              <a:schemeClr val="accent1"/>
            </a:solidFill>
            <a:ln>
              <a:noFill/>
            </a:ln>
          </p:spPr>
        </p:sp>
      </p:grpSp>
      <p:grpSp>
        <p:nvGrpSpPr>
          <p:cNvPr id="6" name="Group 6"/>
          <p:cNvGrpSpPr/>
          <p:nvPr/>
        </p:nvGrpSpPr>
        <p:grpSpPr>
          <a:xfrm>
            <a:off x="675894" y="1370648"/>
            <a:ext cx="11445764" cy="743331"/>
            <a:chOff x="675894" y="1370648"/>
            <a:chExt cx="11445764" cy="743331"/>
          </a:xfrm>
        </p:grpSpPr>
        <p:sp>
          <p:nvSpPr>
            <p:cNvPr id="5" name="TextBox 5"/>
            <p:cNvSpPr txBox="1"/>
            <p:nvPr/>
          </p:nvSpPr>
          <p:spPr>
            <a:xfrm>
              <a:off x="675894" y="1370648"/>
              <a:ext cx="11445764" cy="743331"/>
            </a:xfrm>
            <a:prstGeom prst="rect">
              <a:avLst/>
            </a:prstGeom>
            <a:noFill/>
            <a:ln>
              <a:noFill/>
            </a:ln>
          </p:spPr>
          <p:txBody>
            <a:bodyPr wrap="square" lIns="0" tIns="0" rIns="0" bIns="0" anchor="t" anchorCtr="0"/>
            <a:lstStyle/>
            <a:p>
              <a:pPr algn="l">
                <a:lnSpc>
                  <a:spcPts val="2850"/>
                </a:lnSpc>
              </a:pPr>
              <a:r>
                <a:rPr lang="zh-CN" sz="1950" dirty="0">
                  <a:solidFill>
                    <a:schemeClr val="dk1"/>
                  </a:solidFill>
                  <a:latin typeface="Segoe UI"/>
                  <a:ea typeface="Microsoft YaHei"/>
                  <a:cs typeface="Segoe UI"/>
                </a:rPr>
                <a:t>初赛承诺的主题：46 篇文献六个子主题覆盖、46 / 46 核验通过、10 页综述；</a:t>
              </a:r>
              <a:r>
                <a:rPr lang="zh-CN" sz="1950" dirty="0">
                  <a:solidFill>
                    <a:schemeClr val="dk1"/>
                  </a:solidFill>
                  <a:latin typeface="Segoe UI"/>
                  <a:ea typeface="Microsoft YaHei"/>
                  <a:cs typeface="Segoe UI"/>
                </a:rPr>
                <a:t>模型 Top-1 与文献一致，Top-2 起出现可疑命名，因此</a:t>
              </a:r>
              <a:r>
                <a:rPr lang="zh-CN" sz="1950" b="1" dirty="0">
                  <a:solidFill>
                    <a:schemeClr val="accent2"/>
                  </a:solidFill>
                  <a:latin typeface="Segoe UI"/>
                  <a:ea typeface="Microsoft YaHei"/>
                  <a:cs typeface="Segoe UI"/>
                </a:rPr>
                <a:t>保留“模型生成—规范化—文献复核—审稿”闸门</a:t>
              </a:r>
              <a:r>
                <a:rPr lang="zh-CN" sz="1950" dirty="0">
                  <a:solidFill>
                    <a:schemeClr val="dk1"/>
                  </a:solidFill>
                  <a:latin typeface="Segoe UI"/>
                  <a:ea typeface="Microsoft YaHei"/>
                  <a:cs typeface="Segoe UI"/>
                </a:rPr>
                <a:t>。</a:t>
              </a:r>
            </a:p>
          </p:txBody>
        </p:sp>
      </p:grpSp>
      <p:grpSp>
        <p:nvGrpSpPr>
          <p:cNvPr id="13" name="Group 13"/>
          <p:cNvGrpSpPr/>
          <p:nvPr/>
        </p:nvGrpSpPr>
        <p:grpSpPr>
          <a:xfrm>
            <a:off x="666750" y="2270760"/>
            <a:ext cx="3923995" cy="2952941"/>
            <a:chOff x="666750" y="2270760"/>
            <a:chExt cx="3923995" cy="2952941"/>
          </a:xfrm>
        </p:grpSpPr>
        <p:sp>
          <p:nvSpPr>
            <p:cNvPr id="7" name="TextBox 7"/>
            <p:cNvSpPr txBox="1"/>
            <p:nvPr/>
          </p:nvSpPr>
          <p:spPr>
            <a:xfrm>
              <a:off x="666750" y="2270760"/>
              <a:ext cx="691142" cy="819150"/>
            </a:xfrm>
            <a:prstGeom prst="rect">
              <a:avLst/>
            </a:prstGeom>
            <a:noFill/>
            <a:ln>
              <a:noFill/>
            </a:ln>
          </p:spPr>
          <p:txBody>
            <a:bodyPr wrap="none" lIns="0" tIns="0" rIns="0" bIns="0" anchor="t" anchorCtr="0">
              <a:spAutoFit/>
            </a:bodyPr>
            <a:lstStyle/>
            <a:p>
              <a:pPr algn="l"/>
              <a:r>
                <a:rPr lang="en-US" sz="4200" b="1" dirty="0">
                  <a:solidFill>
                    <a:schemeClr val="accent1"/>
                  </a:solidFill>
                  <a:latin typeface="Segoe UI"/>
                  <a:ea typeface="Segoe UI"/>
                  <a:cs typeface="Segoe UI"/>
                </a:rPr>
                <a:t>46</a:t>
              </a:r>
            </a:p>
          </p:txBody>
        </p:sp>
        <p:sp>
          <p:nvSpPr>
            <p:cNvPr id="8" name="TextBox 8"/>
            <p:cNvSpPr txBox="1"/>
            <p:nvPr/>
          </p:nvSpPr>
          <p:spPr>
            <a:xfrm>
              <a:off x="678942" y="2864168"/>
              <a:ext cx="3911803" cy="264033"/>
            </a:xfrm>
            <a:prstGeom prst="rect">
              <a:avLst/>
            </a:prstGeom>
            <a:noFill/>
            <a:ln>
              <a:noFill/>
            </a:ln>
          </p:spPr>
          <p:txBody>
            <a:bodyPr wrap="none" lIns="0" tIns="0" rIns="0" bIns="0" anchor="t" anchorCtr="0">
              <a:spAutoFit/>
            </a:bodyPr>
            <a:lstStyle/>
            <a:p>
              <a:pPr algn="l"/>
              <a:r>
                <a:rPr lang="zh-CN" sz="1350" dirty="0">
                  <a:solidFill>
                    <a:schemeClr val="dk2"/>
                  </a:solidFill>
                  <a:latin typeface="Segoe UI"/>
                  <a:ea typeface="Microsoft YaHei"/>
                  <a:cs typeface="Segoe UI"/>
                </a:rPr>
                <a:t>篇文献入库，修正 3 条元数据后 46 / 46 PASS</a:t>
              </a:r>
            </a:p>
          </p:txBody>
        </p:sp>
        <p:sp>
          <p:nvSpPr>
            <p:cNvPr id="9" name="TextBox 9"/>
            <p:cNvSpPr txBox="1"/>
            <p:nvPr/>
          </p:nvSpPr>
          <p:spPr>
            <a:xfrm>
              <a:off x="666750" y="3318510"/>
              <a:ext cx="2026909" cy="819150"/>
            </a:xfrm>
            <a:prstGeom prst="rect">
              <a:avLst/>
            </a:prstGeom>
            <a:noFill/>
            <a:ln>
              <a:noFill/>
            </a:ln>
          </p:spPr>
          <p:txBody>
            <a:bodyPr wrap="none" lIns="0" tIns="0" rIns="0" bIns="0" anchor="t" anchorCtr="0">
              <a:spAutoFit/>
            </a:bodyPr>
            <a:lstStyle/>
            <a:p>
              <a:pPr algn="l"/>
              <a:r>
                <a:rPr lang="en-US" sz="4200" b="1" dirty="0">
                  <a:solidFill>
                    <a:schemeClr val="accent1"/>
                  </a:solidFill>
                  <a:latin typeface="Segoe UI"/>
                  <a:ea typeface="Segoe UI"/>
                  <a:cs typeface="Segoe UI"/>
                </a:rPr>
                <a:t>21 · 49</a:t>
              </a:r>
            </a:p>
          </p:txBody>
        </p:sp>
        <p:sp>
          <p:nvSpPr>
            <p:cNvPr id="10" name="TextBox 10"/>
            <p:cNvSpPr txBox="1"/>
            <p:nvPr/>
          </p:nvSpPr>
          <p:spPr>
            <a:xfrm>
              <a:off x="678942" y="3911918"/>
              <a:ext cx="3665535" cy="264033"/>
            </a:xfrm>
            <a:prstGeom prst="rect">
              <a:avLst/>
            </a:prstGeom>
            <a:noFill/>
            <a:ln>
              <a:noFill/>
            </a:ln>
          </p:spPr>
          <p:txBody>
            <a:bodyPr wrap="none" lIns="0" tIns="0" rIns="0" bIns="0" anchor="t" anchorCtr="0">
              <a:spAutoFit/>
            </a:bodyPr>
            <a:lstStyle/>
            <a:p>
              <a:pPr algn="l"/>
              <a:r>
                <a:rPr lang="zh-CN" sz="1350" dirty="0">
                  <a:solidFill>
                    <a:schemeClr val="dk2"/>
                  </a:solidFill>
                  <a:latin typeface="Segoe UI"/>
                  <a:ea typeface="Microsoft YaHei"/>
                  <a:cs typeface="Segoe UI"/>
                </a:rPr>
                <a:t>个 Agent 任务 · 次 MCP 调用（stdio 协议）</a:t>
              </a:r>
            </a:p>
          </p:txBody>
        </p:sp>
        <p:sp>
          <p:nvSpPr>
            <p:cNvPr id="11" name="TextBox 11"/>
            <p:cNvSpPr txBox="1"/>
            <p:nvPr/>
          </p:nvSpPr>
          <p:spPr>
            <a:xfrm>
              <a:off x="666750" y="4366260"/>
              <a:ext cx="1462918" cy="819150"/>
            </a:xfrm>
            <a:prstGeom prst="rect">
              <a:avLst/>
            </a:prstGeom>
            <a:noFill/>
            <a:ln>
              <a:noFill/>
            </a:ln>
          </p:spPr>
          <p:txBody>
            <a:bodyPr wrap="none" lIns="0" tIns="0" rIns="0" bIns="0" anchor="t" anchorCtr="0">
              <a:spAutoFit/>
            </a:bodyPr>
            <a:lstStyle/>
            <a:p>
              <a:pPr algn="l"/>
              <a:r>
                <a:rPr lang="zh-CN" sz="4200" b="1" dirty="0">
                  <a:solidFill>
                    <a:schemeClr val="accent1"/>
                  </a:solidFill>
                  <a:latin typeface="Segoe UI"/>
                  <a:ea typeface="Microsoft YaHei"/>
                  <a:cs typeface="Segoe UI"/>
                </a:rPr>
                <a:t>10 页</a:t>
              </a:r>
            </a:p>
          </p:txBody>
        </p:sp>
        <p:sp>
          <p:nvSpPr>
            <p:cNvPr id="12" name="TextBox 12"/>
            <p:cNvSpPr txBox="1"/>
            <p:nvPr/>
          </p:nvSpPr>
          <p:spPr>
            <a:xfrm>
              <a:off x="678942" y="4959668"/>
              <a:ext cx="2462022" cy="264033"/>
            </a:xfrm>
            <a:prstGeom prst="rect">
              <a:avLst/>
            </a:prstGeom>
            <a:noFill/>
            <a:ln>
              <a:noFill/>
            </a:ln>
          </p:spPr>
          <p:txBody>
            <a:bodyPr wrap="none" lIns="0" tIns="0" rIns="0" bIns="0" anchor="t" anchorCtr="0">
              <a:spAutoFit/>
            </a:bodyPr>
            <a:lstStyle/>
            <a:p>
              <a:pPr algn="l"/>
              <a:r>
                <a:rPr lang="zh-CN" sz="1350" dirty="0">
                  <a:solidFill>
                    <a:schemeClr val="dk2"/>
                  </a:solidFill>
                  <a:latin typeface="Segoe UI"/>
                  <a:ea typeface="Microsoft YaHei"/>
                  <a:cs typeface="Segoe UI"/>
                </a:rPr>
                <a:t>A4 综述 PDF，46 篇全部整合</a:t>
              </a:r>
            </a:p>
          </p:txBody>
        </p:sp>
      </p:grpSp>
      <p:grpSp>
        <p:nvGrpSpPr>
          <p:cNvPr id="18" name="Group 18"/>
          <p:cNvGrpSpPr/>
          <p:nvPr/>
        </p:nvGrpSpPr>
        <p:grpSpPr>
          <a:xfrm>
            <a:off x="685800" y="5391150"/>
            <a:ext cx="4267200" cy="762000"/>
            <a:chOff x="685800" y="5391150"/>
            <a:chExt cx="4267200" cy="762000"/>
          </a:xfrm>
        </p:grpSpPr>
        <p:sp>
          <p:nvSpPr>
            <p:cNvPr id="14" name="Rectangle 14"/>
            <p:cNvSpPr/>
            <p:nvPr/>
          </p:nvSpPr>
          <p:spPr>
            <a:xfrm>
              <a:off x="685800" y="5391150"/>
              <a:ext cx="4267200" cy="762000"/>
            </a:xfrm>
            <a:prstGeom prst="rect">
              <a:avLst/>
            </a:prstGeom>
            <a:solidFill>
              <a:schemeClr val="lt2"/>
            </a:solidFill>
            <a:ln>
              <a:noFill/>
            </a:ln>
          </p:spPr>
        </p:sp>
        <p:sp>
          <p:nvSpPr>
            <p:cNvPr id="15" name="Rectangle 15"/>
            <p:cNvSpPr/>
            <p:nvPr/>
          </p:nvSpPr>
          <p:spPr>
            <a:xfrm>
              <a:off x="685800" y="5391150"/>
              <a:ext cx="57150" cy="762000"/>
            </a:xfrm>
            <a:prstGeom prst="rect">
              <a:avLst/>
            </a:prstGeom>
            <a:solidFill>
              <a:schemeClr val="accent1"/>
            </a:solidFill>
            <a:ln>
              <a:noFill/>
            </a:ln>
          </p:spPr>
        </p:sp>
        <p:sp>
          <p:nvSpPr>
            <p:cNvPr id="16" name="TextBox 16"/>
            <p:cNvSpPr txBox="1"/>
            <p:nvPr/>
          </p:nvSpPr>
          <p:spPr>
            <a:xfrm>
              <a:off x="907542" y="5531168"/>
              <a:ext cx="3706891" cy="264033"/>
            </a:xfrm>
            <a:prstGeom prst="rect">
              <a:avLst/>
            </a:prstGeom>
            <a:noFill/>
            <a:ln>
              <a:noFill/>
            </a:ln>
          </p:spPr>
          <p:txBody>
            <a:bodyPr wrap="none" lIns="0" tIns="0" rIns="0" bIns="0" anchor="t" anchorCtr="0">
              <a:spAutoFit/>
            </a:bodyPr>
            <a:lstStyle/>
            <a:p>
              <a:pPr algn="l"/>
              <a:r>
                <a:rPr lang="en-US" sz="1350" b="1" dirty="0">
                  <a:solidFill>
                    <a:schemeClr val="dk1"/>
                  </a:solidFill>
                  <a:latin typeface="Segoe UI"/>
                  <a:ea typeface="Segoe UI"/>
                  <a:cs typeface="Segoe UI"/>
                </a:rPr>
                <a:t>Top-1</a:t>
              </a:r>
              <a:r>
                <a:rPr lang="en-US" sz="1350" dirty="0">
                  <a:solidFill>
                    <a:schemeClr val="dk1"/>
                  </a:solidFill>
                  <a:latin typeface="Segoe UI"/>
                  <a:ea typeface="Segoe UI"/>
                  <a:cs typeface="Segoe UI"/>
                </a:rPr>
                <a:t xml:space="preserve"> ZrO2 + La2O3 + Li2CO3 </a:t>
              </a:r>
              <a:r>
                <a:rPr lang="zh-CN" sz="1350" b="1" dirty="0">
                  <a:solidFill>
                    <a:srgbClr val="2E7D32"/>
                  </a:solidFill>
                  <a:latin typeface="Segoe UI"/>
                  <a:ea typeface="Microsoft YaHei"/>
                  <a:cs typeface="Segoe UI"/>
                </a:rPr>
                <a:t>与文献一致</a:t>
              </a:r>
            </a:p>
          </p:txBody>
        </p:sp>
        <p:sp>
          <p:nvSpPr>
            <p:cNvPr id="17" name="TextBox 17"/>
            <p:cNvSpPr txBox="1"/>
            <p:nvPr/>
          </p:nvSpPr>
          <p:spPr>
            <a:xfrm>
              <a:off x="907542" y="5816918"/>
              <a:ext cx="4032152" cy="264033"/>
            </a:xfrm>
            <a:prstGeom prst="rect">
              <a:avLst/>
            </a:prstGeom>
            <a:noFill/>
            <a:ln>
              <a:noFill/>
            </a:ln>
          </p:spPr>
          <p:txBody>
            <a:bodyPr wrap="none" lIns="0" tIns="0" rIns="0" bIns="0" anchor="t" anchorCtr="0">
              <a:spAutoFit/>
            </a:bodyPr>
            <a:lstStyle/>
            <a:p>
              <a:pPr algn="l"/>
              <a:r>
                <a:rPr lang="en-US" sz="1350" b="1" dirty="0">
                  <a:solidFill>
                    <a:schemeClr val="dk1"/>
                  </a:solidFill>
                  <a:latin typeface="Segoe UI"/>
                  <a:ea typeface="Segoe UI"/>
                  <a:cs typeface="Segoe UI"/>
                </a:rPr>
                <a:t>Top-2–5</a:t>
              </a:r>
              <a:r>
                <a:rPr lang="zh-CN" sz="1350" dirty="0">
                  <a:solidFill>
                    <a:schemeClr val="dk1"/>
                  </a:solidFill>
                  <a:latin typeface="Segoe UI"/>
                  <a:ea typeface="Microsoft YaHei"/>
                  <a:cs typeface="Segoe UI"/>
                </a:rPr>
                <a:t xml:space="preserve"> LiHO、La(HO)3 等 → </a:t>
              </a:r>
              <a:r>
                <a:rPr lang="zh-CN" sz="1350" b="1" dirty="0">
                  <a:solidFill>
                    <a:srgbClr val="C62828"/>
                  </a:solidFill>
                  <a:latin typeface="Segoe UI"/>
                  <a:ea typeface="Microsoft YaHei"/>
                  <a:cs typeface="Segoe UI"/>
                </a:rPr>
                <a:t>化学路线未验证</a:t>
              </a:r>
            </a:p>
          </p:txBody>
        </p:sp>
      </p:grpSp>
      <p:grpSp>
        <p:nvGrpSpPr>
          <p:cNvPr id="28" name="Group 28"/>
          <p:cNvGrpSpPr/>
          <p:nvPr/>
        </p:nvGrpSpPr>
        <p:grpSpPr>
          <a:xfrm>
            <a:off x="5295900" y="2247900"/>
            <a:ext cx="6772466" cy="3143250"/>
            <a:chOff x="5295900" y="2247900"/>
            <a:chExt cx="6772466" cy="3143250"/>
          </a:xfrm>
        </p:grpSpPr>
        <p:sp>
          <p:nvSpPr>
            <p:cNvPr id="19" name="Rectangle 19"/>
            <p:cNvSpPr/>
            <p:nvPr/>
          </p:nvSpPr>
          <p:spPr>
            <a:xfrm>
              <a:off x="5295900" y="2247900"/>
              <a:ext cx="6210300" cy="3143250"/>
            </a:xfrm>
            <a:prstGeom prst="rect">
              <a:avLst/>
            </a:prstGeom>
            <a:solidFill>
              <a:schemeClr val="lt2"/>
            </a:solidFill>
            <a:ln>
              <a:noFill/>
            </a:ln>
          </p:spPr>
        </p:sp>
        <p:grpSp>
          <p:nvGrpSpPr>
            <p:cNvPr id="23" name="Group 23"/>
            <p:cNvGrpSpPr/>
            <p:nvPr/>
          </p:nvGrpSpPr>
          <p:grpSpPr>
            <a:xfrm>
              <a:off x="5545779" y="2468046"/>
              <a:ext cx="224134" cy="192560"/>
              <a:chOff x="5545779" y="2468046"/>
              <a:chExt cx="224134" cy="192560"/>
            </a:xfrm>
          </p:grpSpPr>
          <p:sp>
            <p:nvSpPr>
              <p:cNvPr id="20" name="Freeform 20"/>
              <p:cNvSpPr/>
              <p:nvPr/>
            </p:nvSpPr>
            <p:spPr>
              <a:xfrm>
                <a:off x="5657850" y="2538413"/>
                <a:ext cx="9525" cy="44450"/>
              </a:xfrm>
              <a:custGeom>
                <a:avLst/>
                <a:gdLst/>
                <a:ahLst/>
                <a:cxnLst/>
                <a:rect l="l" t="t" r="r" b="b"/>
                <a:pathLst>
                  <a:path w="9525" h="44450">
                    <a:moveTo>
                      <a:pt x="0" y="0"/>
                    </a:moveTo>
                    <a:lnTo>
                      <a:pt x="0" y="44450"/>
                    </a:lnTo>
                  </a:path>
                </a:pathLst>
              </a:custGeom>
              <a:noFill/>
              <a:ln w="19050">
                <a:solidFill>
                  <a:schemeClr val="accent1"/>
                </a:solidFill>
              </a:ln>
            </p:spPr>
          </p:sp>
          <p:sp>
            <p:nvSpPr>
              <p:cNvPr id="21" name="Freeform 21"/>
              <p:cNvSpPr/>
              <p:nvPr/>
            </p:nvSpPr>
            <p:spPr>
              <a:xfrm>
                <a:off x="5545779" y="2468046"/>
                <a:ext cx="224134" cy="192560"/>
              </a:xfrm>
              <a:custGeom>
                <a:avLst/>
                <a:gdLst/>
                <a:ahLst/>
                <a:cxnLst/>
                <a:rect l="l" t="t" r="r" b="b"/>
                <a:pathLst>
                  <a:path w="224134" h="192560">
                    <a:moveTo>
                      <a:pt x="93880" y="10259"/>
                    </a:moveTo>
                    <a:lnTo>
                      <a:pt x="3802" y="160656"/>
                    </a:lnTo>
                    <a:cubicBezTo>
                      <a:pt x="23" y="167200"/>
                      <a:pt x="0" y="175257"/>
                      <a:pt x="3741" y="181823"/>
                    </a:cubicBezTo>
                    <a:cubicBezTo>
                      <a:pt x="7482" y="188388"/>
                      <a:pt x="14426" y="192476"/>
                      <a:pt x="21982" y="192560"/>
                    </a:cubicBezTo>
                    <a:lnTo>
                      <a:pt x="202160" y="192560"/>
                    </a:lnTo>
                    <a:cubicBezTo>
                      <a:pt x="209713" y="192473"/>
                      <a:pt x="216653" y="188387"/>
                      <a:pt x="220393" y="181826"/>
                    </a:cubicBezTo>
                    <a:cubicBezTo>
                      <a:pt x="224134" y="175264"/>
                      <a:pt x="224114" y="167211"/>
                      <a:pt x="220341" y="160667"/>
                    </a:cubicBezTo>
                    <a:lnTo>
                      <a:pt x="130262" y="10248"/>
                    </a:lnTo>
                    <a:cubicBezTo>
                      <a:pt x="126408" y="3886"/>
                      <a:pt x="119510" y="0"/>
                      <a:pt x="112071" y="0"/>
                    </a:cubicBezTo>
                    <a:cubicBezTo>
                      <a:pt x="104633" y="0"/>
                      <a:pt x="97734" y="3886"/>
                      <a:pt x="93880" y="10248"/>
                    </a:cubicBezTo>
                  </a:path>
                </a:pathLst>
              </a:custGeom>
              <a:noFill/>
              <a:ln w="19050">
                <a:solidFill>
                  <a:schemeClr val="accent1"/>
                </a:solidFill>
              </a:ln>
            </p:spPr>
          </p:sp>
          <p:sp>
            <p:nvSpPr>
              <p:cNvPr id="22" name="Freeform 22"/>
              <p:cNvSpPr/>
              <p:nvPr/>
            </p:nvSpPr>
            <p:spPr>
              <a:xfrm>
                <a:off x="5657850" y="2616201"/>
                <a:ext cx="9525" cy="9525"/>
              </a:xfrm>
              <a:custGeom>
                <a:avLst/>
                <a:gdLst/>
                <a:ahLst/>
                <a:cxnLst/>
                <a:rect l="l" t="t" r="r" b="b"/>
                <a:pathLst>
                  <a:path w="9525" h="9525">
                    <a:moveTo>
                      <a:pt x="0" y="0"/>
                    </a:moveTo>
                    <a:lnTo>
                      <a:pt x="111" y="0"/>
                    </a:lnTo>
                  </a:path>
                </a:pathLst>
              </a:custGeom>
              <a:noFill/>
              <a:ln w="19050">
                <a:solidFill>
                  <a:schemeClr val="accent1"/>
                </a:solidFill>
              </a:ln>
            </p:spPr>
          </p:sp>
        </p:grpSp>
        <p:sp>
          <p:nvSpPr>
            <p:cNvPr id="24" name="TextBox 24"/>
            <p:cNvSpPr txBox="1"/>
            <p:nvPr/>
          </p:nvSpPr>
          <p:spPr>
            <a:xfrm>
              <a:off x="5877306" y="2453640"/>
              <a:ext cx="3682106"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Segoe UI"/>
                  <a:ea typeface="Microsoft YaHei"/>
                  <a:cs typeface="Segoe UI"/>
                </a:rPr>
                <a:t>11 类失效模式，全部留痕并修复</a:t>
              </a:r>
            </a:p>
          </p:txBody>
        </p:sp>
        <p:sp>
          <p:nvSpPr>
            <p:cNvPr id="25" name="TextBox 25"/>
            <p:cNvSpPr txBox="1"/>
            <p:nvPr/>
          </p:nvSpPr>
          <p:spPr>
            <a:xfrm>
              <a:off x="5517642" y="2902268"/>
              <a:ext cx="2928366" cy="1692783"/>
            </a:xfrm>
            <a:prstGeom prst="rect">
              <a:avLst/>
            </a:prstGeom>
            <a:noFill/>
            <a:ln>
              <a:noFill/>
            </a:ln>
          </p:spPr>
          <p:txBody>
            <a:bodyPr wrap="square" lIns="0" tIns="0" rIns="0" bIns="0" anchor="t" anchorCtr="0"/>
            <a:lstStyle/>
            <a:p>
              <a:pPr algn="l" marL="145732" indent="-145732">
                <a:lnSpc>
                  <a:spcPts val="2250"/>
                </a:lnSpc>
                <a:buClr>
                  <a:schemeClr val="dk1"/>
                </a:buClr>
                <a:buSzTx/>
                <a:buFontTx/>
                <a:buChar char="•"/>
              </a:pPr>
              <a:r>
                <a:rPr lang="zh-CN" sz="1350" dirty="0">
                  <a:solidFill>
                    <a:schemeClr val="dk1"/>
                  </a:solidFill>
                  <a:latin typeface="Segoe UI"/>
                  <a:ea typeface="Microsoft YaHei"/>
                  <a:cs typeface="Segoe UI"/>
                </a:rPr>
                <a:t>MCP 审批配置（无人值守自动拒绝）</a:t>
              </a:r>
            </a:p>
            <a:p>
              <a:pPr algn="l" marL="145732" indent="-145732">
                <a:lnSpc>
                  <a:spcPts val="2250"/>
                </a:lnSpc>
                <a:buClr>
                  <a:schemeClr val="dk1"/>
                </a:buClr>
                <a:buSzTx/>
                <a:buFontTx/>
                <a:buChar char="•"/>
              </a:pPr>
              <a:r>
                <a:rPr lang="zh-CN" sz="1350" dirty="0">
                  <a:solidFill>
                    <a:schemeClr val="dk1"/>
                  </a:solidFill>
                  <a:latin typeface="Segoe UI"/>
                  <a:ea typeface="Microsoft YaHei"/>
                  <a:cs typeface="Segoe UI"/>
                </a:rPr>
                <a:t>Agent 工作目录错误</a:t>
              </a:r>
            </a:p>
            <a:p>
              <a:pPr algn="l" marL="145732" indent="-145732">
                <a:lnSpc>
                  <a:spcPts val="2250"/>
                </a:lnSpc>
                <a:buClr>
                  <a:schemeClr val="dk1"/>
                </a:buClr>
                <a:buSzTx/>
                <a:buFontTx/>
                <a:buChar char="•"/>
              </a:pPr>
              <a:r>
                <a:rPr lang="zh-CN" sz="1350" dirty="0">
                  <a:solidFill>
                    <a:schemeClr val="dk1"/>
                  </a:solidFill>
                  <a:latin typeface="Segoe UI"/>
                  <a:ea typeface="Microsoft YaHei"/>
                  <a:cs typeface="Segoe UI"/>
                </a:rPr>
                <a:t>并行写文献库竞争</a:t>
              </a:r>
            </a:p>
            <a:p>
              <a:pPr algn="l" marL="145732" indent="-145732">
                <a:lnSpc>
                  <a:spcPts val="2250"/>
                </a:lnSpc>
                <a:buClr>
                  <a:schemeClr val="dk1"/>
                </a:buClr>
                <a:buSzTx/>
                <a:buFontTx/>
                <a:buChar char="•"/>
              </a:pPr>
              <a:r>
                <a:rPr lang="zh-CN" sz="1350" dirty="0">
                  <a:solidFill>
                    <a:schemeClr val="dk1"/>
                  </a:solidFill>
                  <a:latin typeface="Segoe UI"/>
                  <a:ea typeface="Microsoft YaHei"/>
                  <a:cs typeface="Segoe UI"/>
                </a:rPr>
                <a:t>exit=0 假成功 / 旧产物假成功</a:t>
              </a:r>
            </a:p>
            <a:p>
              <a:pPr algn="l" marL="145732" indent="-145732">
                <a:lnSpc>
                  <a:spcPts val="2250"/>
                </a:lnSpc>
                <a:buClr>
                  <a:schemeClr val="dk1"/>
                </a:buClr>
                <a:buSzTx/>
                <a:buFontTx/>
                <a:buChar char="•"/>
              </a:pPr>
              <a:r>
                <a:rPr lang="zh-CN" sz="1350" dirty="0">
                  <a:solidFill>
                    <a:schemeClr val="dk1"/>
                  </a:solidFill>
                  <a:latin typeface="Segoe UI"/>
                  <a:ea typeface="Microsoft YaHei"/>
                  <a:cs typeface="Segoe UI"/>
                </a:rPr>
                <a:t>上下文与 token 膨胀</a:t>
              </a:r>
            </a:p>
            <a:p>
              <a:pPr algn="l" marL="145732" indent="-145732">
                <a:lnSpc>
                  <a:spcPts val="2250"/>
                </a:lnSpc>
                <a:buClr>
                  <a:schemeClr val="dk1"/>
                </a:buClr>
                <a:buSzTx/>
                <a:buFontTx/>
                <a:buChar char="•"/>
              </a:pPr>
              <a:r>
                <a:rPr lang="zh-CN" sz="1350" dirty="0">
                  <a:solidFill>
                    <a:schemeClr val="dk1"/>
                  </a:solidFill>
                  <a:latin typeface="Segoe UI"/>
                  <a:ea typeface="Microsoft YaHei"/>
                  <a:cs typeface="Segoe UI"/>
                </a:rPr>
                <a:t>上游 API 限流</a:t>
              </a:r>
            </a:p>
          </p:txBody>
        </p:sp>
        <p:sp>
          <p:nvSpPr>
            <p:cNvPr id="26" name="TextBox 26"/>
            <p:cNvSpPr txBox="1"/>
            <p:nvPr/>
          </p:nvSpPr>
          <p:spPr>
            <a:xfrm>
              <a:off x="8565642" y="2902268"/>
              <a:ext cx="3502724" cy="1692783"/>
            </a:xfrm>
            <a:prstGeom prst="rect">
              <a:avLst/>
            </a:prstGeom>
            <a:noFill/>
            <a:ln>
              <a:noFill/>
            </a:ln>
          </p:spPr>
          <p:txBody>
            <a:bodyPr wrap="square" lIns="0" tIns="0" rIns="0" bIns="0" anchor="t" anchorCtr="0"/>
            <a:lstStyle/>
            <a:p>
              <a:pPr algn="l" marL="145732" indent="-145732">
                <a:lnSpc>
                  <a:spcPts val="2250"/>
                </a:lnSpc>
                <a:buClr>
                  <a:schemeClr val="dk1"/>
                </a:buClr>
                <a:buSzTx/>
                <a:buFontTx/>
                <a:buChar char="•"/>
              </a:pPr>
              <a:r>
                <a:rPr lang="zh-CN" sz="1350" dirty="0">
                  <a:solidFill>
                    <a:schemeClr val="dk1"/>
                  </a:solidFill>
                  <a:latin typeface="Segoe UI"/>
                  <a:ea typeface="Microsoft YaHei"/>
                  <a:cs typeface="Segoe UI"/>
                </a:rPr>
                <a:t>图片 lint 假绿</a:t>
              </a:r>
            </a:p>
            <a:p>
              <a:pPr algn="l" marL="145732" indent="-145732">
                <a:lnSpc>
                  <a:spcPts val="2250"/>
                </a:lnSpc>
                <a:buClr>
                  <a:schemeClr val="dk1"/>
                </a:buClr>
                <a:buSzTx/>
                <a:buFontTx/>
                <a:buChar char="•"/>
              </a:pPr>
              <a:r>
                <a:rPr lang="zh-CN" sz="1350" dirty="0">
                  <a:solidFill>
                    <a:schemeClr val="dk1"/>
                  </a:solidFill>
                  <a:latin typeface="Segoe UI"/>
                  <a:ea typeface="Microsoft YaHei"/>
                  <a:cs typeface="Segoe UI"/>
                </a:rPr>
                <a:t>retro 字段不兼容</a:t>
              </a:r>
            </a:p>
            <a:p>
              <a:pPr algn="l" marL="145732" indent="-145732">
                <a:lnSpc>
                  <a:spcPts val="2250"/>
                </a:lnSpc>
                <a:buClr>
                  <a:schemeClr val="dk1"/>
                </a:buClr>
                <a:buSzTx/>
                <a:buFontTx/>
                <a:buChar char="•"/>
              </a:pPr>
              <a:r>
                <a:rPr lang="zh-CN" sz="1350" dirty="0">
                  <a:solidFill>
                    <a:schemeClr val="dk1"/>
                  </a:solidFill>
                  <a:latin typeface="Segoe UI"/>
                  <a:ea typeface="Microsoft YaHei"/>
                  <a:cs typeface="Segoe UI"/>
                </a:rPr>
                <a:t>测试输出契约漂移</a:t>
              </a:r>
            </a:p>
            <a:p>
              <a:pPr algn="l" marL="145732" indent="-145732">
                <a:lnSpc>
                  <a:spcPts val="2250"/>
                </a:lnSpc>
                <a:buClr>
                  <a:schemeClr val="dk1"/>
                </a:buClr>
                <a:buSzTx/>
                <a:buFontTx/>
                <a:buChar char="•"/>
              </a:pPr>
              <a:r>
                <a:rPr lang="zh-CN" sz="1350" dirty="0">
                  <a:solidFill>
                    <a:schemeClr val="dk1"/>
                  </a:solidFill>
                  <a:latin typeface="Segoe UI"/>
                  <a:ea typeface="Microsoft YaHei"/>
                  <a:cs typeface="Segoe UI"/>
                </a:rPr>
                <a:t>同模型审稿独立性不足</a:t>
              </a:r>
            </a:p>
            <a:p>
              <a:pPr algn="l" marL="145732" indent="-145732">
                <a:lnSpc>
                  <a:spcPts val="2250"/>
                </a:lnSpc>
                <a:buClr>
                  <a:schemeClr val="dk1"/>
                </a:buClr>
                <a:buSzTx/>
                <a:buFontTx/>
                <a:buChar char="•"/>
              </a:pPr>
              <a:r>
                <a:rPr lang="zh-CN" sz="1350" dirty="0">
                  <a:solidFill>
                    <a:schemeClr val="dk1"/>
                  </a:solidFill>
                  <a:latin typeface="Segoe UI"/>
                  <a:ea typeface="Microsoft YaHei"/>
                  <a:cs typeface="Segoe UI"/>
                </a:rPr>
                <a:t>check-done 单闸门即宣告完成</a:t>
              </a:r>
              <a:r>
                <a:rPr lang="zh-CN" sz="1350" dirty="0">
                  <a:solidFill>
                    <a:schemeClr val="dk1"/>
                  </a:solidFill>
                  <a:latin typeface="Segoe UI"/>
                  <a:ea typeface="Microsoft YaHei"/>
                  <a:cs typeface="Segoe UI"/>
                </a:rPr>
                <a:t>（冷启动首次尝试暴露，PR #17 机械化修复）</a:t>
              </a:r>
            </a:p>
          </p:txBody>
        </p:sp>
        <p:sp>
          <p:nvSpPr>
            <p:cNvPr id="27" name="TextBox 27"/>
            <p:cNvSpPr txBox="1"/>
            <p:nvPr/>
          </p:nvSpPr>
          <p:spPr>
            <a:xfrm>
              <a:off x="5518404" y="5013960"/>
              <a:ext cx="6348549" cy="234696"/>
            </a:xfrm>
            <a:prstGeom prst="rect">
              <a:avLst/>
            </a:prstGeom>
            <a:noFill/>
            <a:ln>
              <a:noFill/>
            </a:ln>
          </p:spPr>
          <p:txBody>
            <a:bodyPr wrap="none" lIns="0" tIns="0" rIns="0" bIns="0" anchor="t" anchorCtr="0">
              <a:spAutoFit/>
            </a:bodyPr>
            <a:lstStyle/>
            <a:p>
              <a:pPr algn="l"/>
              <a:r>
                <a:rPr lang="zh-CN" sz="1200" dirty="0">
                  <a:solidFill>
                    <a:schemeClr val="dk2"/>
                  </a:solidFill>
                  <a:latin typeface="Segoe UI"/>
                  <a:ea typeface="Microsoft YaHei"/>
                  <a:cs typeface="Segoe UI"/>
                </a:rPr>
                <a:t>修复说明：docs/FAILURE_MODE_FIXES.md · LLZO_AGENT_INTEGRATION_AUDIT.md</a:t>
              </a:r>
            </a:p>
          </p:txBody>
        </p:sp>
      </p:grpSp>
      <p:grpSp>
        <p:nvGrpSpPr>
          <p:cNvPr id="30" name="Group 30"/>
          <p:cNvGrpSpPr/>
          <p:nvPr/>
        </p:nvGrpSpPr>
        <p:grpSpPr>
          <a:xfrm>
            <a:off x="5289042" y="5626418"/>
            <a:ext cx="6014466" cy="511683"/>
            <a:chOff x="5289042" y="5626418"/>
            <a:chExt cx="6014466" cy="511683"/>
          </a:xfrm>
        </p:grpSpPr>
        <p:sp>
          <p:nvSpPr>
            <p:cNvPr id="29" name="TextBox 29"/>
            <p:cNvSpPr txBox="1"/>
            <p:nvPr/>
          </p:nvSpPr>
          <p:spPr>
            <a:xfrm>
              <a:off x="5289042" y="5626418"/>
              <a:ext cx="6014466" cy="511683"/>
            </a:xfrm>
            <a:prstGeom prst="rect">
              <a:avLst/>
            </a:prstGeom>
            <a:noFill/>
            <a:ln>
              <a:noFill/>
            </a:ln>
          </p:spPr>
          <p:txBody>
            <a:bodyPr wrap="square" lIns="0" tIns="0" rIns="0" bIns="0" anchor="t" anchorCtr="0"/>
            <a:lstStyle/>
            <a:p>
              <a:pPr algn="l">
                <a:lnSpc>
                  <a:spcPts val="1950"/>
                </a:lnSpc>
              </a:pPr>
              <a:r>
                <a:rPr lang="zh-CN" sz="1350" b="1" dirty="0">
                  <a:solidFill>
                    <a:schemeClr val="accent1"/>
                  </a:solidFill>
                  <a:latin typeface="Segoe UI"/>
                  <a:ea typeface="Microsoft YaHei"/>
                  <a:cs typeface="Segoe UI"/>
                </a:rPr>
                <a:t>替代材料分析</a:t>
              </a:r>
              <a:r>
                <a:rPr lang="zh-CN" sz="1350" dirty="0">
                  <a:solidFill>
                    <a:schemeClr val="dk1"/>
                  </a:solidFill>
                  <a:latin typeface="Segoe UI"/>
                  <a:ea typeface="Microsoft YaHei"/>
                  <a:cs typeface="Segoe UI"/>
                </a:rPr>
                <a:t xml:space="preserve"> Li6PS5Cl · Li3YCl6 · LATP 的模型 Top-1 路线均通过文献复核，</a:t>
              </a:r>
              <a:r>
                <a:rPr lang="zh-CN" sz="1350" dirty="0">
                  <a:solidFill>
                    <a:schemeClr val="dk1"/>
                  </a:solidFill>
                  <a:latin typeface="Segoe UI"/>
                  <a:ea typeface="Microsoft YaHei"/>
                  <a:cs typeface="Segoe UI"/>
                </a:rPr>
                <a:t>分别对应高电导冷压、高电压正极侧、低成本空气操作三种场景。</a:t>
              </a:r>
            </a:p>
          </p:txBody>
        </p:sp>
      </p:grpSp>
      <p:grpSp>
        <p:nvGrpSpPr>
          <p:cNvPr id="33" name="Group 33"/>
          <p:cNvGrpSpPr/>
          <p:nvPr/>
        </p:nvGrpSpPr>
        <p:grpSpPr>
          <a:xfrm>
            <a:off x="679704" y="6480810"/>
            <a:ext cx="10832592" cy="234696"/>
            <a:chOff x="679704" y="6480810"/>
            <a:chExt cx="10832592" cy="234696"/>
          </a:xfrm>
        </p:grpSpPr>
        <p:sp>
          <p:nvSpPr>
            <p:cNvPr id="31" name="TextBox 31"/>
            <p:cNvSpPr txBox="1"/>
            <p:nvPr/>
          </p:nvSpPr>
          <p:spPr>
            <a:xfrm>
              <a:off x="679704" y="6480810"/>
              <a:ext cx="8485738"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Segoe UI"/>
                  <a:ea typeface="Microsoft YaHei"/>
                  <a:cs typeface="Segoe UI"/>
                </a:rPr>
                <a:t>SAGE-Mat · GoAI Research · GOAI 2026 复赛 · 留痕：submission/goai_final/run_llzo、submission/llzo_survey</a:t>
              </a:r>
            </a:p>
          </p:txBody>
        </p:sp>
        <p:sp>
          <p:nvSpPr>
            <p:cNvPr id="32" name="TextBox 32"/>
            <p:cNvSpPr txBox="1"/>
            <p:nvPr/>
          </p:nvSpPr>
          <p:spPr>
            <a:xfrm>
              <a:off x="11047781" y="6480810"/>
              <a:ext cx="464515" cy="234696"/>
            </a:xfrm>
            <a:prstGeom prst="rect">
              <a:avLst/>
            </a:prstGeom>
            <a:noFill/>
            <a:ln>
              <a:noFill/>
            </a:ln>
          </p:spPr>
          <p:txBody>
            <a:bodyPr wrap="none" lIns="0" tIns="0" rIns="0" bIns="0" anchor="t" anchorCtr="0">
              <a:spAutoFit/>
            </a:bodyPr>
            <a:lstStyle/>
            <a:p>
              <a:pPr algn="r"/>
              <a:r>
                <a:rPr lang="en-US" sz="1200" dirty="0">
                  <a:solidFill>
                    <a:schemeClr val="accent5"/>
                  </a:solidFill>
                  <a:latin typeface="Segoe UI"/>
                  <a:ea typeface="Segoe UI"/>
                  <a:cs typeface="Segoe UI"/>
                </a:rPr>
                <a:t>8 / 12</a:t>
              </a:r>
            </a:p>
          </p:txBody>
        </p:sp>
      </p:grpSp>
    </p:spTree>
  </p:cSld>
  <p:clrMapOvr>
    <a:masterClrMapping/>
  </p:clrMapOvr>
  <p:transition xmlns:p14="http://schemas.microsoft.com/office/powerpoint/2010/main" p14:dur="400">
    <p:fade/>
  </p:transition>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670560" y="590550"/>
            <a:ext cx="12972729" cy="586740"/>
            <a:chOff x="670560" y="590550"/>
            <a:chExt cx="12972729" cy="586740"/>
          </a:xfrm>
        </p:grpSpPr>
        <p:sp>
          <p:nvSpPr>
            <p:cNvPr id="2" name="TextBox 2"/>
            <p:cNvSpPr txBox="1"/>
            <p:nvPr/>
          </p:nvSpPr>
          <p:spPr>
            <a:xfrm>
              <a:off x="670560" y="590550"/>
              <a:ext cx="12972729" cy="586740"/>
            </a:xfrm>
            <a:prstGeom prst="rect">
              <a:avLst/>
            </a:prstGeom>
            <a:noFill/>
            <a:ln>
              <a:noFill/>
            </a:ln>
          </p:spPr>
          <p:txBody>
            <a:bodyPr wrap="none" lIns="0" tIns="0" rIns="0" bIns="0" anchor="t" anchorCtr="0">
              <a:spAutoFit/>
            </a:bodyPr>
            <a:lstStyle/>
            <a:p>
              <a:pPr algn="l"/>
              <a:r>
                <a:rPr lang="zh-CN" sz="3000" b="1" dirty="0">
                  <a:solidFill>
                    <a:schemeClr val="dk1"/>
                  </a:solidFill>
                  <a:latin typeface="Segoe UI"/>
                  <a:ea typeface="Microsoft YaHei"/>
                  <a:cs typeface="Segoe UI"/>
                </a:rPr>
                <a:t>留出测试集重算：Combo@1 71.81，比 Retrieval-Retro 高 11.4 点</a:t>
              </a:r>
            </a:p>
          </p:txBody>
        </p:sp>
        <p:sp>
          <p:nvSpPr>
            <p:cNvPr id="3" name="Rectangle 3"/>
            <p:cNvSpPr/>
            <p:nvPr/>
          </p:nvSpPr>
          <p:spPr>
            <a:xfrm>
              <a:off x="685800" y="1085850"/>
              <a:ext cx="685800" cy="38100"/>
            </a:xfrm>
            <a:prstGeom prst="rect">
              <a:avLst/>
            </a:prstGeom>
            <a:solidFill>
              <a:schemeClr val="accent1"/>
            </a:solidFill>
            <a:ln>
              <a:noFill/>
            </a:ln>
          </p:spPr>
        </p:sp>
      </p:grpSp>
      <p:grpSp>
        <p:nvGrpSpPr>
          <p:cNvPr id="6" name="Group 6"/>
          <p:cNvGrpSpPr/>
          <p:nvPr/>
        </p:nvGrpSpPr>
        <p:grpSpPr>
          <a:xfrm>
            <a:off x="675894" y="1370648"/>
            <a:ext cx="9380982" cy="743331"/>
            <a:chOff x="675894" y="1370648"/>
            <a:chExt cx="9380982" cy="743331"/>
          </a:xfrm>
        </p:grpSpPr>
        <p:sp>
          <p:nvSpPr>
            <p:cNvPr id="5" name="TextBox 5"/>
            <p:cNvSpPr txBox="1"/>
            <p:nvPr/>
          </p:nvSpPr>
          <p:spPr>
            <a:xfrm>
              <a:off x="675894" y="1370648"/>
              <a:ext cx="9380982" cy="743331"/>
            </a:xfrm>
            <a:prstGeom prst="rect">
              <a:avLst/>
            </a:prstGeom>
            <a:noFill/>
            <a:ln>
              <a:noFill/>
            </a:ln>
          </p:spPr>
          <p:txBody>
            <a:bodyPr wrap="square" lIns="0" tIns="0" rIns="0" bIns="0" anchor="t" anchorCtr="0"/>
            <a:lstStyle/>
            <a:p>
              <a:pPr algn="l">
                <a:lnSpc>
                  <a:spcPts val="2850"/>
                </a:lnSpc>
              </a:pPr>
              <a:r>
                <a:rPr lang="zh-CN" sz="1950" dirty="0">
                  <a:solidFill>
                    <a:schemeClr val="dk1"/>
                  </a:solidFill>
                  <a:latin typeface="Segoe UI"/>
                  <a:ea typeface="Microsoft YaHei"/>
                  <a:cs typeface="Segoe UI"/>
                </a:rPr>
                <a:t>用与 MCP 工具</a:t>
              </a:r>
              <a:r>
                <a:rPr lang="zh-CN" sz="1950" b="1" dirty="0">
                  <a:solidFill>
                    <a:schemeClr val="accent2"/>
                  </a:solidFill>
                  <a:latin typeface="Segoe UI"/>
                  <a:ea typeface="Microsoft YaHei"/>
                  <a:cs typeface="Segoe UI"/>
                </a:rPr>
                <a:t>完全相同的推理代码</a:t>
              </a:r>
              <a:r>
                <a:rPr lang="zh-CN" sz="1950" dirty="0">
                  <a:solidFill>
                    <a:schemeClr val="dk1"/>
                  </a:solidFill>
                  <a:latin typeface="Segoe UI"/>
                  <a:ea typeface="Microsoft YaHei"/>
                  <a:cs typeface="Segoe UI"/>
                </a:rPr>
                <a:t>在 2,558 条留出反应上重算，结果与 checkpoint</a:t>
              </a:r>
              <a:r>
                <a:rPr lang="zh-CN" sz="1950" dirty="0">
                  <a:solidFill>
                    <a:schemeClr val="dk1"/>
                  </a:solidFill>
                  <a:latin typeface="Segoe UI"/>
                  <a:ea typeface="Microsoft YaHei"/>
                  <a:cs typeface="Segoe UI"/>
                </a:rPr>
                <a:t>自带汇总</a:t>
              </a:r>
              <a:r>
                <a:rPr lang="zh-CN" sz="1950" b="1" dirty="0">
                  <a:solidFill>
                    <a:schemeClr val="accent2"/>
                  </a:solidFill>
                  <a:latin typeface="Segoe UI"/>
                  <a:ea typeface="Microsoft YaHei"/>
                  <a:cs typeface="Segoe UI"/>
                </a:rPr>
                <a:t>逐位一致</a:t>
              </a:r>
              <a:r>
                <a:rPr lang="zh-CN" sz="1950" dirty="0">
                  <a:solidFill>
                    <a:schemeClr val="dk1"/>
                  </a:solidFill>
                  <a:latin typeface="Segoe UI"/>
                  <a:ea typeface="Microsoft YaHei"/>
                  <a:cs typeface="Segoe UI"/>
                </a:rPr>
                <a:t>，并落在论文三种子均值的误差区间内。</a:t>
              </a:r>
            </a:p>
          </p:txBody>
        </p:sp>
      </p:grpSp>
      <p:grpSp>
        <p:nvGrpSpPr>
          <p:cNvPr id="11" name="Group 11"/>
          <p:cNvGrpSpPr/>
          <p:nvPr/>
        </p:nvGrpSpPr>
        <p:grpSpPr>
          <a:xfrm>
            <a:off x="1333500" y="2089785"/>
            <a:ext cx="7025792" cy="234696"/>
            <a:chOff x="1333500" y="2089785"/>
            <a:chExt cx="7025792" cy="234696"/>
          </a:xfrm>
        </p:grpSpPr>
        <p:sp>
          <p:nvSpPr>
            <p:cNvPr id="7" name="Rectangle 7"/>
            <p:cNvSpPr/>
            <p:nvPr/>
          </p:nvSpPr>
          <p:spPr>
            <a:xfrm>
              <a:off x="1333500" y="2095500"/>
              <a:ext cx="152400" cy="152400"/>
            </a:xfrm>
            <a:prstGeom prst="rect">
              <a:avLst/>
            </a:prstGeom>
            <a:solidFill>
              <a:srgbClr val="8A94A0"/>
            </a:solidFill>
            <a:ln>
              <a:noFill/>
            </a:ln>
          </p:spPr>
        </p:sp>
        <p:sp>
          <p:nvSpPr>
            <p:cNvPr id="8" name="TextBox 8"/>
            <p:cNvSpPr txBox="1"/>
            <p:nvPr/>
          </p:nvSpPr>
          <p:spPr>
            <a:xfrm>
              <a:off x="1575054" y="2089785"/>
              <a:ext cx="2577084" cy="234696"/>
            </a:xfrm>
            <a:prstGeom prst="rect">
              <a:avLst/>
            </a:prstGeom>
            <a:noFill/>
            <a:ln>
              <a:noFill/>
            </a:ln>
          </p:spPr>
          <p:txBody>
            <a:bodyPr wrap="none" lIns="0" tIns="0" rIns="0" bIns="0" anchor="t" anchorCtr="0">
              <a:spAutoFit/>
            </a:bodyPr>
            <a:lstStyle/>
            <a:p>
              <a:pPr algn="l"/>
              <a:r>
                <a:rPr lang="zh-CN" sz="1200" dirty="0">
                  <a:solidFill>
                    <a:schemeClr val="dk2"/>
                  </a:solidFill>
                  <a:latin typeface="Segoe UI"/>
                  <a:ea typeface="Microsoft YaHei"/>
                  <a:cs typeface="Segoe UI"/>
                </a:rPr>
                <a:t>Retrieval-Retro（先前最优基线）</a:t>
              </a:r>
            </a:p>
          </p:txBody>
        </p:sp>
        <p:sp>
          <p:nvSpPr>
            <p:cNvPr id="9" name="Rectangle 9"/>
            <p:cNvSpPr/>
            <p:nvPr/>
          </p:nvSpPr>
          <p:spPr>
            <a:xfrm>
              <a:off x="4000500" y="2095500"/>
              <a:ext cx="152400" cy="152400"/>
            </a:xfrm>
            <a:prstGeom prst="rect">
              <a:avLst/>
            </a:prstGeom>
            <a:solidFill>
              <a:schemeClr val="accent1"/>
            </a:solidFill>
            <a:ln>
              <a:noFill/>
            </a:ln>
          </p:spPr>
        </p:sp>
        <p:sp>
          <p:nvSpPr>
            <p:cNvPr id="10" name="TextBox 10"/>
            <p:cNvSpPr txBox="1"/>
            <p:nvPr/>
          </p:nvSpPr>
          <p:spPr>
            <a:xfrm>
              <a:off x="4242054" y="2089785"/>
              <a:ext cx="4117238" cy="234696"/>
            </a:xfrm>
            <a:prstGeom prst="rect">
              <a:avLst/>
            </a:prstGeom>
            <a:noFill/>
            <a:ln>
              <a:noFill/>
            </a:ln>
          </p:spPr>
          <p:txBody>
            <a:bodyPr wrap="none" lIns="0" tIns="0" rIns="0" bIns="0" anchor="t" anchorCtr="0">
              <a:spAutoFit/>
            </a:bodyPr>
            <a:lstStyle/>
            <a:p>
              <a:pPr algn="l"/>
              <a:r>
                <a:rPr lang="zh-CN" sz="1200" dirty="0">
                  <a:solidFill>
                    <a:schemeClr val="dk2"/>
                  </a:solidFill>
                  <a:latin typeface="Segoe UI"/>
                  <a:ea typeface="Microsoft YaHei"/>
                  <a:cs typeface="Segoe UI"/>
                </a:rPr>
                <a:t>RECIPE 两阶段模型（本仓库重算，单种子 20260504）</a:t>
              </a:r>
            </a:p>
          </p:txBody>
        </p:sp>
      </p:grpSp>
      <p:grpSp>
        <p:nvGrpSpPr>
          <p:cNvPr id="46" name="Group 46"/>
          <p:cNvGrpSpPr/>
          <p:nvPr/>
        </p:nvGrpSpPr>
        <p:grpSpPr>
          <a:xfrm>
            <a:off x="946556" y="2204085"/>
            <a:ext cx="6834261" cy="3882771"/>
            <a:chOff x="946556" y="2204085"/>
            <a:chExt cx="6834261" cy="3882771"/>
          </a:xfrm>
        </p:grpSpPr>
        <p:grpSp>
          <p:nvGrpSpPr>
            <p:cNvPr id="44" name="Group 44"/>
            <p:cNvGrpSpPr/>
            <p:nvPr/>
          </p:nvGrpSpPr>
          <p:grpSpPr>
            <a:xfrm>
              <a:off x="946556" y="2204085"/>
              <a:ext cx="6673444" cy="3533966"/>
              <a:chOff x="946556" y="2204085"/>
              <a:chExt cx="6673444" cy="3533966"/>
            </a:xfrm>
          </p:grpSpPr>
          <p:sp>
            <p:nvSpPr>
              <p:cNvPr id="12" name="Line 12"/>
              <p:cNvSpPr/>
              <p:nvPr/>
            </p:nvSpPr>
            <p:spPr>
              <a:xfrm>
                <a:off x="1333500" y="5334000"/>
                <a:ext cx="6286500" cy="9525"/>
              </a:xfrm>
              <a:custGeom>
                <a:avLst/>
                <a:gdLst/>
                <a:ahLst/>
                <a:cxnLst/>
                <a:rect l="l" t="t" r="r" b="b"/>
                <a:pathLst>
                  <a:path w="6286500" h="9525">
                    <a:moveTo>
                      <a:pt x="0" y="0"/>
                    </a:moveTo>
                    <a:lnTo>
                      <a:pt x="6286500" y="0"/>
                    </a:lnTo>
                  </a:path>
                </a:pathLst>
              </a:custGeom>
              <a:noFill/>
              <a:ln w="9525">
                <a:solidFill>
                  <a:schemeClr val="accent6"/>
                </a:solidFill>
              </a:ln>
            </p:spPr>
          </p:sp>
          <p:sp>
            <p:nvSpPr>
              <p:cNvPr id="13" name="Line 13"/>
              <p:cNvSpPr/>
              <p:nvPr/>
            </p:nvSpPr>
            <p:spPr>
              <a:xfrm>
                <a:off x="1333500" y="4572000"/>
                <a:ext cx="6286500" cy="9525"/>
              </a:xfrm>
              <a:custGeom>
                <a:avLst/>
                <a:gdLst/>
                <a:ahLst/>
                <a:cxnLst/>
                <a:rect l="l" t="t" r="r" b="b"/>
                <a:pathLst>
                  <a:path w="6286500" h="9525">
                    <a:moveTo>
                      <a:pt x="0" y="0"/>
                    </a:moveTo>
                    <a:lnTo>
                      <a:pt x="6286500" y="0"/>
                    </a:lnTo>
                  </a:path>
                </a:pathLst>
              </a:custGeom>
              <a:noFill/>
              <a:ln w="9525">
                <a:solidFill>
                  <a:schemeClr val="accent6"/>
                </a:solidFill>
              </a:ln>
            </p:spPr>
          </p:sp>
          <p:sp>
            <p:nvSpPr>
              <p:cNvPr id="14" name="Line 14"/>
              <p:cNvSpPr/>
              <p:nvPr/>
            </p:nvSpPr>
            <p:spPr>
              <a:xfrm>
                <a:off x="1333500" y="3810000"/>
                <a:ext cx="6286500" cy="9525"/>
              </a:xfrm>
              <a:custGeom>
                <a:avLst/>
                <a:gdLst/>
                <a:ahLst/>
                <a:cxnLst/>
                <a:rect l="l" t="t" r="r" b="b"/>
                <a:pathLst>
                  <a:path w="6286500" h="9525">
                    <a:moveTo>
                      <a:pt x="0" y="0"/>
                    </a:moveTo>
                    <a:lnTo>
                      <a:pt x="6286500" y="0"/>
                    </a:lnTo>
                  </a:path>
                </a:pathLst>
              </a:custGeom>
              <a:noFill/>
              <a:ln w="9525">
                <a:solidFill>
                  <a:schemeClr val="accent6"/>
                </a:solidFill>
              </a:ln>
            </p:spPr>
          </p:sp>
          <p:sp>
            <p:nvSpPr>
              <p:cNvPr id="15" name="Line 15"/>
              <p:cNvSpPr/>
              <p:nvPr/>
            </p:nvSpPr>
            <p:spPr>
              <a:xfrm>
                <a:off x="1333500" y="3048000"/>
                <a:ext cx="6286500" cy="9525"/>
              </a:xfrm>
              <a:custGeom>
                <a:avLst/>
                <a:gdLst/>
                <a:ahLst/>
                <a:cxnLst/>
                <a:rect l="l" t="t" r="r" b="b"/>
                <a:pathLst>
                  <a:path w="6286500" h="9525">
                    <a:moveTo>
                      <a:pt x="0" y="0"/>
                    </a:moveTo>
                    <a:lnTo>
                      <a:pt x="6286500" y="0"/>
                    </a:lnTo>
                  </a:path>
                </a:pathLst>
              </a:custGeom>
              <a:noFill/>
              <a:ln w="9525">
                <a:solidFill>
                  <a:schemeClr val="accent6"/>
                </a:solidFill>
              </a:ln>
            </p:spPr>
          </p:sp>
          <p:sp>
            <p:nvSpPr>
              <p:cNvPr id="16" name="Line 16"/>
              <p:cNvSpPr/>
              <p:nvPr/>
            </p:nvSpPr>
            <p:spPr>
              <a:xfrm>
                <a:off x="1333500" y="2286000"/>
                <a:ext cx="6286500" cy="9525"/>
              </a:xfrm>
              <a:custGeom>
                <a:avLst/>
                <a:gdLst/>
                <a:ahLst/>
                <a:cxnLst/>
                <a:rect l="l" t="t" r="r" b="b"/>
                <a:pathLst>
                  <a:path w="6286500" h="9525">
                    <a:moveTo>
                      <a:pt x="0" y="0"/>
                    </a:moveTo>
                    <a:lnTo>
                      <a:pt x="6286500" y="0"/>
                    </a:lnTo>
                  </a:path>
                </a:pathLst>
              </a:custGeom>
              <a:noFill/>
              <a:ln w="9525">
                <a:solidFill>
                  <a:schemeClr val="accent6"/>
                </a:solidFill>
              </a:ln>
            </p:spPr>
          </p:sp>
          <p:sp>
            <p:nvSpPr>
              <p:cNvPr id="17" name="TextBox 17"/>
              <p:cNvSpPr txBox="1"/>
              <p:nvPr/>
            </p:nvSpPr>
            <p:spPr>
              <a:xfrm>
                <a:off x="1124255" y="5252085"/>
                <a:ext cx="101041" cy="234696"/>
              </a:xfrm>
              <a:prstGeom prst="rect">
                <a:avLst/>
              </a:prstGeom>
              <a:noFill/>
              <a:ln>
                <a:noFill/>
              </a:ln>
            </p:spPr>
            <p:txBody>
              <a:bodyPr wrap="none" lIns="0" tIns="0" rIns="0" bIns="0" anchor="t" anchorCtr="0">
                <a:spAutoFit/>
              </a:bodyPr>
              <a:lstStyle/>
              <a:p>
                <a:pPr algn="r"/>
                <a:r>
                  <a:rPr lang="en-US" sz="1200" dirty="0">
                    <a:solidFill>
                      <a:schemeClr val="accent5"/>
                    </a:solidFill>
                    <a:latin typeface="Segoe UI"/>
                    <a:ea typeface="Segoe UI"/>
                    <a:cs typeface="Segoe UI"/>
                  </a:rPr>
                  <a:t>0</a:t>
                </a:r>
              </a:p>
            </p:txBody>
          </p:sp>
          <p:sp>
            <p:nvSpPr>
              <p:cNvPr id="18" name="TextBox 18"/>
              <p:cNvSpPr txBox="1"/>
              <p:nvPr/>
            </p:nvSpPr>
            <p:spPr>
              <a:xfrm>
                <a:off x="1035406" y="4490085"/>
                <a:ext cx="189890" cy="234696"/>
              </a:xfrm>
              <a:prstGeom prst="rect">
                <a:avLst/>
              </a:prstGeom>
              <a:noFill/>
              <a:ln>
                <a:noFill/>
              </a:ln>
            </p:spPr>
            <p:txBody>
              <a:bodyPr wrap="none" lIns="0" tIns="0" rIns="0" bIns="0" anchor="t" anchorCtr="0">
                <a:spAutoFit/>
              </a:bodyPr>
              <a:lstStyle/>
              <a:p>
                <a:pPr algn="r"/>
                <a:r>
                  <a:rPr lang="en-US" sz="1200" dirty="0">
                    <a:solidFill>
                      <a:schemeClr val="accent5"/>
                    </a:solidFill>
                    <a:latin typeface="Segoe UI"/>
                    <a:ea typeface="Segoe UI"/>
                    <a:cs typeface="Segoe UI"/>
                  </a:rPr>
                  <a:t>25</a:t>
                </a:r>
              </a:p>
            </p:txBody>
          </p:sp>
          <p:sp>
            <p:nvSpPr>
              <p:cNvPr id="19" name="TextBox 19"/>
              <p:cNvSpPr txBox="1"/>
              <p:nvPr/>
            </p:nvSpPr>
            <p:spPr>
              <a:xfrm>
                <a:off x="1035406" y="3728085"/>
                <a:ext cx="189890" cy="234696"/>
              </a:xfrm>
              <a:prstGeom prst="rect">
                <a:avLst/>
              </a:prstGeom>
              <a:noFill/>
              <a:ln>
                <a:noFill/>
              </a:ln>
            </p:spPr>
            <p:txBody>
              <a:bodyPr wrap="none" lIns="0" tIns="0" rIns="0" bIns="0" anchor="t" anchorCtr="0">
                <a:spAutoFit/>
              </a:bodyPr>
              <a:lstStyle/>
              <a:p>
                <a:pPr algn="r"/>
                <a:r>
                  <a:rPr lang="en-US" sz="1200" dirty="0">
                    <a:solidFill>
                      <a:schemeClr val="accent5"/>
                    </a:solidFill>
                    <a:latin typeface="Segoe UI"/>
                    <a:ea typeface="Segoe UI"/>
                    <a:cs typeface="Segoe UI"/>
                  </a:rPr>
                  <a:t>50</a:t>
                </a:r>
              </a:p>
            </p:txBody>
          </p:sp>
          <p:sp>
            <p:nvSpPr>
              <p:cNvPr id="20" name="TextBox 20"/>
              <p:cNvSpPr txBox="1"/>
              <p:nvPr/>
            </p:nvSpPr>
            <p:spPr>
              <a:xfrm>
                <a:off x="1035406" y="2966085"/>
                <a:ext cx="189890" cy="234696"/>
              </a:xfrm>
              <a:prstGeom prst="rect">
                <a:avLst/>
              </a:prstGeom>
              <a:noFill/>
              <a:ln>
                <a:noFill/>
              </a:ln>
            </p:spPr>
            <p:txBody>
              <a:bodyPr wrap="none" lIns="0" tIns="0" rIns="0" bIns="0" anchor="t" anchorCtr="0">
                <a:spAutoFit/>
              </a:bodyPr>
              <a:lstStyle/>
              <a:p>
                <a:pPr algn="r"/>
                <a:r>
                  <a:rPr lang="en-US" sz="1200" dirty="0">
                    <a:solidFill>
                      <a:schemeClr val="accent5"/>
                    </a:solidFill>
                    <a:latin typeface="Segoe UI"/>
                    <a:ea typeface="Segoe UI"/>
                    <a:cs typeface="Segoe UI"/>
                  </a:rPr>
                  <a:t>75</a:t>
                </a:r>
              </a:p>
            </p:txBody>
          </p:sp>
          <p:sp>
            <p:nvSpPr>
              <p:cNvPr id="21" name="TextBox 21"/>
              <p:cNvSpPr txBox="1"/>
              <p:nvPr/>
            </p:nvSpPr>
            <p:spPr>
              <a:xfrm>
                <a:off x="946556" y="2204085"/>
                <a:ext cx="278740" cy="234696"/>
              </a:xfrm>
              <a:prstGeom prst="rect">
                <a:avLst/>
              </a:prstGeom>
              <a:noFill/>
              <a:ln>
                <a:noFill/>
              </a:ln>
            </p:spPr>
            <p:txBody>
              <a:bodyPr wrap="none" lIns="0" tIns="0" rIns="0" bIns="0" anchor="t" anchorCtr="0">
                <a:spAutoFit/>
              </a:bodyPr>
              <a:lstStyle/>
              <a:p>
                <a:pPr algn="r"/>
                <a:r>
                  <a:rPr lang="en-US" sz="1200" dirty="0">
                    <a:solidFill>
                      <a:schemeClr val="accent5"/>
                    </a:solidFill>
                    <a:latin typeface="Segoe UI"/>
                    <a:ea typeface="Segoe UI"/>
                    <a:cs typeface="Segoe UI"/>
                  </a:rPr>
                  <a:t>100</a:t>
                </a:r>
              </a:p>
            </p:txBody>
          </p:sp>
          <p:sp>
            <p:nvSpPr>
              <p:cNvPr id="22" name="Line 22"/>
              <p:cNvSpPr/>
              <p:nvPr/>
            </p:nvSpPr>
            <p:spPr>
              <a:xfrm>
                <a:off x="1333500" y="2286000"/>
                <a:ext cx="9525" cy="3048000"/>
              </a:xfrm>
              <a:custGeom>
                <a:avLst/>
                <a:gdLst/>
                <a:ahLst/>
                <a:cxnLst/>
                <a:rect l="l" t="t" r="r" b="b"/>
                <a:pathLst>
                  <a:path w="9525" h="3048000">
                    <a:moveTo>
                      <a:pt x="0" y="0"/>
                    </a:moveTo>
                    <a:lnTo>
                      <a:pt x="0" y="3048000"/>
                    </a:lnTo>
                  </a:path>
                </a:pathLst>
              </a:custGeom>
              <a:noFill/>
              <a:ln w="14288">
                <a:solidFill>
                  <a:schemeClr val="accent4"/>
                </a:solidFill>
              </a:ln>
            </p:spPr>
          </p:sp>
          <p:sp>
            <p:nvSpPr>
              <p:cNvPr id="23" name="Line 23"/>
              <p:cNvSpPr/>
              <p:nvPr/>
            </p:nvSpPr>
            <p:spPr>
              <a:xfrm>
                <a:off x="1333500" y="5334000"/>
                <a:ext cx="6286500" cy="9525"/>
              </a:xfrm>
              <a:custGeom>
                <a:avLst/>
                <a:gdLst/>
                <a:ahLst/>
                <a:cxnLst/>
                <a:rect l="l" t="t" r="r" b="b"/>
                <a:pathLst>
                  <a:path w="6286500" h="9525">
                    <a:moveTo>
                      <a:pt x="0" y="0"/>
                    </a:moveTo>
                    <a:lnTo>
                      <a:pt x="6286500" y="0"/>
                    </a:lnTo>
                  </a:path>
                </a:pathLst>
              </a:custGeom>
              <a:noFill/>
              <a:ln w="14288">
                <a:solidFill>
                  <a:schemeClr val="accent4"/>
                </a:solidFill>
              </a:ln>
            </p:spPr>
          </p:sp>
          <p:sp>
            <p:nvSpPr>
              <p:cNvPr id="24" name="Rectangle 24"/>
              <p:cNvSpPr/>
              <p:nvPr/>
            </p:nvSpPr>
            <p:spPr>
              <a:xfrm>
                <a:off x="1547812" y="3492818"/>
                <a:ext cx="533400" cy="1841182"/>
              </a:xfrm>
              <a:prstGeom prst="rect">
                <a:avLst/>
              </a:prstGeom>
              <a:solidFill>
                <a:srgbClr val="8A94A0"/>
              </a:solidFill>
              <a:ln>
                <a:noFill/>
              </a:ln>
            </p:spPr>
          </p:sp>
          <p:sp>
            <p:nvSpPr>
              <p:cNvPr id="25" name="TextBox 25"/>
              <p:cNvSpPr txBox="1"/>
              <p:nvPr/>
            </p:nvSpPr>
            <p:spPr>
              <a:xfrm>
                <a:off x="1586294" y="3280410"/>
                <a:ext cx="456438" cy="234696"/>
              </a:xfrm>
              <a:prstGeom prst="rect">
                <a:avLst/>
              </a:prstGeom>
              <a:noFill/>
              <a:ln>
                <a:noFill/>
              </a:ln>
            </p:spPr>
            <p:txBody>
              <a:bodyPr wrap="none" lIns="0" tIns="0" rIns="0" bIns="0" anchor="t" anchorCtr="0">
                <a:spAutoFit/>
              </a:bodyPr>
              <a:lstStyle/>
              <a:p>
                <a:pPr algn="ctr"/>
                <a:r>
                  <a:rPr lang="en-US" sz="1200" dirty="0">
                    <a:solidFill>
                      <a:schemeClr val="dk2"/>
                    </a:solidFill>
                    <a:latin typeface="Segoe UI"/>
                    <a:ea typeface="Segoe UI"/>
                    <a:cs typeface="Segoe UI"/>
                  </a:rPr>
                  <a:t>60.40</a:t>
                </a:r>
              </a:p>
            </p:txBody>
          </p:sp>
          <p:sp>
            <p:nvSpPr>
              <p:cNvPr id="26" name="Rectangle 26"/>
              <p:cNvSpPr/>
              <p:nvPr/>
            </p:nvSpPr>
            <p:spPr>
              <a:xfrm>
                <a:off x="2157412" y="3145155"/>
                <a:ext cx="533400" cy="2188845"/>
              </a:xfrm>
              <a:prstGeom prst="rect">
                <a:avLst/>
              </a:prstGeom>
              <a:solidFill>
                <a:schemeClr val="accent1"/>
              </a:solidFill>
              <a:ln>
                <a:noFill/>
              </a:ln>
            </p:spPr>
          </p:sp>
          <p:sp>
            <p:nvSpPr>
              <p:cNvPr id="27" name="TextBox 27"/>
              <p:cNvSpPr txBox="1"/>
              <p:nvPr/>
            </p:nvSpPr>
            <p:spPr>
              <a:xfrm>
                <a:off x="2184787" y="2937510"/>
                <a:ext cx="478650" cy="234696"/>
              </a:xfrm>
              <a:prstGeom prst="rect">
                <a:avLst/>
              </a:prstGeom>
              <a:noFill/>
              <a:ln>
                <a:noFill/>
              </a:ln>
            </p:spPr>
            <p:txBody>
              <a:bodyPr wrap="none" lIns="0" tIns="0" rIns="0" bIns="0" anchor="t" anchorCtr="0">
                <a:spAutoFit/>
              </a:bodyPr>
              <a:lstStyle/>
              <a:p>
                <a:pPr algn="ctr"/>
                <a:r>
                  <a:rPr lang="en-US" sz="1200" b="1" dirty="0">
                    <a:solidFill>
                      <a:schemeClr val="accent1"/>
                    </a:solidFill>
                    <a:latin typeface="Segoe UI"/>
                    <a:ea typeface="Segoe UI"/>
                    <a:cs typeface="Segoe UI"/>
                  </a:rPr>
                  <a:t>71.81</a:t>
                </a:r>
              </a:p>
            </p:txBody>
          </p:sp>
          <p:sp>
            <p:nvSpPr>
              <p:cNvPr id="28" name="TextBox 28"/>
              <p:cNvSpPr txBox="1"/>
              <p:nvPr/>
            </p:nvSpPr>
            <p:spPr>
              <a:xfrm>
                <a:off x="1740271" y="5474018"/>
                <a:ext cx="758083" cy="264033"/>
              </a:xfrm>
              <a:prstGeom prst="rect">
                <a:avLst/>
              </a:prstGeom>
              <a:noFill/>
              <a:ln>
                <a:noFill/>
              </a:ln>
            </p:spPr>
            <p:txBody>
              <a:bodyPr wrap="none" lIns="0" tIns="0" rIns="0" bIns="0" anchor="t" anchorCtr="0">
                <a:spAutoFit/>
              </a:bodyPr>
              <a:lstStyle/>
              <a:p>
                <a:pPr algn="ctr"/>
                <a:r>
                  <a:rPr lang="en-US" sz="1350" dirty="0">
                    <a:solidFill>
                      <a:schemeClr val="dk1"/>
                    </a:solidFill>
                    <a:latin typeface="Segoe UI"/>
                    <a:ea typeface="Segoe UI"/>
                    <a:cs typeface="Segoe UI"/>
                  </a:rPr>
                  <a:t>Combo@1</a:t>
                </a:r>
              </a:p>
            </p:txBody>
          </p:sp>
          <p:sp>
            <p:nvSpPr>
              <p:cNvPr id="29" name="Rectangle 29"/>
              <p:cNvSpPr/>
              <p:nvPr/>
            </p:nvSpPr>
            <p:spPr>
              <a:xfrm>
                <a:off x="3119438" y="3315652"/>
                <a:ext cx="533400" cy="2018348"/>
              </a:xfrm>
              <a:prstGeom prst="rect">
                <a:avLst/>
              </a:prstGeom>
              <a:solidFill>
                <a:srgbClr val="8A94A0"/>
              </a:solidFill>
              <a:ln>
                <a:noFill/>
              </a:ln>
            </p:spPr>
          </p:sp>
          <p:sp>
            <p:nvSpPr>
              <p:cNvPr id="30" name="TextBox 30"/>
              <p:cNvSpPr txBox="1"/>
              <p:nvPr/>
            </p:nvSpPr>
            <p:spPr>
              <a:xfrm>
                <a:off x="3157918" y="3108960"/>
                <a:ext cx="456438" cy="234696"/>
              </a:xfrm>
              <a:prstGeom prst="rect">
                <a:avLst/>
              </a:prstGeom>
              <a:noFill/>
              <a:ln>
                <a:noFill/>
              </a:ln>
            </p:spPr>
            <p:txBody>
              <a:bodyPr wrap="none" lIns="0" tIns="0" rIns="0" bIns="0" anchor="t" anchorCtr="0">
                <a:spAutoFit/>
              </a:bodyPr>
              <a:lstStyle/>
              <a:p>
                <a:pPr algn="ctr"/>
                <a:r>
                  <a:rPr lang="en-US" sz="1200" dirty="0">
                    <a:solidFill>
                      <a:schemeClr val="dk2"/>
                    </a:solidFill>
                    <a:latin typeface="Segoe UI"/>
                    <a:ea typeface="Segoe UI"/>
                    <a:cs typeface="Segoe UI"/>
                  </a:rPr>
                  <a:t>66.22</a:t>
                </a:r>
              </a:p>
            </p:txBody>
          </p:sp>
          <p:sp>
            <p:nvSpPr>
              <p:cNvPr id="31" name="Rectangle 31"/>
              <p:cNvSpPr/>
              <p:nvPr/>
            </p:nvSpPr>
            <p:spPr>
              <a:xfrm>
                <a:off x="3729038" y="2751772"/>
                <a:ext cx="533400" cy="2582228"/>
              </a:xfrm>
              <a:prstGeom prst="rect">
                <a:avLst/>
              </a:prstGeom>
              <a:solidFill>
                <a:schemeClr val="accent1"/>
              </a:solidFill>
              <a:ln>
                <a:noFill/>
              </a:ln>
            </p:spPr>
          </p:sp>
          <p:sp>
            <p:nvSpPr>
              <p:cNvPr id="32" name="TextBox 32"/>
              <p:cNvSpPr txBox="1"/>
              <p:nvPr/>
            </p:nvSpPr>
            <p:spPr>
              <a:xfrm>
                <a:off x="3756412" y="2546985"/>
                <a:ext cx="478650" cy="234696"/>
              </a:xfrm>
              <a:prstGeom prst="rect">
                <a:avLst/>
              </a:prstGeom>
              <a:noFill/>
              <a:ln>
                <a:noFill/>
              </a:ln>
            </p:spPr>
            <p:txBody>
              <a:bodyPr wrap="none" lIns="0" tIns="0" rIns="0" bIns="0" anchor="t" anchorCtr="0">
                <a:spAutoFit/>
              </a:bodyPr>
              <a:lstStyle/>
              <a:p>
                <a:pPr algn="ctr"/>
                <a:r>
                  <a:rPr lang="en-US" sz="1200" b="1" dirty="0">
                    <a:solidFill>
                      <a:schemeClr val="accent1"/>
                    </a:solidFill>
                    <a:latin typeface="Segoe UI"/>
                    <a:ea typeface="Segoe UI"/>
                    <a:cs typeface="Segoe UI"/>
                  </a:rPr>
                  <a:t>84.71</a:t>
                </a:r>
              </a:p>
            </p:txBody>
          </p:sp>
          <p:sp>
            <p:nvSpPr>
              <p:cNvPr id="33" name="TextBox 33"/>
              <p:cNvSpPr txBox="1"/>
              <p:nvPr/>
            </p:nvSpPr>
            <p:spPr>
              <a:xfrm>
                <a:off x="3311896" y="5474018"/>
                <a:ext cx="758083" cy="264033"/>
              </a:xfrm>
              <a:prstGeom prst="rect">
                <a:avLst/>
              </a:prstGeom>
              <a:noFill/>
              <a:ln>
                <a:noFill/>
              </a:ln>
            </p:spPr>
            <p:txBody>
              <a:bodyPr wrap="none" lIns="0" tIns="0" rIns="0" bIns="0" anchor="t" anchorCtr="0">
                <a:spAutoFit/>
              </a:bodyPr>
              <a:lstStyle/>
              <a:p>
                <a:pPr algn="ctr"/>
                <a:r>
                  <a:rPr lang="en-US" sz="1350" dirty="0">
                    <a:solidFill>
                      <a:schemeClr val="dk1"/>
                    </a:solidFill>
                    <a:latin typeface="Segoe UI"/>
                    <a:ea typeface="Segoe UI"/>
                    <a:cs typeface="Segoe UI"/>
                  </a:rPr>
                  <a:t>Combo@5</a:t>
                </a:r>
              </a:p>
            </p:txBody>
          </p:sp>
          <p:sp>
            <p:nvSpPr>
              <p:cNvPr id="34" name="Rectangle 34"/>
              <p:cNvSpPr/>
              <p:nvPr/>
            </p:nvSpPr>
            <p:spPr>
              <a:xfrm>
                <a:off x="4691062" y="3230880"/>
                <a:ext cx="533400" cy="2103120"/>
              </a:xfrm>
              <a:prstGeom prst="rect">
                <a:avLst/>
              </a:prstGeom>
              <a:solidFill>
                <a:srgbClr val="8A94A0"/>
              </a:solidFill>
              <a:ln>
                <a:noFill/>
              </a:ln>
            </p:spPr>
          </p:sp>
          <p:sp>
            <p:nvSpPr>
              <p:cNvPr id="35" name="TextBox 35"/>
              <p:cNvSpPr txBox="1"/>
              <p:nvPr/>
            </p:nvSpPr>
            <p:spPr>
              <a:xfrm>
                <a:off x="4729544" y="3023235"/>
                <a:ext cx="456438" cy="234696"/>
              </a:xfrm>
              <a:prstGeom prst="rect">
                <a:avLst/>
              </a:prstGeom>
              <a:noFill/>
              <a:ln>
                <a:noFill/>
              </a:ln>
            </p:spPr>
            <p:txBody>
              <a:bodyPr wrap="none" lIns="0" tIns="0" rIns="0" bIns="0" anchor="t" anchorCtr="0">
                <a:spAutoFit/>
              </a:bodyPr>
              <a:lstStyle/>
              <a:p>
                <a:pPr algn="ctr"/>
                <a:r>
                  <a:rPr lang="en-US" sz="1200" dirty="0">
                    <a:solidFill>
                      <a:schemeClr val="dk2"/>
                    </a:solidFill>
                    <a:latin typeface="Segoe UI"/>
                    <a:ea typeface="Segoe UI"/>
                    <a:cs typeface="Segoe UI"/>
                  </a:rPr>
                  <a:t>69.00</a:t>
                </a:r>
              </a:p>
            </p:txBody>
          </p:sp>
          <p:sp>
            <p:nvSpPr>
              <p:cNvPr id="36" name="Rectangle 36"/>
              <p:cNvSpPr/>
              <p:nvPr/>
            </p:nvSpPr>
            <p:spPr>
              <a:xfrm>
                <a:off x="5300662" y="2614612"/>
                <a:ext cx="533400" cy="2719388"/>
              </a:xfrm>
              <a:prstGeom prst="rect">
                <a:avLst/>
              </a:prstGeom>
              <a:solidFill>
                <a:schemeClr val="accent1"/>
              </a:solidFill>
              <a:ln>
                <a:noFill/>
              </a:ln>
            </p:spPr>
          </p:sp>
          <p:sp>
            <p:nvSpPr>
              <p:cNvPr id="37" name="TextBox 37"/>
              <p:cNvSpPr txBox="1"/>
              <p:nvPr/>
            </p:nvSpPr>
            <p:spPr>
              <a:xfrm>
                <a:off x="5328037" y="2404110"/>
                <a:ext cx="478650" cy="234696"/>
              </a:xfrm>
              <a:prstGeom prst="rect">
                <a:avLst/>
              </a:prstGeom>
              <a:noFill/>
              <a:ln>
                <a:noFill/>
              </a:ln>
            </p:spPr>
            <p:txBody>
              <a:bodyPr wrap="none" lIns="0" tIns="0" rIns="0" bIns="0" anchor="t" anchorCtr="0">
                <a:spAutoFit/>
              </a:bodyPr>
              <a:lstStyle/>
              <a:p>
                <a:pPr algn="ctr"/>
                <a:r>
                  <a:rPr lang="en-US" sz="1200" b="1" dirty="0">
                    <a:solidFill>
                      <a:schemeClr val="accent1"/>
                    </a:solidFill>
                    <a:latin typeface="Segoe UI"/>
                    <a:ea typeface="Segoe UI"/>
                    <a:cs typeface="Segoe UI"/>
                  </a:rPr>
                  <a:t>89.21</a:t>
                </a:r>
              </a:p>
            </p:txBody>
          </p:sp>
          <p:sp>
            <p:nvSpPr>
              <p:cNvPr id="38" name="TextBox 38"/>
              <p:cNvSpPr txBox="1"/>
              <p:nvPr/>
            </p:nvSpPr>
            <p:spPr>
              <a:xfrm>
                <a:off x="4832977" y="5474018"/>
                <a:ext cx="859170" cy="264033"/>
              </a:xfrm>
              <a:prstGeom prst="rect">
                <a:avLst/>
              </a:prstGeom>
              <a:noFill/>
              <a:ln>
                <a:noFill/>
              </a:ln>
            </p:spPr>
            <p:txBody>
              <a:bodyPr wrap="none" lIns="0" tIns="0" rIns="0" bIns="0" anchor="t" anchorCtr="0">
                <a:spAutoFit/>
              </a:bodyPr>
              <a:lstStyle/>
              <a:p>
                <a:pPr algn="ctr"/>
                <a:r>
                  <a:rPr lang="en-US" sz="1350" dirty="0">
                    <a:solidFill>
                      <a:schemeClr val="dk1"/>
                    </a:solidFill>
                    <a:latin typeface="Segoe UI"/>
                    <a:ea typeface="Segoe UI"/>
                    <a:cs typeface="Segoe UI"/>
                  </a:rPr>
                  <a:t>Combo@20</a:t>
                </a:r>
              </a:p>
            </p:txBody>
          </p:sp>
          <p:sp>
            <p:nvSpPr>
              <p:cNvPr id="39" name="Rectangle 39"/>
              <p:cNvSpPr/>
              <p:nvPr/>
            </p:nvSpPr>
            <p:spPr>
              <a:xfrm>
                <a:off x="6262688" y="3405188"/>
                <a:ext cx="533400" cy="1928812"/>
              </a:xfrm>
              <a:prstGeom prst="rect">
                <a:avLst/>
              </a:prstGeom>
              <a:solidFill>
                <a:srgbClr val="8A94A0"/>
              </a:solidFill>
              <a:ln>
                <a:noFill/>
              </a:ln>
            </p:spPr>
          </p:sp>
          <p:sp>
            <p:nvSpPr>
              <p:cNvPr id="40" name="TextBox 40"/>
              <p:cNvSpPr txBox="1"/>
              <p:nvPr/>
            </p:nvSpPr>
            <p:spPr>
              <a:xfrm>
                <a:off x="6301168" y="3194685"/>
                <a:ext cx="456438" cy="234696"/>
              </a:xfrm>
              <a:prstGeom prst="rect">
                <a:avLst/>
              </a:prstGeom>
              <a:noFill/>
              <a:ln>
                <a:noFill/>
              </a:ln>
            </p:spPr>
            <p:txBody>
              <a:bodyPr wrap="none" lIns="0" tIns="0" rIns="0" bIns="0" anchor="t" anchorCtr="0">
                <a:spAutoFit/>
              </a:bodyPr>
              <a:lstStyle/>
              <a:p>
                <a:pPr algn="ctr"/>
                <a:r>
                  <a:rPr lang="en-US" sz="1200" dirty="0">
                    <a:solidFill>
                      <a:schemeClr val="dk2"/>
                    </a:solidFill>
                    <a:latin typeface="Segoe UI"/>
                    <a:ea typeface="Segoe UI"/>
                    <a:cs typeface="Segoe UI"/>
                  </a:rPr>
                  <a:t>63.29</a:t>
                </a:r>
              </a:p>
            </p:txBody>
          </p:sp>
          <p:sp>
            <p:nvSpPr>
              <p:cNvPr id="41" name="Rectangle 41"/>
              <p:cNvSpPr/>
              <p:nvPr/>
            </p:nvSpPr>
            <p:spPr>
              <a:xfrm>
                <a:off x="6872288" y="2972752"/>
                <a:ext cx="533400" cy="2361248"/>
              </a:xfrm>
              <a:prstGeom prst="rect">
                <a:avLst/>
              </a:prstGeom>
              <a:solidFill>
                <a:schemeClr val="accent1"/>
              </a:solidFill>
              <a:ln>
                <a:noFill/>
              </a:ln>
            </p:spPr>
          </p:sp>
          <p:sp>
            <p:nvSpPr>
              <p:cNvPr id="42" name="TextBox 42"/>
              <p:cNvSpPr txBox="1"/>
              <p:nvPr/>
            </p:nvSpPr>
            <p:spPr>
              <a:xfrm>
                <a:off x="6899662" y="2766060"/>
                <a:ext cx="478650" cy="234696"/>
              </a:xfrm>
              <a:prstGeom prst="rect">
                <a:avLst/>
              </a:prstGeom>
              <a:noFill/>
              <a:ln>
                <a:noFill/>
              </a:ln>
            </p:spPr>
            <p:txBody>
              <a:bodyPr wrap="none" lIns="0" tIns="0" rIns="0" bIns="0" anchor="t" anchorCtr="0">
                <a:spAutoFit/>
              </a:bodyPr>
              <a:lstStyle/>
              <a:p>
                <a:pPr algn="ctr"/>
                <a:r>
                  <a:rPr lang="en-US" sz="1200" b="1" dirty="0">
                    <a:solidFill>
                      <a:schemeClr val="accent1"/>
                    </a:solidFill>
                    <a:latin typeface="Segoe UI"/>
                    <a:ea typeface="Segoe UI"/>
                    <a:cs typeface="Segoe UI"/>
                  </a:rPr>
                  <a:t>77.48</a:t>
                </a:r>
              </a:p>
            </p:txBody>
          </p:sp>
          <p:sp>
            <p:nvSpPr>
              <p:cNvPr id="43" name="TextBox 43"/>
              <p:cNvSpPr txBox="1"/>
              <p:nvPr/>
            </p:nvSpPr>
            <p:spPr>
              <a:xfrm>
                <a:off x="6350784" y="5474018"/>
                <a:ext cx="966807" cy="264033"/>
              </a:xfrm>
              <a:prstGeom prst="rect">
                <a:avLst/>
              </a:prstGeom>
              <a:noFill/>
              <a:ln>
                <a:noFill/>
              </a:ln>
            </p:spPr>
            <p:txBody>
              <a:bodyPr wrap="none" lIns="0" tIns="0" rIns="0" bIns="0" anchor="t" anchorCtr="0">
                <a:spAutoFit/>
              </a:bodyPr>
              <a:lstStyle/>
              <a:p>
                <a:pPr algn="ctr"/>
                <a:r>
                  <a:rPr lang="en-US" sz="1350" dirty="0">
                    <a:solidFill>
                      <a:schemeClr val="dk1"/>
                    </a:solidFill>
                    <a:latin typeface="Segoe UI"/>
                    <a:ea typeface="Segoe UI"/>
                    <a:cs typeface="Segoe UI"/>
                  </a:rPr>
                  <a:t>Combo MRR</a:t>
                </a:r>
              </a:p>
            </p:txBody>
          </p:sp>
        </p:grpSp>
        <p:sp>
          <p:nvSpPr>
            <p:cNvPr id="45" name="TextBox 45"/>
            <p:cNvSpPr txBox="1"/>
            <p:nvPr/>
          </p:nvSpPr>
          <p:spPr>
            <a:xfrm>
              <a:off x="1327404" y="5852160"/>
              <a:ext cx="6453413"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Segoe UI"/>
                  <a:ea typeface="Microsoft YaHei"/>
                  <a:cs typeface="Segoe UI"/>
                </a:rPr>
                <a:t>Retro 测试集 2,558 条，精确集合命中率 %，全分母；top_m 30 · pool 15 · 集合 2–5 元</a:t>
              </a:r>
            </a:p>
          </p:txBody>
        </p:sp>
      </p:grpSp>
      <p:grpSp>
        <p:nvGrpSpPr>
          <p:cNvPr id="51" name="Group 51"/>
          <p:cNvGrpSpPr/>
          <p:nvPr/>
        </p:nvGrpSpPr>
        <p:grpSpPr>
          <a:xfrm>
            <a:off x="8001000" y="2095500"/>
            <a:ext cx="3505200" cy="4105656"/>
            <a:chOff x="8001000" y="2095500"/>
            <a:chExt cx="3505200" cy="4105656"/>
          </a:xfrm>
        </p:grpSpPr>
        <p:sp>
          <p:nvSpPr>
            <p:cNvPr id="47" name="Rectangle 47"/>
            <p:cNvSpPr/>
            <p:nvPr/>
          </p:nvSpPr>
          <p:spPr>
            <a:xfrm>
              <a:off x="8001000" y="2095500"/>
              <a:ext cx="3505200" cy="3905250"/>
            </a:xfrm>
            <a:prstGeom prst="rect">
              <a:avLst/>
            </a:prstGeom>
            <a:solidFill>
              <a:schemeClr val="lt2"/>
            </a:solidFill>
            <a:ln>
              <a:noFill/>
            </a:ln>
          </p:spPr>
        </p:sp>
        <p:sp>
          <p:nvSpPr>
            <p:cNvPr id="48" name="TextBox 48"/>
            <p:cNvSpPr txBox="1"/>
            <p:nvPr/>
          </p:nvSpPr>
          <p:spPr>
            <a:xfrm>
              <a:off x="8220456" y="2244090"/>
              <a:ext cx="1290447"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Segoe UI"/>
                  <a:ea typeface="Microsoft YaHei"/>
                  <a:cs typeface="Segoe UI"/>
                </a:rPr>
                <a:t>读数与对照</a:t>
              </a:r>
            </a:p>
          </p:txBody>
        </p:sp>
        <p:sp>
          <p:nvSpPr>
            <p:cNvPr id="49" name="TextBox 49"/>
            <p:cNvSpPr txBox="1"/>
            <p:nvPr/>
          </p:nvSpPr>
          <p:spPr>
            <a:xfrm>
              <a:off x="8222742" y="2673668"/>
              <a:ext cx="2636901" cy="2435733"/>
            </a:xfrm>
            <a:prstGeom prst="rect">
              <a:avLst/>
            </a:prstGeom>
            <a:noFill/>
            <a:ln>
              <a:noFill/>
            </a:ln>
          </p:spPr>
          <p:txBody>
            <a:bodyPr wrap="square" lIns="0" tIns="0" rIns="0" bIns="0" anchor="t" anchorCtr="0"/>
            <a:lstStyle/>
            <a:p>
              <a:pPr algn="l">
                <a:lnSpc>
                  <a:spcPts val="1950"/>
                </a:lnSpc>
              </a:pPr>
              <a:r>
                <a:rPr lang="zh-CN" sz="1350" b="1" dirty="0">
                  <a:solidFill>
                    <a:schemeClr val="dk1"/>
                  </a:solidFill>
                  <a:latin typeface="Segoe UI"/>
                  <a:ea typeface="Microsoft YaHei"/>
                  <a:cs typeface="Segoe UI"/>
                </a:rPr>
                <a:t>Stage 1 Top-20 覆盖</a:t>
              </a:r>
              <a:r>
                <a:rPr lang="zh-CN" sz="1350" dirty="0">
                  <a:solidFill>
                    <a:schemeClr val="dk1"/>
                  </a:solidFill>
                  <a:latin typeface="Segoe UI"/>
                  <a:ea typeface="Microsoft YaHei"/>
                  <a:cs typeface="Segoe UI"/>
                </a:rPr>
                <a:t>95.78（基线 92.96）</a:t>
              </a:r>
            </a:p>
            <a:p>
              <a:pPr algn="l">
                <a:lnSpc>
                  <a:spcPts val="1950"/>
                </a:lnSpc>
                <a:spcBef>
                  <a:spcPts val="750"/>
                </a:spcBef>
              </a:pPr>
              <a:r>
                <a:rPr lang="zh-CN" sz="1350" b="1" dirty="0">
                  <a:solidFill>
                    <a:schemeClr val="dk1"/>
                  </a:solidFill>
                  <a:latin typeface="Segoe UI"/>
                  <a:ea typeface="Microsoft YaHei"/>
                  <a:cs typeface="Segoe UI"/>
                </a:rPr>
                <a:t>论文三种子均值</a:t>
              </a:r>
              <a:r>
                <a:rPr lang="en-US" sz="1350" dirty="0">
                  <a:solidFill>
                    <a:schemeClr val="dk1"/>
                  </a:solidFill>
                  <a:latin typeface="Segoe UI"/>
                  <a:ea typeface="Segoe UI"/>
                  <a:cs typeface="Segoe UI"/>
                </a:rPr>
                <a:t xml:space="preserve">71.70 ± 0.10 · 84.52 ± 1.48 </a:t>
              </a:r>
              <a:r>
                <a:rPr lang="en-US" sz="1350" dirty="0">
                  <a:solidFill>
                    <a:schemeClr val="dk1"/>
                  </a:solidFill>
                  <a:latin typeface="Segoe UI"/>
                  <a:ea typeface="Segoe UI"/>
                  <a:cs typeface="Segoe UI"/>
                </a:rPr>
                <a:t>89.82 ± 1.74 · 77.43 ± 0.69</a:t>
              </a:r>
            </a:p>
            <a:p>
              <a:pPr algn="l">
                <a:lnSpc>
                  <a:spcPts val="1950"/>
                </a:lnSpc>
                <a:spcBef>
                  <a:spcPts val="750"/>
                </a:spcBef>
              </a:pPr>
              <a:r>
                <a:rPr lang="zh-CN" sz="1350" b="1" dirty="0">
                  <a:solidFill>
                    <a:schemeClr val="dk1"/>
                  </a:solidFill>
                  <a:latin typeface="Segoe UI"/>
                  <a:ea typeface="Microsoft YaHei"/>
                  <a:cs typeface="Segoe UI"/>
                </a:rPr>
                <a:t>同枚举 product 对照</a:t>
              </a:r>
              <a:r>
                <a:rPr lang="en-US" sz="1350" dirty="0">
                  <a:solidFill>
                    <a:schemeClr val="dk1"/>
                  </a:solidFill>
                  <a:latin typeface="Segoe UI"/>
                  <a:ea typeface="Segoe UI"/>
                  <a:cs typeface="Segoe UI"/>
                </a:rPr>
                <a:t xml:space="preserve">Combo@1 11.65 · MRR 23.24 </a:t>
              </a:r>
              <a:r>
                <a:rPr lang="zh-CN" sz="1350" dirty="0">
                  <a:solidFill>
                    <a:schemeClr val="dk1"/>
                  </a:solidFill>
                  <a:latin typeface="Segoe UI"/>
                  <a:ea typeface="Microsoft YaHei"/>
                  <a:cs typeface="Segoe UI"/>
                </a:rPr>
                <a:t>→ 增益来自</a:t>
              </a:r>
              <a:r>
                <a:rPr lang="zh-CN" sz="1350" b="1" dirty="0">
                  <a:solidFill>
                    <a:schemeClr val="accent2"/>
                  </a:solidFill>
                  <a:latin typeface="Segoe UI"/>
                  <a:ea typeface="Microsoft YaHei"/>
                  <a:cs typeface="Segoe UI"/>
                </a:rPr>
                <a:t>学习到的集合级排序</a:t>
              </a:r>
              <a:r>
                <a:rPr lang="zh-CN" sz="1350" dirty="0">
                  <a:solidFill>
                    <a:schemeClr val="dk1"/>
                  </a:solidFill>
                  <a:latin typeface="Segoe UI"/>
                  <a:ea typeface="Microsoft YaHei"/>
                  <a:cs typeface="Segoe UI"/>
                </a:rPr>
                <a:t>，</a:t>
              </a:r>
              <a:r>
                <a:rPr lang="zh-CN" sz="1350" dirty="0">
                  <a:solidFill>
                    <a:schemeClr val="dk1"/>
                  </a:solidFill>
                  <a:latin typeface="Segoe UI"/>
                  <a:ea typeface="Microsoft YaHei"/>
                  <a:cs typeface="Segoe UI"/>
                </a:rPr>
                <a:t>而非候选枚举或过滤本身</a:t>
              </a:r>
            </a:p>
          </p:txBody>
        </p:sp>
        <p:sp>
          <p:nvSpPr>
            <p:cNvPr id="50" name="TextBox 50"/>
            <p:cNvSpPr txBox="1"/>
            <p:nvPr/>
          </p:nvSpPr>
          <p:spPr>
            <a:xfrm>
              <a:off x="8223504" y="5509260"/>
              <a:ext cx="2923032" cy="691896"/>
            </a:xfrm>
            <a:prstGeom prst="rect">
              <a:avLst/>
            </a:prstGeom>
            <a:noFill/>
            <a:ln>
              <a:noFill/>
            </a:ln>
          </p:spPr>
          <p:txBody>
            <a:bodyPr wrap="square" lIns="0" tIns="0" rIns="0" bIns="0" anchor="t" anchorCtr="0"/>
            <a:lstStyle/>
            <a:p>
              <a:pPr algn="l">
                <a:lnSpc>
                  <a:spcPts val="1800"/>
                </a:lnSpc>
              </a:pPr>
              <a:r>
                <a:rPr lang="zh-CN" sz="1200" dirty="0">
                  <a:solidFill>
                    <a:schemeClr val="dk2"/>
                  </a:solidFill>
                  <a:latin typeface="Segoe UI"/>
                  <a:ea typeface="Microsoft YaHei"/>
                  <a:cs typeface="Segoe UI"/>
                </a:rPr>
                <a:t>eval_retro_benchmark.py · GPU 19 分钟</a:t>
              </a:r>
              <a:r>
                <a:rPr lang="en-US" sz="1200" dirty="0">
                  <a:solidFill>
                    <a:schemeClr val="dk2"/>
                  </a:solidFill>
                  <a:latin typeface="Segoe UI"/>
                  <a:ea typeface="Segoe UI"/>
                  <a:cs typeface="Segoe UI"/>
                </a:rPr>
                <a:t>metrics/retro_benchmark.json</a:t>
              </a:r>
              <a:r>
                <a:rPr lang="zh-CN" sz="1200" dirty="0">
                  <a:solidFill>
                    <a:schemeClr val="dk2"/>
                  </a:solidFill>
                  <a:latin typeface="Segoe UI"/>
                  <a:ea typeface="Microsoft YaHei"/>
                  <a:cs typeface="Segoe UI"/>
                </a:rPr>
                <a:t>逐目标名次：…per_target.jsonl</a:t>
              </a:r>
            </a:p>
          </p:txBody>
        </p:sp>
      </p:grpSp>
      <p:grpSp>
        <p:nvGrpSpPr>
          <p:cNvPr id="54" name="Group 54"/>
          <p:cNvGrpSpPr/>
          <p:nvPr/>
        </p:nvGrpSpPr>
        <p:grpSpPr>
          <a:xfrm>
            <a:off x="679704" y="6480810"/>
            <a:ext cx="10832592" cy="234696"/>
            <a:chOff x="679704" y="6480810"/>
            <a:chExt cx="10832592" cy="234696"/>
          </a:xfrm>
        </p:grpSpPr>
        <p:sp>
          <p:nvSpPr>
            <p:cNvPr id="52" name="TextBox 52"/>
            <p:cNvSpPr txBox="1"/>
            <p:nvPr/>
          </p:nvSpPr>
          <p:spPr>
            <a:xfrm>
              <a:off x="679704" y="6480810"/>
              <a:ext cx="3429795"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Segoe UI"/>
                  <a:ea typeface="Microsoft YaHei"/>
                  <a:cs typeface="Segoe UI"/>
                </a:rPr>
                <a:t>SAGE-Mat · GoAI Research · GOAI 2026 复赛</a:t>
              </a:r>
            </a:p>
          </p:txBody>
        </p:sp>
        <p:sp>
          <p:nvSpPr>
            <p:cNvPr id="53" name="TextBox 53"/>
            <p:cNvSpPr txBox="1"/>
            <p:nvPr/>
          </p:nvSpPr>
          <p:spPr>
            <a:xfrm>
              <a:off x="11047781" y="6480810"/>
              <a:ext cx="464515" cy="234696"/>
            </a:xfrm>
            <a:prstGeom prst="rect">
              <a:avLst/>
            </a:prstGeom>
            <a:noFill/>
            <a:ln>
              <a:noFill/>
            </a:ln>
          </p:spPr>
          <p:txBody>
            <a:bodyPr wrap="none" lIns="0" tIns="0" rIns="0" bIns="0" anchor="t" anchorCtr="0">
              <a:spAutoFit/>
            </a:bodyPr>
            <a:lstStyle/>
            <a:p>
              <a:pPr algn="r"/>
              <a:r>
                <a:rPr lang="en-US" sz="1200" dirty="0">
                  <a:solidFill>
                    <a:schemeClr val="accent5"/>
                  </a:solidFill>
                  <a:latin typeface="Segoe UI"/>
                  <a:ea typeface="Segoe UI"/>
                  <a:cs typeface="Segoe UI"/>
                </a:rPr>
                <a:t>9 / 12</a:t>
              </a:r>
            </a:p>
          </p:txBody>
        </p:sp>
      </p:grpSp>
    </p:spTree>
  </p:cSld>
  <p:clrMapOvr>
    <a:masterClrMapping/>
  </p:clrMapOvr>
  <p:transition xmlns:p14="http://schemas.microsoft.com/office/powerpoint/2010/main" p14:dur="400">
    <p:fade/>
  </p:transition>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670560" y="590550"/>
            <a:ext cx="11055858" cy="586740"/>
            <a:chOff x="670560" y="590550"/>
            <a:chExt cx="11055858" cy="586740"/>
          </a:xfrm>
        </p:grpSpPr>
        <p:sp>
          <p:nvSpPr>
            <p:cNvPr id="2" name="TextBox 2"/>
            <p:cNvSpPr txBox="1"/>
            <p:nvPr/>
          </p:nvSpPr>
          <p:spPr>
            <a:xfrm>
              <a:off x="670560" y="590550"/>
              <a:ext cx="11055858" cy="586740"/>
            </a:xfrm>
            <a:prstGeom prst="rect">
              <a:avLst/>
            </a:prstGeom>
            <a:noFill/>
            <a:ln>
              <a:noFill/>
            </a:ln>
          </p:spPr>
          <p:txBody>
            <a:bodyPr wrap="none" lIns="0" tIns="0" rIns="0" bIns="0" anchor="t" anchorCtr="0">
              <a:spAutoFit/>
            </a:bodyPr>
            <a:lstStyle/>
            <a:p>
              <a:pPr algn="l"/>
              <a:r>
                <a:rPr lang="zh-CN" sz="3000" b="1" dirty="0">
                  <a:solidFill>
                    <a:schemeClr val="dk1"/>
                  </a:solidFill>
                  <a:latin typeface="Segoe UI"/>
                  <a:ea typeface="Microsoft YaHei"/>
                  <a:cs typeface="Segoe UI"/>
                </a:rPr>
                <a:t>每条结论可追溯：代码版本、配置、数据、轨迹、结果文件</a:t>
              </a:r>
            </a:p>
          </p:txBody>
        </p:sp>
        <p:sp>
          <p:nvSpPr>
            <p:cNvPr id="3" name="Rectangle 3"/>
            <p:cNvSpPr/>
            <p:nvPr/>
          </p:nvSpPr>
          <p:spPr>
            <a:xfrm>
              <a:off x="685800" y="1085850"/>
              <a:ext cx="685800" cy="38100"/>
            </a:xfrm>
            <a:prstGeom prst="rect">
              <a:avLst/>
            </a:prstGeom>
            <a:solidFill>
              <a:schemeClr val="accent1"/>
            </a:solidFill>
            <a:ln>
              <a:noFill/>
            </a:ln>
          </p:spPr>
        </p:sp>
      </p:grpSp>
      <p:grpSp>
        <p:nvGrpSpPr>
          <p:cNvPr id="6" name="Group 6"/>
          <p:cNvGrpSpPr/>
          <p:nvPr/>
        </p:nvGrpSpPr>
        <p:grpSpPr>
          <a:xfrm>
            <a:off x="675894" y="1370648"/>
            <a:ext cx="10504421" cy="381381"/>
            <a:chOff x="675894" y="1370648"/>
            <a:chExt cx="10504421" cy="381381"/>
          </a:xfrm>
        </p:grpSpPr>
        <p:sp>
          <p:nvSpPr>
            <p:cNvPr id="5" name="TextBox 5"/>
            <p:cNvSpPr txBox="1"/>
            <p:nvPr/>
          </p:nvSpPr>
          <p:spPr>
            <a:xfrm>
              <a:off x="675894" y="1370648"/>
              <a:ext cx="10504421" cy="381381"/>
            </a:xfrm>
            <a:prstGeom prst="rect">
              <a:avLst/>
            </a:prstGeom>
            <a:noFill/>
            <a:ln>
              <a:noFill/>
            </a:ln>
          </p:spPr>
          <p:txBody>
            <a:bodyPr wrap="none" lIns="0" tIns="0" rIns="0" bIns="0" anchor="t" anchorCtr="0">
              <a:spAutoFit/>
            </a:bodyPr>
            <a:lstStyle/>
            <a:p>
              <a:pPr algn="l"/>
              <a:r>
                <a:rPr lang="zh-CN" sz="1950" dirty="0">
                  <a:solidFill>
                    <a:schemeClr val="dk1"/>
                  </a:solidFill>
                  <a:latin typeface="Segoe UI"/>
                  <a:ea typeface="Microsoft YaHei"/>
                  <a:cs typeface="Segoe UI"/>
                </a:rPr>
                <a:t xml:space="preserve">报告中 </a:t>
              </a:r>
              <a:r>
                <a:rPr lang="zh-CN" sz="1950" b="1" dirty="0">
                  <a:solidFill>
                    <a:schemeClr val="accent2"/>
                  </a:solidFill>
                  <a:latin typeface="Segoe UI"/>
                  <a:ea typeface="Microsoft YaHei"/>
                  <a:cs typeface="Segoe UI"/>
                </a:rPr>
                <a:t>100 条结论、3 张图、每条前驱体预测</a:t>
              </a:r>
              <a:r>
                <a:rPr lang="zh-CN" sz="1950" dirty="0">
                  <a:solidFill>
                    <a:schemeClr val="dk1"/>
                  </a:solidFill>
                  <a:latin typeface="Segoe UI"/>
                  <a:ea typeface="Microsoft YaHei"/>
                  <a:cs typeface="Segoe UI"/>
                </a:rPr>
                <a:t>都能沿同一条链回到提交包中的具体文件。</a:t>
              </a:r>
            </a:p>
          </p:txBody>
        </p:sp>
      </p:grpSp>
      <p:grpSp>
        <p:nvGrpSpPr>
          <p:cNvPr id="30" name="Group 30"/>
          <p:cNvGrpSpPr/>
          <p:nvPr/>
        </p:nvGrpSpPr>
        <p:grpSpPr>
          <a:xfrm>
            <a:off x="685800" y="2019300"/>
            <a:ext cx="10820400" cy="819150"/>
            <a:chOff x="685800" y="2019300"/>
            <a:chExt cx="10820400" cy="819150"/>
          </a:xfrm>
        </p:grpSpPr>
        <p:sp>
          <p:nvSpPr>
            <p:cNvPr id="7" name="Rectangle 7"/>
            <p:cNvSpPr/>
            <p:nvPr/>
          </p:nvSpPr>
          <p:spPr>
            <a:xfrm>
              <a:off x="685800" y="2019300"/>
              <a:ext cx="1905000" cy="819150"/>
            </a:xfrm>
            <a:prstGeom prst="rect">
              <a:avLst/>
            </a:prstGeom>
            <a:solidFill>
              <a:schemeClr val="lt2"/>
            </a:solidFill>
            <a:ln>
              <a:noFill/>
            </a:ln>
          </p:spPr>
        </p:sp>
        <p:sp>
          <p:nvSpPr>
            <p:cNvPr id="8" name="Rectangle 8"/>
            <p:cNvSpPr/>
            <p:nvPr/>
          </p:nvSpPr>
          <p:spPr>
            <a:xfrm>
              <a:off x="685800" y="2019300"/>
              <a:ext cx="1905000" cy="38100"/>
            </a:xfrm>
            <a:prstGeom prst="rect">
              <a:avLst/>
            </a:prstGeom>
            <a:solidFill>
              <a:schemeClr val="accent1"/>
            </a:solidFill>
            <a:ln>
              <a:noFill/>
            </a:ln>
          </p:spPr>
        </p:sp>
        <p:sp>
          <p:nvSpPr>
            <p:cNvPr id="9" name="TextBox 9"/>
            <p:cNvSpPr txBox="1"/>
            <p:nvPr/>
          </p:nvSpPr>
          <p:spPr>
            <a:xfrm>
              <a:off x="829056" y="2167890"/>
              <a:ext cx="1036015"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Segoe UI"/>
                  <a:ea typeface="Microsoft YaHei"/>
                  <a:cs typeface="Segoe UI"/>
                </a:rPr>
                <a:t>代码版本</a:t>
              </a:r>
            </a:p>
          </p:txBody>
        </p:sp>
        <p:sp>
          <p:nvSpPr>
            <p:cNvPr id="10" name="TextBox 10"/>
            <p:cNvSpPr txBox="1"/>
            <p:nvPr/>
          </p:nvSpPr>
          <p:spPr>
            <a:xfrm>
              <a:off x="832104" y="2499360"/>
              <a:ext cx="2071878" cy="234696"/>
            </a:xfrm>
            <a:prstGeom prst="rect">
              <a:avLst/>
            </a:prstGeom>
            <a:noFill/>
            <a:ln>
              <a:noFill/>
            </a:ln>
          </p:spPr>
          <p:txBody>
            <a:bodyPr wrap="none" lIns="0" tIns="0" rIns="0" bIns="0" anchor="t" anchorCtr="0">
              <a:spAutoFit/>
            </a:bodyPr>
            <a:lstStyle/>
            <a:p>
              <a:pPr algn="l"/>
              <a:r>
                <a:rPr lang="en-US" sz="1200" dirty="0">
                  <a:solidFill>
                    <a:schemeClr val="dk2"/>
                  </a:solidFill>
                  <a:latin typeface="Segoe UI"/>
                  <a:ea typeface="Segoe UI"/>
                  <a:cs typeface="Segoe UI"/>
                </a:rPr>
                <a:t>tag goai-final-2026-09-03</a:t>
              </a:r>
            </a:p>
          </p:txBody>
        </p:sp>
        <p:sp>
          <p:nvSpPr>
            <p:cNvPr id="11" name="Line 11"/>
            <p:cNvSpPr/>
            <p:nvPr/>
          </p:nvSpPr>
          <p:spPr>
            <a:xfrm>
              <a:off x="2609850" y="2428875"/>
              <a:ext cx="266700" cy="1"/>
            </a:xfrm>
            <a:prstGeom prst="line">
              <a:avLst/>
            </a:prstGeom>
            <a:noFill/>
            <a:ln w="19050">
              <a:solidFill>
                <a:schemeClr val="accent1"/>
              </a:solidFill>
              <a:tailEnd type="triangle" w="med" len="med"/>
            </a:ln>
          </p:spPr>
        </p:sp>
        <p:sp>
          <p:nvSpPr>
            <p:cNvPr id="12" name="Rectangle 12"/>
            <p:cNvSpPr/>
            <p:nvPr/>
          </p:nvSpPr>
          <p:spPr>
            <a:xfrm>
              <a:off x="2914650" y="2019300"/>
              <a:ext cx="1905000" cy="819150"/>
            </a:xfrm>
            <a:prstGeom prst="rect">
              <a:avLst/>
            </a:prstGeom>
            <a:solidFill>
              <a:schemeClr val="lt2"/>
            </a:solidFill>
            <a:ln>
              <a:noFill/>
            </a:ln>
          </p:spPr>
        </p:sp>
        <p:sp>
          <p:nvSpPr>
            <p:cNvPr id="13" name="Rectangle 13"/>
            <p:cNvSpPr/>
            <p:nvPr/>
          </p:nvSpPr>
          <p:spPr>
            <a:xfrm>
              <a:off x="2914650" y="2019300"/>
              <a:ext cx="1905000" cy="38100"/>
            </a:xfrm>
            <a:prstGeom prst="rect">
              <a:avLst/>
            </a:prstGeom>
            <a:solidFill>
              <a:schemeClr val="accent1"/>
            </a:solidFill>
            <a:ln>
              <a:noFill/>
            </a:ln>
          </p:spPr>
        </p:sp>
        <p:sp>
          <p:nvSpPr>
            <p:cNvPr id="14" name="TextBox 14"/>
            <p:cNvSpPr txBox="1"/>
            <p:nvPr/>
          </p:nvSpPr>
          <p:spPr>
            <a:xfrm>
              <a:off x="3057906" y="2167890"/>
              <a:ext cx="527152"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Segoe UI"/>
                  <a:ea typeface="Microsoft YaHei"/>
                  <a:cs typeface="Segoe UI"/>
                </a:rPr>
                <a:t>配置</a:t>
              </a:r>
            </a:p>
          </p:txBody>
        </p:sp>
        <p:sp>
          <p:nvSpPr>
            <p:cNvPr id="15" name="TextBox 15"/>
            <p:cNvSpPr txBox="1"/>
            <p:nvPr/>
          </p:nvSpPr>
          <p:spPr>
            <a:xfrm>
              <a:off x="3060954" y="2499360"/>
              <a:ext cx="1643786" cy="234696"/>
            </a:xfrm>
            <a:prstGeom prst="rect">
              <a:avLst/>
            </a:prstGeom>
            <a:noFill/>
            <a:ln>
              <a:noFill/>
            </a:ln>
          </p:spPr>
          <p:txBody>
            <a:bodyPr wrap="none" lIns="0" tIns="0" rIns="0" bIns="0" anchor="t" anchorCtr="0">
              <a:spAutoFit/>
            </a:bodyPr>
            <a:lstStyle/>
            <a:p>
              <a:pPr algn="l"/>
              <a:r>
                <a:rPr lang="en-US" sz="1200" dirty="0">
                  <a:solidFill>
                    <a:schemeClr val="dk2"/>
                  </a:solidFill>
                  <a:latin typeface="Segoe UI"/>
                  <a:ea typeface="Segoe UI"/>
                  <a:cs typeface="Segoe UI"/>
                </a:rPr>
                <a:t>topic.md · scope.md</a:t>
              </a:r>
            </a:p>
          </p:txBody>
        </p:sp>
        <p:sp>
          <p:nvSpPr>
            <p:cNvPr id="16" name="Line 16"/>
            <p:cNvSpPr/>
            <p:nvPr/>
          </p:nvSpPr>
          <p:spPr>
            <a:xfrm>
              <a:off x="4838700" y="2428875"/>
              <a:ext cx="266700" cy="1"/>
            </a:xfrm>
            <a:prstGeom prst="line">
              <a:avLst/>
            </a:prstGeom>
            <a:noFill/>
            <a:ln w="19050">
              <a:solidFill>
                <a:schemeClr val="accent1"/>
              </a:solidFill>
              <a:tailEnd type="triangle" w="med" len="med"/>
            </a:ln>
          </p:spPr>
        </p:sp>
        <p:sp>
          <p:nvSpPr>
            <p:cNvPr id="17" name="Rectangle 17"/>
            <p:cNvSpPr/>
            <p:nvPr/>
          </p:nvSpPr>
          <p:spPr>
            <a:xfrm>
              <a:off x="5143500" y="2019300"/>
              <a:ext cx="1905000" cy="819150"/>
            </a:xfrm>
            <a:prstGeom prst="rect">
              <a:avLst/>
            </a:prstGeom>
            <a:solidFill>
              <a:schemeClr val="lt2"/>
            </a:solidFill>
            <a:ln>
              <a:noFill/>
            </a:ln>
          </p:spPr>
        </p:sp>
        <p:sp>
          <p:nvSpPr>
            <p:cNvPr id="18" name="Rectangle 18"/>
            <p:cNvSpPr/>
            <p:nvPr/>
          </p:nvSpPr>
          <p:spPr>
            <a:xfrm>
              <a:off x="5143500" y="2019300"/>
              <a:ext cx="1905000" cy="38100"/>
            </a:xfrm>
            <a:prstGeom prst="rect">
              <a:avLst/>
            </a:prstGeom>
            <a:solidFill>
              <a:schemeClr val="accent1"/>
            </a:solidFill>
            <a:ln>
              <a:noFill/>
            </a:ln>
          </p:spPr>
        </p:sp>
        <p:sp>
          <p:nvSpPr>
            <p:cNvPr id="19" name="TextBox 19"/>
            <p:cNvSpPr txBox="1"/>
            <p:nvPr/>
          </p:nvSpPr>
          <p:spPr>
            <a:xfrm>
              <a:off x="5286756" y="2167890"/>
              <a:ext cx="527152"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Segoe UI"/>
                  <a:ea typeface="Microsoft YaHei"/>
                  <a:cs typeface="Segoe UI"/>
                </a:rPr>
                <a:t>数据</a:t>
              </a:r>
            </a:p>
          </p:txBody>
        </p:sp>
        <p:sp>
          <p:nvSpPr>
            <p:cNvPr id="20" name="TextBox 20"/>
            <p:cNvSpPr txBox="1"/>
            <p:nvPr/>
          </p:nvSpPr>
          <p:spPr>
            <a:xfrm>
              <a:off x="5289804" y="2499360"/>
              <a:ext cx="1740713" cy="234696"/>
            </a:xfrm>
            <a:prstGeom prst="rect">
              <a:avLst/>
            </a:prstGeom>
            <a:noFill/>
            <a:ln>
              <a:noFill/>
            </a:ln>
          </p:spPr>
          <p:txBody>
            <a:bodyPr wrap="none" lIns="0" tIns="0" rIns="0" bIns="0" anchor="t" anchorCtr="0">
              <a:spAutoFit/>
            </a:bodyPr>
            <a:lstStyle/>
            <a:p>
              <a:pPr algn="l"/>
              <a:r>
                <a:rPr lang="zh-CN" sz="1200" dirty="0">
                  <a:solidFill>
                    <a:schemeClr val="dk2"/>
                  </a:solidFill>
                  <a:latin typeface="Segoe UI"/>
                  <a:ea typeface="Microsoft YaHei"/>
                  <a:cs typeface="Segoe UI"/>
                </a:rPr>
                <a:t>bib · 核验记录 · 知识库</a:t>
              </a:r>
            </a:p>
          </p:txBody>
        </p:sp>
        <p:sp>
          <p:nvSpPr>
            <p:cNvPr id="21" name="Line 21"/>
            <p:cNvSpPr/>
            <p:nvPr/>
          </p:nvSpPr>
          <p:spPr>
            <a:xfrm>
              <a:off x="7067550" y="2428875"/>
              <a:ext cx="266700" cy="1"/>
            </a:xfrm>
            <a:prstGeom prst="line">
              <a:avLst/>
            </a:prstGeom>
            <a:noFill/>
            <a:ln w="19050">
              <a:solidFill>
                <a:schemeClr val="accent1"/>
              </a:solidFill>
              <a:tailEnd type="triangle" w="med" len="med"/>
            </a:ln>
          </p:spPr>
        </p:sp>
        <p:sp>
          <p:nvSpPr>
            <p:cNvPr id="22" name="Rectangle 22"/>
            <p:cNvSpPr/>
            <p:nvPr/>
          </p:nvSpPr>
          <p:spPr>
            <a:xfrm>
              <a:off x="7372350" y="2019300"/>
              <a:ext cx="1905000" cy="819150"/>
            </a:xfrm>
            <a:prstGeom prst="rect">
              <a:avLst/>
            </a:prstGeom>
            <a:solidFill>
              <a:schemeClr val="lt2"/>
            </a:solidFill>
            <a:ln>
              <a:noFill/>
            </a:ln>
          </p:spPr>
        </p:sp>
        <p:sp>
          <p:nvSpPr>
            <p:cNvPr id="23" name="Rectangle 23"/>
            <p:cNvSpPr/>
            <p:nvPr/>
          </p:nvSpPr>
          <p:spPr>
            <a:xfrm>
              <a:off x="7372350" y="2019300"/>
              <a:ext cx="1905000" cy="38100"/>
            </a:xfrm>
            <a:prstGeom prst="rect">
              <a:avLst/>
            </a:prstGeom>
            <a:solidFill>
              <a:schemeClr val="accent1"/>
            </a:solidFill>
            <a:ln>
              <a:noFill/>
            </a:ln>
          </p:spPr>
        </p:sp>
        <p:sp>
          <p:nvSpPr>
            <p:cNvPr id="24" name="TextBox 24"/>
            <p:cNvSpPr txBox="1"/>
            <p:nvPr/>
          </p:nvSpPr>
          <p:spPr>
            <a:xfrm>
              <a:off x="7515606" y="2167890"/>
              <a:ext cx="1328612"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Segoe UI"/>
                  <a:ea typeface="Microsoft YaHei"/>
                  <a:cs typeface="Segoe UI"/>
                </a:rPr>
                <a:t>日志 / 轨迹</a:t>
              </a:r>
            </a:p>
          </p:txBody>
        </p:sp>
        <p:sp>
          <p:nvSpPr>
            <p:cNvPr id="25" name="TextBox 25"/>
            <p:cNvSpPr txBox="1"/>
            <p:nvPr/>
          </p:nvSpPr>
          <p:spPr>
            <a:xfrm>
              <a:off x="7518654" y="2499360"/>
              <a:ext cx="1425702" cy="234696"/>
            </a:xfrm>
            <a:prstGeom prst="rect">
              <a:avLst/>
            </a:prstGeom>
            <a:noFill/>
            <a:ln>
              <a:noFill/>
            </a:ln>
          </p:spPr>
          <p:txBody>
            <a:bodyPr wrap="none" lIns="0" tIns="0" rIns="0" bIns="0" anchor="t" anchorCtr="0">
              <a:spAutoFit/>
            </a:bodyPr>
            <a:lstStyle/>
            <a:p>
              <a:pPr algn="l"/>
              <a:r>
                <a:rPr lang="zh-CN" sz="1200" dirty="0">
                  <a:solidFill>
                    <a:schemeClr val="dk2"/>
                  </a:solidFill>
                  <a:latin typeface="Segoe UI"/>
                  <a:ea typeface="Microsoft YaHei"/>
                  <a:cs typeface="Segoe UI"/>
                </a:rPr>
                <a:t>轨迹 jsonl · ledger</a:t>
              </a:r>
            </a:p>
          </p:txBody>
        </p:sp>
        <p:sp>
          <p:nvSpPr>
            <p:cNvPr id="26" name="Line 26"/>
            <p:cNvSpPr/>
            <p:nvPr/>
          </p:nvSpPr>
          <p:spPr>
            <a:xfrm>
              <a:off x="9296400" y="2428875"/>
              <a:ext cx="266700" cy="1"/>
            </a:xfrm>
            <a:prstGeom prst="line">
              <a:avLst/>
            </a:prstGeom>
            <a:noFill/>
            <a:ln w="19050">
              <a:solidFill>
                <a:schemeClr val="accent1"/>
              </a:solidFill>
              <a:tailEnd type="triangle" w="med" len="med"/>
            </a:ln>
          </p:spPr>
        </p:sp>
        <p:sp>
          <p:nvSpPr>
            <p:cNvPr id="27" name="Rectangle 27"/>
            <p:cNvSpPr/>
            <p:nvPr/>
          </p:nvSpPr>
          <p:spPr>
            <a:xfrm>
              <a:off x="9601200" y="2019300"/>
              <a:ext cx="1905000" cy="819150"/>
            </a:xfrm>
            <a:prstGeom prst="rect">
              <a:avLst/>
            </a:prstGeom>
            <a:solidFill>
              <a:schemeClr val="accent1"/>
            </a:solidFill>
            <a:ln>
              <a:noFill/>
            </a:ln>
          </p:spPr>
        </p:sp>
        <p:sp>
          <p:nvSpPr>
            <p:cNvPr id="28" name="TextBox 28"/>
            <p:cNvSpPr txBox="1"/>
            <p:nvPr/>
          </p:nvSpPr>
          <p:spPr>
            <a:xfrm>
              <a:off x="9744456" y="2167890"/>
              <a:ext cx="1036015" cy="352044"/>
            </a:xfrm>
            <a:prstGeom prst="rect">
              <a:avLst/>
            </a:prstGeom>
            <a:noFill/>
            <a:ln>
              <a:noFill/>
            </a:ln>
          </p:spPr>
          <p:txBody>
            <a:bodyPr wrap="none" lIns="0" tIns="0" rIns="0" bIns="0" anchor="t" anchorCtr="0">
              <a:spAutoFit/>
            </a:bodyPr>
            <a:lstStyle/>
            <a:p>
              <a:pPr algn="l"/>
              <a:r>
                <a:rPr lang="zh-CN" sz="1800" b="1" dirty="0">
                  <a:solidFill>
                    <a:srgbClr val="FFFFFF"/>
                  </a:solidFill>
                  <a:latin typeface="Segoe UI"/>
                  <a:ea typeface="Microsoft YaHei"/>
                  <a:cs typeface="Segoe UI"/>
                </a:rPr>
                <a:t>结果文件</a:t>
              </a:r>
            </a:p>
          </p:txBody>
        </p:sp>
        <p:sp>
          <p:nvSpPr>
            <p:cNvPr id="29" name="TextBox 29"/>
            <p:cNvSpPr txBox="1"/>
            <p:nvPr/>
          </p:nvSpPr>
          <p:spPr>
            <a:xfrm>
              <a:off x="9747504" y="2499360"/>
              <a:ext cx="1688102" cy="234696"/>
            </a:xfrm>
            <a:prstGeom prst="rect">
              <a:avLst/>
            </a:prstGeom>
            <a:noFill/>
            <a:ln>
              <a:noFill/>
            </a:ln>
          </p:spPr>
          <p:txBody>
            <a:bodyPr wrap="none" lIns="0" tIns="0" rIns="0" bIns="0" anchor="t" anchorCtr="0">
              <a:spAutoFit/>
            </a:bodyPr>
            <a:lstStyle/>
            <a:p>
              <a:pPr algn="l"/>
              <a:r>
                <a:rPr lang="en-US" sz="1200" dirty="0">
                  <a:solidFill>
                    <a:srgbClr val="FFFFFF">
                      <a:alphaMod val="85000"/>
                    </a:srgbClr>
                  </a:solidFill>
                  <a:latin typeface="Segoe UI"/>
                  <a:ea typeface="Segoe UI"/>
                  <a:cs typeface="Segoe UI"/>
                </a:rPr>
                <a:t>sections/*.tex → PDF</a:t>
              </a:r>
            </a:p>
          </p:txBody>
        </p:sp>
      </p:grpSp>
      <p:grpSp>
        <p:nvGrpSpPr>
          <p:cNvPr id="36" name="Group 36"/>
          <p:cNvGrpSpPr/>
          <p:nvPr/>
        </p:nvGrpSpPr>
        <p:grpSpPr>
          <a:xfrm>
            <a:off x="685800" y="3067050"/>
            <a:ext cx="11237785" cy="1676400"/>
            <a:chOff x="685800" y="3067050"/>
            <a:chExt cx="11237785" cy="1676400"/>
          </a:xfrm>
        </p:grpSpPr>
        <p:sp>
          <p:nvSpPr>
            <p:cNvPr id="31" name="Rectangle 31"/>
            <p:cNvSpPr/>
            <p:nvPr/>
          </p:nvSpPr>
          <p:spPr>
            <a:xfrm>
              <a:off x="685800" y="3067050"/>
              <a:ext cx="10820400" cy="1676400"/>
            </a:xfrm>
            <a:prstGeom prst="rect">
              <a:avLst/>
            </a:prstGeom>
            <a:solidFill>
              <a:schemeClr val="lt1"/>
            </a:solidFill>
            <a:ln w="9525">
              <a:solidFill>
                <a:schemeClr val="accent4"/>
              </a:solidFill>
            </a:ln>
          </p:spPr>
        </p:sp>
        <p:sp>
          <p:nvSpPr>
            <p:cNvPr id="32" name="Rectangle 32"/>
            <p:cNvSpPr/>
            <p:nvPr/>
          </p:nvSpPr>
          <p:spPr>
            <a:xfrm>
              <a:off x="685800" y="3067050"/>
              <a:ext cx="57150" cy="1676400"/>
            </a:xfrm>
            <a:prstGeom prst="rect">
              <a:avLst/>
            </a:prstGeom>
            <a:solidFill>
              <a:schemeClr val="accent2"/>
            </a:solidFill>
            <a:ln>
              <a:noFill/>
            </a:ln>
          </p:spPr>
        </p:sp>
        <p:sp>
          <p:nvSpPr>
            <p:cNvPr id="33" name="TextBox 33"/>
            <p:cNvSpPr txBox="1"/>
            <p:nvPr/>
          </p:nvSpPr>
          <p:spPr>
            <a:xfrm>
              <a:off x="945642" y="3226118"/>
              <a:ext cx="3331183" cy="264033"/>
            </a:xfrm>
            <a:prstGeom prst="rect">
              <a:avLst/>
            </a:prstGeom>
            <a:noFill/>
            <a:ln>
              <a:noFill/>
            </a:ln>
          </p:spPr>
          <p:txBody>
            <a:bodyPr wrap="none" lIns="0" tIns="0" rIns="0" bIns="0" anchor="t" anchorCtr="0">
              <a:spAutoFit/>
            </a:bodyPr>
            <a:lstStyle/>
            <a:p>
              <a:pPr algn="l"/>
              <a:r>
                <a:rPr lang="zh-CN" sz="1350" dirty="0">
                  <a:solidFill>
                    <a:schemeClr val="dk2"/>
                  </a:solidFill>
                  <a:latin typeface="Segoe UI"/>
                  <a:ea typeface="Microsoft YaHei"/>
                  <a:cs typeface="Segoe UI"/>
                </a:rPr>
                <a:t>示例 · claim_evidence.jsonl 第 C012 条</a:t>
              </a:r>
            </a:p>
          </p:txBody>
        </p:sp>
        <p:sp>
          <p:nvSpPr>
            <p:cNvPr id="34" name="TextBox 34"/>
            <p:cNvSpPr txBox="1"/>
            <p:nvPr/>
          </p:nvSpPr>
          <p:spPr>
            <a:xfrm>
              <a:off x="943356" y="3501390"/>
              <a:ext cx="7507224" cy="352044"/>
            </a:xfrm>
            <a:prstGeom prst="rect">
              <a:avLst/>
            </a:prstGeom>
            <a:noFill/>
            <a:ln>
              <a:noFill/>
            </a:ln>
          </p:spPr>
          <p:txBody>
            <a:bodyPr wrap="none" lIns="0" tIns="0" rIns="0" bIns="0" anchor="t" anchorCtr="0">
              <a:spAutoFit/>
            </a:bodyPr>
            <a:lstStyle/>
            <a:p>
              <a:pPr algn="l"/>
              <a:r>
                <a:rPr lang="zh-CN" sz="1800" dirty="0">
                  <a:solidFill>
                    <a:schemeClr val="dk1"/>
                  </a:solidFill>
                  <a:latin typeface="Segoe UI"/>
                  <a:ea typeface="Microsoft YaHei"/>
                  <a:cs typeface="Segoe UI"/>
                </a:rPr>
                <a:t>“该文采用开放体系高温溶液法，并以单晶 X 射线衍射鉴定晶体。”</a:t>
              </a:r>
            </a:p>
          </p:txBody>
        </p:sp>
        <p:sp>
          <p:nvSpPr>
            <p:cNvPr id="35" name="TextBox 35"/>
            <p:cNvSpPr txBox="1"/>
            <p:nvPr/>
          </p:nvSpPr>
          <p:spPr>
            <a:xfrm>
              <a:off x="945642" y="3892868"/>
              <a:ext cx="10977943" cy="797433"/>
            </a:xfrm>
            <a:prstGeom prst="rect">
              <a:avLst/>
            </a:prstGeom>
            <a:noFill/>
            <a:ln>
              <a:noFill/>
            </a:ln>
          </p:spPr>
          <p:txBody>
            <a:bodyPr wrap="square" lIns="0" tIns="0" rIns="0" bIns="0" anchor="t" anchorCtr="0"/>
            <a:lstStyle/>
            <a:p>
              <a:pPr algn="l">
                <a:lnSpc>
                  <a:spcPts val="2100"/>
                </a:lnSpc>
              </a:pPr>
              <a:r>
                <a:rPr lang="zh-CN" sz="1350" dirty="0">
                  <a:solidFill>
                    <a:schemeClr val="dk1"/>
                  </a:solidFill>
                  <a:latin typeface="Segoe UI"/>
                  <a:ea typeface="Microsoft YaHei"/>
                  <a:cs typeface="Segoe UI"/>
                </a:rPr>
                <a:t xml:space="preserve">引用键 ababaikeri2024ba5y12zn · DOI 10.1039/D3NJ04480G · refcheck 三轴 </a:t>
              </a:r>
              <a:r>
                <a:rPr lang="en-US" sz="1350" b="1" dirty="0">
                  <a:solidFill>
                    <a:srgbClr val="2E7D32"/>
                  </a:solidFill>
                  <a:latin typeface="Segoe UI"/>
                  <a:ea typeface="Segoe UI"/>
                  <a:cs typeface="Segoe UI"/>
                </a:rPr>
                <a:t>PASS</a:t>
              </a:r>
              <a:r>
                <a:rPr lang="zh-CN" sz="1350" dirty="0">
                  <a:solidFill>
                    <a:schemeClr val="dk1"/>
                  </a:solidFill>
                  <a:latin typeface="Segoe UI"/>
                  <a:ea typeface="Microsoft YaHei"/>
                  <a:cs typeface="Segoe UI"/>
                </a:rPr>
                <a:t xml:space="preserve"> · 支持强度 strong</a:t>
              </a:r>
              <a:r>
                <a:rPr lang="zh-CN" sz="1350" dirty="0">
                  <a:solidFill>
                    <a:schemeClr val="dk1"/>
                  </a:solidFill>
                  <a:latin typeface="Segoe UI"/>
                  <a:ea typeface="Microsoft YaHei"/>
                  <a:cs typeface="Segoe UI"/>
                </a:rPr>
                <a:t xml:space="preserve">写作任务 write_identity_evidence（tasks_write_sections.tsv）→ parallel/20260901_003133_1289042/write_identity_evidence.jsonl </a:t>
              </a:r>
              <a:r>
                <a:rPr lang="zh-CN" sz="1350" dirty="0">
                  <a:solidFill>
                    <a:schemeClr val="dk1"/>
                  </a:solidFill>
                  <a:latin typeface="Segoe UI"/>
                  <a:ea typeface="Microsoft YaHei"/>
                  <a:cs typeface="Segoe UI"/>
                </a:rPr>
                <a:t>→ sections/01_phase_identity.tex → 正式 PDF 第 1 章“目标相出处”</a:t>
              </a:r>
            </a:p>
          </p:txBody>
        </p:sp>
      </p:grpSp>
      <p:grpSp>
        <p:nvGrpSpPr>
          <p:cNvPr id="39" name="Group 39"/>
          <p:cNvGrpSpPr/>
          <p:nvPr/>
        </p:nvGrpSpPr>
        <p:grpSpPr>
          <a:xfrm>
            <a:off x="676656" y="4949190"/>
            <a:ext cx="3307842" cy="1112711"/>
            <a:chOff x="676656" y="4949190"/>
            <a:chExt cx="3307842" cy="1112711"/>
          </a:xfrm>
        </p:grpSpPr>
        <p:sp>
          <p:nvSpPr>
            <p:cNvPr id="37" name="TextBox 37"/>
            <p:cNvSpPr txBox="1"/>
            <p:nvPr/>
          </p:nvSpPr>
          <p:spPr>
            <a:xfrm>
              <a:off x="676656" y="4949190"/>
              <a:ext cx="1036015"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Segoe UI"/>
                  <a:ea typeface="Microsoft YaHei"/>
                  <a:cs typeface="Segoe UI"/>
                </a:rPr>
                <a:t>运行统计</a:t>
              </a:r>
            </a:p>
          </p:txBody>
        </p:sp>
        <p:sp>
          <p:nvSpPr>
            <p:cNvPr id="38" name="TextBox 38"/>
            <p:cNvSpPr txBox="1"/>
            <p:nvPr/>
          </p:nvSpPr>
          <p:spPr>
            <a:xfrm>
              <a:off x="678942" y="5302568"/>
              <a:ext cx="3305556" cy="759333"/>
            </a:xfrm>
            <a:prstGeom prst="rect">
              <a:avLst/>
            </a:prstGeom>
            <a:noFill/>
            <a:ln>
              <a:noFill/>
            </a:ln>
          </p:spPr>
          <p:txBody>
            <a:bodyPr wrap="square" lIns="0" tIns="0" rIns="0" bIns="0" anchor="t" anchorCtr="0"/>
            <a:lstStyle/>
            <a:p>
              <a:pPr algn="l">
                <a:lnSpc>
                  <a:spcPts val="1950"/>
                </a:lnSpc>
              </a:pPr>
              <a:r>
                <a:rPr lang="zh-CN" sz="1350" dirty="0">
                  <a:solidFill>
                    <a:schemeClr val="dk1"/>
                  </a:solidFill>
                  <a:latin typeface="Segoe UI"/>
                  <a:ea typeface="Microsoft YaHei"/>
                  <a:cs typeface="Segoe UI"/>
                </a:rPr>
                <a:t xml:space="preserve">40 个子任务 / 29 批 · 7,084 万输入 token </a:t>
              </a:r>
              <a:r>
                <a:rPr lang="zh-CN" sz="1350" dirty="0">
                  <a:solidFill>
                    <a:schemeClr val="dk1"/>
                  </a:solidFill>
                  <a:latin typeface="Segoe UI"/>
                  <a:ea typeface="Microsoft YaHei"/>
                  <a:cs typeface="Segoe UI"/>
                </a:rPr>
                <a:t>224 次工具函数调用 · 205 次网页搜索</a:t>
              </a:r>
              <a:r>
                <a:rPr lang="zh-CN" sz="1350" dirty="0">
                  <a:solidFill>
                    <a:schemeClr val="dk1"/>
                  </a:solidFill>
                  <a:latin typeface="Segoe UI"/>
                  <a:ea typeface="Microsoft YaHei"/>
                  <a:cs typeface="Segoe UI"/>
                </a:rPr>
                <a:t>134 条服务端审计的全文库与预测调用</a:t>
              </a:r>
            </a:p>
          </p:txBody>
        </p:sp>
      </p:grpSp>
      <p:grpSp>
        <p:nvGrpSpPr>
          <p:cNvPr id="42" name="Group 42"/>
          <p:cNvGrpSpPr/>
          <p:nvPr/>
        </p:nvGrpSpPr>
        <p:grpSpPr>
          <a:xfrm>
            <a:off x="4372356" y="4949190"/>
            <a:ext cx="4139374" cy="1112711"/>
            <a:chOff x="4372356" y="4949190"/>
            <a:chExt cx="4139374" cy="1112711"/>
          </a:xfrm>
        </p:grpSpPr>
        <p:sp>
          <p:nvSpPr>
            <p:cNvPr id="40" name="TextBox 40"/>
            <p:cNvSpPr txBox="1"/>
            <p:nvPr/>
          </p:nvSpPr>
          <p:spPr>
            <a:xfrm>
              <a:off x="4372356" y="4949190"/>
              <a:ext cx="2604275"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Segoe UI"/>
                  <a:ea typeface="Microsoft YaHei"/>
                  <a:cs typeface="Segoe UI"/>
                </a:rPr>
                <a:t>Agent 轨迹（分目录）</a:t>
              </a:r>
            </a:p>
          </p:txBody>
        </p:sp>
        <p:sp>
          <p:nvSpPr>
            <p:cNvPr id="41" name="TextBox 41"/>
            <p:cNvSpPr txBox="1"/>
            <p:nvPr/>
          </p:nvSpPr>
          <p:spPr>
            <a:xfrm>
              <a:off x="4374642" y="5302568"/>
              <a:ext cx="4137088" cy="759333"/>
            </a:xfrm>
            <a:prstGeom prst="rect">
              <a:avLst/>
            </a:prstGeom>
            <a:noFill/>
            <a:ln>
              <a:noFill/>
            </a:ln>
          </p:spPr>
          <p:txBody>
            <a:bodyPr wrap="square" lIns="0" tIns="0" rIns="0" bIns="0" anchor="t" anchorCtr="0"/>
            <a:lstStyle/>
            <a:p>
              <a:pPr algn="l">
                <a:lnSpc>
                  <a:spcPts val="1950"/>
                </a:lnSpc>
              </a:pPr>
              <a:r>
                <a:rPr lang="zh-CN" sz="1350" dirty="0">
                  <a:solidFill>
                    <a:schemeClr val="dk1"/>
                  </a:solidFill>
                  <a:latin typeface="Segoe UI"/>
                  <a:ea typeface="Microsoft YaHei"/>
                  <a:cs typeface="Segoe UI"/>
                </a:rPr>
                <a:t>构筑：原生 rollout 43 轮 + 网关 3,399 条</a:t>
              </a:r>
              <a:r>
                <a:rPr lang="zh-CN" sz="1350" dirty="0">
                  <a:solidFill>
                    <a:schemeClr val="dk1"/>
                  </a:solidFill>
                  <a:latin typeface="Segoe UI"/>
                  <a:ea typeface="Microsoft YaHei"/>
                  <a:cs typeface="Segoe UI"/>
                </a:rPr>
                <a:t>运行：40 个子任务 JSONL + 51 个原生会话</a:t>
              </a:r>
              <a:r>
                <a:rPr lang="zh-CN" sz="1350" dirty="0">
                  <a:solidFill>
                    <a:schemeClr val="dk1"/>
                  </a:solidFill>
                  <a:latin typeface="Segoe UI"/>
                  <a:ea typeface="Microsoft YaHei"/>
                  <a:cs typeface="Segoe UI"/>
                </a:rPr>
                <a:t>Harness：Codex CLI 0.146.1 · gpt-5.6-sol · xhigh</a:t>
              </a:r>
            </a:p>
          </p:txBody>
        </p:sp>
      </p:grpSp>
      <p:grpSp>
        <p:nvGrpSpPr>
          <p:cNvPr id="45" name="Group 45"/>
          <p:cNvGrpSpPr/>
          <p:nvPr/>
        </p:nvGrpSpPr>
        <p:grpSpPr>
          <a:xfrm>
            <a:off x="8563356" y="4949190"/>
            <a:ext cx="2827782" cy="1112711"/>
            <a:chOff x="8563356" y="4949190"/>
            <a:chExt cx="2827782" cy="1112711"/>
          </a:xfrm>
        </p:grpSpPr>
        <p:sp>
          <p:nvSpPr>
            <p:cNvPr id="43" name="TextBox 43"/>
            <p:cNvSpPr txBox="1"/>
            <p:nvPr/>
          </p:nvSpPr>
          <p:spPr>
            <a:xfrm>
              <a:off x="8563356" y="4949190"/>
              <a:ext cx="1036015"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Segoe UI"/>
                  <a:ea typeface="Microsoft YaHei"/>
                  <a:cs typeface="Segoe UI"/>
                </a:rPr>
                <a:t>数据边界</a:t>
              </a:r>
            </a:p>
          </p:txBody>
        </p:sp>
        <p:sp>
          <p:nvSpPr>
            <p:cNvPr id="44" name="TextBox 44"/>
            <p:cNvSpPr txBox="1"/>
            <p:nvPr/>
          </p:nvSpPr>
          <p:spPr>
            <a:xfrm>
              <a:off x="8565642" y="5302568"/>
              <a:ext cx="2825496" cy="759333"/>
            </a:xfrm>
            <a:prstGeom prst="rect">
              <a:avLst/>
            </a:prstGeom>
            <a:noFill/>
            <a:ln>
              <a:noFill/>
            </a:ln>
          </p:spPr>
          <p:txBody>
            <a:bodyPr wrap="square" lIns="0" tIns="0" rIns="0" bIns="0" anchor="t" anchorCtr="0"/>
            <a:lstStyle/>
            <a:p>
              <a:pPr algn="l">
                <a:lnSpc>
                  <a:spcPts val="1950"/>
                </a:lnSpc>
              </a:pPr>
              <a:r>
                <a:rPr lang="zh-CN" sz="1350" dirty="0">
                  <a:solidFill>
                    <a:schemeClr val="dk1"/>
                  </a:solidFill>
                  <a:latin typeface="Segoe UI"/>
                  <a:ea typeface="Microsoft YaHei"/>
                  <a:cs typeface="Segoe UI"/>
                </a:rPr>
                <a:t>私有全文库（约 3,760 万篇）不公开</a:t>
              </a:r>
              <a:r>
                <a:rPr lang="zh-CN" sz="1350" dirty="0">
                  <a:solidFill>
                    <a:schemeClr val="dk1"/>
                  </a:solidFill>
                  <a:latin typeface="Segoe UI"/>
                  <a:ea typeface="Microsoft YaHei"/>
                  <a:cs typeface="Segoe UI"/>
                </a:rPr>
                <a:t>被引 51 篇中 21 篇全文进公开知识库</a:t>
              </a:r>
              <a:r>
                <a:rPr lang="zh-CN" sz="1350" dirty="0">
                  <a:solidFill>
                    <a:schemeClr val="dk1"/>
                  </a:solidFill>
                  <a:latin typeface="Segoe UI"/>
                  <a:ea typeface="Microsoft YaHei"/>
                  <a:cs typeface="Segoe UI"/>
                </a:rPr>
                <a:t>其余 30 篇以 DOI + 官方链接提供</a:t>
              </a:r>
            </a:p>
          </p:txBody>
        </p:sp>
      </p:grpSp>
      <p:grpSp>
        <p:nvGrpSpPr>
          <p:cNvPr id="48" name="Group 48"/>
          <p:cNvGrpSpPr/>
          <p:nvPr/>
        </p:nvGrpSpPr>
        <p:grpSpPr>
          <a:xfrm>
            <a:off x="679704" y="6480810"/>
            <a:ext cx="10832592" cy="234696"/>
            <a:chOff x="679704" y="6480810"/>
            <a:chExt cx="10832592" cy="234696"/>
          </a:xfrm>
        </p:grpSpPr>
        <p:sp>
          <p:nvSpPr>
            <p:cNvPr id="46" name="TextBox 46"/>
            <p:cNvSpPr txBox="1"/>
            <p:nvPr/>
          </p:nvSpPr>
          <p:spPr>
            <a:xfrm>
              <a:off x="679704" y="6480810"/>
              <a:ext cx="6534464"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Segoe UI"/>
                  <a:ea typeface="Microsoft YaHei"/>
                  <a:cs typeface="Segoe UI"/>
                </a:rPr>
                <a:t>SAGE-Mat · GoAI Research · GOAI 2026 复赛 · docs/competition/SUBMISSION.md §6</a:t>
              </a:r>
            </a:p>
          </p:txBody>
        </p:sp>
        <p:sp>
          <p:nvSpPr>
            <p:cNvPr id="47" name="TextBox 47"/>
            <p:cNvSpPr txBox="1"/>
            <p:nvPr/>
          </p:nvSpPr>
          <p:spPr>
            <a:xfrm>
              <a:off x="10958932" y="6480810"/>
              <a:ext cx="553364" cy="234696"/>
            </a:xfrm>
            <a:prstGeom prst="rect">
              <a:avLst/>
            </a:prstGeom>
            <a:noFill/>
            <a:ln>
              <a:noFill/>
            </a:ln>
          </p:spPr>
          <p:txBody>
            <a:bodyPr wrap="none" lIns="0" tIns="0" rIns="0" bIns="0" anchor="t" anchorCtr="0">
              <a:spAutoFit/>
            </a:bodyPr>
            <a:lstStyle/>
            <a:p>
              <a:pPr algn="r"/>
              <a:r>
                <a:rPr lang="en-US" sz="1200" dirty="0">
                  <a:solidFill>
                    <a:schemeClr val="accent5"/>
                  </a:solidFill>
                  <a:latin typeface="Segoe UI"/>
                  <a:ea typeface="Segoe UI"/>
                  <a:cs typeface="Segoe UI"/>
                </a:rPr>
                <a:t>10 / 12</a:t>
              </a:r>
            </a:p>
          </p:txBody>
        </p:sp>
      </p:grpSp>
    </p:spTree>
  </p:cSld>
  <p:clrMapOvr>
    <a:masterClrMapping/>
  </p:clrMapOvr>
  <p:transition xmlns:p14="http://schemas.microsoft.com/office/powerpoint/2010/main" p14:dur="400">
    <p:fade/>
  </p:transition>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670560" y="590550"/>
            <a:ext cx="11585924" cy="586740"/>
            <a:chOff x="670560" y="590550"/>
            <a:chExt cx="11585924" cy="586740"/>
          </a:xfrm>
        </p:grpSpPr>
        <p:sp>
          <p:nvSpPr>
            <p:cNvPr id="2" name="TextBox 2"/>
            <p:cNvSpPr txBox="1"/>
            <p:nvPr/>
          </p:nvSpPr>
          <p:spPr>
            <a:xfrm>
              <a:off x="670560" y="590550"/>
              <a:ext cx="11585924" cy="586740"/>
            </a:xfrm>
            <a:prstGeom prst="rect">
              <a:avLst/>
            </a:prstGeom>
            <a:noFill/>
            <a:ln>
              <a:noFill/>
            </a:ln>
          </p:spPr>
          <p:txBody>
            <a:bodyPr wrap="none" lIns="0" tIns="0" rIns="0" bIns="0" anchor="t" anchorCtr="0">
              <a:spAutoFit/>
            </a:bodyPr>
            <a:lstStyle/>
            <a:p>
              <a:pPr algn="l"/>
              <a:r>
                <a:rPr lang="zh-CN" sz="3000" b="1" dirty="0">
                  <a:solidFill>
                    <a:schemeClr val="dk1"/>
                  </a:solidFill>
                  <a:latin typeface="Segoe UI"/>
                  <a:ea typeface="Microsoft YaHei"/>
                  <a:cs typeface="Segoe UI"/>
                </a:rPr>
                <a:t>干净环境一键冒烟 1–2 分钟；核心流程以闸门一致为复现判据</a:t>
              </a:r>
            </a:p>
          </p:txBody>
        </p:sp>
        <p:sp>
          <p:nvSpPr>
            <p:cNvPr id="3" name="Rectangle 3"/>
            <p:cNvSpPr/>
            <p:nvPr/>
          </p:nvSpPr>
          <p:spPr>
            <a:xfrm>
              <a:off x="685800" y="1085850"/>
              <a:ext cx="685800" cy="38100"/>
            </a:xfrm>
            <a:prstGeom prst="rect">
              <a:avLst/>
            </a:prstGeom>
            <a:solidFill>
              <a:schemeClr val="accent1"/>
            </a:solidFill>
            <a:ln>
              <a:noFill/>
            </a:ln>
          </p:spPr>
        </p:sp>
      </p:grpSp>
      <p:grpSp>
        <p:nvGrpSpPr>
          <p:cNvPr id="6" name="Group 6"/>
          <p:cNvGrpSpPr/>
          <p:nvPr/>
        </p:nvGrpSpPr>
        <p:grpSpPr>
          <a:xfrm>
            <a:off x="675894" y="1370648"/>
            <a:ext cx="10755439" cy="743331"/>
            <a:chOff x="675894" y="1370648"/>
            <a:chExt cx="10755439" cy="743331"/>
          </a:xfrm>
        </p:grpSpPr>
        <p:sp>
          <p:nvSpPr>
            <p:cNvPr id="5" name="TextBox 5"/>
            <p:cNvSpPr txBox="1"/>
            <p:nvPr/>
          </p:nvSpPr>
          <p:spPr>
            <a:xfrm>
              <a:off x="675894" y="1370648"/>
              <a:ext cx="10755439" cy="743331"/>
            </a:xfrm>
            <a:prstGeom prst="rect">
              <a:avLst/>
            </a:prstGeom>
            <a:noFill/>
            <a:ln>
              <a:noFill/>
            </a:ln>
          </p:spPr>
          <p:txBody>
            <a:bodyPr wrap="square" lIns="0" tIns="0" rIns="0" bIns="0" anchor="t" anchorCtr="0"/>
            <a:lstStyle/>
            <a:p>
              <a:pPr algn="l">
                <a:lnSpc>
                  <a:spcPts val="2850"/>
                </a:lnSpc>
              </a:pPr>
              <a:r>
                <a:rPr lang="zh-CN" sz="1950" dirty="0">
                  <a:solidFill>
                    <a:schemeClr val="dk1"/>
                  </a:solidFill>
                  <a:latin typeface="Segoe UI"/>
                  <a:ea typeface="Microsoft YaHei"/>
                  <a:cs typeface="Segoe UI"/>
                </a:rPr>
                <a:t>确定性部分（基准、渲染、闸门）</a:t>
              </a:r>
              <a:r>
                <a:rPr lang="zh-CN" sz="1950" b="1" dirty="0">
                  <a:solidFill>
                    <a:schemeClr val="accent2"/>
                  </a:solidFill>
                  <a:latin typeface="Segoe UI"/>
                  <a:ea typeface="Microsoft YaHei"/>
                  <a:cs typeface="Segoe UI"/>
                </a:rPr>
                <a:t>可逐位复现</a:t>
              </a:r>
              <a:r>
                <a:rPr lang="zh-CN" sz="1950" dirty="0">
                  <a:solidFill>
                    <a:schemeClr val="dk1"/>
                  </a:solidFill>
                  <a:latin typeface="Segoe UI"/>
                  <a:ea typeface="Microsoft YaHei"/>
                  <a:cs typeface="Segoe UI"/>
                </a:rPr>
                <a:t>；LLM 部分不可逐字复现，以 check-done 退出 0、</a:t>
              </a:r>
              <a:r>
                <a:rPr lang="zh-CN" sz="1950" dirty="0">
                  <a:solidFill>
                    <a:schemeClr val="dk1"/>
                  </a:solidFill>
                  <a:latin typeface="Segoe UI"/>
                  <a:ea typeface="Microsoft YaHei"/>
                  <a:cs typeface="Segoe UI"/>
                </a:rPr>
                <a:t>CITATION_AUDIT 全部 PASS、bib_guard 整合率 ≥ 90% 作为核心流程的复现判据。</a:t>
              </a:r>
            </a:p>
          </p:txBody>
        </p:sp>
      </p:grpSp>
      <p:grpSp>
        <p:nvGrpSpPr>
          <p:cNvPr id="10" name="Group 10"/>
          <p:cNvGrpSpPr/>
          <p:nvPr/>
        </p:nvGrpSpPr>
        <p:grpSpPr>
          <a:xfrm>
            <a:off x="685800" y="2095500"/>
            <a:ext cx="6996158" cy="4038600"/>
            <a:chOff x="685800" y="2095500"/>
            <a:chExt cx="6996158" cy="4038600"/>
          </a:xfrm>
        </p:grpSpPr>
        <p:sp>
          <p:nvSpPr>
            <p:cNvPr id="7" name="Rectangle 7"/>
            <p:cNvSpPr/>
            <p:nvPr/>
          </p:nvSpPr>
          <p:spPr>
            <a:xfrm>
              <a:off x="685800" y="2095500"/>
              <a:ext cx="6096000" cy="4038600"/>
            </a:xfrm>
            <a:prstGeom prst="rect">
              <a:avLst/>
            </a:prstGeom>
            <a:solidFill>
              <a:srgbClr val="EEF2F6"/>
            </a:solidFill>
            <a:ln>
              <a:noFill/>
            </a:ln>
          </p:spPr>
        </p:sp>
        <p:sp>
          <p:nvSpPr>
            <p:cNvPr id="8" name="TextBox 8"/>
            <p:cNvSpPr txBox="1"/>
            <p:nvPr/>
          </p:nvSpPr>
          <p:spPr>
            <a:xfrm>
              <a:off x="907542" y="2292668"/>
              <a:ext cx="5171361" cy="3445383"/>
            </a:xfrm>
            <a:prstGeom prst="rect">
              <a:avLst/>
            </a:prstGeom>
            <a:noFill/>
            <a:ln>
              <a:noFill/>
            </a:ln>
          </p:spPr>
          <p:txBody>
            <a:bodyPr wrap="square" lIns="0" tIns="0" rIns="0" bIns="0" anchor="t" anchorCtr="0"/>
            <a:lstStyle/>
            <a:p>
              <a:pPr algn="l">
                <a:lnSpc>
                  <a:spcPts val="2100"/>
                </a:lnSpc>
              </a:pPr>
              <a:r>
                <a:rPr lang="en-US" sz="1350" b="1" dirty="0">
                  <a:solidFill>
                    <a:schemeClr val="accent1"/>
                  </a:solidFill>
                  <a:latin typeface="Consolas"/>
                  <a:ea typeface="Consolas"/>
                  <a:cs typeface="Consolas"/>
                </a:rPr>
                <a:t>$ bash install.sh --retro</a:t>
              </a:r>
            </a:p>
            <a:p>
              <a:pPr algn="l">
                <a:lnSpc>
                  <a:spcPts val="2100"/>
                </a:lnSpc>
                <a:spcBef>
                  <a:spcPts val="150"/>
                </a:spcBef>
              </a:pPr>
              <a:r>
                <a:rPr lang="en-US" sz="1350" b="1" dirty="0">
                  <a:solidFill>
                    <a:schemeClr val="accent1"/>
                  </a:solidFill>
                  <a:latin typeface="Consolas"/>
                  <a:ea typeface="Consolas"/>
                  <a:cs typeface="Consolas"/>
                </a:rPr>
                <a:t xml:space="preserve">$ bash scripts/smoke_test.sh --with-retro </a:t>
              </a:r>
              <a:r>
                <a:rPr lang="en-US" sz="1350" dirty="0">
                  <a:solidFill>
                    <a:schemeClr val="dk1"/>
                  </a:solidFill>
                  <a:latin typeface="Consolas"/>
                  <a:ea typeface="Consolas"/>
                  <a:cs typeface="Consolas"/>
                </a:rPr>
                <a:t xml:space="preserve">OK python 3.10 · 4 MCP servers importable </a:t>
              </a:r>
              <a:r>
                <a:rPr lang="en-US" sz="1350" dirty="0">
                  <a:solidFill>
                    <a:schemeClr val="dk1"/>
                  </a:solidFill>
                  <a:latin typeface="Consolas"/>
                  <a:ea typeface="Consolas"/>
                  <a:cs typeface="Consolas"/>
                </a:rPr>
                <a:t xml:space="preserve">OK 56 passed (offline tests, no network) </a:t>
              </a:r>
              <a:r>
                <a:rPr lang="en-US" sz="1350" dirty="0">
                  <a:solidFill>
                    <a:schemeClr val="dk1"/>
                  </a:solidFill>
                  <a:latin typeface="Consolas"/>
                  <a:ea typeface="Consolas"/>
                  <a:cs typeface="Consolas"/>
                </a:rPr>
                <a:t xml:space="preserve">OK lookup_local_doi -&gt; public corpus package </a:t>
              </a:r>
              <a:r>
                <a:rPr lang="en-US" sz="1350" dirty="0">
                  <a:solidFill>
                    <a:schemeClr val="dk1"/>
                  </a:solidFill>
                  <a:latin typeface="Consolas"/>
                  <a:ea typeface="Consolas"/>
                  <a:cs typeface="Consolas"/>
                </a:rPr>
                <a:t xml:space="preserve">OK 100 claims / 219 citation calls / 51 verified keys </a:t>
              </a:r>
              <a:r>
                <a:rPr lang="en-US" sz="1350" dirty="0">
                  <a:solidFill>
                    <a:schemeClr val="dk1"/>
                  </a:solidFill>
                  <a:latin typeface="Consolas"/>
                  <a:ea typeface="Consolas"/>
                  <a:cs typeface="Consolas"/>
                </a:rPr>
                <a:t xml:space="preserve">OK figspec -&gt; svg + drawio </a:t>
              </a:r>
              <a:r>
                <a:rPr lang="en-US" sz="1350" b="1" dirty="0">
                  <a:solidFill>
                    <a:srgbClr val="2E7D32"/>
                  </a:solidFill>
                  <a:latin typeface="Consolas"/>
                  <a:ea typeface="Consolas"/>
                  <a:cs typeface="Consolas"/>
                </a:rPr>
                <a:t>SMOKE TEST PASSED</a:t>
              </a:r>
            </a:p>
            <a:p>
              <a:pPr algn="l">
                <a:lnSpc>
                  <a:spcPts val="2100"/>
                </a:lnSpc>
                <a:spcBef>
                  <a:spcPts val="900"/>
                </a:spcBef>
              </a:pPr>
              <a:r>
                <a:rPr lang="en-US" sz="1350" b="1" dirty="0">
                  <a:solidFill>
                    <a:schemeClr val="accent1"/>
                  </a:solidFill>
                  <a:latin typeface="Consolas"/>
                  <a:ea typeface="Consolas"/>
                  <a:cs typeface="Consolas"/>
                </a:rPr>
                <a:t xml:space="preserve">$ .venv-retro/bin/python tools/eval_retro_benchmark.py </a:t>
              </a:r>
              <a:r>
                <a:rPr lang="en-US" sz="1350" dirty="0">
                  <a:solidFill>
                    <a:schemeClr val="dk1"/>
                  </a:solidFill>
                  <a:latin typeface="Consolas"/>
                  <a:ea typeface="Consolas"/>
                  <a:cs typeface="Consolas"/>
                </a:rPr>
                <a:t>Combo@1 71.81 · Combo@20 89.21 · MRR 77.48 (bit-identical)</a:t>
              </a:r>
            </a:p>
            <a:p>
              <a:pPr algn="l">
                <a:lnSpc>
                  <a:spcPts val="2100"/>
                </a:lnSpc>
                <a:spcBef>
                  <a:spcPts val="900"/>
                </a:spcBef>
              </a:pPr>
              <a:r>
                <a:rPr lang="en-US" sz="1350" b="1" dirty="0">
                  <a:solidFill>
                    <a:schemeClr val="accent1"/>
                  </a:solidFill>
                  <a:latin typeface="Consolas"/>
                  <a:ea typeface="Consolas"/>
                  <a:cs typeface="Consolas"/>
                </a:rPr>
                <a:t xml:space="preserve">$ bash scripts/reproduce_core.sh --topic "..." </a:t>
              </a:r>
              <a:r>
                <a:rPr lang="en-US" sz="1350" dirty="0">
                  <a:solidFill>
                    <a:schemeClr val="dk1"/>
                  </a:solidFill>
                  <a:latin typeface="Consolas"/>
                  <a:ea typeface="Consolas"/>
                  <a:cs typeface="Consolas"/>
                </a:rPr>
                <a:t>Codex CLI 0.146.1 · gpt-5.6-sol · reasoning xhigh</a:t>
              </a:r>
            </a:p>
          </p:txBody>
        </p:sp>
        <p:sp>
          <p:nvSpPr>
            <p:cNvPr id="9" name="TextBox 9"/>
            <p:cNvSpPr txBox="1"/>
            <p:nvPr/>
          </p:nvSpPr>
          <p:spPr>
            <a:xfrm>
              <a:off x="908304" y="5890260"/>
              <a:ext cx="6773654" cy="234696"/>
            </a:xfrm>
            <a:prstGeom prst="rect">
              <a:avLst/>
            </a:prstGeom>
            <a:noFill/>
            <a:ln>
              <a:noFill/>
            </a:ln>
          </p:spPr>
          <p:txBody>
            <a:bodyPr wrap="none" lIns="0" tIns="0" rIns="0" bIns="0" anchor="t" anchorCtr="0">
              <a:spAutoFit/>
            </a:bodyPr>
            <a:lstStyle/>
            <a:p>
              <a:pPr algn="l"/>
              <a:r>
                <a:rPr lang="zh-CN" sz="1200" dirty="0">
                  <a:solidFill>
                    <a:schemeClr val="dk2"/>
                  </a:solidFill>
                  <a:latin typeface="Segoe UI"/>
                  <a:ea typeface="Microsoft YaHei"/>
                  <a:cs typeface="Segoe UI"/>
                </a:rPr>
                <a:t>冒烟测试 1–2 分钟无网络、无 LLM；基准重算 GPU 19 分钟；核心流程需 Codex 登录与网络</a:t>
              </a:r>
            </a:p>
          </p:txBody>
        </p:sp>
      </p:grpSp>
      <p:grpSp>
        <p:nvGrpSpPr>
          <p:cNvPr id="19" name="Group 19"/>
          <p:cNvGrpSpPr/>
          <p:nvPr/>
        </p:nvGrpSpPr>
        <p:grpSpPr>
          <a:xfrm>
            <a:off x="7155942" y="2129790"/>
            <a:ext cx="4350258" cy="3951161"/>
            <a:chOff x="7155942" y="2129790"/>
            <a:chExt cx="4350258" cy="3951161"/>
          </a:xfrm>
        </p:grpSpPr>
        <p:grpSp>
          <p:nvGrpSpPr>
            <p:cNvPr id="14" name="Group 14"/>
            <p:cNvGrpSpPr/>
            <p:nvPr/>
          </p:nvGrpSpPr>
          <p:grpSpPr>
            <a:xfrm>
              <a:off x="7184079" y="2144196"/>
              <a:ext cx="224134" cy="192560"/>
              <a:chOff x="7184079" y="2144196"/>
              <a:chExt cx="224134" cy="192560"/>
            </a:xfrm>
          </p:grpSpPr>
          <p:sp>
            <p:nvSpPr>
              <p:cNvPr id="11" name="Freeform 11"/>
              <p:cNvSpPr/>
              <p:nvPr/>
            </p:nvSpPr>
            <p:spPr>
              <a:xfrm>
                <a:off x="7296150" y="2214563"/>
                <a:ext cx="9525" cy="44450"/>
              </a:xfrm>
              <a:custGeom>
                <a:avLst/>
                <a:gdLst/>
                <a:ahLst/>
                <a:cxnLst/>
                <a:rect l="l" t="t" r="r" b="b"/>
                <a:pathLst>
                  <a:path w="9525" h="44450">
                    <a:moveTo>
                      <a:pt x="0" y="0"/>
                    </a:moveTo>
                    <a:lnTo>
                      <a:pt x="0" y="44450"/>
                    </a:lnTo>
                  </a:path>
                </a:pathLst>
              </a:custGeom>
              <a:noFill/>
              <a:ln w="19050">
                <a:solidFill>
                  <a:schemeClr val="accent1"/>
                </a:solidFill>
              </a:ln>
            </p:spPr>
          </p:sp>
          <p:sp>
            <p:nvSpPr>
              <p:cNvPr id="12" name="Freeform 12"/>
              <p:cNvSpPr/>
              <p:nvPr/>
            </p:nvSpPr>
            <p:spPr>
              <a:xfrm>
                <a:off x="7184079" y="2144196"/>
                <a:ext cx="224134" cy="192560"/>
              </a:xfrm>
              <a:custGeom>
                <a:avLst/>
                <a:gdLst/>
                <a:ahLst/>
                <a:cxnLst/>
                <a:rect l="l" t="t" r="r" b="b"/>
                <a:pathLst>
                  <a:path w="224134" h="192560">
                    <a:moveTo>
                      <a:pt x="93880" y="10259"/>
                    </a:moveTo>
                    <a:lnTo>
                      <a:pt x="3802" y="160656"/>
                    </a:lnTo>
                    <a:cubicBezTo>
                      <a:pt x="23" y="167200"/>
                      <a:pt x="0" y="175257"/>
                      <a:pt x="3741" y="181823"/>
                    </a:cubicBezTo>
                    <a:cubicBezTo>
                      <a:pt x="7482" y="188388"/>
                      <a:pt x="14426" y="192476"/>
                      <a:pt x="21982" y="192560"/>
                    </a:cubicBezTo>
                    <a:lnTo>
                      <a:pt x="202160" y="192560"/>
                    </a:lnTo>
                    <a:cubicBezTo>
                      <a:pt x="209713" y="192473"/>
                      <a:pt x="216653" y="188387"/>
                      <a:pt x="220393" y="181826"/>
                    </a:cubicBezTo>
                    <a:cubicBezTo>
                      <a:pt x="224134" y="175264"/>
                      <a:pt x="224114" y="167211"/>
                      <a:pt x="220341" y="160667"/>
                    </a:cubicBezTo>
                    <a:lnTo>
                      <a:pt x="130262" y="10248"/>
                    </a:lnTo>
                    <a:cubicBezTo>
                      <a:pt x="126408" y="3886"/>
                      <a:pt x="119510" y="0"/>
                      <a:pt x="112071" y="0"/>
                    </a:cubicBezTo>
                    <a:cubicBezTo>
                      <a:pt x="104633" y="0"/>
                      <a:pt x="97734" y="3886"/>
                      <a:pt x="93880" y="10248"/>
                    </a:cubicBezTo>
                  </a:path>
                </a:pathLst>
              </a:custGeom>
              <a:noFill/>
              <a:ln w="19050">
                <a:solidFill>
                  <a:schemeClr val="accent1"/>
                </a:solidFill>
              </a:ln>
            </p:spPr>
          </p:sp>
          <p:sp>
            <p:nvSpPr>
              <p:cNvPr id="13" name="Freeform 13"/>
              <p:cNvSpPr/>
              <p:nvPr/>
            </p:nvSpPr>
            <p:spPr>
              <a:xfrm>
                <a:off x="7296150" y="2292351"/>
                <a:ext cx="9525" cy="9525"/>
              </a:xfrm>
              <a:custGeom>
                <a:avLst/>
                <a:gdLst/>
                <a:ahLst/>
                <a:cxnLst/>
                <a:rect l="l" t="t" r="r" b="b"/>
                <a:pathLst>
                  <a:path w="9525" h="9525">
                    <a:moveTo>
                      <a:pt x="0" y="0"/>
                    </a:moveTo>
                    <a:lnTo>
                      <a:pt x="111" y="0"/>
                    </a:lnTo>
                  </a:path>
                </a:pathLst>
              </a:custGeom>
              <a:noFill/>
              <a:ln w="19050">
                <a:solidFill>
                  <a:schemeClr val="accent1"/>
                </a:solidFill>
              </a:ln>
            </p:spPr>
          </p:sp>
        </p:grpSp>
        <p:sp>
          <p:nvSpPr>
            <p:cNvPr id="15" name="TextBox 15"/>
            <p:cNvSpPr txBox="1"/>
            <p:nvPr/>
          </p:nvSpPr>
          <p:spPr>
            <a:xfrm>
              <a:off x="7515606" y="2129790"/>
              <a:ext cx="2562606"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Segoe UI"/>
                  <a:ea typeface="Microsoft YaHei"/>
                  <a:cs typeface="Segoe UI"/>
                </a:rPr>
                <a:t>已知限制（如实披露）</a:t>
              </a:r>
            </a:p>
          </p:txBody>
        </p:sp>
        <p:sp>
          <p:nvSpPr>
            <p:cNvPr id="16" name="TextBox 16"/>
            <p:cNvSpPr txBox="1"/>
            <p:nvPr/>
          </p:nvSpPr>
          <p:spPr>
            <a:xfrm>
              <a:off x="7155942" y="2578418"/>
              <a:ext cx="4145661" cy="2283333"/>
            </a:xfrm>
            <a:prstGeom prst="rect">
              <a:avLst/>
            </a:prstGeom>
            <a:noFill/>
            <a:ln>
              <a:noFill/>
            </a:ln>
          </p:spPr>
          <p:txBody>
            <a:bodyPr wrap="square" lIns="0" tIns="0" rIns="0" bIns="0" anchor="t" anchorCtr="0"/>
            <a:lstStyle/>
            <a:p>
              <a:pPr algn="l">
                <a:lnSpc>
                  <a:spcPts val="1950"/>
                </a:lnSpc>
              </a:pPr>
              <a:r>
                <a:rPr lang="en-US" sz="1350" b="1" dirty="0">
                  <a:solidFill>
                    <a:schemeClr val="accent2"/>
                  </a:solidFill>
                  <a:latin typeface="Segoe UI"/>
                  <a:ea typeface="Segoe UI"/>
                  <a:cs typeface="Segoe UI"/>
                </a:rPr>
                <a:t>1</a:t>
              </a:r>
              <a:r>
                <a:rPr lang="zh-CN" sz="1350" dirty="0">
                  <a:solidFill>
                    <a:schemeClr val="dk1"/>
                  </a:solidFill>
                  <a:latin typeface="Segoe UI"/>
                  <a:ea typeface="Microsoft YaHei"/>
                  <a:cs typeface="Segoe UI"/>
                </a:rPr>
                <a:t xml:space="preserve"> 目标相仅 1 篇直接报道、无独立复现；</a:t>
              </a:r>
              <a:r>
                <a:rPr lang="zh-CN" sz="1350" dirty="0">
                  <a:solidFill>
                    <a:schemeClr val="dk1"/>
                  </a:solidFill>
                  <a:latin typeface="Segoe UI"/>
                  <a:ea typeface="Microsoft YaHei"/>
                  <a:cs typeface="Segoe UI"/>
                </a:rPr>
                <a:t>报告不给出“已验证配方”，只给可迁移范围与实验方向</a:t>
              </a:r>
            </a:p>
            <a:p>
              <a:pPr algn="l">
                <a:lnSpc>
                  <a:spcPts val="1950"/>
                </a:lnSpc>
                <a:spcBef>
                  <a:spcPts val="750"/>
                </a:spcBef>
              </a:pPr>
              <a:r>
                <a:rPr lang="en-US" sz="1350" b="1" dirty="0">
                  <a:solidFill>
                    <a:schemeClr val="accent2"/>
                  </a:solidFill>
                  <a:latin typeface="Segoe UI"/>
                  <a:ea typeface="Segoe UI"/>
                  <a:cs typeface="Segoe UI"/>
                </a:rPr>
                <a:t>2</a:t>
              </a:r>
              <a:r>
                <a:rPr lang="zh-CN" sz="1350" dirty="0">
                  <a:solidFill>
                    <a:schemeClr val="dk1"/>
                  </a:solidFill>
                  <a:latin typeface="Segoe UI"/>
                  <a:ea typeface="Microsoft YaHei"/>
                  <a:cs typeface="Segoe UI"/>
                </a:rPr>
                <a:t xml:space="preserve"> 公开知识库只含被引文献中 21 / 51 篇全文，</a:t>
              </a:r>
              <a:r>
                <a:rPr lang="zh-CN" sz="1350" dirty="0">
                  <a:solidFill>
                    <a:schemeClr val="dk1"/>
                  </a:solidFill>
                  <a:latin typeface="Segoe UI"/>
                  <a:ea typeface="Microsoft YaHei"/>
                  <a:cs typeface="Segoe UI"/>
                </a:rPr>
                <a:t>其余 30 篇以 DOI 提供；在线检索与核验不受影响</a:t>
              </a:r>
            </a:p>
            <a:p>
              <a:pPr algn="l">
                <a:lnSpc>
                  <a:spcPts val="1950"/>
                </a:lnSpc>
                <a:spcBef>
                  <a:spcPts val="750"/>
                </a:spcBef>
              </a:pPr>
              <a:r>
                <a:rPr lang="en-US" sz="1350" b="1" dirty="0">
                  <a:solidFill>
                    <a:schemeClr val="accent2"/>
                  </a:solidFill>
                  <a:latin typeface="Segoe UI"/>
                  <a:ea typeface="Segoe UI"/>
                  <a:cs typeface="Segoe UI"/>
                </a:rPr>
                <a:t>3</a:t>
              </a:r>
              <a:r>
                <a:rPr lang="zh-CN" sz="1350" dirty="0">
                  <a:solidFill>
                    <a:schemeClr val="dk1"/>
                  </a:solidFill>
                  <a:latin typeface="Segoe UI"/>
                  <a:ea typeface="Microsoft YaHei"/>
                  <a:cs typeface="Segoe UI"/>
                </a:rPr>
                <a:t xml:space="preserve"> 终审为同家族模型的冷启动复审（provisional）；</a:t>
              </a:r>
              <a:r>
                <a:rPr lang="zh-CN" sz="1350" dirty="0">
                  <a:solidFill>
                    <a:schemeClr val="dk1"/>
                  </a:solidFill>
                  <a:latin typeface="Segoe UI"/>
                  <a:ea typeface="Microsoft YaHei"/>
                  <a:cs typeface="Segoe UI"/>
                </a:rPr>
                <a:t>跨模型审稿已支持，本次未启用</a:t>
              </a:r>
            </a:p>
            <a:p>
              <a:pPr algn="l">
                <a:lnSpc>
                  <a:spcPts val="1950"/>
                </a:lnSpc>
                <a:spcBef>
                  <a:spcPts val="750"/>
                </a:spcBef>
              </a:pPr>
              <a:r>
                <a:rPr lang="en-US" sz="1350" b="1" dirty="0">
                  <a:solidFill>
                    <a:schemeClr val="accent2"/>
                  </a:solidFill>
                  <a:latin typeface="Segoe UI"/>
                  <a:ea typeface="Segoe UI"/>
                  <a:cs typeface="Segoe UI"/>
                </a:rPr>
                <a:t>4</a:t>
              </a:r>
              <a:r>
                <a:rPr lang="zh-CN" sz="1350" dirty="0">
                  <a:solidFill>
                    <a:schemeClr val="dk1"/>
                  </a:solidFill>
                  <a:latin typeface="Segoe UI"/>
                  <a:ea typeface="Microsoft YaHei"/>
                  <a:cs typeface="Segoe UI"/>
                </a:rPr>
                <a:t xml:space="preserve"> 正式 PDF 含专家反馈驱动的修订，全部轨迹留痕；</a:t>
              </a:r>
              <a:r>
                <a:rPr lang="zh-CN" sz="1350" dirty="0">
                  <a:solidFill>
                    <a:schemeClr val="dk1"/>
                  </a:solidFill>
                  <a:latin typeface="Segoe UI"/>
                  <a:ea typeface="Microsoft YaHei"/>
                  <a:cs typeface="Segoe UI"/>
                </a:rPr>
                <a:t>LLM 步骤不可逐字复现，复现判据见上</a:t>
              </a:r>
            </a:p>
          </p:txBody>
        </p:sp>
        <p:sp>
          <p:nvSpPr>
            <p:cNvPr id="17" name="Line 17"/>
            <p:cNvSpPr/>
            <p:nvPr/>
          </p:nvSpPr>
          <p:spPr>
            <a:xfrm>
              <a:off x="7162800" y="5143500"/>
              <a:ext cx="4343400" cy="9525"/>
            </a:xfrm>
            <a:custGeom>
              <a:avLst/>
              <a:gdLst/>
              <a:ahLst/>
              <a:cxnLst/>
              <a:rect l="l" t="t" r="r" b="b"/>
              <a:pathLst>
                <a:path w="4343400" h="9525">
                  <a:moveTo>
                    <a:pt x="0" y="0"/>
                  </a:moveTo>
                  <a:lnTo>
                    <a:pt x="4343400" y="0"/>
                  </a:lnTo>
                </a:path>
              </a:pathLst>
            </a:custGeom>
            <a:noFill/>
            <a:ln w="9525">
              <a:solidFill>
                <a:schemeClr val="accent4"/>
              </a:solidFill>
            </a:ln>
          </p:spPr>
        </p:sp>
        <p:sp>
          <p:nvSpPr>
            <p:cNvPr id="18" name="TextBox 18"/>
            <p:cNvSpPr txBox="1"/>
            <p:nvPr/>
          </p:nvSpPr>
          <p:spPr>
            <a:xfrm>
              <a:off x="7155942" y="5321618"/>
              <a:ext cx="3957066" cy="759333"/>
            </a:xfrm>
            <a:prstGeom prst="rect">
              <a:avLst/>
            </a:prstGeom>
            <a:noFill/>
            <a:ln>
              <a:noFill/>
            </a:ln>
          </p:spPr>
          <p:txBody>
            <a:bodyPr wrap="square" lIns="0" tIns="0" rIns="0" bIns="0" anchor="t" anchorCtr="0"/>
            <a:lstStyle/>
            <a:p>
              <a:pPr algn="l">
                <a:lnSpc>
                  <a:spcPts val="1950"/>
                </a:lnSpc>
              </a:pPr>
              <a:r>
                <a:rPr lang="zh-CN" sz="1350" b="1" dirty="0">
                  <a:solidFill>
                    <a:schemeClr val="accent1"/>
                  </a:solidFill>
                  <a:latin typeface="Segoe UI"/>
                  <a:ea typeface="Microsoft YaHei"/>
                  <a:cs typeface="Segoe UI"/>
                </a:rPr>
                <a:t>7 组运行全部留痕</a:t>
              </a:r>
              <a:r>
                <a:rPr lang="zh-CN" sz="1350" dirty="0">
                  <a:solidFill>
                    <a:schemeClr val="dk1"/>
                  </a:solidFill>
                  <a:latin typeface="Segoe UI"/>
                  <a:ea typeface="Microsoft YaHei"/>
                  <a:cs typeface="Segoe UI"/>
                </a:rPr>
                <a:t>；正式结果取最后一个同时通过</a:t>
              </a:r>
              <a:r>
                <a:rPr lang="zh-CN" sz="1350" dirty="0">
                  <a:solidFill>
                    <a:schemeClr val="dk1"/>
                  </a:solidFill>
                  <a:latin typeface="Segoe UI"/>
                  <a:ea typeface="Microsoft YaHei"/>
                  <a:cs typeface="Segoe UI"/>
                </a:rPr>
                <a:t>全部机械闸门（引用、稿件、术语、终审）的版本，</a:t>
              </a:r>
              <a:r>
                <a:rPr lang="zh-CN" sz="1350" dirty="0">
                  <a:solidFill>
                    <a:schemeClr val="dk1"/>
                  </a:solidFill>
                  <a:latin typeface="Segoe UI"/>
                  <a:ea typeface="Microsoft YaHei"/>
                  <a:cs typeface="Segoe UI"/>
                </a:rPr>
                <a:t>不在多次运行间“挑最好的一次”。</a:t>
              </a:r>
            </a:p>
          </p:txBody>
        </p:sp>
      </p:grpSp>
      <p:grpSp>
        <p:nvGrpSpPr>
          <p:cNvPr id="22" name="Group 22"/>
          <p:cNvGrpSpPr/>
          <p:nvPr/>
        </p:nvGrpSpPr>
        <p:grpSpPr>
          <a:xfrm>
            <a:off x="679704" y="6480810"/>
            <a:ext cx="10832592" cy="234696"/>
            <a:chOff x="679704" y="6480810"/>
            <a:chExt cx="10832592" cy="234696"/>
          </a:xfrm>
        </p:grpSpPr>
        <p:sp>
          <p:nvSpPr>
            <p:cNvPr id="20" name="TextBox 20"/>
            <p:cNvSpPr txBox="1"/>
            <p:nvPr/>
          </p:nvSpPr>
          <p:spPr>
            <a:xfrm>
              <a:off x="679704" y="6480810"/>
              <a:ext cx="6882539"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Segoe UI"/>
                  <a:ea typeface="Microsoft YaHei"/>
                  <a:cs typeface="Segoe UI"/>
                </a:rPr>
                <a:t>SAGE-Mat · GoAI Research · GOAI 2026 复赛 · docs/competition/SUBMISSION.md §3、§7</a:t>
              </a:r>
            </a:p>
          </p:txBody>
        </p:sp>
        <p:sp>
          <p:nvSpPr>
            <p:cNvPr id="21" name="TextBox 21"/>
            <p:cNvSpPr txBox="1"/>
            <p:nvPr/>
          </p:nvSpPr>
          <p:spPr>
            <a:xfrm>
              <a:off x="10958932" y="6480810"/>
              <a:ext cx="553364" cy="234696"/>
            </a:xfrm>
            <a:prstGeom prst="rect">
              <a:avLst/>
            </a:prstGeom>
            <a:noFill/>
            <a:ln>
              <a:noFill/>
            </a:ln>
          </p:spPr>
          <p:txBody>
            <a:bodyPr wrap="none" lIns="0" tIns="0" rIns="0" bIns="0" anchor="t" anchorCtr="0">
              <a:spAutoFit/>
            </a:bodyPr>
            <a:lstStyle/>
            <a:p>
              <a:pPr algn="r"/>
              <a:r>
                <a:rPr lang="en-US" sz="1200" dirty="0">
                  <a:solidFill>
                    <a:schemeClr val="accent5"/>
                  </a:solidFill>
                  <a:latin typeface="Segoe UI"/>
                  <a:ea typeface="Segoe UI"/>
                  <a:cs typeface="Segoe UI"/>
                </a:rPr>
                <a:t>11 / 12</a:t>
              </a:r>
            </a:p>
          </p:txBody>
        </p:sp>
      </p:grpSp>
    </p:spTree>
  </p:cSld>
  <p:clrMapOvr>
    <a:masterClrMapping/>
  </p:clrMapOvr>
  <p:transition xmlns:p14="http://schemas.microsoft.com/office/powerpoint/2010/main" p14:dur="400">
    <p:fade/>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4"/>
          <p:cNvGrpSpPr/>
          <p:nvPr/>
        </p:nvGrpSpPr>
        <p:grpSpPr>
          <a:xfrm>
            <a:off x="0" y="0"/>
            <a:ext cx="12192000" cy="6858000"/>
            <a:chOff x="0" y="0"/>
            <a:chExt cx="12192000" cy="6858000"/>
          </a:xfrm>
        </p:grpSpPr>
        <p:sp>
          <p:nvSpPr>
            <p:cNvPr id="2" name="Rectangle 2"/>
            <p:cNvSpPr/>
            <p:nvPr/>
          </p:nvSpPr>
          <p:spPr>
            <a:xfrm>
              <a:off x="0" y="0"/>
              <a:ext cx="12192000" cy="6858000"/>
            </a:xfrm>
            <a:prstGeom prst="rect">
              <a:avLst/>
            </a:prstGeom>
            <a:solidFill>
              <a:schemeClr val="lt1"/>
            </a:solidFill>
            <a:ln>
              <a:noFill/>
            </a:ln>
          </p:spPr>
        </p:sp>
        <p:sp>
          <p:nvSpPr>
            <p:cNvPr id="3" name="Rectangle 3"/>
            <p:cNvSpPr/>
            <p:nvPr/>
          </p:nvSpPr>
          <p:spPr>
            <a:xfrm>
              <a:off x="0" y="0"/>
              <a:ext cx="12192000" cy="76200"/>
            </a:xfrm>
            <a:prstGeom prst="rect">
              <a:avLst/>
            </a:prstGeom>
            <a:solidFill>
              <a:schemeClr val="accent1"/>
            </a:solidFill>
            <a:ln>
              <a:noFill/>
            </a:ln>
          </p:spPr>
        </p:sp>
      </p:grpSp>
      <p:grpSp>
        <p:nvGrpSpPr>
          <p:cNvPr id="7" name="Group 7"/>
          <p:cNvGrpSpPr/>
          <p:nvPr/>
        </p:nvGrpSpPr>
        <p:grpSpPr>
          <a:xfrm>
            <a:off x="670560" y="590550"/>
            <a:ext cx="10430380" cy="586740"/>
            <a:chOff x="670560" y="590550"/>
            <a:chExt cx="10430380" cy="586740"/>
          </a:xfrm>
        </p:grpSpPr>
        <p:sp>
          <p:nvSpPr>
            <p:cNvPr id="5" name="TextBox 5"/>
            <p:cNvSpPr txBox="1"/>
            <p:nvPr/>
          </p:nvSpPr>
          <p:spPr>
            <a:xfrm>
              <a:off x="670560" y="590550"/>
              <a:ext cx="10430380" cy="586740"/>
            </a:xfrm>
            <a:prstGeom prst="rect">
              <a:avLst/>
            </a:prstGeom>
            <a:noFill/>
            <a:ln>
              <a:noFill/>
            </a:ln>
          </p:spPr>
          <p:txBody>
            <a:bodyPr wrap="none" lIns="0" tIns="0" rIns="0" bIns="0" anchor="t" anchorCtr="0">
              <a:spAutoFit/>
            </a:bodyPr>
            <a:lstStyle/>
            <a:p>
              <a:pPr algn="l"/>
              <a:r>
                <a:rPr lang="zh-CN" sz="3000" b="1" dirty="0">
                  <a:solidFill>
                    <a:schemeClr val="dk1"/>
                  </a:solidFill>
                  <a:latin typeface="Segoe UI"/>
                  <a:ea typeface="Microsoft YaHei"/>
                  <a:cs typeface="Segoe UI"/>
                </a:rPr>
                <a:t>MIT 开源、tag 固定；下一步是跨模型审稿与实验验证</a:t>
              </a:r>
            </a:p>
          </p:txBody>
        </p:sp>
        <p:sp>
          <p:nvSpPr>
            <p:cNvPr id="6" name="Rectangle 6"/>
            <p:cNvSpPr/>
            <p:nvPr/>
          </p:nvSpPr>
          <p:spPr>
            <a:xfrm>
              <a:off x="685800" y="1085850"/>
              <a:ext cx="685800" cy="38100"/>
            </a:xfrm>
            <a:prstGeom prst="rect">
              <a:avLst/>
            </a:prstGeom>
            <a:solidFill>
              <a:schemeClr val="accent1"/>
            </a:solidFill>
            <a:ln>
              <a:noFill/>
            </a:ln>
          </p:spPr>
        </p:sp>
      </p:grpSp>
      <p:grpSp>
        <p:nvGrpSpPr>
          <p:cNvPr id="11" name="Group 11"/>
          <p:cNvGrpSpPr/>
          <p:nvPr/>
        </p:nvGrpSpPr>
        <p:grpSpPr>
          <a:xfrm>
            <a:off x="1350950" y="1776412"/>
            <a:ext cx="9490100" cy="1161289"/>
            <a:chOff x="1350950" y="1776412"/>
            <a:chExt cx="9490100" cy="1161289"/>
          </a:xfrm>
        </p:grpSpPr>
        <p:sp>
          <p:nvSpPr>
            <p:cNvPr id="8" name="TextBox 8"/>
            <p:cNvSpPr txBox="1"/>
            <p:nvPr/>
          </p:nvSpPr>
          <p:spPr>
            <a:xfrm>
              <a:off x="2570231" y="1776412"/>
              <a:ext cx="7051538" cy="440055"/>
            </a:xfrm>
            <a:prstGeom prst="rect">
              <a:avLst/>
            </a:prstGeom>
            <a:noFill/>
            <a:ln>
              <a:noFill/>
            </a:ln>
          </p:spPr>
          <p:txBody>
            <a:bodyPr wrap="none" lIns="0" tIns="0" rIns="0" bIns="0" anchor="t" anchorCtr="0">
              <a:spAutoFit/>
            </a:bodyPr>
            <a:lstStyle/>
            <a:p>
              <a:pPr algn="ctr"/>
              <a:r>
                <a:rPr lang="zh-CN" sz="2250" b="1" dirty="0">
                  <a:solidFill>
                    <a:schemeClr val="dk1"/>
                  </a:solidFill>
                  <a:latin typeface="Segoe UI"/>
                  <a:ea typeface="Microsoft YaHei"/>
                  <a:cs typeface="Segoe UI"/>
                </a:rPr>
                <a:t>这套系统真正改变的，是把“该不该相信这条结论”</a:t>
              </a:r>
            </a:p>
          </p:txBody>
        </p:sp>
        <p:sp>
          <p:nvSpPr>
            <p:cNvPr id="9" name="TextBox 9"/>
            <p:cNvSpPr txBox="1"/>
            <p:nvPr/>
          </p:nvSpPr>
          <p:spPr>
            <a:xfrm>
              <a:off x="2690546" y="2195512"/>
              <a:ext cx="6810908" cy="440055"/>
            </a:xfrm>
            <a:prstGeom prst="rect">
              <a:avLst/>
            </a:prstGeom>
            <a:noFill/>
            <a:ln>
              <a:noFill/>
            </a:ln>
          </p:spPr>
          <p:txBody>
            <a:bodyPr wrap="none" lIns="0" tIns="0" rIns="0" bIns="0" anchor="t" anchorCtr="0">
              <a:spAutoFit/>
            </a:bodyPr>
            <a:lstStyle/>
            <a:p>
              <a:pPr algn="ctr"/>
              <a:r>
                <a:rPr lang="zh-CN" sz="2250" b="1" dirty="0">
                  <a:solidFill>
                    <a:schemeClr val="accent2"/>
                  </a:solidFill>
                  <a:latin typeface="Segoe UI"/>
                  <a:ea typeface="Microsoft YaHei"/>
                  <a:cs typeface="Segoe UI"/>
                </a:rPr>
                <a:t>变成一个可以点开 DOI 与原文段落回答的问题</a:t>
              </a:r>
            </a:p>
          </p:txBody>
        </p:sp>
        <p:sp>
          <p:nvSpPr>
            <p:cNvPr id="10" name="TextBox 10"/>
            <p:cNvSpPr txBox="1"/>
            <p:nvPr/>
          </p:nvSpPr>
          <p:spPr>
            <a:xfrm>
              <a:off x="1350950" y="2673668"/>
              <a:ext cx="9490100" cy="264033"/>
            </a:xfrm>
            <a:prstGeom prst="rect">
              <a:avLst/>
            </a:prstGeom>
            <a:noFill/>
            <a:ln>
              <a:noFill/>
            </a:ln>
          </p:spPr>
          <p:txBody>
            <a:bodyPr wrap="none" lIns="0" tIns="0" rIns="0" bIns="0" anchor="t" anchorCtr="0">
              <a:spAutoFit/>
            </a:bodyPr>
            <a:lstStyle/>
            <a:p>
              <a:pPr algn="ctr"/>
              <a:r>
                <a:rPr lang="zh-CN" sz="1350" dirty="0">
                  <a:solidFill>
                    <a:schemeClr val="dk2"/>
                  </a:solidFill>
                  <a:latin typeface="Segoe UI"/>
                  <a:ea typeface="Microsoft YaHei"/>
                  <a:cs typeface="Segoe UI"/>
                </a:rPr>
                <a:t>文献稀缺（BYZSO）与文献丰富但不可比（LLZO）两种情形下，都产出了可逐条核对的结论与可检验的实验建议</a:t>
              </a:r>
            </a:p>
          </p:txBody>
        </p:sp>
      </p:grpSp>
      <p:grpSp>
        <p:nvGrpSpPr>
          <p:cNvPr id="16" name="Group 16"/>
          <p:cNvGrpSpPr/>
          <p:nvPr/>
        </p:nvGrpSpPr>
        <p:grpSpPr>
          <a:xfrm>
            <a:off x="685800" y="3200400"/>
            <a:ext cx="3429000" cy="2514600"/>
            <a:chOff x="685800" y="3200400"/>
            <a:chExt cx="3429000" cy="2514600"/>
          </a:xfrm>
        </p:grpSpPr>
        <p:sp>
          <p:nvSpPr>
            <p:cNvPr id="12" name="Rectangle 12"/>
            <p:cNvSpPr/>
            <p:nvPr/>
          </p:nvSpPr>
          <p:spPr>
            <a:xfrm>
              <a:off x="685800" y="3200400"/>
              <a:ext cx="3429000" cy="2514600"/>
            </a:xfrm>
            <a:prstGeom prst="rect">
              <a:avLst/>
            </a:prstGeom>
            <a:solidFill>
              <a:schemeClr val="lt2"/>
            </a:solidFill>
            <a:ln>
              <a:noFill/>
            </a:ln>
          </p:spPr>
        </p:sp>
        <p:sp>
          <p:nvSpPr>
            <p:cNvPr id="13" name="Freeform 13"/>
            <p:cNvSpPr/>
            <p:nvPr/>
          </p:nvSpPr>
          <p:spPr>
            <a:xfrm>
              <a:off x="947738" y="3422015"/>
              <a:ext cx="188913" cy="202248"/>
            </a:xfrm>
            <a:custGeom>
              <a:avLst/>
              <a:gdLst/>
              <a:ahLst/>
              <a:cxnLst/>
              <a:rect l="l" t="t" r="r" b="b"/>
              <a:pathLst>
                <a:path w="188913" h="202248">
                  <a:moveTo>
                    <a:pt x="66675" y="180023"/>
                  </a:moveTo>
                  <a:cubicBezTo>
                    <a:pt x="18891" y="195581"/>
                    <a:pt x="18891" y="152242"/>
                    <a:pt x="0" y="146685"/>
                  </a:cubicBezTo>
                  <a:moveTo>
                    <a:pt x="133350" y="202248"/>
                  </a:moveTo>
                  <a:lnTo>
                    <a:pt x="133350" y="163354"/>
                  </a:lnTo>
                  <a:cubicBezTo>
                    <a:pt x="133350" y="152242"/>
                    <a:pt x="134462" y="147797"/>
                    <a:pt x="127794" y="141129"/>
                  </a:cubicBezTo>
                  <a:cubicBezTo>
                    <a:pt x="158909" y="137795"/>
                    <a:pt x="188913" y="125572"/>
                    <a:pt x="188913" y="74454"/>
                  </a:cubicBezTo>
                  <a:cubicBezTo>
                    <a:pt x="188900" y="61174"/>
                    <a:pt x="183718" y="48421"/>
                    <a:pt x="174467" y="38894"/>
                  </a:cubicBezTo>
                  <a:cubicBezTo>
                    <a:pt x="178806" y="27359"/>
                    <a:pt x="178406" y="14576"/>
                    <a:pt x="173355" y="3334"/>
                  </a:cubicBezTo>
                  <a:cubicBezTo>
                    <a:pt x="173355" y="3334"/>
                    <a:pt x="161132" y="0"/>
                    <a:pt x="134462" y="17780"/>
                  </a:cubicBezTo>
                  <a:cubicBezTo>
                    <a:pt x="111873" y="11897"/>
                    <a:pt x="88153" y="11897"/>
                    <a:pt x="65564" y="17780"/>
                  </a:cubicBezTo>
                  <a:cubicBezTo>
                    <a:pt x="38894" y="0"/>
                    <a:pt x="26670" y="3334"/>
                    <a:pt x="26670" y="3334"/>
                  </a:cubicBezTo>
                  <a:cubicBezTo>
                    <a:pt x="21619" y="14576"/>
                    <a:pt x="21220" y="27359"/>
                    <a:pt x="25559" y="38894"/>
                  </a:cubicBezTo>
                  <a:cubicBezTo>
                    <a:pt x="16307" y="48421"/>
                    <a:pt x="11126" y="61174"/>
                    <a:pt x="11113" y="74454"/>
                  </a:cubicBezTo>
                  <a:cubicBezTo>
                    <a:pt x="11113" y="125572"/>
                    <a:pt x="41116" y="137795"/>
                    <a:pt x="72231" y="141129"/>
                  </a:cubicBezTo>
                  <a:cubicBezTo>
                    <a:pt x="65564" y="147797"/>
                    <a:pt x="65564" y="154464"/>
                    <a:pt x="66675" y="163354"/>
                  </a:cubicBezTo>
                  <a:lnTo>
                    <a:pt x="66675" y="202248"/>
                  </a:lnTo>
                </a:path>
              </a:pathLst>
            </a:custGeom>
            <a:noFill/>
            <a:ln w="19050">
              <a:solidFill>
                <a:schemeClr val="accent1"/>
              </a:solidFill>
            </a:ln>
          </p:spPr>
        </p:sp>
        <p:sp>
          <p:nvSpPr>
            <p:cNvPr id="14" name="TextBox 14"/>
            <p:cNvSpPr txBox="1"/>
            <p:nvPr/>
          </p:nvSpPr>
          <p:spPr>
            <a:xfrm>
              <a:off x="1267206" y="3406140"/>
              <a:ext cx="1036015"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Segoe UI"/>
                  <a:ea typeface="Microsoft YaHei"/>
                  <a:cs typeface="Segoe UI"/>
                </a:rPr>
                <a:t>开源情况</a:t>
              </a:r>
            </a:p>
          </p:txBody>
        </p:sp>
        <p:sp>
          <p:nvSpPr>
            <p:cNvPr id="15" name="TextBox 15"/>
            <p:cNvSpPr txBox="1"/>
            <p:nvPr/>
          </p:nvSpPr>
          <p:spPr>
            <a:xfrm>
              <a:off x="907542" y="3816668"/>
              <a:ext cx="3022663" cy="1673733"/>
            </a:xfrm>
            <a:prstGeom prst="rect">
              <a:avLst/>
            </a:prstGeom>
            <a:noFill/>
            <a:ln>
              <a:noFill/>
            </a:ln>
          </p:spPr>
          <p:txBody>
            <a:bodyPr wrap="square" lIns="0" tIns="0" rIns="0" bIns="0" anchor="t" anchorCtr="0"/>
            <a:lstStyle/>
            <a:p>
              <a:pPr algn="l">
                <a:lnSpc>
                  <a:spcPts val="1950"/>
                </a:lnSpc>
              </a:pPr>
              <a:r>
                <a:rPr lang="en-US" sz="1350" dirty="0">
                  <a:solidFill>
                    <a:schemeClr val="dk1"/>
                  </a:solidFill>
                  <a:latin typeface="Segoe UI"/>
                  <a:ea typeface="Segoe UI"/>
                  <a:cs typeface="Segoe UI"/>
                </a:rPr>
                <a:t>github.com/asimfish/goai_research</a:t>
              </a:r>
            </a:p>
            <a:p>
              <a:pPr algn="l">
                <a:lnSpc>
                  <a:spcPts val="1950"/>
                </a:lnSpc>
                <a:spcBef>
                  <a:spcPts val="150"/>
                </a:spcBef>
              </a:pPr>
              <a:r>
                <a:rPr lang="en-US" sz="1350" dirty="0">
                  <a:solidFill>
                    <a:schemeClr val="dk1"/>
                  </a:solidFill>
                  <a:latin typeface="Segoe UI"/>
                  <a:ea typeface="Segoe UI"/>
                  <a:cs typeface="Segoe UI"/>
                </a:rPr>
                <a:t>MIT · tag goai-final-2026-09-03</a:t>
              </a:r>
            </a:p>
            <a:p>
              <a:pPr algn="l">
                <a:lnSpc>
                  <a:spcPts val="1950"/>
                </a:lnSpc>
                <a:spcBef>
                  <a:spcPts val="600"/>
                </a:spcBef>
              </a:pPr>
              <a:r>
                <a:rPr lang="zh-CN" sz="1350" dirty="0">
                  <a:solidFill>
                    <a:schemeClr val="dk1"/>
                  </a:solidFill>
                  <a:latin typeface="Segoe UI"/>
                  <a:ea typeface="Microsoft YaHei"/>
                  <a:cs typeface="Segoe UI"/>
                </a:rPr>
                <a:t>提交全部 Prompt、配置、依赖版本、</a:t>
              </a:r>
              <a:r>
                <a:rPr lang="zh-CN" sz="1350" dirty="0">
                  <a:solidFill>
                    <a:schemeClr val="dk1"/>
                  </a:solidFill>
                  <a:latin typeface="Segoe UI"/>
                  <a:ea typeface="Microsoft YaHei"/>
                  <a:cs typeface="Segoe UI"/>
                </a:rPr>
                <a:t>模型 checkpoint、构筑与运行轨迹、</a:t>
              </a:r>
              <a:r>
                <a:rPr lang="zh-CN" sz="1350" dirty="0">
                  <a:solidFill>
                    <a:schemeClr val="dk1"/>
                  </a:solidFill>
                  <a:latin typeface="Segoe UI"/>
                  <a:ea typeface="Microsoft YaHei"/>
                  <a:cs typeface="Segoe UI"/>
                </a:rPr>
                <a:t>证据包与指标代码</a:t>
              </a:r>
            </a:p>
            <a:p>
              <a:pPr algn="l">
                <a:lnSpc>
                  <a:spcPts val="1950"/>
                </a:lnSpc>
                <a:spcBef>
                  <a:spcPts val="600"/>
                </a:spcBef>
              </a:pPr>
              <a:r>
                <a:rPr lang="zh-CN" sz="1350" dirty="0">
                  <a:solidFill>
                    <a:schemeClr val="dk1"/>
                  </a:solidFill>
                  <a:latin typeface="Segoe UI"/>
                  <a:ea typeface="Microsoft YaHei"/>
                  <a:cs typeface="Segoe UI"/>
                </a:rPr>
                <a:t>仓库在提交前设为公开</a:t>
              </a:r>
            </a:p>
          </p:txBody>
        </p:sp>
      </p:grpSp>
      <p:grpSp>
        <p:nvGrpSpPr>
          <p:cNvPr id="27" name="Group 27"/>
          <p:cNvGrpSpPr/>
          <p:nvPr/>
        </p:nvGrpSpPr>
        <p:grpSpPr>
          <a:xfrm>
            <a:off x="4381500" y="3200400"/>
            <a:ext cx="3429000" cy="2514600"/>
            <a:chOff x="4381500" y="3200400"/>
            <a:chExt cx="3429000" cy="2514600"/>
          </a:xfrm>
        </p:grpSpPr>
        <p:sp>
          <p:nvSpPr>
            <p:cNvPr id="17" name="Rectangle 17"/>
            <p:cNvSpPr/>
            <p:nvPr/>
          </p:nvSpPr>
          <p:spPr>
            <a:xfrm>
              <a:off x="4381500" y="3200400"/>
              <a:ext cx="3429000" cy="2514600"/>
            </a:xfrm>
            <a:prstGeom prst="rect">
              <a:avLst/>
            </a:prstGeom>
            <a:solidFill>
              <a:schemeClr val="lt2"/>
            </a:solidFill>
            <a:ln>
              <a:noFill/>
            </a:ln>
          </p:spPr>
        </p:sp>
        <p:grpSp>
          <p:nvGrpSpPr>
            <p:cNvPr id="24" name="Group 24"/>
            <p:cNvGrpSpPr/>
            <p:nvPr/>
          </p:nvGrpSpPr>
          <p:grpSpPr>
            <a:xfrm>
              <a:off x="4665663" y="3435350"/>
              <a:ext cx="166687" cy="177801"/>
              <a:chOff x="4665663" y="3435350"/>
              <a:chExt cx="166687" cy="177801"/>
            </a:xfrm>
          </p:grpSpPr>
          <p:sp>
            <p:nvSpPr>
              <p:cNvPr id="18" name="Freeform 18"/>
              <p:cNvSpPr/>
              <p:nvPr/>
            </p:nvSpPr>
            <p:spPr>
              <a:xfrm>
                <a:off x="4665663" y="3568701"/>
                <a:ext cx="44450" cy="44450"/>
              </a:xfrm>
              <a:custGeom>
                <a:avLst/>
                <a:gdLst/>
                <a:ahLst/>
                <a:cxnLst/>
                <a:rect l="l" t="t" r="r" b="b"/>
                <a:pathLst>
                  <a:path w="44450" h="44450">
                    <a:moveTo>
                      <a:pt x="0" y="22225"/>
                    </a:moveTo>
                    <a:cubicBezTo>
                      <a:pt x="0" y="34500"/>
                      <a:pt x="9950" y="44450"/>
                      <a:pt x="22225" y="44450"/>
                    </a:cubicBezTo>
                    <a:cubicBezTo>
                      <a:pt x="34500" y="44450"/>
                      <a:pt x="44450" y="34500"/>
                      <a:pt x="44450" y="22225"/>
                    </a:cubicBezTo>
                    <a:cubicBezTo>
                      <a:pt x="44450" y="9950"/>
                      <a:pt x="34500" y="0"/>
                      <a:pt x="22225" y="0"/>
                    </a:cubicBezTo>
                    <a:cubicBezTo>
                      <a:pt x="9950" y="0"/>
                      <a:pt x="0" y="9950"/>
                      <a:pt x="0" y="22225"/>
                    </a:cubicBezTo>
                  </a:path>
                </a:pathLst>
              </a:custGeom>
              <a:noFill/>
              <a:ln w="19050">
                <a:solidFill>
                  <a:schemeClr val="accent1"/>
                </a:solidFill>
              </a:ln>
            </p:spPr>
          </p:sp>
          <p:sp>
            <p:nvSpPr>
              <p:cNvPr id="19" name="Freeform 19"/>
              <p:cNvSpPr/>
              <p:nvPr/>
            </p:nvSpPr>
            <p:spPr>
              <a:xfrm>
                <a:off x="4665663" y="3435350"/>
                <a:ext cx="44450" cy="44450"/>
              </a:xfrm>
              <a:custGeom>
                <a:avLst/>
                <a:gdLst/>
                <a:ahLst/>
                <a:cxnLst/>
                <a:rect l="l" t="t" r="r" b="b"/>
                <a:pathLst>
                  <a:path w="44450" h="44450">
                    <a:moveTo>
                      <a:pt x="0" y="22225"/>
                    </a:moveTo>
                    <a:cubicBezTo>
                      <a:pt x="0" y="34500"/>
                      <a:pt x="9950" y="44450"/>
                      <a:pt x="22225" y="44450"/>
                    </a:cubicBezTo>
                    <a:cubicBezTo>
                      <a:pt x="34500" y="44450"/>
                      <a:pt x="44450" y="34500"/>
                      <a:pt x="44450" y="22225"/>
                    </a:cubicBezTo>
                    <a:cubicBezTo>
                      <a:pt x="44450" y="9950"/>
                      <a:pt x="34500" y="0"/>
                      <a:pt x="22225" y="0"/>
                    </a:cubicBezTo>
                    <a:cubicBezTo>
                      <a:pt x="9950" y="0"/>
                      <a:pt x="0" y="9950"/>
                      <a:pt x="0" y="22225"/>
                    </a:cubicBezTo>
                  </a:path>
                </a:pathLst>
              </a:custGeom>
              <a:noFill/>
              <a:ln w="19050">
                <a:solidFill>
                  <a:schemeClr val="accent1"/>
                </a:solidFill>
              </a:ln>
            </p:spPr>
          </p:sp>
          <p:sp>
            <p:nvSpPr>
              <p:cNvPr id="20" name="Freeform 20"/>
              <p:cNvSpPr/>
              <p:nvPr/>
            </p:nvSpPr>
            <p:spPr>
              <a:xfrm>
                <a:off x="4776788" y="3435350"/>
                <a:ext cx="44450" cy="44450"/>
              </a:xfrm>
              <a:custGeom>
                <a:avLst/>
                <a:gdLst/>
                <a:ahLst/>
                <a:cxnLst/>
                <a:rect l="l" t="t" r="r" b="b"/>
                <a:pathLst>
                  <a:path w="44450" h="44450">
                    <a:moveTo>
                      <a:pt x="0" y="22225"/>
                    </a:moveTo>
                    <a:cubicBezTo>
                      <a:pt x="0" y="34500"/>
                      <a:pt x="9950" y="44450"/>
                      <a:pt x="22225" y="44450"/>
                    </a:cubicBezTo>
                    <a:cubicBezTo>
                      <a:pt x="34500" y="44450"/>
                      <a:pt x="44450" y="34500"/>
                      <a:pt x="44450" y="22225"/>
                    </a:cubicBezTo>
                    <a:cubicBezTo>
                      <a:pt x="44450" y="9950"/>
                      <a:pt x="34500" y="0"/>
                      <a:pt x="22225" y="0"/>
                    </a:cubicBezTo>
                    <a:cubicBezTo>
                      <a:pt x="9950" y="0"/>
                      <a:pt x="0" y="9950"/>
                      <a:pt x="0" y="22225"/>
                    </a:cubicBezTo>
                  </a:path>
                </a:pathLst>
              </a:custGeom>
              <a:noFill/>
              <a:ln w="19050">
                <a:solidFill>
                  <a:schemeClr val="accent1"/>
                </a:solidFill>
              </a:ln>
            </p:spPr>
          </p:sp>
          <p:sp>
            <p:nvSpPr>
              <p:cNvPr id="21" name="Freeform 21"/>
              <p:cNvSpPr/>
              <p:nvPr/>
            </p:nvSpPr>
            <p:spPr>
              <a:xfrm>
                <a:off x="4687888" y="3479800"/>
                <a:ext cx="9525" cy="88900"/>
              </a:xfrm>
              <a:custGeom>
                <a:avLst/>
                <a:gdLst/>
                <a:ahLst/>
                <a:cxnLst/>
                <a:rect l="l" t="t" r="r" b="b"/>
                <a:pathLst>
                  <a:path w="9525" h="88900">
                    <a:moveTo>
                      <a:pt x="0" y="0"/>
                    </a:moveTo>
                    <a:lnTo>
                      <a:pt x="0" y="88900"/>
                    </a:lnTo>
                  </a:path>
                </a:pathLst>
              </a:custGeom>
              <a:noFill/>
              <a:ln w="19050">
                <a:solidFill>
                  <a:schemeClr val="accent1"/>
                </a:solidFill>
              </a:ln>
            </p:spPr>
          </p:sp>
          <p:sp>
            <p:nvSpPr>
              <p:cNvPr id="22" name="Freeform 22"/>
              <p:cNvSpPr/>
              <p:nvPr/>
            </p:nvSpPr>
            <p:spPr>
              <a:xfrm>
                <a:off x="4710113" y="3513138"/>
                <a:ext cx="88900" cy="77788"/>
              </a:xfrm>
              <a:custGeom>
                <a:avLst/>
                <a:gdLst/>
                <a:ahLst/>
                <a:cxnLst/>
                <a:rect l="l" t="t" r="r" b="b"/>
                <a:pathLst>
                  <a:path w="88900" h="77788">
                    <a:moveTo>
                      <a:pt x="0" y="77788"/>
                    </a:moveTo>
                    <a:lnTo>
                      <a:pt x="66675" y="77788"/>
                    </a:lnTo>
                    <a:cubicBezTo>
                      <a:pt x="78950" y="77788"/>
                      <a:pt x="88900" y="67837"/>
                      <a:pt x="88900" y="55563"/>
                    </a:cubicBezTo>
                    <a:lnTo>
                      <a:pt x="88900" y="0"/>
                    </a:lnTo>
                  </a:path>
                </a:pathLst>
              </a:custGeom>
              <a:noFill/>
              <a:ln w="19050">
                <a:solidFill>
                  <a:schemeClr val="accent1"/>
                </a:solidFill>
              </a:ln>
            </p:spPr>
          </p:sp>
          <p:sp>
            <p:nvSpPr>
              <p:cNvPr id="23" name="Freeform 23"/>
              <p:cNvSpPr/>
              <p:nvPr/>
            </p:nvSpPr>
            <p:spPr>
              <a:xfrm>
                <a:off x="4765675" y="3513138"/>
                <a:ext cx="66675" cy="33338"/>
              </a:xfrm>
              <a:custGeom>
                <a:avLst/>
                <a:gdLst/>
                <a:ahLst/>
                <a:cxnLst/>
                <a:rect l="l" t="t" r="r" b="b"/>
                <a:pathLst>
                  <a:path w="66675" h="33338">
                    <a:moveTo>
                      <a:pt x="0" y="33338"/>
                    </a:moveTo>
                    <a:lnTo>
                      <a:pt x="33338" y="0"/>
                    </a:lnTo>
                    <a:lnTo>
                      <a:pt x="66675" y="33338"/>
                    </a:lnTo>
                  </a:path>
                </a:pathLst>
              </a:custGeom>
              <a:noFill/>
              <a:ln w="19050">
                <a:solidFill>
                  <a:schemeClr val="accent1"/>
                </a:solidFill>
              </a:ln>
            </p:spPr>
          </p:sp>
        </p:grpSp>
        <p:sp>
          <p:nvSpPr>
            <p:cNvPr id="25" name="TextBox 25"/>
            <p:cNvSpPr txBox="1"/>
            <p:nvPr/>
          </p:nvSpPr>
          <p:spPr>
            <a:xfrm>
              <a:off x="4962906" y="3406140"/>
              <a:ext cx="1544879"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Segoe UI"/>
                  <a:ea typeface="Microsoft YaHei"/>
                  <a:cs typeface="Segoe UI"/>
                </a:rPr>
                <a:t>可复用的部分</a:t>
              </a:r>
            </a:p>
          </p:txBody>
        </p:sp>
        <p:sp>
          <p:nvSpPr>
            <p:cNvPr id="26" name="TextBox 26"/>
            <p:cNvSpPr txBox="1"/>
            <p:nvPr/>
          </p:nvSpPr>
          <p:spPr>
            <a:xfrm>
              <a:off x="4603242" y="3816668"/>
              <a:ext cx="2988374" cy="1407033"/>
            </a:xfrm>
            <a:prstGeom prst="rect">
              <a:avLst/>
            </a:prstGeom>
            <a:noFill/>
            <a:ln>
              <a:noFill/>
            </a:ln>
          </p:spPr>
          <p:txBody>
            <a:bodyPr wrap="square" lIns="0" tIns="0" rIns="0" bIns="0" anchor="t" anchorCtr="0"/>
            <a:lstStyle/>
            <a:p>
              <a:pPr algn="l" marL="145732" indent="-145732">
                <a:lnSpc>
                  <a:spcPts val="2250"/>
                </a:lnSpc>
                <a:buClr>
                  <a:schemeClr val="dk1"/>
                </a:buClr>
                <a:buSzTx/>
                <a:buFontTx/>
                <a:buChar char="•"/>
              </a:pPr>
              <a:r>
                <a:rPr lang="zh-CN" sz="1350" dirty="0">
                  <a:solidFill>
                    <a:schemeClr val="dk1"/>
                  </a:solidFill>
                  <a:latin typeface="Segoe UI"/>
                  <a:ea typeface="Microsoft YaHei"/>
                  <a:cs typeface="Segoe UI"/>
                </a:rPr>
                <a:t>任意主题的综述回环（账本 + 闸门）</a:t>
              </a:r>
            </a:p>
            <a:p>
              <a:pPr algn="l" marL="145732" indent="-145732">
                <a:lnSpc>
                  <a:spcPts val="2250"/>
                </a:lnSpc>
                <a:buClr>
                  <a:schemeClr val="dk1"/>
                </a:buClr>
                <a:buSzTx/>
                <a:buFontTx/>
                <a:buChar char="•"/>
              </a:pPr>
              <a:r>
                <a:rPr lang="zh-CN" sz="1350" dirty="0">
                  <a:solidFill>
                    <a:schemeClr val="dk1"/>
                  </a:solidFill>
                  <a:latin typeface="Segoe UI"/>
                  <a:ea typeface="Microsoft YaHei"/>
                  <a:cs typeface="Segoe UI"/>
                </a:rPr>
                <a:t>引用零信任核验（三轴、作者顺序）</a:t>
              </a:r>
            </a:p>
            <a:p>
              <a:pPr algn="l" marL="145732" indent="-145732">
                <a:lnSpc>
                  <a:spcPts val="2250"/>
                </a:lnSpc>
                <a:buClr>
                  <a:schemeClr val="dk1"/>
                </a:buClr>
                <a:buSzTx/>
                <a:buFontTx/>
                <a:buChar char="•"/>
              </a:pPr>
              <a:r>
                <a:rPr lang="zh-CN" sz="1350" dirty="0">
                  <a:solidFill>
                    <a:schemeClr val="dk1"/>
                  </a:solidFill>
                  <a:latin typeface="Segoe UI"/>
                  <a:ea typeface="Microsoft YaHei"/>
                  <a:cs typeface="Segoe UI"/>
                </a:rPr>
                <a:t>figspec 可编辑图纸：SVG + draw.io</a:t>
              </a:r>
            </a:p>
            <a:p>
              <a:pPr algn="l" marL="145732" indent="-145732">
                <a:lnSpc>
                  <a:spcPts val="2250"/>
                </a:lnSpc>
                <a:buClr>
                  <a:schemeClr val="dk1"/>
                </a:buClr>
                <a:buSzTx/>
                <a:buFontTx/>
                <a:buChar char="•"/>
              </a:pPr>
              <a:r>
                <a:rPr lang="zh-CN" sz="1350" dirty="0">
                  <a:solidFill>
                    <a:schemeClr val="dk1"/>
                  </a:solidFill>
                  <a:latin typeface="Segoe UI"/>
                  <a:ea typeface="Microsoft YaHei"/>
                  <a:cs typeface="Segoe UI"/>
                </a:rPr>
                <a:t>无机前驱体预测 MCP 工具（RECIPE）</a:t>
              </a:r>
            </a:p>
            <a:p>
              <a:pPr algn="l" marL="145732" indent="-145732">
                <a:lnSpc>
                  <a:spcPts val="2250"/>
                </a:lnSpc>
                <a:buClr>
                  <a:schemeClr val="dk1"/>
                </a:buClr>
                <a:buSzTx/>
                <a:buFontTx/>
                <a:buChar char="•"/>
              </a:pPr>
              <a:r>
                <a:rPr lang="zh-CN" sz="1350" dirty="0">
                  <a:solidFill>
                    <a:schemeClr val="dk1"/>
                  </a:solidFill>
                  <a:latin typeface="Segoe UI"/>
                  <a:ea typeface="Microsoft YaHei"/>
                  <a:cs typeface="Segoe UI"/>
                </a:rPr>
                <a:t>精简知识库导出与结论—证据映射</a:t>
              </a:r>
            </a:p>
          </p:txBody>
        </p:sp>
      </p:grpSp>
      <p:grpSp>
        <p:nvGrpSpPr>
          <p:cNvPr id="35" name="Group 35"/>
          <p:cNvGrpSpPr/>
          <p:nvPr/>
        </p:nvGrpSpPr>
        <p:grpSpPr>
          <a:xfrm>
            <a:off x="8077200" y="3200400"/>
            <a:ext cx="3429000" cy="2514600"/>
            <a:chOff x="8077200" y="3200400"/>
            <a:chExt cx="3429000" cy="2514600"/>
          </a:xfrm>
        </p:grpSpPr>
        <p:sp>
          <p:nvSpPr>
            <p:cNvPr id="28" name="Rectangle 28"/>
            <p:cNvSpPr/>
            <p:nvPr/>
          </p:nvSpPr>
          <p:spPr>
            <a:xfrm>
              <a:off x="8077200" y="3200400"/>
              <a:ext cx="3429000" cy="2514600"/>
            </a:xfrm>
            <a:prstGeom prst="rect">
              <a:avLst/>
            </a:prstGeom>
            <a:solidFill>
              <a:schemeClr val="lt2"/>
            </a:solidFill>
            <a:ln>
              <a:noFill/>
            </a:ln>
          </p:spPr>
        </p:sp>
        <p:grpSp>
          <p:nvGrpSpPr>
            <p:cNvPr id="32" name="Group 32"/>
            <p:cNvGrpSpPr/>
            <p:nvPr/>
          </p:nvGrpSpPr>
          <p:grpSpPr>
            <a:xfrm>
              <a:off x="8371388" y="3424238"/>
              <a:ext cx="135524" cy="200026"/>
              <a:chOff x="8371388" y="3424238"/>
              <a:chExt cx="135524" cy="200026"/>
            </a:xfrm>
          </p:grpSpPr>
          <p:sp>
            <p:nvSpPr>
              <p:cNvPr id="29" name="Freeform 29"/>
              <p:cNvSpPr/>
              <p:nvPr/>
            </p:nvSpPr>
            <p:spPr>
              <a:xfrm>
                <a:off x="8405813" y="3424238"/>
                <a:ext cx="66675" cy="9525"/>
              </a:xfrm>
              <a:custGeom>
                <a:avLst/>
                <a:gdLst/>
                <a:ahLst/>
                <a:cxnLst/>
                <a:rect l="l" t="t" r="r" b="b"/>
                <a:pathLst>
                  <a:path w="66675" h="9525">
                    <a:moveTo>
                      <a:pt x="0" y="0"/>
                    </a:moveTo>
                    <a:lnTo>
                      <a:pt x="66675" y="0"/>
                    </a:lnTo>
                  </a:path>
                </a:pathLst>
              </a:custGeom>
              <a:noFill/>
              <a:ln w="19050">
                <a:solidFill>
                  <a:schemeClr val="accent1"/>
                </a:solidFill>
              </a:ln>
            </p:spPr>
          </p:sp>
          <p:sp>
            <p:nvSpPr>
              <p:cNvPr id="30" name="Freeform 30"/>
              <p:cNvSpPr/>
              <p:nvPr/>
            </p:nvSpPr>
            <p:spPr>
              <a:xfrm>
                <a:off x="8416925" y="3490913"/>
                <a:ext cx="44450" cy="9525"/>
              </a:xfrm>
              <a:custGeom>
                <a:avLst/>
                <a:gdLst/>
                <a:ahLst/>
                <a:cxnLst/>
                <a:rect l="l" t="t" r="r" b="b"/>
                <a:pathLst>
                  <a:path w="44450" h="9525">
                    <a:moveTo>
                      <a:pt x="0" y="0"/>
                    </a:moveTo>
                    <a:lnTo>
                      <a:pt x="44450" y="0"/>
                    </a:lnTo>
                  </a:path>
                </a:pathLst>
              </a:custGeom>
              <a:noFill/>
              <a:ln w="19050">
                <a:solidFill>
                  <a:schemeClr val="accent1"/>
                </a:solidFill>
              </a:ln>
            </p:spPr>
          </p:sp>
          <p:sp>
            <p:nvSpPr>
              <p:cNvPr id="31" name="Freeform 31"/>
              <p:cNvSpPr/>
              <p:nvPr/>
            </p:nvSpPr>
            <p:spPr>
              <a:xfrm>
                <a:off x="8371388" y="3424238"/>
                <a:ext cx="135524" cy="200026"/>
              </a:xfrm>
              <a:custGeom>
                <a:avLst/>
                <a:gdLst/>
                <a:ahLst/>
                <a:cxnLst/>
                <a:rect l="l" t="t" r="r" b="b"/>
                <a:pathLst>
                  <a:path w="135524" h="200026">
                    <a:moveTo>
                      <a:pt x="45537" y="0"/>
                    </a:moveTo>
                    <a:lnTo>
                      <a:pt x="45537" y="66675"/>
                    </a:lnTo>
                    <a:lnTo>
                      <a:pt x="1087" y="188913"/>
                    </a:lnTo>
                    <a:cubicBezTo>
                      <a:pt x="0" y="191100"/>
                      <a:pt x="3" y="193670"/>
                      <a:pt x="1095" y="195854"/>
                    </a:cubicBezTo>
                    <a:cubicBezTo>
                      <a:pt x="2187" y="198039"/>
                      <a:pt x="4242" y="199583"/>
                      <a:pt x="6643" y="200026"/>
                    </a:cubicBezTo>
                    <a:lnTo>
                      <a:pt x="128881" y="200026"/>
                    </a:lnTo>
                    <a:cubicBezTo>
                      <a:pt x="131283" y="199583"/>
                      <a:pt x="133337" y="198039"/>
                      <a:pt x="134429" y="195854"/>
                    </a:cubicBezTo>
                    <a:cubicBezTo>
                      <a:pt x="135521" y="193670"/>
                      <a:pt x="135524" y="191100"/>
                      <a:pt x="134437" y="188913"/>
                    </a:cubicBezTo>
                    <a:lnTo>
                      <a:pt x="89987" y="66675"/>
                    </a:lnTo>
                    <a:lnTo>
                      <a:pt x="89987" y="0"/>
                    </a:lnTo>
                  </a:path>
                </a:pathLst>
              </a:custGeom>
              <a:noFill/>
              <a:ln w="19050">
                <a:solidFill>
                  <a:schemeClr val="accent1"/>
                </a:solidFill>
              </a:ln>
            </p:spPr>
          </p:sp>
        </p:grpSp>
        <p:sp>
          <p:nvSpPr>
            <p:cNvPr id="33" name="TextBox 33"/>
            <p:cNvSpPr txBox="1"/>
            <p:nvPr/>
          </p:nvSpPr>
          <p:spPr>
            <a:xfrm>
              <a:off x="8658606" y="3406140"/>
              <a:ext cx="781583"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Segoe UI"/>
                  <a:ea typeface="Microsoft YaHei"/>
                  <a:cs typeface="Segoe UI"/>
                </a:rPr>
                <a:t>下一步</a:t>
              </a:r>
            </a:p>
          </p:txBody>
        </p:sp>
        <p:sp>
          <p:nvSpPr>
            <p:cNvPr id="34" name="TextBox 34"/>
            <p:cNvSpPr txBox="1"/>
            <p:nvPr/>
          </p:nvSpPr>
          <p:spPr>
            <a:xfrm>
              <a:off x="8298942" y="3816668"/>
              <a:ext cx="2825496" cy="1654683"/>
            </a:xfrm>
            <a:prstGeom prst="rect">
              <a:avLst/>
            </a:prstGeom>
            <a:noFill/>
            <a:ln>
              <a:noFill/>
            </a:ln>
          </p:spPr>
          <p:txBody>
            <a:bodyPr wrap="square" lIns="0" tIns="0" rIns="0" bIns="0" anchor="t" anchorCtr="0"/>
            <a:lstStyle/>
            <a:p>
              <a:pPr algn="l" marL="145732" indent="-145732">
                <a:lnSpc>
                  <a:spcPts val="1950"/>
                </a:lnSpc>
                <a:buClr>
                  <a:schemeClr val="dk1"/>
                </a:buClr>
                <a:buSzTx/>
                <a:buFontTx/>
                <a:buChar char="•"/>
              </a:pPr>
              <a:r>
                <a:rPr lang="zh-CN" sz="1350" dirty="0">
                  <a:solidFill>
                    <a:schemeClr val="dk1"/>
                  </a:solidFill>
                  <a:latin typeface="Segoe UI"/>
                  <a:ea typeface="Microsoft YaHei"/>
                  <a:cs typeface="Segoe UI"/>
                </a:rPr>
                <a:t>接入跨模型审稿（Claude Code），</a:t>
              </a:r>
              <a:r>
                <a:rPr lang="zh-CN" sz="1350" dirty="0">
                  <a:solidFill>
                    <a:schemeClr val="dk1"/>
                  </a:solidFill>
                  <a:latin typeface="Segoe UI"/>
                  <a:ea typeface="Microsoft YaHei"/>
                  <a:cs typeface="Segoe UI"/>
                </a:rPr>
                <a:t>替代同家族复审</a:t>
              </a:r>
            </a:p>
            <a:p>
              <a:pPr algn="l" marL="145732" indent="-145732">
                <a:lnSpc>
                  <a:spcPts val="1950"/>
                </a:lnSpc>
                <a:spcBef>
                  <a:spcPts val="600"/>
                </a:spcBef>
                <a:buClr>
                  <a:schemeClr val="dk1"/>
                </a:buClr>
                <a:buSzTx/>
                <a:buFontTx/>
                <a:buChar char="•"/>
              </a:pPr>
              <a:r>
                <a:rPr lang="zh-CN" sz="1350" dirty="0">
                  <a:solidFill>
                    <a:schemeClr val="dk1"/>
                  </a:solidFill>
                  <a:latin typeface="Segoe UI"/>
                  <a:ea typeface="Microsoft YaHei"/>
                  <a:cs typeface="Segoe UI"/>
                </a:rPr>
                <a:t>对四个方向开展合成实验，</a:t>
              </a:r>
              <a:r>
                <a:rPr lang="zh-CN" sz="1350" dirty="0">
                  <a:solidFill>
                    <a:schemeClr val="dk1"/>
                  </a:solidFill>
                  <a:latin typeface="Segoe UI"/>
                  <a:ea typeface="Microsoft YaHei"/>
                  <a:cs typeface="Segoe UI"/>
                </a:rPr>
                <a:t>把实验结果回写为证据</a:t>
              </a:r>
            </a:p>
            <a:p>
              <a:pPr algn="l" marL="145732" indent="-145732">
                <a:lnSpc>
                  <a:spcPts val="1950"/>
                </a:lnSpc>
                <a:spcBef>
                  <a:spcPts val="600"/>
                </a:spcBef>
                <a:buClr>
                  <a:schemeClr val="dk1"/>
                </a:buClr>
                <a:buSzTx/>
                <a:buFontTx/>
                <a:buChar char="•"/>
              </a:pPr>
              <a:r>
                <a:rPr lang="zh-CN" sz="1350" dirty="0">
                  <a:solidFill>
                    <a:schemeClr val="dk1"/>
                  </a:solidFill>
                  <a:latin typeface="Segoe UI"/>
                  <a:ea typeface="Microsoft YaHei"/>
                  <a:cs typeface="Segoe UI"/>
                </a:rPr>
                <a:t>扩展条件预测器（温度 / 气氛 /</a:t>
              </a:r>
              <a:r>
                <a:rPr lang="zh-CN" sz="1350" dirty="0">
                  <a:solidFill>
                    <a:schemeClr val="dk1"/>
                  </a:solidFill>
                  <a:latin typeface="Segoe UI"/>
                  <a:ea typeface="Microsoft YaHei"/>
                  <a:cs typeface="Segoe UI"/>
                </a:rPr>
                <a:t>助熔剂），与前驱体预测联用</a:t>
              </a:r>
            </a:p>
          </p:txBody>
        </p:sp>
      </p:grpSp>
      <p:grpSp>
        <p:nvGrpSpPr>
          <p:cNvPr id="37" name="Group 37"/>
          <p:cNvGrpSpPr/>
          <p:nvPr/>
        </p:nvGrpSpPr>
        <p:grpSpPr>
          <a:xfrm>
            <a:off x="395656" y="6045518"/>
            <a:ext cx="11400688" cy="264033"/>
            <a:chOff x="395656" y="6045518"/>
            <a:chExt cx="11400688" cy="264033"/>
          </a:xfrm>
        </p:grpSpPr>
        <p:sp>
          <p:nvSpPr>
            <p:cNvPr id="36" name="TextBox 36"/>
            <p:cNvSpPr txBox="1"/>
            <p:nvPr/>
          </p:nvSpPr>
          <p:spPr>
            <a:xfrm>
              <a:off x="395656" y="6045518"/>
              <a:ext cx="11400688" cy="264033"/>
            </a:xfrm>
            <a:prstGeom prst="rect">
              <a:avLst/>
            </a:prstGeom>
            <a:noFill/>
            <a:ln>
              <a:noFill/>
            </a:ln>
          </p:spPr>
          <p:txBody>
            <a:bodyPr wrap="none" lIns="0" tIns="0" rIns="0" bIns="0" anchor="t" anchorCtr="0">
              <a:spAutoFit/>
            </a:bodyPr>
            <a:lstStyle/>
            <a:p>
              <a:pPr algn="ctr"/>
              <a:r>
                <a:rPr lang="zh-CN" sz="1350" dirty="0">
                  <a:solidFill>
                    <a:schemeClr val="dk2"/>
                  </a:solidFill>
                  <a:latin typeface="Segoe UI"/>
                  <a:ea typeface="Microsoft YaHei"/>
                  <a:cs typeface="Segoe UI"/>
                </a:rPr>
                <a:t>高京（上海交通大学）· 吕丁阳（中国科学院大学）· 李雨峰（上海交通大学） · SafeLab ICML 2026 · AI4Science 黑客松沪京双站三等奖</a:t>
              </a:r>
            </a:p>
          </p:txBody>
        </p:sp>
      </p:grpSp>
      <p:grpSp>
        <p:nvGrpSpPr>
          <p:cNvPr id="40" name="Group 40"/>
          <p:cNvGrpSpPr/>
          <p:nvPr/>
        </p:nvGrpSpPr>
        <p:grpSpPr>
          <a:xfrm>
            <a:off x="679704" y="6480810"/>
            <a:ext cx="10832592" cy="234696"/>
            <a:chOff x="679704" y="6480810"/>
            <a:chExt cx="10832592" cy="234696"/>
          </a:xfrm>
        </p:grpSpPr>
        <p:sp>
          <p:nvSpPr>
            <p:cNvPr id="38" name="TextBox 38"/>
            <p:cNvSpPr txBox="1"/>
            <p:nvPr/>
          </p:nvSpPr>
          <p:spPr>
            <a:xfrm>
              <a:off x="679704" y="6480810"/>
              <a:ext cx="3429795"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Segoe UI"/>
                  <a:ea typeface="Microsoft YaHei"/>
                  <a:cs typeface="Segoe UI"/>
                </a:rPr>
                <a:t>SAGE-Mat · GoAI Research · GOAI 2026 复赛</a:t>
              </a:r>
            </a:p>
          </p:txBody>
        </p:sp>
        <p:sp>
          <p:nvSpPr>
            <p:cNvPr id="39" name="TextBox 39"/>
            <p:cNvSpPr txBox="1"/>
            <p:nvPr/>
          </p:nvSpPr>
          <p:spPr>
            <a:xfrm>
              <a:off x="10958932" y="6480810"/>
              <a:ext cx="553364" cy="234696"/>
            </a:xfrm>
            <a:prstGeom prst="rect">
              <a:avLst/>
            </a:prstGeom>
            <a:noFill/>
            <a:ln>
              <a:noFill/>
            </a:ln>
          </p:spPr>
          <p:txBody>
            <a:bodyPr wrap="none" lIns="0" tIns="0" rIns="0" bIns="0" anchor="t" anchorCtr="0">
              <a:spAutoFit/>
            </a:bodyPr>
            <a:lstStyle/>
            <a:p>
              <a:pPr algn="r"/>
              <a:r>
                <a:rPr lang="en-US" sz="1200" dirty="0">
                  <a:solidFill>
                    <a:schemeClr val="accent5"/>
                  </a:solidFill>
                  <a:latin typeface="Segoe UI"/>
                  <a:ea typeface="Segoe UI"/>
                  <a:cs typeface="Segoe UI"/>
                </a:rPr>
                <a:t>12 / 12</a:t>
              </a:r>
            </a:p>
          </p:txBody>
        </p:sp>
      </p:grpSp>
    </p:spTree>
  </p:cSld>
  <p:clrMapOvr>
    <a:masterClrMapping/>
  </p:clrMapOvr>
  <p:transition xmlns:p14="http://schemas.microsoft.com/office/powerpoint/2010/main" p14:dur="400">
    <p:fade/>
  </p:transition>
</p:sld>
</file>

<file path=ppt/theme/theme1.xml><?xml version="1.0" encoding="utf-8"?>
<a:theme xmlns:a="http://schemas.openxmlformats.org/drawingml/2006/main" name="Office Theme">
  <a:themeElements>
    <a:clrScheme name="PPT Master">
      <a:dk1>
        <a:srgbClr val="1D1D1F"/>
      </a:dk1>
      <a:lt1>
        <a:srgbClr val="FFFFFF"/>
      </a:lt1>
      <a:dk2>
        <a:srgbClr val="5A6573"/>
      </a:dk2>
      <a:lt2>
        <a:srgbClr val="F3F5F8"/>
      </a:lt2>
      <a:accent1>
        <a:srgbClr val="1F4D78"/>
      </a:accent1>
      <a:accent2>
        <a:srgbClr val="C48A2B"/>
      </a:accent2>
      <a:accent3>
        <a:srgbClr val="4F8A9E"/>
      </a:accent3>
      <a:accent4>
        <a:srgbClr val="D5DBE3"/>
      </a:accent4>
      <a:accent5>
        <a:srgbClr val="8A94A0"/>
      </a:accent5>
      <a:accent6>
        <a:srgbClr val="E6EAF0"/>
      </a:accent6>
      <a:hlink>
        <a:srgbClr val="C48A2B"/>
      </a:hlink>
      <a:folHlink>
        <a:srgbClr val="4F8A9E"/>
      </a:folHlink>
    </a:clrScheme>
    <a:fontScheme name="PPT Master">
      <a:majorFont>
        <a:latin typeface="Arial"/>
        <a:ea typeface="Microsoft YaHei"/>
        <a:cs typeface="Arial"/>
        <a:font script="Jpan" typeface="Microsoft YaHei"/>
        <a:font script="Hang" typeface="Microsoft YaHei"/>
        <a:font script="Hans" typeface="Microsoft YaHei"/>
        <a:font script="Hant" typeface="Microsoft YaHei"/>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Microsoft YaHei"/>
        <a:cs typeface="Arial"/>
        <a:font script="Jpan" typeface="Microsoft YaHei"/>
        <a:font script="Hang" typeface="Microsoft YaHei"/>
        <a:font script="Hans" typeface="Microsoft YaHei"/>
        <a:font script="Hant" typeface="Microsoft YaHei"/>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PPT Master">
      <a:dk1>
        <a:srgbClr val="1D1D1F"/>
      </a:dk1>
      <a:lt1>
        <a:srgbClr val="FFFFFF"/>
      </a:lt1>
      <a:dk2>
        <a:srgbClr val="5A6573"/>
      </a:dk2>
      <a:lt2>
        <a:srgbClr val="F3F5F8"/>
      </a:lt2>
      <a:accent1>
        <a:srgbClr val="1F4D78"/>
      </a:accent1>
      <a:accent2>
        <a:srgbClr val="C48A2B"/>
      </a:accent2>
      <a:accent3>
        <a:srgbClr val="4F8A9E"/>
      </a:accent3>
      <a:accent4>
        <a:srgbClr val="D5DBE3"/>
      </a:accent4>
      <a:accent5>
        <a:srgbClr val="8A94A0"/>
      </a:accent5>
      <a:accent6>
        <a:srgbClr val="E6EAF0"/>
      </a:accent6>
      <a:hlink>
        <a:srgbClr val="C48A2B"/>
      </a:hlink>
      <a:folHlink>
        <a:srgbClr val="4F8A9E"/>
      </a:folHlink>
    </a:clrScheme>
    <a:fontScheme name="PPT Master">
      <a:majorFont>
        <a:latin typeface="Arial"/>
        <a:ea typeface="Microsoft YaHei"/>
        <a:cs typeface="Arial"/>
        <a:font script="Jpan" typeface="Microsoft YaHei"/>
        <a:font script="Hang" typeface="Microsoft YaHei"/>
        <a:font script="Hans" typeface="Microsoft YaHei"/>
        <a:font script="Hant" typeface="Microsoft YaHei"/>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Microsoft YaHei"/>
        <a:cs typeface="Arial"/>
        <a:font script="Jpan" typeface="Microsoft YaHei"/>
        <a:font script="Hang" typeface="Microsoft YaHei"/>
        <a:font script="Hans" typeface="Microsoft YaHei"/>
        <a:font script="Hant" typeface="Microsoft YaHei"/>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Office PowerPoint</Application>
  <PresentationFormat>On-screen Show (16:9)</PresentationFormat>
  <Paragraphs>0</Paragraphs>
  <Slides>12</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
  <dc:language/>
  <cp:lastModifiedBy/>
  <cp:revision>1</cp:revision>
  <dcterms:created xsi:type="dcterms:W3CDTF">2026-09-02T16:31:59Z</dcterms:created>
  <dcterms:modified xsi:type="dcterms:W3CDTF">2026-09-02T16:31:59Z</dcterms:modified>
  <cp:category/>
  <cp:contentStatus/>
</cp:coreProperties>
</file>