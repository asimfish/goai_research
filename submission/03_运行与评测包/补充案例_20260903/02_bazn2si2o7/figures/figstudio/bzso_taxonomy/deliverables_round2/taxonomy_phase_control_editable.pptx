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合成与相控制分类框架（super_teaser 第二轮 F04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ub" descr="Editable shape; source id hub"/>
          <p:cNvSpPr/>
          <p:nvPr/>
        </p:nvSpPr>
        <p:spPr>
          <a:xfrm>
            <a:off x="5087937" y="2555874"/>
            <a:ext cx="2016124" cy="2016124"/>
          </a:xfrm>
          <a:prstGeom prst="ellipse">
            <a:avLst/>
          </a:prstGeom>
          <a:solidFill>
            <a:srgbClr val="1B717D"/>
          </a:solidFill>
          <a:ln w="31749">
            <a:solidFill>
              <a:srgbClr val="145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ub_t" descr="Editable text; source id hub_t"/>
          <p:cNvSpPr txBox="1"/>
          <p:nvPr/>
        </p:nvSpPr>
        <p:spPr>
          <a:xfrm>
            <a:off x="5199062" y="3167062"/>
            <a:ext cx="1793874" cy="793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1999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99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BaZn2Si2O7</a:t>
            </a:r>
          </a:p>
          <a:p>
            <a:pPr algn="ctr" fontAlgn="base">
              <a:lnSpc>
                <a:spcPts val="2906"/>
              </a:lnSpc>
              <a:spcBef>
                <a:spcPts val="0"/>
              </a:spcBef>
              <a:spcAft>
                <a:spcPts val="0"/>
              </a:spcAft>
              <a:defRPr sz="19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目标相</a:t>
            </a:r>
          </a:p>
        </p:txBody>
      </p:sp>
      <p:sp>
        <p:nvSpPr>
          <p:cNvPr id="4" name="k1" descr="Editable shape; source id k1"/>
          <p:cNvSpPr/>
          <p:nvPr/>
        </p:nvSpPr>
        <p:spPr>
          <a:xfrm>
            <a:off x="1865312" y="380999"/>
            <a:ext cx="3230562" cy="1317624"/>
          </a:xfrm>
          <a:prstGeom prst="roundRect">
            <a:avLst>
              <a:gd name="adj" fmla="val 8433"/>
            </a:avLst>
          </a:prstGeom>
          <a:solidFill>
            <a:srgbClr val="F2F5F7"/>
          </a:solidFill>
          <a:ln w="27781">
            <a:solidFill>
              <a:srgbClr val="3F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1_t" descr="Editable text; source id k1_t"/>
          <p:cNvSpPr txBox="1"/>
          <p:nvPr/>
        </p:nvSpPr>
        <p:spPr>
          <a:xfrm>
            <a:off x="1960562" y="587374"/>
            <a:ext cx="3040062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593"/>
              </a:lnSpc>
              <a:spcBef>
                <a:spcPts val="0"/>
              </a:spcBef>
              <a:spcAft>
                <a:spcPts val="0"/>
              </a:spcAft>
              <a:defRPr sz="2478" b="1" i="0" lang="zh-CN" dirty="0">
                <a:solidFill>
                  <a:srgbClr val="10171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8" b="1" i="0" lang="zh-CN" dirty="0">
                <a:solidFill>
                  <a:srgbClr val="10171F"/>
                </a:solidFill>
                <a:latin typeface="Noto Sans CJK SC"/>
                <a:ea typeface="Noto Sans CJK SC"/>
                <a:cs typeface="Noto Sans CJK SC"/>
              </a:rPr>
              <a:t>结构与多晶型</a:t>
            </a:r>
          </a:p>
        </p:txBody>
      </p:sp>
      <p:sp>
        <p:nvSpPr>
          <p:cNvPr id="6" name="k1_s" descr="Editable text; source id k1_s"/>
          <p:cNvSpPr txBox="1"/>
          <p:nvPr/>
        </p:nvSpPr>
        <p:spPr>
          <a:xfrm>
            <a:off x="1960562" y="1127124"/>
            <a:ext cx="304006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rPr>
              <a:t>相变</a:t>
            </a:r>
            <a:r>
              <a:rPr sz="1687" b="0" i="0" lang="zh-CN" dirty="0">
                <a:solidFill>
                  <a:srgbClr val="2B33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rPr>
              <a:t>配位</a:t>
            </a:r>
          </a:p>
        </p:txBody>
      </p:sp>
      <p:cxnSp>
        <p:nvCxnSpPr>
          <p:cNvPr id="7" name="s_k1" descr="Editable line; source id s_k1"/>
          <p:cNvCxnSpPr/>
          <p:nvPr/>
        </p:nvCxnSpPr>
        <p:spPr>
          <a:xfrm flipH="1" flipV="1">
            <a:off x="5151437" y="2619374"/>
            <a:ext cx="214312" cy="214313"/>
          </a:xfrm>
          <a:prstGeom prst="line">
            <a:avLst/>
          </a:prstGeom>
          <a:ln w="31749">
            <a:solidFill>
              <a:srgbClr val="1B7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_k1b" descr="Editable line; source id s_k1b"/>
          <p:cNvSpPr/>
          <p:nvPr/>
        </p:nvSpPr>
        <p:spPr>
          <a:xfrm>
            <a:off x="4246562" y="1714500"/>
            <a:ext cx="225536" cy="225536"/>
          </a:xfrm>
          <a:custGeom>
            <a:avLst/>
            <a:gdLst/>
            <a:ahLst/>
            <a:cxnLst/>
            <a:rect l="l" t="t" r="r" b="b"/>
            <a:pathLst>
              <a:path w="28414" h="28414">
                <a:moveTo>
                  <a:pt x="25586" y="28414"/>
                </a:moveTo>
                <a:lnTo>
                  <a:pt x="9899" y="12728"/>
                </a:lnTo>
                <a:lnTo>
                  <a:pt x="6364" y="16263"/>
                </a:lnTo>
                <a:lnTo>
                  <a:pt x="0" y="0"/>
                </a:lnTo>
                <a:lnTo>
                  <a:pt x="16263" y="6364"/>
                </a:lnTo>
                <a:lnTo>
                  <a:pt x="12728" y="9899"/>
                </a:lnTo>
                <a:lnTo>
                  <a:pt x="28414" y="25586"/>
                </a:lnTo>
                <a:close/>
              </a:path>
            </a:pathLst>
          </a:custGeom>
          <a:solidFill>
            <a:srgbClr val="1B7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_k1_p" descr="Editable shape; source id s_k1_p"/>
          <p:cNvSpPr/>
          <p:nvPr/>
        </p:nvSpPr>
        <p:spPr>
          <a:xfrm>
            <a:off x="4365624" y="2079624"/>
            <a:ext cx="888999" cy="396874"/>
          </a:xfrm>
          <a:prstGeom prst="roundRect">
            <a:avLst>
              <a:gd name="adj" fmla="val 50000"/>
            </a:avLst>
          </a:prstGeom>
          <a:solidFill>
            <a:srgbClr val="1B717D"/>
          </a:solidFill>
          <a:ln w="19843">
            <a:solidFill>
              <a:srgbClr val="145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_k1_pt" descr="Editable text; source id s_k1_pt"/>
          <p:cNvSpPr txBox="1"/>
          <p:nvPr/>
        </p:nvSpPr>
        <p:spPr>
          <a:xfrm>
            <a:off x="4413249" y="2103437"/>
            <a:ext cx="793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</a:t>
            </a:r>
          </a:p>
        </p:txBody>
      </p:sp>
      <p:sp>
        <p:nvSpPr>
          <p:cNvPr id="11" name="k2" descr="Editable shape; source id k2"/>
          <p:cNvSpPr/>
          <p:nvPr/>
        </p:nvSpPr>
        <p:spPr>
          <a:xfrm>
            <a:off x="7096124" y="380999"/>
            <a:ext cx="3238499" cy="1317624"/>
          </a:xfrm>
          <a:prstGeom prst="roundRect">
            <a:avLst>
              <a:gd name="adj" fmla="val 8433"/>
            </a:avLst>
          </a:prstGeom>
          <a:solidFill>
            <a:srgbClr val="F2F5F7"/>
          </a:solidFill>
          <a:ln w="27781">
            <a:solidFill>
              <a:srgbClr val="3F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2_t" descr="Editable text; source id k2_t"/>
          <p:cNvSpPr txBox="1"/>
          <p:nvPr/>
        </p:nvSpPr>
        <p:spPr>
          <a:xfrm>
            <a:off x="7191374" y="587374"/>
            <a:ext cx="3047999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593"/>
              </a:lnSpc>
              <a:spcBef>
                <a:spcPts val="0"/>
              </a:spcBef>
              <a:spcAft>
                <a:spcPts val="0"/>
              </a:spcAft>
              <a:defRPr sz="2478" b="1" i="0" lang="zh-CN" dirty="0">
                <a:solidFill>
                  <a:srgbClr val="10171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8" b="1" i="0" lang="zh-CN" dirty="0">
                <a:solidFill>
                  <a:srgbClr val="10171F"/>
                </a:solidFill>
                <a:latin typeface="Noto Sans CJK SC"/>
                <a:ea typeface="Noto Sans CJK SC"/>
                <a:cs typeface="Noto Sans CJK SC"/>
              </a:rPr>
              <a:t>合成路线</a:t>
            </a:r>
          </a:p>
        </p:txBody>
      </p:sp>
      <p:sp>
        <p:nvSpPr>
          <p:cNvPr id="13" name="k2_s" descr="Editable text; source id k2_s"/>
          <p:cNvSpPr txBox="1"/>
          <p:nvPr/>
        </p:nvSpPr>
        <p:spPr>
          <a:xfrm>
            <a:off x="7191374" y="1127124"/>
            <a:ext cx="304799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rPr>
              <a:t>固相</a:t>
            </a:r>
            <a:r>
              <a:rPr sz="1687" b="0" i="0" lang="zh-CN" dirty="0">
                <a:solidFill>
                  <a:srgbClr val="2B33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rPr>
              <a:t>溶胶</a:t>
            </a:r>
            <a:r>
              <a:rPr sz="1687" b="0" i="0" lang="zh-CN" dirty="0">
                <a:solidFill>
                  <a:srgbClr val="2B333A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rPr>
              <a:t>凝胶</a:t>
            </a:r>
          </a:p>
        </p:txBody>
      </p:sp>
      <p:cxnSp>
        <p:nvCxnSpPr>
          <p:cNvPr id="14" name="s_k2" descr="Editable line; source id s_k2"/>
          <p:cNvCxnSpPr/>
          <p:nvPr/>
        </p:nvCxnSpPr>
        <p:spPr>
          <a:xfrm flipV="1">
            <a:off x="6826249" y="2619374"/>
            <a:ext cx="214313" cy="214313"/>
          </a:xfrm>
          <a:prstGeom prst="line">
            <a:avLst/>
          </a:prstGeom>
          <a:ln w="31749">
            <a:solidFill>
              <a:srgbClr val="1B7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_k2b" descr="Editable line; source id s_k2b"/>
          <p:cNvSpPr/>
          <p:nvPr/>
        </p:nvSpPr>
        <p:spPr>
          <a:xfrm>
            <a:off x="7711964" y="1714500"/>
            <a:ext cx="225536" cy="225536"/>
          </a:xfrm>
          <a:custGeom>
            <a:avLst/>
            <a:gdLst/>
            <a:ahLst/>
            <a:cxnLst/>
            <a:rect l="l" t="t" r="r" b="b"/>
            <a:pathLst>
              <a:path w="28414" h="28414">
                <a:moveTo>
                  <a:pt x="0" y="25586"/>
                </a:moveTo>
                <a:lnTo>
                  <a:pt x="15686" y="9899"/>
                </a:lnTo>
                <a:lnTo>
                  <a:pt x="12151" y="6364"/>
                </a:lnTo>
                <a:lnTo>
                  <a:pt x="28414" y="0"/>
                </a:lnTo>
                <a:lnTo>
                  <a:pt x="22050" y="16263"/>
                </a:lnTo>
                <a:lnTo>
                  <a:pt x="18515" y="12728"/>
                </a:lnTo>
                <a:lnTo>
                  <a:pt x="2828" y="28414"/>
                </a:lnTo>
                <a:close/>
              </a:path>
            </a:pathLst>
          </a:custGeom>
          <a:solidFill>
            <a:srgbClr val="1B7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_k2_p" descr="Editable shape; source id s_k2_p"/>
          <p:cNvSpPr/>
          <p:nvPr/>
        </p:nvSpPr>
        <p:spPr>
          <a:xfrm>
            <a:off x="6937374" y="2071687"/>
            <a:ext cx="888999" cy="396874"/>
          </a:xfrm>
          <a:prstGeom prst="roundRect">
            <a:avLst>
              <a:gd name="adj" fmla="val 50000"/>
            </a:avLst>
          </a:prstGeom>
          <a:solidFill>
            <a:srgbClr val="1B717D"/>
          </a:solidFill>
          <a:ln w="19843">
            <a:solidFill>
              <a:srgbClr val="145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_k2_pt" descr="Editable text; source id s_k2_pt"/>
          <p:cNvSpPr txBox="1"/>
          <p:nvPr/>
        </p:nvSpPr>
        <p:spPr>
          <a:xfrm>
            <a:off x="6984999" y="2095499"/>
            <a:ext cx="793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制备</a:t>
            </a:r>
          </a:p>
        </p:txBody>
      </p:sp>
      <p:sp>
        <p:nvSpPr>
          <p:cNvPr id="18" name="k3" descr="Editable shape; source id k3"/>
          <p:cNvSpPr/>
          <p:nvPr/>
        </p:nvSpPr>
        <p:spPr>
          <a:xfrm>
            <a:off x="206374" y="2952749"/>
            <a:ext cx="2706687" cy="1293812"/>
          </a:xfrm>
          <a:prstGeom prst="roundRect">
            <a:avLst>
              <a:gd name="adj" fmla="val 8588"/>
            </a:avLst>
          </a:prstGeom>
          <a:solidFill>
            <a:srgbClr val="F2F5F7"/>
          </a:solidFill>
          <a:ln w="27781">
            <a:solidFill>
              <a:srgbClr val="3F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k3_t" descr="Editable text; source id k3_t"/>
          <p:cNvSpPr txBox="1"/>
          <p:nvPr/>
        </p:nvSpPr>
        <p:spPr>
          <a:xfrm>
            <a:off x="301624" y="3159124"/>
            <a:ext cx="2516187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593"/>
              </a:lnSpc>
              <a:spcBef>
                <a:spcPts val="0"/>
              </a:spcBef>
              <a:spcAft>
                <a:spcPts val="0"/>
              </a:spcAft>
              <a:defRPr sz="2478" b="1" i="0" lang="zh-CN" dirty="0">
                <a:solidFill>
                  <a:srgbClr val="10171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8" b="1" i="0" lang="zh-CN" dirty="0">
                <a:solidFill>
                  <a:srgbClr val="10171F"/>
                </a:solidFill>
                <a:latin typeface="Noto Sans CJK SC"/>
                <a:ea typeface="Noto Sans CJK SC"/>
                <a:cs typeface="Noto Sans CJK SC"/>
              </a:rPr>
              <a:t>近邻体系</a:t>
            </a:r>
          </a:p>
        </p:txBody>
      </p:sp>
      <p:sp>
        <p:nvSpPr>
          <p:cNvPr id="20" name="k3_s" descr="Editable text; source id k3_s"/>
          <p:cNvSpPr txBox="1"/>
          <p:nvPr/>
        </p:nvSpPr>
        <p:spPr>
          <a:xfrm>
            <a:off x="301624" y="3698874"/>
            <a:ext cx="2516187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2B333A"/>
                </a:solidFill>
                <a:latin typeface="DejaVu Sans"/>
                <a:ea typeface="DejaVu Sans"/>
                <a:cs typeface="DejaVu Sans"/>
              </a:defRPr>
            </a:pPr>
            <a:r>
              <a:rPr sz="1687" b="0" i="0" lang="zh-CN" dirty="0">
                <a:solidFill>
                  <a:srgbClr val="2B333A"/>
                </a:solidFill>
                <a:latin typeface="DejaVu Sans"/>
                <a:ea typeface="DejaVu Sans"/>
                <a:cs typeface="DejaVu Sans"/>
              </a:rPr>
              <a:t>Ba2ZnSi2O7 </a:t>
            </a:r>
            <a:r>
              <a: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rPr>
              <a:t>等</a:t>
            </a:r>
          </a:p>
        </p:txBody>
      </p:sp>
      <p:cxnSp>
        <p:nvCxnSpPr>
          <p:cNvPr id="21" name="s_k3" descr="Editable line; source id s_k3"/>
          <p:cNvCxnSpPr/>
          <p:nvPr/>
        </p:nvCxnSpPr>
        <p:spPr>
          <a:xfrm flipH="1">
            <a:off x="4476749" y="3563937"/>
            <a:ext cx="587375" cy="0"/>
          </a:xfrm>
          <a:prstGeom prst="line">
            <a:avLst/>
          </a:prstGeom>
          <a:ln w="31749">
            <a:solidFill>
              <a:srgbClr val="1B7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_k3b" descr="Editable line; source id s_k3b"/>
          <p:cNvSpPr/>
          <p:nvPr/>
        </p:nvSpPr>
        <p:spPr>
          <a:xfrm>
            <a:off x="2928937" y="3508375"/>
            <a:ext cx="595312" cy="111125"/>
          </a:xfrm>
          <a:custGeom>
            <a:avLst/>
            <a:gdLst/>
            <a:ahLst/>
            <a:cxnLst/>
            <a:rect l="l" t="t" r="r" b="b"/>
            <a:pathLst>
              <a:path w="75000" h="14000">
                <a:moveTo>
                  <a:pt x="75000" y="9000"/>
                </a:moveTo>
                <a:lnTo>
                  <a:pt x="16000" y="9000"/>
                </a:lnTo>
                <a:lnTo>
                  <a:pt x="16000" y="14000"/>
                </a:lnTo>
                <a:lnTo>
                  <a:pt x="0" y="7000"/>
                </a:lnTo>
                <a:lnTo>
                  <a:pt x="16000" y="0"/>
                </a:lnTo>
                <a:lnTo>
                  <a:pt x="16000" y="5000"/>
                </a:lnTo>
                <a:lnTo>
                  <a:pt x="75000" y="5000"/>
                </a:lnTo>
                <a:close/>
              </a:path>
            </a:pathLst>
          </a:custGeom>
          <a:solidFill>
            <a:srgbClr val="1B7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_k3_p" descr="Editable shape; source id s_k3_p"/>
          <p:cNvSpPr/>
          <p:nvPr/>
        </p:nvSpPr>
        <p:spPr>
          <a:xfrm>
            <a:off x="3555999" y="3365499"/>
            <a:ext cx="888999" cy="396874"/>
          </a:xfrm>
          <a:prstGeom prst="roundRect">
            <a:avLst>
              <a:gd name="adj" fmla="val 50000"/>
            </a:avLst>
          </a:prstGeom>
          <a:solidFill>
            <a:srgbClr val="1B717D"/>
          </a:solidFill>
          <a:ln w="19843">
            <a:solidFill>
              <a:srgbClr val="145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_k3_pt" descr="Editable text; source id s_k3_pt"/>
          <p:cNvSpPr txBox="1"/>
          <p:nvPr/>
        </p:nvSpPr>
        <p:spPr>
          <a:xfrm>
            <a:off x="3603624" y="3389312"/>
            <a:ext cx="793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近邻</a:t>
            </a:r>
          </a:p>
        </p:txBody>
      </p:sp>
      <p:sp>
        <p:nvSpPr>
          <p:cNvPr id="25" name="k4" descr="Editable shape; source id k4"/>
          <p:cNvSpPr/>
          <p:nvPr/>
        </p:nvSpPr>
        <p:spPr>
          <a:xfrm>
            <a:off x="9270999" y="2952749"/>
            <a:ext cx="2714624" cy="1293812"/>
          </a:xfrm>
          <a:prstGeom prst="roundRect">
            <a:avLst>
              <a:gd name="adj" fmla="val 8588"/>
            </a:avLst>
          </a:prstGeom>
          <a:solidFill>
            <a:srgbClr val="F2F5F7"/>
          </a:solidFill>
          <a:ln w="27781">
            <a:solidFill>
              <a:srgbClr val="3F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4_t" descr="Editable text; source id k4_t"/>
          <p:cNvSpPr txBox="1"/>
          <p:nvPr/>
        </p:nvSpPr>
        <p:spPr>
          <a:xfrm>
            <a:off x="9366249" y="3159124"/>
            <a:ext cx="2524124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593"/>
              </a:lnSpc>
              <a:spcBef>
                <a:spcPts val="0"/>
              </a:spcBef>
              <a:spcAft>
                <a:spcPts val="0"/>
              </a:spcAft>
              <a:defRPr sz="2478" b="1" i="0" lang="zh-CN" dirty="0">
                <a:solidFill>
                  <a:srgbClr val="10171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8" b="1" i="0" lang="zh-CN" dirty="0">
                <a:solidFill>
                  <a:srgbClr val="10171F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</a:p>
        </p:txBody>
      </p:sp>
      <p:sp>
        <p:nvSpPr>
          <p:cNvPr id="27" name="k4_s" descr="Editable text; source id k4_s"/>
          <p:cNvSpPr txBox="1"/>
          <p:nvPr/>
        </p:nvSpPr>
        <p:spPr>
          <a:xfrm>
            <a:off x="9366249" y="3698874"/>
            <a:ext cx="2524124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rPr>
              <a:t>直接</a:t>
            </a:r>
            <a:r>
              <a:rPr sz="1687" b="0" i="0" lang="zh-CN" dirty="0">
                <a:solidFill>
                  <a:srgbClr val="2B333A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rPr>
              <a:t>近邻</a:t>
            </a:r>
            <a:r>
              <a:rPr sz="1687" b="0" i="0" lang="zh-CN" dirty="0">
                <a:solidFill>
                  <a:srgbClr val="2B333A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rPr>
              <a:t>推断</a:t>
            </a:r>
          </a:p>
        </p:txBody>
      </p:sp>
      <p:cxnSp>
        <p:nvCxnSpPr>
          <p:cNvPr id="28" name="s_k4" descr="Editable line; source id s_k4"/>
          <p:cNvCxnSpPr/>
          <p:nvPr/>
        </p:nvCxnSpPr>
        <p:spPr>
          <a:xfrm>
            <a:off x="7127874" y="3563937"/>
            <a:ext cx="587375" cy="0"/>
          </a:xfrm>
          <a:prstGeom prst="line">
            <a:avLst/>
          </a:prstGeom>
          <a:ln w="31749">
            <a:solidFill>
              <a:srgbClr val="1B7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_k4b" descr="Editable line; source id s_k4b"/>
          <p:cNvSpPr/>
          <p:nvPr/>
        </p:nvSpPr>
        <p:spPr>
          <a:xfrm>
            <a:off x="8667750" y="3508375"/>
            <a:ext cx="587375" cy="111125"/>
          </a:xfrm>
          <a:custGeom>
            <a:avLst/>
            <a:gdLst/>
            <a:ahLst/>
            <a:cxnLst/>
            <a:rect l="l" t="t" r="r" b="b"/>
            <a:pathLst>
              <a:path w="74000" h="14000">
                <a:moveTo>
                  <a:pt x="0" y="5000"/>
                </a:moveTo>
                <a:lnTo>
                  <a:pt x="58000" y="5000"/>
                </a:lnTo>
                <a:lnTo>
                  <a:pt x="58000" y="0"/>
                </a:lnTo>
                <a:lnTo>
                  <a:pt x="74000" y="7000"/>
                </a:lnTo>
                <a:lnTo>
                  <a:pt x="58000" y="14000"/>
                </a:lnTo>
                <a:lnTo>
                  <a:pt x="58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1B7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_k4_p" descr="Editable shape; source id s_k4_p"/>
          <p:cNvSpPr/>
          <p:nvPr/>
        </p:nvSpPr>
        <p:spPr>
          <a:xfrm>
            <a:off x="7746999" y="3365499"/>
            <a:ext cx="888999" cy="396874"/>
          </a:xfrm>
          <a:prstGeom prst="roundRect">
            <a:avLst>
              <a:gd name="adj" fmla="val 50000"/>
            </a:avLst>
          </a:prstGeom>
          <a:solidFill>
            <a:srgbClr val="1B717D"/>
          </a:solidFill>
          <a:ln w="19843">
            <a:solidFill>
              <a:srgbClr val="145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_k4_pt" descr="Editable text; source id s_k4_pt"/>
          <p:cNvSpPr txBox="1"/>
          <p:nvPr/>
        </p:nvSpPr>
        <p:spPr>
          <a:xfrm>
            <a:off x="7794624" y="3389312"/>
            <a:ext cx="793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判读</a:t>
            </a:r>
          </a:p>
        </p:txBody>
      </p:sp>
      <p:sp>
        <p:nvSpPr>
          <p:cNvPr id="32" name="k5" descr="Editable shape; source id k5"/>
          <p:cNvSpPr/>
          <p:nvPr/>
        </p:nvSpPr>
        <p:spPr>
          <a:xfrm>
            <a:off x="1603374" y="5468937"/>
            <a:ext cx="2984499" cy="1309687"/>
          </a:xfrm>
          <a:prstGeom prst="roundRect">
            <a:avLst>
              <a:gd name="adj" fmla="val 8484"/>
            </a:avLst>
          </a:prstGeom>
          <a:solidFill>
            <a:srgbClr val="F2F5F7"/>
          </a:solidFill>
          <a:ln w="27781">
            <a:solidFill>
              <a:srgbClr val="3F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k5_t" descr="Editable text; source id k5_t"/>
          <p:cNvSpPr txBox="1"/>
          <p:nvPr/>
        </p:nvSpPr>
        <p:spPr>
          <a:xfrm>
            <a:off x="1698624" y="5675312"/>
            <a:ext cx="2793999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593"/>
              </a:lnSpc>
              <a:spcBef>
                <a:spcPts val="0"/>
              </a:spcBef>
              <a:spcAft>
                <a:spcPts val="0"/>
              </a:spcAft>
              <a:defRPr sz="2478" b="1" i="0" lang="zh-CN" dirty="0">
                <a:solidFill>
                  <a:srgbClr val="10171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8" b="1" i="0" lang="zh-CN" dirty="0">
                <a:solidFill>
                  <a:srgbClr val="10171F"/>
                </a:solidFill>
                <a:latin typeface="Noto Sans CJK SC"/>
                <a:ea typeface="Noto Sans CJK SC"/>
                <a:cs typeface="Noto Sans CJK SC"/>
              </a:rPr>
              <a:t>组成与热处理</a:t>
            </a:r>
          </a:p>
        </p:txBody>
      </p:sp>
      <p:sp>
        <p:nvSpPr>
          <p:cNvPr id="34" name="k5_s" descr="Editable text; source id k5_s"/>
          <p:cNvSpPr txBox="1"/>
          <p:nvPr/>
        </p:nvSpPr>
        <p:spPr>
          <a:xfrm>
            <a:off x="1698624" y="6215062"/>
            <a:ext cx="279399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2B333A"/>
                </a:solidFill>
                <a:latin typeface="DejaVu Sans"/>
                <a:ea typeface="DejaVu Sans"/>
                <a:cs typeface="DejaVu Sans"/>
              </a:defRPr>
            </a:pPr>
            <a:r>
              <a:rPr sz="1687" b="0" i="0" lang="zh-CN" dirty="0">
                <a:solidFill>
                  <a:srgbClr val="2B333A"/>
                </a:solidFill>
                <a:latin typeface="DejaVu Sans"/>
                <a:ea typeface="DejaVu Sans"/>
                <a:cs typeface="DejaVu Sans"/>
              </a:rPr>
              <a:t>Ba/Sr · Zn </a:t>
            </a:r>
            <a:r>
              <a: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rPr>
              <a:t>位</a:t>
            </a:r>
          </a:p>
        </p:txBody>
      </p:sp>
      <p:cxnSp>
        <p:nvCxnSpPr>
          <p:cNvPr id="35" name="s_k5" descr="Editable line; source id s_k5"/>
          <p:cNvCxnSpPr/>
          <p:nvPr/>
        </p:nvCxnSpPr>
        <p:spPr>
          <a:xfrm flipH="1">
            <a:off x="5016499" y="4246562"/>
            <a:ext cx="309563" cy="277812"/>
          </a:xfrm>
          <a:prstGeom prst="line">
            <a:avLst/>
          </a:prstGeom>
          <a:ln w="31749">
            <a:solidFill>
              <a:srgbClr val="1B7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_k5b" descr="Editable line; source id s_k5b"/>
          <p:cNvSpPr/>
          <p:nvPr/>
        </p:nvSpPr>
        <p:spPr>
          <a:xfrm>
            <a:off x="3968750" y="5171218"/>
            <a:ext cx="319992" cy="281845"/>
          </a:xfrm>
          <a:custGeom>
            <a:avLst/>
            <a:gdLst/>
            <a:ahLst/>
            <a:cxnLst/>
            <a:rect l="l" t="t" r="r" b="b"/>
            <a:pathLst>
              <a:path w="40314" h="35508">
                <a:moveTo>
                  <a:pt x="40314" y="3016"/>
                </a:moveTo>
                <a:lnTo>
                  <a:pt x="13375" y="26501"/>
                </a:lnTo>
                <a:lnTo>
                  <a:pt x="16660" y="30270"/>
                </a:lnTo>
                <a:lnTo>
                  <a:pt x="0" y="35508"/>
                </a:lnTo>
                <a:lnTo>
                  <a:pt x="7460" y="19717"/>
                </a:lnTo>
                <a:lnTo>
                  <a:pt x="10746" y="23486"/>
                </a:lnTo>
                <a:lnTo>
                  <a:pt x="37686" y="0"/>
                </a:lnTo>
                <a:close/>
              </a:path>
            </a:pathLst>
          </a:custGeom>
          <a:solidFill>
            <a:srgbClr val="1B7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_k5_p" descr="Editable shape; source id s_k5_p"/>
          <p:cNvSpPr/>
          <p:nvPr/>
        </p:nvSpPr>
        <p:spPr>
          <a:xfrm>
            <a:off x="4198937" y="4651374"/>
            <a:ext cx="888999" cy="396874"/>
          </a:xfrm>
          <a:prstGeom prst="roundRect">
            <a:avLst>
              <a:gd name="adj" fmla="val 50000"/>
            </a:avLst>
          </a:prstGeom>
          <a:solidFill>
            <a:srgbClr val="1B717D"/>
          </a:solidFill>
          <a:ln w="19843">
            <a:solidFill>
              <a:srgbClr val="145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_k5_pt" descr="Editable text; source id s_k5_pt"/>
          <p:cNvSpPr txBox="1"/>
          <p:nvPr/>
        </p:nvSpPr>
        <p:spPr>
          <a:xfrm>
            <a:off x="4246562" y="4675187"/>
            <a:ext cx="793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变量</a:t>
            </a:r>
          </a:p>
        </p:txBody>
      </p:sp>
      <p:sp>
        <p:nvSpPr>
          <p:cNvPr id="39" name="k6" descr="Editable shape; source id k6"/>
          <p:cNvSpPr/>
          <p:nvPr/>
        </p:nvSpPr>
        <p:spPr>
          <a:xfrm>
            <a:off x="7604124" y="5468937"/>
            <a:ext cx="2984499" cy="1309687"/>
          </a:xfrm>
          <a:prstGeom prst="roundRect">
            <a:avLst>
              <a:gd name="adj" fmla="val 8484"/>
            </a:avLst>
          </a:prstGeom>
          <a:solidFill>
            <a:srgbClr val="F2F5F7"/>
          </a:solidFill>
          <a:ln w="27781">
            <a:solidFill>
              <a:srgbClr val="3F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k6_t" descr="Editable text; source id k6_t"/>
          <p:cNvSpPr txBox="1"/>
          <p:nvPr/>
        </p:nvSpPr>
        <p:spPr>
          <a:xfrm>
            <a:off x="7699374" y="5675312"/>
            <a:ext cx="2793999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593"/>
              </a:lnSpc>
              <a:spcBef>
                <a:spcPts val="0"/>
              </a:spcBef>
              <a:spcAft>
                <a:spcPts val="0"/>
              </a:spcAft>
              <a:defRPr sz="2478" b="1" i="0" lang="zh-CN" dirty="0">
                <a:solidFill>
                  <a:srgbClr val="10171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8" b="1" i="0" lang="zh-CN" dirty="0">
                <a:solidFill>
                  <a:srgbClr val="10171F"/>
                </a:solidFill>
                <a:latin typeface="Noto Sans CJK SC"/>
                <a:ea typeface="Noto Sans CJK SC"/>
                <a:cs typeface="Noto Sans CJK SC"/>
              </a:rPr>
              <a:t>玻璃析晶</a:t>
            </a:r>
          </a:p>
        </p:txBody>
      </p:sp>
      <p:sp>
        <p:nvSpPr>
          <p:cNvPr id="41" name="k6_s" descr="Editable text; source id k6_s"/>
          <p:cNvSpPr txBox="1"/>
          <p:nvPr/>
        </p:nvSpPr>
        <p:spPr>
          <a:xfrm>
            <a:off x="7699374" y="6215062"/>
            <a:ext cx="279399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rPr>
              <a:t>成核</a:t>
            </a:r>
            <a:r>
              <a:rPr sz="1687" b="0" i="0" lang="zh-CN" dirty="0">
                <a:solidFill>
                  <a:srgbClr val="2B33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rPr>
              <a:t>生长</a:t>
            </a:r>
          </a:p>
        </p:txBody>
      </p:sp>
      <p:cxnSp>
        <p:nvCxnSpPr>
          <p:cNvPr id="42" name="s_k6" descr="Editable line; source id s_k6"/>
          <p:cNvCxnSpPr/>
          <p:nvPr/>
        </p:nvCxnSpPr>
        <p:spPr>
          <a:xfrm>
            <a:off x="6865937" y="4254499"/>
            <a:ext cx="301625" cy="269875"/>
          </a:xfrm>
          <a:prstGeom prst="line">
            <a:avLst/>
          </a:prstGeom>
          <a:ln w="31749">
            <a:solidFill>
              <a:srgbClr val="1B7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_k6b" descr="Editable line; source id s_k6b"/>
          <p:cNvSpPr/>
          <p:nvPr/>
        </p:nvSpPr>
        <p:spPr>
          <a:xfrm>
            <a:off x="7903099" y="5171360"/>
            <a:ext cx="312214" cy="281702"/>
          </a:xfrm>
          <a:custGeom>
            <a:avLst/>
            <a:gdLst/>
            <a:ahLst/>
            <a:cxnLst/>
            <a:rect l="l" t="t" r="r" b="b"/>
            <a:pathLst>
              <a:path w="39334" h="35490">
                <a:moveTo>
                  <a:pt x="2668" y="0"/>
                </a:moveTo>
                <a:lnTo>
                  <a:pt x="28744" y="23331"/>
                </a:lnTo>
                <a:lnTo>
                  <a:pt x="32078" y="19605"/>
                </a:lnTo>
                <a:lnTo>
                  <a:pt x="39334" y="35490"/>
                </a:lnTo>
                <a:lnTo>
                  <a:pt x="22743" y="30038"/>
                </a:lnTo>
                <a:lnTo>
                  <a:pt x="26077" y="26312"/>
                </a:lnTo>
                <a:lnTo>
                  <a:pt x="0" y="2980"/>
                </a:lnTo>
                <a:close/>
              </a:path>
            </a:pathLst>
          </a:custGeom>
          <a:solidFill>
            <a:srgbClr val="1B7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_k6_p" descr="Editable shape; source id s_k6_p"/>
          <p:cNvSpPr/>
          <p:nvPr/>
        </p:nvSpPr>
        <p:spPr>
          <a:xfrm>
            <a:off x="7096124" y="4651374"/>
            <a:ext cx="888999" cy="396874"/>
          </a:xfrm>
          <a:prstGeom prst="roundRect">
            <a:avLst>
              <a:gd name="adj" fmla="val 50000"/>
            </a:avLst>
          </a:prstGeom>
          <a:solidFill>
            <a:srgbClr val="1B717D"/>
          </a:solidFill>
          <a:ln w="19843">
            <a:solidFill>
              <a:srgbClr val="145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_k6_pt" descr="Editable text; source id s_k6_pt"/>
          <p:cNvSpPr txBox="1"/>
          <p:nvPr/>
        </p:nvSpPr>
        <p:spPr>
          <a:xfrm>
            <a:off x="7143749" y="4675187"/>
            <a:ext cx="793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晶化</a:t>
            </a:r>
          </a:p>
        </p:txBody>
      </p:sp>
      <p:sp>
        <p:nvSpPr>
          <p:cNvPr id="46" name="k7" descr="Editable shape; source id k7"/>
          <p:cNvSpPr/>
          <p:nvPr/>
        </p:nvSpPr>
        <p:spPr>
          <a:xfrm>
            <a:off x="4714874" y="6429374"/>
            <a:ext cx="2857499" cy="1349374"/>
          </a:xfrm>
          <a:prstGeom prst="roundRect">
            <a:avLst>
              <a:gd name="adj" fmla="val 8235"/>
            </a:avLst>
          </a:prstGeom>
          <a:solidFill>
            <a:srgbClr val="FBF1DC"/>
          </a:solidFill>
          <a:ln w="27781">
            <a:solidFill>
              <a:srgbClr val="B8781E"/>
            </a:solidFill>
            <a:custDash>
              <a:ds d="457143" sp="285714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7_t" descr="Editable text; source id k7_t"/>
          <p:cNvSpPr txBox="1"/>
          <p:nvPr/>
        </p:nvSpPr>
        <p:spPr>
          <a:xfrm>
            <a:off x="4794249" y="6667499"/>
            <a:ext cx="2698749" cy="396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10171F"/>
                </a:solidFill>
                <a:latin typeface="DejaVu Sans"/>
                <a:ea typeface="DejaVu Sans"/>
                <a:cs typeface="DejaVu Sans"/>
              </a:defRPr>
            </a:pPr>
            <a:r>
              <a:rPr sz="1749" b="1" i="0" lang="zh-CN" dirty="0">
                <a:solidFill>
                  <a:srgbClr val="10171F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48" name="k7_s" descr="Editable text; source id k7_s"/>
          <p:cNvSpPr txBox="1"/>
          <p:nvPr/>
        </p:nvSpPr>
        <p:spPr>
          <a:xfrm>
            <a:off x="4794249" y="7175499"/>
            <a:ext cx="26987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0" i="0" lang="zh-CN" dirty="0">
                <a:solidFill>
                  <a:srgbClr val="2B333A"/>
                </a:solidFill>
                <a:latin typeface="Noto Sans CJK SC"/>
                <a:ea typeface="Noto Sans CJK SC"/>
                <a:cs typeface="Noto Sans CJK SC"/>
              </a:rPr>
              <a:t>未见直接报道</a:t>
            </a:r>
          </a:p>
        </p:txBody>
      </p:sp>
      <p:cxnSp>
        <p:nvCxnSpPr>
          <p:cNvPr id="49" name="s_k7" descr="Editable line; source id s_k7"/>
          <p:cNvCxnSpPr/>
          <p:nvPr/>
        </p:nvCxnSpPr>
        <p:spPr>
          <a:xfrm>
            <a:off x="6095999" y="4595812"/>
            <a:ext cx="0" cy="484187"/>
          </a:xfrm>
          <a:prstGeom prst="line">
            <a:avLst/>
          </a:prstGeom>
          <a:ln w="27781">
            <a:solidFill>
              <a:srgbClr val="B8781E"/>
            </a:solidFill>
            <a:custDash>
              <a:ds d="400000" sp="25714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_k7_p" descr="Editable shape; source id s_k7_p"/>
          <p:cNvSpPr/>
          <p:nvPr/>
        </p:nvSpPr>
        <p:spPr>
          <a:xfrm>
            <a:off x="5651499" y="5095874"/>
            <a:ext cx="888999" cy="396874"/>
          </a:xfrm>
          <a:prstGeom prst="roundRect">
            <a:avLst>
              <a:gd name="adj" fmla="val 50000"/>
            </a:avLst>
          </a:prstGeom>
          <a:solidFill>
            <a:srgbClr val="B8781E"/>
          </a:solidFill>
          <a:ln w="19843">
            <a:solidFill>
              <a:srgbClr val="8A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_k7_pt" descr="Editable text; source id s_k7_pt"/>
          <p:cNvSpPr txBox="1"/>
          <p:nvPr/>
        </p:nvSpPr>
        <p:spPr>
          <a:xfrm>
            <a:off x="5699124" y="5119687"/>
            <a:ext cx="793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类比</a:t>
            </a:r>
          </a:p>
        </p:txBody>
      </p:sp>
      <p:cxnSp>
        <p:nvCxnSpPr>
          <p:cNvPr id="52" name="s_k7b" descr="Editable line; source id s_k7b"/>
          <p:cNvCxnSpPr/>
          <p:nvPr/>
        </p:nvCxnSpPr>
        <p:spPr>
          <a:xfrm>
            <a:off x="6095999" y="5508624"/>
            <a:ext cx="0" cy="896938"/>
          </a:xfrm>
          <a:prstGeom prst="line">
            <a:avLst/>
          </a:prstGeom>
          <a:ln w="27781">
            <a:solidFill>
              <a:srgbClr val="B8781E"/>
            </a:solidFill>
            <a:custDash>
              <a:ds d="400000" sp="25714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