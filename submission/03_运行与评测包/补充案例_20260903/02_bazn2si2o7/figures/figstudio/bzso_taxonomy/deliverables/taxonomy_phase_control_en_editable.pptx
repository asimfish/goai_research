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5407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合成与相控制的分类框架（第六轮：印刷字号 + 内容定尺寸；箭头一律由枢纽指向分支，全图只有一段虚线） [paper=bzso] [print_width_pt=451.4]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E" descr="Editable shape; source id zE"/>
          <p:cNvSpPr/>
          <p:nvPr/>
        </p:nvSpPr>
        <p:spPr>
          <a:xfrm>
            <a:off x="206374" y="206374"/>
            <a:ext cx="4349749" cy="8127999"/>
          </a:xfrm>
          <a:prstGeom prst="roundRect">
            <a:avLst>
              <a:gd name="adj" fmla="val 2554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E_l" descr="Editable text; source id zE_l"/>
          <p:cNvSpPr txBox="1"/>
          <p:nvPr/>
        </p:nvSpPr>
        <p:spPr>
          <a:xfrm>
            <a:off x="349249" y="285749"/>
            <a:ext cx="2643187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7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Experimental Items</a:t>
            </a:r>
          </a:p>
        </p:txBody>
      </p:sp>
      <p:sp>
        <p:nvSpPr>
          <p:cNvPr id="4" name="zL" descr="Editable shape; source id zL"/>
          <p:cNvSpPr/>
          <p:nvPr/>
        </p:nvSpPr>
        <p:spPr>
          <a:xfrm>
            <a:off x="6969124" y="206374"/>
            <a:ext cx="5016499" cy="8127999"/>
          </a:xfrm>
          <a:prstGeom prst="roundRect">
            <a:avLst>
              <a:gd name="adj" fmla="val 2215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L_l" descr="Editable text; source id zL_l"/>
          <p:cNvSpPr txBox="1"/>
          <p:nvPr/>
        </p:nvSpPr>
        <p:spPr>
          <a:xfrm>
            <a:off x="7111999" y="285749"/>
            <a:ext cx="2778124" cy="380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46"/>
              </a:lnSpc>
              <a:spcBef>
                <a:spcPts val="0"/>
              </a:spcBef>
              <a:spcAft>
                <a:spcPts val="0"/>
              </a:spcAft>
              <a:defRPr sz="17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7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Evidence</a:t>
            </a:r>
          </a:p>
        </p:txBody>
      </p:sp>
      <p:sp>
        <p:nvSpPr>
          <p:cNvPr id="6" name="hub" descr="Editable shape; source id hub"/>
          <p:cNvSpPr/>
          <p:nvPr/>
        </p:nvSpPr>
        <p:spPr>
          <a:xfrm>
            <a:off x="4810124" y="3754437"/>
            <a:ext cx="1904999" cy="1904999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hub_g_h0" descr="Editable line; source id hub_g_h0"/>
          <p:cNvCxnSpPr/>
          <p:nvPr/>
        </p:nvCxnSpPr>
        <p:spPr>
          <a:xfrm>
            <a:off x="5508624" y="4071937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hub_g_v0" descr="Editable line; source id hub_g_v0"/>
          <p:cNvCxnSpPr/>
          <p:nvPr/>
        </p:nvCxnSpPr>
        <p:spPr>
          <a:xfrm>
            <a:off x="5508624" y="4071937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hub_g_h1" descr="Editable line; source id hub_g_h1"/>
          <p:cNvCxnSpPr/>
          <p:nvPr/>
        </p:nvCxnSpPr>
        <p:spPr>
          <a:xfrm>
            <a:off x="5508624" y="4325937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ub_g_v1" descr="Editable line; source id hub_g_v1"/>
          <p:cNvCxnSpPr/>
          <p:nvPr/>
        </p:nvCxnSpPr>
        <p:spPr>
          <a:xfrm>
            <a:off x="5762624" y="4071937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hub_g_h2" descr="Editable line; source id hub_g_h2"/>
          <p:cNvCxnSpPr/>
          <p:nvPr/>
        </p:nvCxnSpPr>
        <p:spPr>
          <a:xfrm>
            <a:off x="5508624" y="4579937"/>
            <a:ext cx="508000" cy="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hub_g_v2" descr="Editable line; source id hub_g_v2"/>
          <p:cNvCxnSpPr/>
          <p:nvPr/>
        </p:nvCxnSpPr>
        <p:spPr>
          <a:xfrm>
            <a:off x="6016624" y="4071937"/>
            <a:ext cx="0" cy="508000"/>
          </a:xfrm>
          <a:prstGeom prst="line">
            <a:avLst/>
          </a:prstGeom>
          <a:ln w="2143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hub_g_d00" descr="Editable shape; source id hub_g_d00"/>
          <p:cNvSpPr/>
          <p:nvPr/>
        </p:nvSpPr>
        <p:spPr>
          <a:xfrm>
            <a:off x="5453062" y="4016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ub_g_d01" descr="Editable shape; source id hub_g_d01"/>
          <p:cNvSpPr/>
          <p:nvPr/>
        </p:nvSpPr>
        <p:spPr>
          <a:xfrm>
            <a:off x="5453062" y="4270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ub_g_d02" descr="Editable shape; source id hub_g_d02"/>
          <p:cNvSpPr/>
          <p:nvPr/>
        </p:nvSpPr>
        <p:spPr>
          <a:xfrm>
            <a:off x="5453062" y="4524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ub_g_d10" descr="Editable shape; source id hub_g_d10"/>
          <p:cNvSpPr/>
          <p:nvPr/>
        </p:nvSpPr>
        <p:spPr>
          <a:xfrm>
            <a:off x="5707062" y="4016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ub_g_d11" descr="Editable shape; source id hub_g_d11"/>
          <p:cNvSpPr/>
          <p:nvPr/>
        </p:nvSpPr>
        <p:spPr>
          <a:xfrm>
            <a:off x="5707062" y="4270374"/>
            <a:ext cx="111124" cy="1111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ub_g_d12" descr="Editable shape; source id hub_g_d12"/>
          <p:cNvSpPr/>
          <p:nvPr/>
        </p:nvSpPr>
        <p:spPr>
          <a:xfrm>
            <a:off x="5707062" y="4524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ub_g_d20" descr="Editable shape; source id hub_g_d20"/>
          <p:cNvSpPr/>
          <p:nvPr/>
        </p:nvSpPr>
        <p:spPr>
          <a:xfrm>
            <a:off x="5961062" y="4016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ub_g_d21" descr="Editable shape; source id hub_g_d21"/>
          <p:cNvSpPr/>
          <p:nvPr/>
        </p:nvSpPr>
        <p:spPr>
          <a:xfrm>
            <a:off x="5961062" y="4270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ub_g_d22" descr="Editable shape; source id hub_g_d22"/>
          <p:cNvSpPr/>
          <p:nvPr/>
        </p:nvSpPr>
        <p:spPr>
          <a:xfrm>
            <a:off x="5961062" y="4524374"/>
            <a:ext cx="111124" cy="1111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ub_t" descr="Editable text; source id hub_t"/>
          <p:cNvSpPr txBox="1"/>
          <p:nvPr/>
        </p:nvSpPr>
        <p:spPr>
          <a:xfrm>
            <a:off x="4905374" y="4802187"/>
            <a:ext cx="1714499" cy="365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BaZn2Si2O7</a:t>
            </a:r>
          </a:p>
        </p:txBody>
      </p:sp>
      <p:sp>
        <p:nvSpPr>
          <p:cNvPr id="23" name="hub_s" descr="Editable text; source id hub_s"/>
          <p:cNvSpPr txBox="1"/>
          <p:nvPr/>
        </p:nvSpPr>
        <p:spPr>
          <a:xfrm>
            <a:off x="4905374" y="5167312"/>
            <a:ext cx="1714499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Target phase</a:t>
            </a:r>
          </a:p>
        </p:txBody>
      </p:sp>
      <p:sp>
        <p:nvSpPr>
          <p:cNvPr id="24" name="e1" descr="Editable shape; source id e1"/>
          <p:cNvSpPr/>
          <p:nvPr/>
        </p:nvSpPr>
        <p:spPr>
          <a:xfrm>
            <a:off x="333374" y="1222374"/>
            <a:ext cx="32226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1_b" descr="Editable shape; source id e1_b"/>
          <p:cNvSpPr/>
          <p:nvPr/>
        </p:nvSpPr>
        <p:spPr>
          <a:xfrm>
            <a:off x="333374" y="1222374"/>
            <a:ext cx="47624" cy="134937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e1_g_h0" descr="Editable line; source id e1_g_h0"/>
          <p:cNvCxnSpPr/>
          <p:nvPr/>
        </p:nvCxnSpPr>
        <p:spPr>
          <a:xfrm>
            <a:off x="547687" y="1777999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1_g_v0" descr="Editable line; source id e1_g_v0"/>
          <p:cNvCxnSpPr/>
          <p:nvPr/>
        </p:nvCxnSpPr>
        <p:spPr>
          <a:xfrm>
            <a:off x="547687" y="1777999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1_g_h1" descr="Editable line; source id e1_g_h1"/>
          <p:cNvCxnSpPr/>
          <p:nvPr/>
        </p:nvCxnSpPr>
        <p:spPr>
          <a:xfrm>
            <a:off x="547687" y="1897062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1_g_v1" descr="Editable line; source id e1_g_v1"/>
          <p:cNvCxnSpPr/>
          <p:nvPr/>
        </p:nvCxnSpPr>
        <p:spPr>
          <a:xfrm>
            <a:off x="666749" y="1777999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1_g_h2" descr="Editable line; source id e1_g_h2"/>
          <p:cNvCxnSpPr/>
          <p:nvPr/>
        </p:nvCxnSpPr>
        <p:spPr>
          <a:xfrm>
            <a:off x="547687" y="2016124"/>
            <a:ext cx="238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1_g_v2" descr="Editable line; source id e1_g_v2"/>
          <p:cNvCxnSpPr/>
          <p:nvPr/>
        </p:nvCxnSpPr>
        <p:spPr>
          <a:xfrm>
            <a:off x="785812" y="1777999"/>
            <a:ext cx="0" cy="238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1_g_d00" descr="Editable shape; source id e1_g_d00"/>
          <p:cNvSpPr/>
          <p:nvPr/>
        </p:nvSpPr>
        <p:spPr>
          <a:xfrm>
            <a:off x="515937" y="1746249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1_g_d01" descr="Editable shape; source id e1_g_d01"/>
          <p:cNvSpPr/>
          <p:nvPr/>
        </p:nvSpPr>
        <p:spPr>
          <a:xfrm>
            <a:off x="515937" y="1873249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1_g_d02" descr="Editable shape; source id e1_g_d02"/>
          <p:cNvSpPr/>
          <p:nvPr/>
        </p:nvSpPr>
        <p:spPr>
          <a:xfrm>
            <a:off x="515937" y="1992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1_g_d10" descr="Editable shape; source id e1_g_d10"/>
          <p:cNvSpPr/>
          <p:nvPr/>
        </p:nvSpPr>
        <p:spPr>
          <a:xfrm>
            <a:off x="642937" y="1746249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1_g_d11" descr="Editable shape; source id e1_g_d11"/>
          <p:cNvSpPr/>
          <p:nvPr/>
        </p:nvSpPr>
        <p:spPr>
          <a:xfrm>
            <a:off x="642937" y="1873249"/>
            <a:ext cx="55562" cy="55562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1_g_d12" descr="Editable shape; source id e1_g_d12"/>
          <p:cNvSpPr/>
          <p:nvPr/>
        </p:nvSpPr>
        <p:spPr>
          <a:xfrm>
            <a:off x="642937" y="1992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1_g_d20" descr="Editable shape; source id e1_g_d20"/>
          <p:cNvSpPr/>
          <p:nvPr/>
        </p:nvSpPr>
        <p:spPr>
          <a:xfrm>
            <a:off x="761999" y="1746249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1_g_d21" descr="Editable shape; source id e1_g_d21"/>
          <p:cNvSpPr/>
          <p:nvPr/>
        </p:nvSpPr>
        <p:spPr>
          <a:xfrm>
            <a:off x="761999" y="1873249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1_g_d22" descr="Editable shape; source id e1_g_d22"/>
          <p:cNvSpPr/>
          <p:nvPr/>
        </p:nvSpPr>
        <p:spPr>
          <a:xfrm>
            <a:off x="761999" y="1992312"/>
            <a:ext cx="55562" cy="555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1_t" descr="Editable text; source id e1_t"/>
          <p:cNvSpPr txBox="1"/>
          <p:nvPr/>
        </p:nvSpPr>
        <p:spPr>
          <a:xfrm>
            <a:off x="936624" y="1357312"/>
            <a:ext cx="2524124" cy="746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Structure and </a:t>
            </a:r>
          </a:p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Polymorphs</a:t>
            </a:r>
          </a:p>
        </p:txBody>
      </p:sp>
      <p:sp>
        <p:nvSpPr>
          <p:cNvPr id="42" name="e1_s" descr="Editable text; source id e1_s"/>
          <p:cNvSpPr txBox="1"/>
          <p:nvPr/>
        </p:nvSpPr>
        <p:spPr>
          <a:xfrm>
            <a:off x="936624" y="2119312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Transition · sites</a:t>
            </a:r>
          </a:p>
        </p:txBody>
      </p:sp>
      <p:sp>
        <p:nvSpPr>
          <p:cNvPr id="43" name="e2" descr="Editable shape; source id e2"/>
          <p:cNvSpPr/>
          <p:nvPr/>
        </p:nvSpPr>
        <p:spPr>
          <a:xfrm>
            <a:off x="333374" y="3095624"/>
            <a:ext cx="32226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2_b" descr="Editable shape; source id e2_b"/>
          <p:cNvSpPr/>
          <p:nvPr/>
        </p:nvSpPr>
        <p:spPr>
          <a:xfrm>
            <a:off x="333374" y="3095624"/>
            <a:ext cx="47624" cy="134937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e2_g_n_0" descr="Editable line; source id e2_g_n_0"/>
          <p:cNvCxnSpPr/>
          <p:nvPr/>
        </p:nvCxnSpPr>
        <p:spPr>
          <a:xfrm>
            <a:off x="627062" y="3619499"/>
            <a:ext cx="0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2_g_n_1" descr="Editable line; source id e2_g_n_1"/>
          <p:cNvCxnSpPr/>
          <p:nvPr/>
        </p:nvCxnSpPr>
        <p:spPr>
          <a:xfrm flipH="1">
            <a:off x="531812" y="3722687"/>
            <a:ext cx="9525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2_g_n_2" descr="Editable line; source id e2_g_n_2"/>
          <p:cNvCxnSpPr/>
          <p:nvPr/>
        </p:nvCxnSpPr>
        <p:spPr>
          <a:xfrm>
            <a:off x="531812" y="391318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2_g_n_3" descr="Editable line; source id e2_g_n_3"/>
          <p:cNvCxnSpPr/>
          <p:nvPr/>
        </p:nvCxnSpPr>
        <p:spPr>
          <a:xfrm flipH="1" flipV="1">
            <a:off x="706437" y="3722687"/>
            <a:ext cx="95250" cy="190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2_g_n_4" descr="Editable line; source id e2_g_n_4"/>
          <p:cNvCxnSpPr/>
          <p:nvPr/>
        </p:nvCxnSpPr>
        <p:spPr>
          <a:xfrm flipV="1">
            <a:off x="706437" y="3619499"/>
            <a:ext cx="0" cy="103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2_g_m" descr="Editable line; source id e2_g_m"/>
          <p:cNvCxnSpPr/>
          <p:nvPr/>
        </p:nvCxnSpPr>
        <p:spPr>
          <a:xfrm>
            <a:off x="611187" y="3619499"/>
            <a:ext cx="111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2_g_d1" descr="Editable shape; source id e2_g_d1"/>
          <p:cNvSpPr/>
          <p:nvPr/>
        </p:nvSpPr>
        <p:spPr>
          <a:xfrm>
            <a:off x="619124" y="3833812"/>
            <a:ext cx="31749" cy="3174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2_g_d2" descr="Editable shape; source id e2_g_d2"/>
          <p:cNvSpPr/>
          <p:nvPr/>
        </p:nvSpPr>
        <p:spPr>
          <a:xfrm>
            <a:off x="682624" y="3857624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2_t" descr="Editable text; source id e2_t"/>
          <p:cNvSpPr txBox="1"/>
          <p:nvPr/>
        </p:nvSpPr>
        <p:spPr>
          <a:xfrm>
            <a:off x="936624" y="3230562"/>
            <a:ext cx="2524124" cy="746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Synthesis Routes</a:t>
            </a:r>
          </a:p>
        </p:txBody>
      </p:sp>
      <p:sp>
        <p:nvSpPr>
          <p:cNvPr id="54" name="e2_s" descr="Editable text; source id e2_s"/>
          <p:cNvSpPr txBox="1"/>
          <p:nvPr/>
        </p:nvSpPr>
        <p:spPr>
          <a:xfrm>
            <a:off x="936624" y="3992562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Solid-state · sol–gel</a:t>
            </a:r>
          </a:p>
        </p:txBody>
      </p:sp>
      <p:sp>
        <p:nvSpPr>
          <p:cNvPr id="55" name="e3" descr="Editable shape; source id e3"/>
          <p:cNvSpPr/>
          <p:nvPr/>
        </p:nvSpPr>
        <p:spPr>
          <a:xfrm>
            <a:off x="333374" y="4968874"/>
            <a:ext cx="32226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3_b" descr="Editable shape; source id e3_b"/>
          <p:cNvSpPr/>
          <p:nvPr/>
        </p:nvSpPr>
        <p:spPr>
          <a:xfrm>
            <a:off x="333374" y="4968874"/>
            <a:ext cx="47624" cy="134937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3_g_t" descr="Editable shape; source id e3_g_t"/>
          <p:cNvSpPr/>
          <p:nvPr/>
        </p:nvSpPr>
        <p:spPr>
          <a:xfrm>
            <a:off x="627062" y="5484812"/>
            <a:ext cx="79374" cy="222249"/>
          </a:xfrm>
          <a:prstGeom prst="roundRect">
            <a:avLst>
              <a:gd name="adj" fmla="val 48000"/>
            </a:avLst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3_g_b" descr="Editable shape; source id e3_g_b"/>
          <p:cNvSpPr/>
          <p:nvPr/>
        </p:nvSpPr>
        <p:spPr>
          <a:xfrm>
            <a:off x="603249" y="5699124"/>
            <a:ext cx="119062" cy="11906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e3_g_m0" descr="Editable line; source id e3_g_m0"/>
          <p:cNvCxnSpPr/>
          <p:nvPr/>
        </p:nvCxnSpPr>
        <p:spPr>
          <a:xfrm>
            <a:off x="714374" y="5548312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3_g_m1" descr="Editable line; source id e3_g_m1"/>
          <p:cNvCxnSpPr/>
          <p:nvPr/>
        </p:nvCxnSpPr>
        <p:spPr>
          <a:xfrm>
            <a:off x="714374" y="5587999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3_g_m2" descr="Editable line; source id e3_g_m2"/>
          <p:cNvCxnSpPr/>
          <p:nvPr/>
        </p:nvCxnSpPr>
        <p:spPr>
          <a:xfrm>
            <a:off x="714374" y="5635624"/>
            <a:ext cx="476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3_t" descr="Editable text; source id e3_t"/>
          <p:cNvSpPr txBox="1"/>
          <p:nvPr/>
        </p:nvSpPr>
        <p:spPr>
          <a:xfrm>
            <a:off x="936624" y="5103812"/>
            <a:ext cx="2524124" cy="746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Composition and </a:t>
            </a:r>
          </a:p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Annealing</a:t>
            </a:r>
          </a:p>
        </p:txBody>
      </p:sp>
      <p:sp>
        <p:nvSpPr>
          <p:cNvPr id="63" name="e3_s" descr="Editable text; source id e3_s"/>
          <p:cNvSpPr txBox="1"/>
          <p:nvPr/>
        </p:nvSpPr>
        <p:spPr>
          <a:xfrm>
            <a:off x="936624" y="5865812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Ba/Sr · Zn site</a:t>
            </a:r>
          </a:p>
        </p:txBody>
      </p:sp>
      <p:sp>
        <p:nvSpPr>
          <p:cNvPr id="64" name="e4" descr="Editable shape; source id e4"/>
          <p:cNvSpPr/>
          <p:nvPr/>
        </p:nvSpPr>
        <p:spPr>
          <a:xfrm>
            <a:off x="333374" y="6842124"/>
            <a:ext cx="32226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4_b" descr="Editable shape; source id e4_b"/>
          <p:cNvSpPr/>
          <p:nvPr/>
        </p:nvSpPr>
        <p:spPr>
          <a:xfrm>
            <a:off x="333374" y="6842124"/>
            <a:ext cx="47624" cy="134937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e4_g_a_0" descr="Editable line; source id e4_g_a_0"/>
          <p:cNvCxnSpPr/>
          <p:nvPr/>
        </p:nvCxnSpPr>
        <p:spPr>
          <a:xfrm flipH="1" flipV="1">
            <a:off x="571499" y="7500937"/>
            <a:ext cx="47625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4_g_a_1" descr="Editable line; source id e4_g_a_1"/>
          <p:cNvCxnSpPr/>
          <p:nvPr/>
        </p:nvCxnSpPr>
        <p:spPr>
          <a:xfrm flipV="1">
            <a:off x="571499" y="7405687"/>
            <a:ext cx="55563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e4_g_a_2" descr="Editable line; source id e4_g_a_2"/>
          <p:cNvCxnSpPr/>
          <p:nvPr/>
        </p:nvCxnSpPr>
        <p:spPr>
          <a:xfrm>
            <a:off x="627062" y="7405687"/>
            <a:ext cx="47625" cy="1111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4_g_a_3" descr="Editable line; source id e4_g_a_3"/>
          <p:cNvCxnSpPr/>
          <p:nvPr/>
        </p:nvCxnSpPr>
        <p:spPr>
          <a:xfrm flipH="1">
            <a:off x="619124" y="7516812"/>
            <a:ext cx="55563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4_g_b_0" descr="Editable line; source id e4_g_b_0"/>
          <p:cNvCxnSpPr/>
          <p:nvPr/>
        </p:nvCxnSpPr>
        <p:spPr>
          <a:xfrm flipH="1" flipV="1">
            <a:off x="682624" y="7532687"/>
            <a:ext cx="31750" cy="1428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e4_g_b_1" descr="Editable line; source id e4_g_b_1"/>
          <p:cNvCxnSpPr/>
          <p:nvPr/>
        </p:nvCxnSpPr>
        <p:spPr>
          <a:xfrm flipV="1">
            <a:off x="682624" y="7453312"/>
            <a:ext cx="55563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4_g_b_2" descr="Editable line; source id e4_g_b_2"/>
          <p:cNvCxnSpPr/>
          <p:nvPr/>
        </p:nvCxnSpPr>
        <p:spPr>
          <a:xfrm>
            <a:off x="738187" y="7453312"/>
            <a:ext cx="39687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4_g_b_3" descr="Editable line; source id e4_g_b_3"/>
          <p:cNvCxnSpPr/>
          <p:nvPr/>
        </p:nvCxnSpPr>
        <p:spPr>
          <a:xfrm flipH="1">
            <a:off x="754062" y="7548562"/>
            <a:ext cx="23812" cy="127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e4_t" descr="Editable text; source id e4_t"/>
          <p:cNvSpPr txBox="1"/>
          <p:nvPr/>
        </p:nvSpPr>
        <p:spPr>
          <a:xfrm>
            <a:off x="936624" y="6977062"/>
            <a:ext cx="2524124" cy="746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Glass Crystallization</a:t>
            </a:r>
          </a:p>
        </p:txBody>
      </p:sp>
      <p:sp>
        <p:nvSpPr>
          <p:cNvPr id="75" name="e4_s" descr="Editable text; source id e4_s"/>
          <p:cNvSpPr txBox="1"/>
          <p:nvPr/>
        </p:nvSpPr>
        <p:spPr>
          <a:xfrm>
            <a:off x="936624" y="7739062"/>
            <a:ext cx="252412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Nucleation · growth</a:t>
            </a:r>
          </a:p>
        </p:txBody>
      </p:sp>
      <p:sp>
        <p:nvSpPr>
          <p:cNvPr id="76" name="l1" descr="Editable shape; source id l1"/>
          <p:cNvSpPr/>
          <p:nvPr/>
        </p:nvSpPr>
        <p:spPr>
          <a:xfrm>
            <a:off x="7969249" y="1222374"/>
            <a:ext cx="3889374" cy="1523999"/>
          </a:xfrm>
          <a:prstGeom prst="roundRect">
            <a:avLst>
              <a:gd name="adj" fmla="val 468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b" descr="Editable shape; source id l1_b"/>
          <p:cNvSpPr/>
          <p:nvPr/>
        </p:nvSpPr>
        <p:spPr>
          <a:xfrm>
            <a:off x="7969249" y="1222374"/>
            <a:ext cx="47624" cy="152399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g_a" descr="Editable shape; source id l1_g_a"/>
          <p:cNvSpPr/>
          <p:nvPr/>
        </p:nvSpPr>
        <p:spPr>
          <a:xfrm>
            <a:off x="8247062" y="1825624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l1_g_b" descr="Editable shape; source id l1_g_b"/>
          <p:cNvSpPr/>
          <p:nvPr/>
        </p:nvSpPr>
        <p:spPr>
          <a:xfrm>
            <a:off x="8135937" y="2024062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1_g_c" descr="Editable shape; source id l1_g_c"/>
          <p:cNvSpPr/>
          <p:nvPr/>
        </p:nvSpPr>
        <p:spPr>
          <a:xfrm>
            <a:off x="8366124" y="2024062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1_g_l" descr="Editable line; source id l1_g_l"/>
          <p:cNvCxnSpPr/>
          <p:nvPr/>
        </p:nvCxnSpPr>
        <p:spPr>
          <a:xfrm flipH="1">
            <a:off x="8191499" y="1928812"/>
            <a:ext cx="111125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1_g_r" descr="Editable line; source id l1_g_r"/>
          <p:cNvCxnSpPr/>
          <p:nvPr/>
        </p:nvCxnSpPr>
        <p:spPr>
          <a:xfrm>
            <a:off x="8302624" y="1928812"/>
            <a:ext cx="111125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l1_t" descr="Editable text; source id l1_t"/>
          <p:cNvSpPr txBox="1"/>
          <p:nvPr/>
        </p:nvSpPr>
        <p:spPr>
          <a:xfrm>
            <a:off x="8572499" y="1635124"/>
            <a:ext cx="3190874" cy="365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Neighbor Systems</a:t>
            </a:r>
          </a:p>
        </p:txBody>
      </p:sp>
      <p:sp>
        <p:nvSpPr>
          <p:cNvPr id="84" name="l1_s" descr="Editable text; source id l1_s"/>
          <p:cNvSpPr txBox="1"/>
          <p:nvPr/>
        </p:nvSpPr>
        <p:spPr>
          <a:xfrm>
            <a:off x="8572499" y="2016124"/>
            <a:ext cx="319087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Ba2ZnSi2O7 family</a:t>
            </a:r>
          </a:p>
        </p:txBody>
      </p:sp>
      <p:sp>
        <p:nvSpPr>
          <p:cNvPr id="85" name="l2" descr="Editable shape; source id l2"/>
          <p:cNvSpPr/>
          <p:nvPr/>
        </p:nvSpPr>
        <p:spPr>
          <a:xfrm>
            <a:off x="7969249" y="3944937"/>
            <a:ext cx="3889374" cy="1523999"/>
          </a:xfrm>
          <a:prstGeom prst="roundRect">
            <a:avLst>
              <a:gd name="adj" fmla="val 4687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2_b" descr="Editable shape; source id l2_b"/>
          <p:cNvSpPr/>
          <p:nvPr/>
        </p:nvSpPr>
        <p:spPr>
          <a:xfrm>
            <a:off x="7969249" y="3944937"/>
            <a:ext cx="47624" cy="152399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l2_g_b" descr="Editable shape; source id l2_g_b"/>
          <p:cNvSpPr/>
          <p:nvPr/>
        </p:nvSpPr>
        <p:spPr>
          <a:xfrm>
            <a:off x="8159749" y="4595812"/>
            <a:ext cx="285749" cy="238124"/>
          </a:xfrm>
          <a:prstGeom prst="rect">
            <a:avLst/>
          </a:prstGeom>
          <a:noFill/>
          <a:ln w="18216">
            <a:solidFill>
              <a:srgbClr val="111A24"/>
            </a:solidFill>
            <a:custDash>
              <a:ds d="146405" sp="125490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t" descr="Editable text; source id l2_t"/>
          <p:cNvSpPr txBox="1"/>
          <p:nvPr/>
        </p:nvSpPr>
        <p:spPr>
          <a:xfrm>
            <a:off x="8572499" y="4357687"/>
            <a:ext cx="3190874" cy="365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Evidence Boundary</a:t>
            </a:r>
          </a:p>
        </p:txBody>
      </p:sp>
      <p:sp>
        <p:nvSpPr>
          <p:cNvPr id="89" name="l2_s" descr="Editable text; source id l2_s"/>
          <p:cNvSpPr txBox="1"/>
          <p:nvPr/>
        </p:nvSpPr>
        <p:spPr>
          <a:xfrm>
            <a:off x="8572499" y="4738687"/>
            <a:ext cx="319087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Direct / near / implied</a:t>
            </a:r>
          </a:p>
        </p:txBody>
      </p:sp>
      <p:sp>
        <p:nvSpPr>
          <p:cNvPr id="90" name="l3" descr="Editable shape; source id l3"/>
          <p:cNvSpPr/>
          <p:nvPr/>
        </p:nvSpPr>
        <p:spPr>
          <a:xfrm>
            <a:off x="7969249" y="6667499"/>
            <a:ext cx="3889374" cy="1523999"/>
          </a:xfrm>
          <a:prstGeom prst="roundRect">
            <a:avLst>
              <a:gd name="adj" fmla="val 4687"/>
            </a:avLst>
          </a:prstGeom>
          <a:solidFill>
            <a:srgbClr val="FFFAF0"/>
          </a:solidFill>
          <a:ln w="15081">
            <a:solidFill>
              <a:srgbClr val="C48A24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3_g_a" descr="Editable shape; source id l3_g_a"/>
          <p:cNvSpPr/>
          <p:nvPr/>
        </p:nvSpPr>
        <p:spPr>
          <a:xfrm>
            <a:off x="8247062" y="7270749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l3_g_b" descr="Editable shape; source id l3_g_b"/>
          <p:cNvSpPr/>
          <p:nvPr/>
        </p:nvSpPr>
        <p:spPr>
          <a:xfrm>
            <a:off x="8135937" y="7469187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3_g_c" descr="Editable shape; source id l3_g_c"/>
          <p:cNvSpPr/>
          <p:nvPr/>
        </p:nvSpPr>
        <p:spPr>
          <a:xfrm>
            <a:off x="8366124" y="7469187"/>
            <a:ext cx="103187" cy="103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l3_g_l" descr="Editable line; source id l3_g_l"/>
          <p:cNvCxnSpPr/>
          <p:nvPr/>
        </p:nvCxnSpPr>
        <p:spPr>
          <a:xfrm flipH="1">
            <a:off x="8191499" y="7373937"/>
            <a:ext cx="111125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l3_g_r" descr="Editable line; source id l3_g_r"/>
          <p:cNvCxnSpPr/>
          <p:nvPr/>
        </p:nvCxnSpPr>
        <p:spPr>
          <a:xfrm>
            <a:off x="8302624" y="7373937"/>
            <a:ext cx="111125" cy="952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l3_t" descr="Editable text; source id l3_t"/>
          <p:cNvSpPr txBox="1"/>
          <p:nvPr/>
        </p:nvSpPr>
        <p:spPr>
          <a:xfrm>
            <a:off x="8572499" y="7080249"/>
            <a:ext cx="3190874" cy="36512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6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97" name="l3_s" descr="Editable text; source id l3_s"/>
          <p:cNvSpPr txBox="1"/>
          <p:nvPr/>
        </p:nvSpPr>
        <p:spPr>
          <a:xfrm>
            <a:off x="8572499" y="7461249"/>
            <a:ext cx="3190874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No direct report</a:t>
            </a:r>
          </a:p>
        </p:txBody>
      </p:sp>
      <p:cxnSp>
        <p:nvCxnSpPr>
          <p:cNvPr id="98" name="sl_0" descr="Editable line; source id sl_0"/>
          <p:cNvCxnSpPr/>
          <p:nvPr/>
        </p:nvCxnSpPr>
        <p:spPr>
          <a:xfrm flipH="1">
            <a:off x="4317999" y="4706937"/>
            <a:ext cx="452438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lv_0" descr="Editable line; source id slv_0"/>
          <p:cNvCxnSpPr/>
          <p:nvPr/>
        </p:nvCxnSpPr>
        <p:spPr>
          <a:xfrm>
            <a:off x="4317999" y="1897062"/>
            <a:ext cx="0" cy="561975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_e1_0" descr="Editable line; source id s_e1_0"/>
          <p:cNvSpPr/>
          <p:nvPr/>
        </p:nvSpPr>
        <p:spPr>
          <a:xfrm>
            <a:off x="3587750" y="1849437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_e1_p" descr="Editable shape; source id s_e1_p"/>
          <p:cNvSpPr/>
          <p:nvPr/>
        </p:nvSpPr>
        <p:spPr>
          <a:xfrm>
            <a:off x="2873374" y="793749"/>
            <a:ext cx="1341437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_e1_p_t" descr="Editable text; source id s_e1_p_t"/>
          <p:cNvSpPr txBox="1"/>
          <p:nvPr/>
        </p:nvSpPr>
        <p:spPr>
          <a:xfrm>
            <a:off x="2952749" y="825499"/>
            <a:ext cx="1182687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Structure</a:t>
            </a:r>
          </a:p>
        </p:txBody>
      </p:sp>
      <p:sp>
        <p:nvSpPr>
          <p:cNvPr id="103" name="s_e2_0" descr="Editable line; source id s_e2_0"/>
          <p:cNvSpPr/>
          <p:nvPr/>
        </p:nvSpPr>
        <p:spPr>
          <a:xfrm>
            <a:off x="3587750" y="3722687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_e2_p" descr="Editable shape; source id s_e2_p"/>
          <p:cNvSpPr/>
          <p:nvPr/>
        </p:nvSpPr>
        <p:spPr>
          <a:xfrm>
            <a:off x="2635249" y="2643187"/>
            <a:ext cx="1579562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s_e2_p_t" descr="Editable text; source id s_e2_p_t"/>
          <p:cNvSpPr txBox="1"/>
          <p:nvPr/>
        </p:nvSpPr>
        <p:spPr>
          <a:xfrm>
            <a:off x="2714624" y="2674937"/>
            <a:ext cx="1420812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Preparation</a:t>
            </a:r>
          </a:p>
        </p:txBody>
      </p:sp>
      <p:sp>
        <p:nvSpPr>
          <p:cNvPr id="106" name="s_e3_0" descr="Editable line; source id s_e3_0"/>
          <p:cNvSpPr/>
          <p:nvPr/>
        </p:nvSpPr>
        <p:spPr>
          <a:xfrm>
            <a:off x="3587750" y="5595937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_e3_p" descr="Editable shape; source id s_e3_p"/>
          <p:cNvSpPr/>
          <p:nvPr/>
        </p:nvSpPr>
        <p:spPr>
          <a:xfrm>
            <a:off x="2873374" y="4516437"/>
            <a:ext cx="1341437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_e3_p_t" descr="Editable text; source id s_e3_p_t"/>
          <p:cNvSpPr txBox="1"/>
          <p:nvPr/>
        </p:nvSpPr>
        <p:spPr>
          <a:xfrm>
            <a:off x="2952749" y="4548187"/>
            <a:ext cx="1182687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Variables</a:t>
            </a:r>
          </a:p>
        </p:txBody>
      </p:sp>
      <p:sp>
        <p:nvSpPr>
          <p:cNvPr id="109" name="s_e4_0" descr="Editable line; source id s_e4_0"/>
          <p:cNvSpPr/>
          <p:nvPr/>
        </p:nvSpPr>
        <p:spPr>
          <a:xfrm>
            <a:off x="3587750" y="7469187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92000" y="7250"/>
                </a:moveTo>
                <a:lnTo>
                  <a:pt x="15000" y="7250"/>
                </a:lnTo>
                <a:lnTo>
                  <a:pt x="15000" y="12000"/>
                </a:lnTo>
                <a:lnTo>
                  <a:pt x="0" y="6000"/>
                </a:lnTo>
                <a:lnTo>
                  <a:pt x="15000" y="0"/>
                </a:lnTo>
                <a:lnTo>
                  <a:pt x="15000" y="4750"/>
                </a:lnTo>
                <a:lnTo>
                  <a:pt x="92000" y="47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_e4_p" descr="Editable shape; source id s_e4_p"/>
          <p:cNvSpPr/>
          <p:nvPr/>
        </p:nvSpPr>
        <p:spPr>
          <a:xfrm>
            <a:off x="2158999" y="6389687"/>
            <a:ext cx="2055812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s_e4_p_t" descr="Editable text; source id s_e4_p_t"/>
          <p:cNvSpPr txBox="1"/>
          <p:nvPr/>
        </p:nvSpPr>
        <p:spPr>
          <a:xfrm>
            <a:off x="2238374" y="6421437"/>
            <a:ext cx="1897062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Crystallization</a:t>
            </a:r>
          </a:p>
        </p:txBody>
      </p:sp>
      <p:cxnSp>
        <p:nvCxnSpPr>
          <p:cNvPr id="112" name="sr_0" descr="Editable line; source id sr_0"/>
          <p:cNvCxnSpPr/>
          <p:nvPr/>
        </p:nvCxnSpPr>
        <p:spPr>
          <a:xfrm>
            <a:off x="6754812" y="4706937"/>
            <a:ext cx="452437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rv_0" descr="Editable line; source id srv_0"/>
          <p:cNvCxnSpPr/>
          <p:nvPr/>
        </p:nvCxnSpPr>
        <p:spPr>
          <a:xfrm>
            <a:off x="7207249" y="1984374"/>
            <a:ext cx="0" cy="5445125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v_l1_0" descr="Editable line; source id v_l1_0"/>
          <p:cNvSpPr/>
          <p:nvPr/>
        </p:nvSpPr>
        <p:spPr>
          <a:xfrm>
            <a:off x="7207250" y="1936750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0" y="4750"/>
                </a:moveTo>
                <a:lnTo>
                  <a:pt x="77000" y="4750"/>
                </a:lnTo>
                <a:lnTo>
                  <a:pt x="77000" y="0"/>
                </a:lnTo>
                <a:lnTo>
                  <a:pt x="92000" y="6000"/>
                </a:lnTo>
                <a:lnTo>
                  <a:pt x="77000" y="12000"/>
                </a:lnTo>
                <a:lnTo>
                  <a:pt x="7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v_l1_p" descr="Editable shape; source id v_l1_p"/>
          <p:cNvSpPr/>
          <p:nvPr/>
        </p:nvSpPr>
        <p:spPr>
          <a:xfrm>
            <a:off x="7318374" y="793749"/>
            <a:ext cx="1341437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v_l1_p_t" descr="Editable text; source id v_l1_p_t"/>
          <p:cNvSpPr txBox="1"/>
          <p:nvPr/>
        </p:nvSpPr>
        <p:spPr>
          <a:xfrm>
            <a:off x="7397749" y="825499"/>
            <a:ext cx="1182687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Neighbors</a:t>
            </a:r>
          </a:p>
        </p:txBody>
      </p:sp>
      <p:sp>
        <p:nvSpPr>
          <p:cNvPr id="117" name="v_l2_0" descr="Editable line; source id v_l2_0"/>
          <p:cNvSpPr/>
          <p:nvPr/>
        </p:nvSpPr>
        <p:spPr>
          <a:xfrm>
            <a:off x="7207250" y="4659312"/>
            <a:ext cx="730250" cy="95250"/>
          </a:xfrm>
          <a:custGeom>
            <a:avLst/>
            <a:gdLst/>
            <a:ahLst/>
            <a:cxnLst/>
            <a:rect l="l" t="t" r="r" b="b"/>
            <a:pathLst>
              <a:path w="92000" h="12000">
                <a:moveTo>
                  <a:pt x="0" y="4750"/>
                </a:moveTo>
                <a:lnTo>
                  <a:pt x="77000" y="4750"/>
                </a:lnTo>
                <a:lnTo>
                  <a:pt x="77000" y="0"/>
                </a:lnTo>
                <a:lnTo>
                  <a:pt x="92000" y="6000"/>
                </a:lnTo>
                <a:lnTo>
                  <a:pt x="77000" y="12000"/>
                </a:lnTo>
                <a:lnTo>
                  <a:pt x="7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v_l2_p" descr="Editable shape; source id v_l2_p"/>
          <p:cNvSpPr/>
          <p:nvPr/>
        </p:nvSpPr>
        <p:spPr>
          <a:xfrm>
            <a:off x="7318374" y="3492499"/>
            <a:ext cx="1936749" cy="380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v_l2_p_t" descr="Editable text; source id v_l2_p_t"/>
          <p:cNvSpPr txBox="1"/>
          <p:nvPr/>
        </p:nvSpPr>
        <p:spPr>
          <a:xfrm>
            <a:off x="7397749" y="3524249"/>
            <a:ext cx="1777999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Interpretation</a:t>
            </a:r>
          </a:p>
        </p:txBody>
      </p:sp>
      <p:cxnSp>
        <p:nvCxnSpPr>
          <p:cNvPr id="120" name="v_l3_0" descr="Editable line; source id v_l3_0"/>
          <p:cNvCxnSpPr/>
          <p:nvPr/>
        </p:nvCxnSpPr>
        <p:spPr>
          <a:xfrm>
            <a:off x="7207249" y="7429499"/>
            <a:ext cx="730250" cy="0"/>
          </a:xfrm>
          <a:prstGeom prst="line">
            <a:avLst/>
          </a:prstGeom>
          <a:ln w="19843">
            <a:solidFill>
              <a:srgbClr val="C48A24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v_l3_p" descr="Editable shape; source id v_l3_p"/>
          <p:cNvSpPr/>
          <p:nvPr/>
        </p:nvSpPr>
        <p:spPr>
          <a:xfrm>
            <a:off x="7318374" y="6215062"/>
            <a:ext cx="1111249" cy="3809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v_l3_p_t" descr="Editable text; source id v_l3_p_t"/>
          <p:cNvSpPr txBox="1"/>
          <p:nvPr/>
        </p:nvSpPr>
        <p:spPr>
          <a:xfrm>
            <a:off x="7397749" y="6246812"/>
            <a:ext cx="952499" cy="317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499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Analogy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