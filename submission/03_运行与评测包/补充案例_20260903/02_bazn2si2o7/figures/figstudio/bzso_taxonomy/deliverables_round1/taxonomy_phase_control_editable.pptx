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812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BaZn2Si2O7 合成与相控制分类框架（super_teaser S5 F01 → super_img2ppt 重建）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ub" descr="Editable shape; source id hub"/>
          <p:cNvSpPr/>
          <p:nvPr/>
        </p:nvSpPr>
        <p:spPr>
          <a:xfrm>
            <a:off x="555624" y="2174874"/>
            <a:ext cx="1984374" cy="3651249"/>
          </a:xfrm>
          <a:prstGeom prst="roundRect">
            <a:avLst>
              <a:gd name="adj" fmla="val 7199"/>
            </a:avLst>
          </a:pr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hub_t" descr="Editable text; source id hub_t"/>
          <p:cNvSpPr txBox="1"/>
          <p:nvPr/>
        </p:nvSpPr>
        <p:spPr>
          <a:xfrm>
            <a:off x="587374" y="3460749"/>
            <a:ext cx="1920874" cy="10318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3187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24" b="1" i="0" lang="zh-CN" dirty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BaZn2Si2O7</a:t>
            </a:r>
          </a:p>
          <a:p>
            <a:pPr algn="ctr" fontAlgn="base">
              <a:lnSpc>
                <a:spcPts val="3187"/>
              </a:lnSpc>
              <a:spcBef>
                <a:spcPts val="0"/>
              </a:spcBef>
              <a:spcAft>
                <a:spcPts val="0"/>
              </a:spcAft>
              <a:def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24" b="1" i="0" lang="zh-CN" dirty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目标相</a:t>
            </a:r>
          </a:p>
        </p:txBody>
      </p:sp>
      <p:cxnSp>
        <p:nvCxnSpPr>
          <p:cNvPr id="4" name="stub" descr="Editable line; source id stub"/>
          <p:cNvCxnSpPr/>
          <p:nvPr/>
        </p:nvCxnSpPr>
        <p:spPr>
          <a:xfrm>
            <a:off x="2555874" y="4000499"/>
            <a:ext cx="33337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trunk" descr="Editable line; source id trunk"/>
          <p:cNvCxnSpPr/>
          <p:nvPr/>
        </p:nvCxnSpPr>
        <p:spPr>
          <a:xfrm>
            <a:off x="2889249" y="666749"/>
            <a:ext cx="0" cy="5381625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br0" descr="Editable line; source id br0"/>
          <p:cNvCxnSpPr/>
          <p:nvPr/>
        </p:nvCxnSpPr>
        <p:spPr>
          <a:xfrm>
            <a:off x="2889249" y="666749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br0b" descr="Editable line; source id br0b"/>
          <p:cNvSpPr/>
          <p:nvPr/>
        </p:nvSpPr>
        <p:spPr>
          <a:xfrm>
            <a:off x="4778375" y="607219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0" descr="Editable shape; source id pill0"/>
          <p:cNvSpPr/>
          <p:nvPr/>
        </p:nvSpPr>
        <p:spPr>
          <a:xfrm>
            <a:off x="3778249" y="492124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0_t" descr="Editable text; source id pill0_t"/>
          <p:cNvSpPr txBox="1"/>
          <p:nvPr/>
        </p:nvSpPr>
        <p:spPr>
          <a:xfrm>
            <a:off x="3825874" y="515937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结构</a:t>
            </a:r>
          </a:p>
        </p:txBody>
      </p:sp>
      <p:sp>
        <p:nvSpPr>
          <p:cNvPr id="10" name="card0" descr="Editable shape; source id card0"/>
          <p:cNvSpPr/>
          <p:nvPr/>
        </p:nvSpPr>
        <p:spPr>
          <a:xfrm>
            <a:off x="6143624" y="182562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0_t" descr="Editable text; source id card0_t"/>
          <p:cNvSpPr txBox="1"/>
          <p:nvPr/>
        </p:nvSpPr>
        <p:spPr>
          <a:xfrm>
            <a:off x="6429374" y="293687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结构与多晶型</a:t>
            </a:r>
          </a:p>
        </p:txBody>
      </p:sp>
      <p:sp>
        <p:nvSpPr>
          <p:cNvPr id="12" name="card0_s" descr="Editable text; source id card0_s"/>
          <p:cNvSpPr txBox="1"/>
          <p:nvPr/>
        </p:nvSpPr>
        <p:spPr>
          <a:xfrm>
            <a:off x="6429374" y="754062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相变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配位</a:t>
            </a:r>
          </a:p>
        </p:txBody>
      </p:sp>
      <p:cxnSp>
        <p:nvCxnSpPr>
          <p:cNvPr id="13" name="br1" descr="Editable line; source id br1"/>
          <p:cNvCxnSpPr/>
          <p:nvPr/>
        </p:nvCxnSpPr>
        <p:spPr>
          <a:xfrm>
            <a:off x="2889249" y="1746249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br1b" descr="Editable line; source id br1b"/>
          <p:cNvSpPr/>
          <p:nvPr/>
        </p:nvSpPr>
        <p:spPr>
          <a:xfrm>
            <a:off x="4778375" y="1686719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1" descr="Editable shape; source id pill1"/>
          <p:cNvSpPr/>
          <p:nvPr/>
        </p:nvSpPr>
        <p:spPr>
          <a:xfrm>
            <a:off x="3778249" y="1571624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1_t" descr="Editable text; source id pill1_t"/>
          <p:cNvSpPr txBox="1"/>
          <p:nvPr/>
        </p:nvSpPr>
        <p:spPr>
          <a:xfrm>
            <a:off x="3825874" y="1595437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制备</a:t>
            </a:r>
          </a:p>
        </p:txBody>
      </p:sp>
      <p:sp>
        <p:nvSpPr>
          <p:cNvPr id="17" name="card1" descr="Editable shape; source id card1"/>
          <p:cNvSpPr/>
          <p:nvPr/>
        </p:nvSpPr>
        <p:spPr>
          <a:xfrm>
            <a:off x="6143624" y="1254124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rd1_t" descr="Editable text; source id card1_t"/>
          <p:cNvSpPr txBox="1"/>
          <p:nvPr/>
        </p:nvSpPr>
        <p:spPr>
          <a:xfrm>
            <a:off x="6429374" y="1365249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合成路线</a:t>
            </a:r>
          </a:p>
        </p:txBody>
      </p:sp>
      <p:sp>
        <p:nvSpPr>
          <p:cNvPr id="19" name="card1_s" descr="Editable text; source id card1_s"/>
          <p:cNvSpPr txBox="1"/>
          <p:nvPr/>
        </p:nvSpPr>
        <p:spPr>
          <a:xfrm>
            <a:off x="6429374" y="1825624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固相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溶胶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—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凝胶</a:t>
            </a:r>
          </a:p>
        </p:txBody>
      </p:sp>
      <p:cxnSp>
        <p:nvCxnSpPr>
          <p:cNvPr id="20" name="br2" descr="Editable line; source id br2"/>
          <p:cNvCxnSpPr/>
          <p:nvPr/>
        </p:nvCxnSpPr>
        <p:spPr>
          <a:xfrm>
            <a:off x="2889249" y="2817812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br2b" descr="Editable line; source id br2b"/>
          <p:cNvSpPr/>
          <p:nvPr/>
        </p:nvSpPr>
        <p:spPr>
          <a:xfrm>
            <a:off x="4778375" y="2758281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pill2" descr="Editable shape; source id pill2"/>
          <p:cNvSpPr/>
          <p:nvPr/>
        </p:nvSpPr>
        <p:spPr>
          <a:xfrm>
            <a:off x="3778249" y="2643187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ill2_t" descr="Editable text; source id pill2_t"/>
          <p:cNvSpPr txBox="1"/>
          <p:nvPr/>
        </p:nvSpPr>
        <p:spPr>
          <a:xfrm>
            <a:off x="3825874" y="2666999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变量</a:t>
            </a:r>
          </a:p>
        </p:txBody>
      </p:sp>
      <p:sp>
        <p:nvSpPr>
          <p:cNvPr id="24" name="card2" descr="Editable shape; source id card2"/>
          <p:cNvSpPr/>
          <p:nvPr/>
        </p:nvSpPr>
        <p:spPr>
          <a:xfrm>
            <a:off x="6143624" y="2333624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2_t" descr="Editable text; source id card2_t"/>
          <p:cNvSpPr txBox="1"/>
          <p:nvPr/>
        </p:nvSpPr>
        <p:spPr>
          <a:xfrm>
            <a:off x="6429374" y="2444749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组成与热处理</a:t>
            </a:r>
          </a:p>
        </p:txBody>
      </p:sp>
      <p:sp>
        <p:nvSpPr>
          <p:cNvPr id="26" name="card2_s" descr="Editable text; source id card2_s"/>
          <p:cNvSpPr txBox="1"/>
          <p:nvPr/>
        </p:nvSpPr>
        <p:spPr>
          <a:xfrm>
            <a:off x="6429374" y="2905124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Ba/Sr · Zn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位</a:t>
            </a:r>
          </a:p>
        </p:txBody>
      </p:sp>
      <p:cxnSp>
        <p:nvCxnSpPr>
          <p:cNvPr id="27" name="br3" descr="Editable line; source id br3"/>
          <p:cNvCxnSpPr/>
          <p:nvPr/>
        </p:nvCxnSpPr>
        <p:spPr>
          <a:xfrm>
            <a:off x="2889249" y="3889374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br3b" descr="Editable line; source id br3b"/>
          <p:cNvSpPr/>
          <p:nvPr/>
        </p:nvSpPr>
        <p:spPr>
          <a:xfrm>
            <a:off x="4778375" y="3829844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ill3" descr="Editable shape; source id pill3"/>
          <p:cNvSpPr/>
          <p:nvPr/>
        </p:nvSpPr>
        <p:spPr>
          <a:xfrm>
            <a:off x="3778249" y="3714749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pill3_t" descr="Editable text; source id pill3_t"/>
          <p:cNvSpPr txBox="1"/>
          <p:nvPr/>
        </p:nvSpPr>
        <p:spPr>
          <a:xfrm>
            <a:off x="3825874" y="3738562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晶化</a:t>
            </a:r>
          </a:p>
        </p:txBody>
      </p:sp>
      <p:sp>
        <p:nvSpPr>
          <p:cNvPr id="31" name="card3" descr="Editable shape; source id card3"/>
          <p:cNvSpPr/>
          <p:nvPr/>
        </p:nvSpPr>
        <p:spPr>
          <a:xfrm>
            <a:off x="6143624" y="3405187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ard3_t" descr="Editable text; source id card3_t"/>
          <p:cNvSpPr txBox="1"/>
          <p:nvPr/>
        </p:nvSpPr>
        <p:spPr>
          <a:xfrm>
            <a:off x="6429374" y="3516312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玻璃析晶</a:t>
            </a:r>
          </a:p>
        </p:txBody>
      </p:sp>
      <p:sp>
        <p:nvSpPr>
          <p:cNvPr id="33" name="card3_s" descr="Editable text; source id card3_s"/>
          <p:cNvSpPr txBox="1"/>
          <p:nvPr/>
        </p:nvSpPr>
        <p:spPr>
          <a:xfrm>
            <a:off x="6429374" y="3976687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成核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·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生长</a:t>
            </a:r>
          </a:p>
        </p:txBody>
      </p:sp>
      <p:cxnSp>
        <p:nvCxnSpPr>
          <p:cNvPr id="34" name="br4" descr="Editable line; source id br4"/>
          <p:cNvCxnSpPr/>
          <p:nvPr/>
        </p:nvCxnSpPr>
        <p:spPr>
          <a:xfrm>
            <a:off x="2889249" y="4968874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br4b" descr="Editable line; source id br4b"/>
          <p:cNvSpPr/>
          <p:nvPr/>
        </p:nvSpPr>
        <p:spPr>
          <a:xfrm>
            <a:off x="4778375" y="4909344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pill4" descr="Editable shape; source id pill4"/>
          <p:cNvSpPr/>
          <p:nvPr/>
        </p:nvSpPr>
        <p:spPr>
          <a:xfrm>
            <a:off x="3778249" y="4794249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pill4_t" descr="Editable text; source id pill4_t"/>
          <p:cNvSpPr txBox="1"/>
          <p:nvPr/>
        </p:nvSpPr>
        <p:spPr>
          <a:xfrm>
            <a:off x="3825874" y="4818062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近邻</a:t>
            </a:r>
          </a:p>
        </p:txBody>
      </p:sp>
      <p:sp>
        <p:nvSpPr>
          <p:cNvPr id="38" name="card4" descr="Editable shape; source id card4"/>
          <p:cNvSpPr/>
          <p:nvPr/>
        </p:nvSpPr>
        <p:spPr>
          <a:xfrm>
            <a:off x="6143624" y="4484687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card4_t" descr="Editable text; source id card4_t"/>
          <p:cNvSpPr txBox="1"/>
          <p:nvPr/>
        </p:nvSpPr>
        <p:spPr>
          <a:xfrm>
            <a:off x="6429374" y="4595812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近邻体系</a:t>
            </a:r>
          </a:p>
        </p:txBody>
      </p:sp>
      <p:sp>
        <p:nvSpPr>
          <p:cNvPr id="40" name="card4_s" descr="Editable text; source id card4_s"/>
          <p:cNvSpPr txBox="1"/>
          <p:nvPr/>
        </p:nvSpPr>
        <p:spPr>
          <a:xfrm>
            <a:off x="6429374" y="5056187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defRPr>
            </a:pP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Ba2ZnSi2O7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等</a:t>
            </a:r>
          </a:p>
        </p:txBody>
      </p:sp>
      <p:cxnSp>
        <p:nvCxnSpPr>
          <p:cNvPr id="41" name="br5" descr="Editable line; source id br5"/>
          <p:cNvCxnSpPr/>
          <p:nvPr/>
        </p:nvCxnSpPr>
        <p:spPr>
          <a:xfrm>
            <a:off x="2889249" y="6048374"/>
            <a:ext cx="873125" cy="0"/>
          </a:xfrm>
          <a:prstGeom prst="line">
            <a:avLst/>
          </a:prstGeom>
          <a:ln w="39687">
            <a:solidFill>
              <a:srgbClr val="1F6F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br5b" descr="Editable line; source id br5b"/>
          <p:cNvSpPr/>
          <p:nvPr/>
        </p:nvSpPr>
        <p:spPr>
          <a:xfrm>
            <a:off x="4778375" y="5988844"/>
            <a:ext cx="1349375" cy="119062"/>
          </a:xfrm>
          <a:custGeom>
            <a:avLst/>
            <a:gdLst/>
            <a:ahLst/>
            <a:cxnLst/>
            <a:rect l="l" t="t" r="r" b="b"/>
            <a:pathLst>
              <a:path w="170000" h="15000">
                <a:moveTo>
                  <a:pt x="0" y="5000"/>
                </a:moveTo>
                <a:lnTo>
                  <a:pt x="152000" y="5000"/>
                </a:lnTo>
                <a:lnTo>
                  <a:pt x="152000" y="0"/>
                </a:lnTo>
                <a:lnTo>
                  <a:pt x="170000" y="7500"/>
                </a:lnTo>
                <a:lnTo>
                  <a:pt x="152000" y="15000"/>
                </a:lnTo>
                <a:lnTo>
                  <a:pt x="152000" y="10000"/>
                </a:lnTo>
                <a:lnTo>
                  <a:pt x="0" y="10000"/>
                </a:lnTo>
                <a:close/>
              </a:path>
            </a:pathLst>
          </a:custGeom>
          <a:solidFill>
            <a:srgbClr val="1F6F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pill5" descr="Editable shape; source id pill5"/>
          <p:cNvSpPr/>
          <p:nvPr/>
        </p:nvSpPr>
        <p:spPr>
          <a:xfrm>
            <a:off x="3778249" y="5873749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1F6F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pill5_t" descr="Editable text; source id pill5_t"/>
          <p:cNvSpPr txBox="1"/>
          <p:nvPr/>
        </p:nvSpPr>
        <p:spPr>
          <a:xfrm>
            <a:off x="3825874" y="5897562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1F6F78"/>
                </a:solidFill>
                <a:latin typeface="Noto Sans CJK SC"/>
                <a:ea typeface="Noto Sans CJK SC"/>
                <a:cs typeface="Noto Sans CJK SC"/>
              </a:rPr>
              <a:t>判读</a:t>
            </a:r>
          </a:p>
        </p:txBody>
      </p:sp>
      <p:sp>
        <p:nvSpPr>
          <p:cNvPr id="45" name="card5" descr="Editable shape; source id card5"/>
          <p:cNvSpPr/>
          <p:nvPr/>
        </p:nvSpPr>
        <p:spPr>
          <a:xfrm>
            <a:off x="6143624" y="5564187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C9CF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card5_t" descr="Editable text; source id card5_t"/>
          <p:cNvSpPr txBox="1"/>
          <p:nvPr/>
        </p:nvSpPr>
        <p:spPr>
          <a:xfrm>
            <a:off x="6429374" y="5675312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3281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49" b="1" i="0" lang="zh-CN" dirty="0">
                <a:solidFill>
                  <a:srgbClr val="2B2F33"/>
                </a:solidFill>
                <a:latin typeface="Noto Sans CJK SC"/>
                <a:ea typeface="Noto Sans CJK SC"/>
                <a:cs typeface="Noto Sans CJK SC"/>
              </a:rPr>
              <a:t>证据边界</a:t>
            </a:r>
          </a:p>
        </p:txBody>
      </p:sp>
      <p:sp>
        <p:nvSpPr>
          <p:cNvPr id="47" name="card5_s" descr="Editable text; source id card5_s"/>
          <p:cNvSpPr txBox="1"/>
          <p:nvPr/>
        </p:nvSpPr>
        <p:spPr>
          <a:xfrm>
            <a:off x="6429374" y="6135687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直接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近邻</a:t>
            </a:r>
            <a:r>
              <a:rPr sz="1687" b="0" i="0" lang="zh-CN" dirty="0">
                <a:solidFill>
                  <a:srgbClr val="4A5158"/>
                </a:solidFill>
                <a:latin typeface="DejaVu Sans"/>
                <a:ea typeface="DejaVu Sans"/>
                <a:cs typeface="DejaVu Sans"/>
              </a:rPr>
              <a:t> / </a:t>
            </a: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推断</a:t>
            </a:r>
          </a:p>
        </p:txBody>
      </p:sp>
      <p:cxnSp>
        <p:nvCxnSpPr>
          <p:cNvPr id="48" name="br6a" descr="Editable line; source id br6a"/>
          <p:cNvCxnSpPr/>
          <p:nvPr/>
        </p:nvCxnSpPr>
        <p:spPr>
          <a:xfrm>
            <a:off x="2889249" y="6088062"/>
            <a:ext cx="0" cy="1079500"/>
          </a:xfrm>
          <a:prstGeom prst="line">
            <a:avLst/>
          </a:prstGeom>
          <a:ln w="31749">
            <a:solidFill>
              <a:srgbClr val="B8862B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br6" descr="Editable line; source id br6"/>
          <p:cNvCxnSpPr/>
          <p:nvPr/>
        </p:nvCxnSpPr>
        <p:spPr>
          <a:xfrm>
            <a:off x="2889249" y="7167562"/>
            <a:ext cx="873125" cy="0"/>
          </a:xfrm>
          <a:prstGeom prst="line">
            <a:avLst/>
          </a:prstGeom>
          <a:ln w="31749">
            <a:solidFill>
              <a:srgbClr val="B8862B"/>
            </a:solidFill>
            <a:custDash>
              <a:ds d="400000" sp="250000"/>
            </a:custDash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br6b" descr="Editable line; source id br6b"/>
          <p:cNvCxnSpPr/>
          <p:nvPr/>
        </p:nvCxnSpPr>
        <p:spPr>
          <a:xfrm>
            <a:off x="4778374" y="7167562"/>
            <a:ext cx="1349375" cy="0"/>
          </a:xfrm>
          <a:prstGeom prst="line">
            <a:avLst/>
          </a:prstGeom>
          <a:ln w="31749">
            <a:solidFill>
              <a:srgbClr val="B8862B"/>
            </a:solidFill>
            <a:custDash>
              <a:ds d="400000" sp="250000"/>
            </a:custDash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pill6" descr="Editable shape; source id pill6"/>
          <p:cNvSpPr/>
          <p:nvPr/>
        </p:nvSpPr>
        <p:spPr>
          <a:xfrm>
            <a:off x="3778249" y="6992937"/>
            <a:ext cx="984249" cy="349249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843">
            <a:solidFill>
              <a:srgbClr val="B88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pill6_t" descr="Editable text; source id pill6_t"/>
          <p:cNvSpPr txBox="1"/>
          <p:nvPr/>
        </p:nvSpPr>
        <p:spPr>
          <a:xfrm>
            <a:off x="3825874" y="7016749"/>
            <a:ext cx="888999" cy="30162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ctr" fontAlgn="base">
              <a:lnSpc>
                <a:spcPts val="2187"/>
              </a:lnSpc>
              <a:spcBef>
                <a:spcPts val="0"/>
              </a:spcBef>
              <a:spcAft>
                <a:spcPts val="0"/>
              </a:spcAft>
              <a:defRPr sz="1499" b="1" i="0" lang="zh-CN" dirty="0">
                <a:solidFill>
                  <a:srgbClr val="B8862B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499" b="1" i="0" lang="zh-CN" dirty="0">
                <a:solidFill>
                  <a:srgbClr val="B8862B"/>
                </a:solidFill>
                <a:latin typeface="Noto Sans CJK SC"/>
                <a:ea typeface="Noto Sans CJK SC"/>
                <a:cs typeface="Noto Sans CJK SC"/>
              </a:rPr>
              <a:t>类比</a:t>
            </a:r>
          </a:p>
        </p:txBody>
      </p:sp>
      <p:sp>
        <p:nvSpPr>
          <p:cNvPr id="53" name="card6" descr="Editable shape; source id card6"/>
          <p:cNvSpPr/>
          <p:nvPr/>
        </p:nvSpPr>
        <p:spPr>
          <a:xfrm>
            <a:off x="6143624" y="6683374"/>
            <a:ext cx="5532437" cy="976312"/>
          </a:xfrm>
          <a:prstGeom prst="roundRect">
            <a:avLst>
              <a:gd name="adj" fmla="val 11382"/>
            </a:avLst>
          </a:prstGeom>
          <a:solidFill>
            <a:srgbClr val="F3F5F6"/>
          </a:solidFill>
          <a:ln w="19843">
            <a:solidFill>
              <a:srgbClr val="B8862B"/>
            </a:solidFill>
            <a:custDash>
              <a:ds d="640000" sp="400000"/>
            </a:custDash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card6_t" descr="Editable text; source id card6_t"/>
          <p:cNvSpPr txBox="1"/>
          <p:nvPr/>
        </p:nvSpPr>
        <p:spPr>
          <a:xfrm>
            <a:off x="6429374" y="6794499"/>
            <a:ext cx="5079999" cy="460374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624"/>
              </a:lnSpc>
              <a:spcBef>
                <a:spcPts val="0"/>
              </a:spcBef>
              <a:spcAft>
                <a:spcPts val="0"/>
              </a:spcAft>
              <a:defRPr sz="2249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defRPr>
            </a:pPr>
            <a:r>
              <a:rPr sz="2249" b="1" i="0" lang="zh-CN" dirty="0">
                <a:solidFill>
                  <a:srgbClr val="2B2F33"/>
                </a:solidFill>
                <a:latin typeface="DejaVu Sans"/>
                <a:ea typeface="DejaVu Sans"/>
                <a:cs typeface="DejaVu Sans"/>
              </a:rPr>
              <a:t>Ba5Y12Zn[O(SiO4)]8</a:t>
            </a:r>
          </a:p>
        </p:txBody>
      </p:sp>
      <p:sp>
        <p:nvSpPr>
          <p:cNvPr id="55" name="card6_s" descr="Editable text; source id card6_s"/>
          <p:cNvSpPr txBox="1"/>
          <p:nvPr/>
        </p:nvSpPr>
        <p:spPr>
          <a:xfrm>
            <a:off x="6429374" y="7254874"/>
            <a:ext cx="5079999" cy="317499"/>
          </a:xfrm>
          <a:prstGeom prst="rect">
            <a:avLst/>
          </a:prstGeom>
          <a:noFill/>
          <a:effectLst/>
        </p:spPr>
        <p:txBody>
          <a:bodyPr wrap="none" anchor="ctr" tIns="0" rIns="0" bIns="0" lIns="0" anchorCtr="0" vertOverflow="overflow">
            <a:noAutofit/>
          </a:bodyPr>
          <a:lstStyle/>
          <a:p>
            <a:pPr algn="l" fontAlgn="base">
              <a:lnSpc>
                <a:spcPts val="2468"/>
              </a:lnSpc>
              <a:spcBef>
                <a:spcPts val="0"/>
              </a:spcBef>
              <a:spcAft>
                <a:spcPts val="0"/>
              </a:spcAft>
              <a:def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87" b="0" i="0" lang="zh-CN" dirty="0">
                <a:solidFill>
                  <a:srgbClr val="4A5158"/>
                </a:solidFill>
                <a:latin typeface="Noto Sans CJK SC"/>
                <a:ea typeface="Noto Sans CJK SC"/>
                <a:cs typeface="Noto Sans CJK SC"/>
              </a:rPr>
              <a:t>未见直接报道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