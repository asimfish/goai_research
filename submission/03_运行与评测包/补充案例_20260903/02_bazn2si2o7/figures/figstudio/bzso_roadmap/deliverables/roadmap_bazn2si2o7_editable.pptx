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334124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BaZn2Si2O7 本文的行文路线图（第六轮：印刷字号 + 内容定尺寸；3+3 两行） [paper=bzso] [print_width_pt=435.2]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zA" descr="Editable shape; source id zA"/>
          <p:cNvSpPr/>
          <p:nvPr/>
        </p:nvSpPr>
        <p:spPr>
          <a:xfrm>
            <a:off x="206374" y="206374"/>
            <a:ext cx="11779249" cy="2651124"/>
          </a:xfrm>
          <a:prstGeom prst="roundRect">
            <a:avLst>
              <a:gd name="adj" fmla="val 4191"/>
            </a:avLst>
          </a:prstGeom>
          <a:solidFill>
            <a:srgbClr val="EEF2F7"/>
          </a:solidFill>
          <a:ln w="12699">
            <a:solidFill>
              <a:srgbClr val="5B75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zA_l" descr="Editable text; source id zA_l"/>
          <p:cNvSpPr txBox="1"/>
          <p:nvPr/>
        </p:nvSpPr>
        <p:spPr>
          <a:xfrm>
            <a:off x="349249" y="285749"/>
            <a:ext cx="1285874" cy="4444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3015"/>
              </a:lnSpc>
              <a:spcBef>
                <a:spcPts val="0"/>
              </a:spcBef>
              <a:spcAft>
                <a:spcPts val="0"/>
              </a:spcAft>
              <a:defRPr sz="2062" b="1" i="0" lang="zh-CN" dirty="0">
                <a:solidFill>
                  <a:srgbClr val="2B3E5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62" b="1" i="0" lang="zh-CN" dirty="0">
                <a:solidFill>
                  <a:srgbClr val="2B3E57"/>
                </a:solidFill>
                <a:latin typeface="Noto Sans CJK SC"/>
                <a:ea typeface="Noto Sans CJK SC"/>
                <a:cs typeface="Noto Sans CJK SC"/>
              </a:rPr>
              <a:t>文献证据</a:t>
            </a:r>
          </a:p>
        </p:txBody>
      </p:sp>
      <p:sp>
        <p:nvSpPr>
          <p:cNvPr id="4" name="zB" descr="Editable shape; source id zB"/>
          <p:cNvSpPr/>
          <p:nvPr/>
        </p:nvSpPr>
        <p:spPr>
          <a:xfrm>
            <a:off x="206374" y="3476624"/>
            <a:ext cx="11779249" cy="2651124"/>
          </a:xfrm>
          <a:prstGeom prst="roundRect">
            <a:avLst>
              <a:gd name="adj" fmla="val 4191"/>
            </a:avLst>
          </a:prstGeom>
          <a:solidFill>
            <a:srgbClr val="E6F2F3"/>
          </a:solidFill>
          <a:ln w="12699">
            <a:solidFill>
              <a:srgbClr val="1F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zB_l" descr="Editable text; source id zB_l"/>
          <p:cNvSpPr txBox="1"/>
          <p:nvPr/>
        </p:nvSpPr>
        <p:spPr>
          <a:xfrm>
            <a:off x="349249" y="3555999"/>
            <a:ext cx="1285874" cy="4444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3015"/>
              </a:lnSpc>
              <a:spcBef>
                <a:spcPts val="0"/>
              </a:spcBef>
              <a:spcAft>
                <a:spcPts val="0"/>
              </a:spcAft>
              <a:defRPr sz="2062" b="1" i="0" lang="zh-CN" dirty="0">
                <a:solidFill>
                  <a:srgbClr val="0F4F5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62" b="1" i="0" lang="zh-CN" dirty="0">
                <a:solidFill>
                  <a:srgbClr val="0F4F58"/>
                </a:solidFill>
                <a:latin typeface="Noto Sans CJK SC"/>
                <a:ea typeface="Noto Sans CJK SC"/>
                <a:cs typeface="Noto Sans CJK SC"/>
              </a:rPr>
              <a:t>实验方法</a:t>
            </a:r>
          </a:p>
        </p:txBody>
      </p:sp>
      <p:sp>
        <p:nvSpPr>
          <p:cNvPr id="6" name="n1" descr="Editable shape; source id n1"/>
          <p:cNvSpPr/>
          <p:nvPr/>
        </p:nvSpPr>
        <p:spPr>
          <a:xfrm>
            <a:off x="333374" y="809624"/>
            <a:ext cx="3492499" cy="1904999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5081">
            <a:solidFill>
              <a:srgbClr val="5B75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n1_b" descr="Editable shape; source id n1_b"/>
          <p:cNvSpPr/>
          <p:nvPr/>
        </p:nvSpPr>
        <p:spPr>
          <a:xfrm>
            <a:off x="333374" y="809624"/>
            <a:ext cx="79374" cy="1904999"/>
          </a:xfrm>
          <a:prstGeom prst="roundRect">
            <a:avLst>
              <a:gd name="adj" fmla="val 30000"/>
            </a:avLst>
          </a:prstGeom>
          <a:solidFill>
            <a:srgbClr val="5B75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n1_n" descr="Editable text; source id n1_n"/>
          <p:cNvSpPr txBox="1"/>
          <p:nvPr/>
        </p:nvSpPr>
        <p:spPr>
          <a:xfrm>
            <a:off x="555624" y="952499"/>
            <a:ext cx="873124" cy="56356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3062"/>
              </a:lnSpc>
              <a:spcBef>
                <a:spcPts val="0"/>
              </a:spcBef>
              <a:spcAft>
                <a:spcPts val="0"/>
              </a:spcAft>
              <a:defRPr sz="2624" b="1" i="0" lang="zh-CN" dirty="0">
                <a:solidFill>
                  <a:srgbClr val="2B3E57"/>
                </a:solidFill>
                <a:latin typeface="DejaVu Sans"/>
                <a:ea typeface="DejaVu Sans"/>
                <a:cs typeface="DejaVu Sans"/>
              </a:defRPr>
            </a:pPr>
            <a:r>
              <a:rPr sz="2624" b="1" i="0" lang="zh-CN" dirty="0">
                <a:solidFill>
                  <a:srgbClr val="2B3E57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cxnSp>
        <p:nvCxnSpPr>
          <p:cNvPr id="9" name="n1_g_o_0" descr="Editable line; source id n1_g_o_0"/>
          <p:cNvCxnSpPr/>
          <p:nvPr/>
        </p:nvCxnSpPr>
        <p:spPr>
          <a:xfrm>
            <a:off x="3428999" y="1023937"/>
            <a:ext cx="206375" cy="12700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n1_g_o_1" descr="Editable line; source id n1_g_o_1"/>
          <p:cNvCxnSpPr/>
          <p:nvPr/>
        </p:nvCxnSpPr>
        <p:spPr>
          <a:xfrm flipH="1">
            <a:off x="3540124" y="1150937"/>
            <a:ext cx="95250" cy="277812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n1_g_o_2" descr="Editable line; source id n1_g_o_2"/>
          <p:cNvCxnSpPr/>
          <p:nvPr/>
        </p:nvCxnSpPr>
        <p:spPr>
          <a:xfrm flipH="1">
            <a:off x="3317874" y="1428749"/>
            <a:ext cx="222250" cy="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n1_g_o_3" descr="Editable line; source id n1_g_o_3"/>
          <p:cNvCxnSpPr/>
          <p:nvPr/>
        </p:nvCxnSpPr>
        <p:spPr>
          <a:xfrm flipH="1" flipV="1">
            <a:off x="3222624" y="1150937"/>
            <a:ext cx="95250" cy="277812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n1_g_o_4" descr="Editable line; source id n1_g_o_4"/>
          <p:cNvCxnSpPr/>
          <p:nvPr/>
        </p:nvCxnSpPr>
        <p:spPr>
          <a:xfrm flipV="1">
            <a:off x="3222624" y="1023937"/>
            <a:ext cx="206375" cy="12700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n1_g_a" descr="Editable line; source id n1_g_a"/>
          <p:cNvCxnSpPr/>
          <p:nvPr/>
        </p:nvCxnSpPr>
        <p:spPr>
          <a:xfrm>
            <a:off x="3428999" y="1023937"/>
            <a:ext cx="0" cy="404812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n1_g_b" descr="Editable line; source id n1_g_b"/>
          <p:cNvCxnSpPr/>
          <p:nvPr/>
        </p:nvCxnSpPr>
        <p:spPr>
          <a:xfrm>
            <a:off x="3222624" y="1150937"/>
            <a:ext cx="412750" cy="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n1_t" descr="Editable text; source id n1_t"/>
          <p:cNvSpPr txBox="1"/>
          <p:nvPr/>
        </p:nvSpPr>
        <p:spPr>
          <a:xfrm>
            <a:off x="555624" y="1579562"/>
            <a:ext cx="3127374" cy="38893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2812"/>
              </a:lnSpc>
              <a:spcBef>
                <a:spcPts val="0"/>
              </a:spcBef>
              <a:spcAft>
                <a:spcPts val="0"/>
              </a:spcAft>
              <a:defRPr sz="1937" b="1" i="0" lang="zh-CN" dirty="0">
                <a:solidFill>
                  <a:srgbClr val="2B3E5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37" b="1" i="0" lang="zh-CN" dirty="0">
                <a:solidFill>
                  <a:srgbClr val="2B3E57"/>
                </a:solidFill>
                <a:latin typeface="Noto Sans CJK SC"/>
                <a:ea typeface="Noto Sans CJK SC"/>
                <a:cs typeface="Noto Sans CJK SC"/>
              </a:rPr>
              <a:t>结构基础</a:t>
            </a:r>
          </a:p>
        </p:txBody>
      </p:sp>
      <p:cxnSp>
        <p:nvCxnSpPr>
          <p:cNvPr id="17" name="n1_r" descr="Editable line; source id n1_r"/>
          <p:cNvCxnSpPr/>
          <p:nvPr/>
        </p:nvCxnSpPr>
        <p:spPr>
          <a:xfrm>
            <a:off x="603249" y="2063749"/>
            <a:ext cx="3032125" cy="0"/>
          </a:xfrm>
          <a:prstGeom prst="line">
            <a:avLst/>
          </a:prstGeom>
          <a:ln w="12699">
            <a:solidFill>
              <a:srgbClr val="CBD5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n1_p" descr="Editable shape; source id n1_p"/>
          <p:cNvSpPr/>
          <p:nvPr/>
        </p:nvSpPr>
        <p:spPr>
          <a:xfrm>
            <a:off x="555624" y="2174874"/>
            <a:ext cx="3127374" cy="396874"/>
          </a:xfrm>
          <a:prstGeom prst="roundRect">
            <a:avLst>
              <a:gd name="adj" fmla="val 12000"/>
            </a:avLst>
          </a:prstGeom>
          <a:solidFill>
            <a:srgbClr val="F4F7FA"/>
          </a:solidFill>
          <a:ln w="12699">
            <a:solidFill>
              <a:srgbClr val="AEBB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n1_p_t" descr="Editable text; source id n1_p_t"/>
          <p:cNvSpPr txBox="1"/>
          <p:nvPr/>
        </p:nvSpPr>
        <p:spPr>
          <a:xfrm>
            <a:off x="611187" y="2206624"/>
            <a:ext cx="3016249" cy="3333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2546"/>
              </a:lnSpc>
              <a:spcBef>
                <a:spcPts val="0"/>
              </a:spcBef>
              <a:spcAft>
                <a:spcPts val="0"/>
              </a:spcAft>
              <a:defRPr sz="1749" b="0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49" b="0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rPr>
              <a:t>低温与高温多晶型</a:t>
            </a:r>
          </a:p>
        </p:txBody>
      </p:sp>
      <p:sp>
        <p:nvSpPr>
          <p:cNvPr id="20" name="n2" descr="Editable shape; source id n2"/>
          <p:cNvSpPr/>
          <p:nvPr/>
        </p:nvSpPr>
        <p:spPr>
          <a:xfrm>
            <a:off x="4349749" y="809624"/>
            <a:ext cx="3492499" cy="1904999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5081">
            <a:solidFill>
              <a:srgbClr val="5B75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n2_b" descr="Editable shape; source id n2_b"/>
          <p:cNvSpPr/>
          <p:nvPr/>
        </p:nvSpPr>
        <p:spPr>
          <a:xfrm>
            <a:off x="4349749" y="809624"/>
            <a:ext cx="79374" cy="1904999"/>
          </a:xfrm>
          <a:prstGeom prst="roundRect">
            <a:avLst>
              <a:gd name="adj" fmla="val 30000"/>
            </a:avLst>
          </a:prstGeom>
          <a:solidFill>
            <a:srgbClr val="5B75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n2_n" descr="Editable text; source id n2_n"/>
          <p:cNvSpPr txBox="1"/>
          <p:nvPr/>
        </p:nvSpPr>
        <p:spPr>
          <a:xfrm>
            <a:off x="4571999" y="952499"/>
            <a:ext cx="873124" cy="56356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3062"/>
              </a:lnSpc>
              <a:spcBef>
                <a:spcPts val="0"/>
              </a:spcBef>
              <a:spcAft>
                <a:spcPts val="0"/>
              </a:spcAft>
              <a:defRPr sz="2624" b="1" i="0" lang="zh-CN" dirty="0">
                <a:solidFill>
                  <a:srgbClr val="2B3E57"/>
                </a:solidFill>
                <a:latin typeface="DejaVu Sans"/>
                <a:ea typeface="DejaVu Sans"/>
                <a:cs typeface="DejaVu Sans"/>
              </a:defRPr>
            </a:pPr>
            <a:r>
              <a:rPr sz="2624" b="1" i="0" lang="zh-CN" dirty="0">
                <a:solidFill>
                  <a:srgbClr val="2B3E57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cxnSp>
        <p:nvCxnSpPr>
          <p:cNvPr id="23" name="n2_g_b_0" descr="Editable line; source id n2_g_b_0"/>
          <p:cNvCxnSpPr/>
          <p:nvPr/>
        </p:nvCxnSpPr>
        <p:spPr>
          <a:xfrm>
            <a:off x="7302499" y="1135062"/>
            <a:ext cx="47625" cy="269875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n2_g_b_1" descr="Editable line; source id n2_g_b_1"/>
          <p:cNvCxnSpPr/>
          <p:nvPr/>
        </p:nvCxnSpPr>
        <p:spPr>
          <a:xfrm>
            <a:off x="7350124" y="1404937"/>
            <a:ext cx="190500" cy="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n2_g_b_2" descr="Editable line; source id n2_g_b_2"/>
          <p:cNvCxnSpPr/>
          <p:nvPr/>
        </p:nvCxnSpPr>
        <p:spPr>
          <a:xfrm flipV="1">
            <a:off x="7540624" y="1135062"/>
            <a:ext cx="47625" cy="269875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n2_g_r" descr="Editable line; source id n2_g_r"/>
          <p:cNvCxnSpPr/>
          <p:nvPr/>
        </p:nvCxnSpPr>
        <p:spPr>
          <a:xfrm>
            <a:off x="7270749" y="1135062"/>
            <a:ext cx="349250" cy="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n2_t" descr="Editable text; source id n2_t"/>
          <p:cNvSpPr txBox="1"/>
          <p:nvPr/>
        </p:nvSpPr>
        <p:spPr>
          <a:xfrm>
            <a:off x="4571999" y="1579562"/>
            <a:ext cx="3127374" cy="38893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2812"/>
              </a:lnSpc>
              <a:spcBef>
                <a:spcPts val="0"/>
              </a:spcBef>
              <a:spcAft>
                <a:spcPts val="0"/>
              </a:spcAft>
              <a:defRPr sz="1937" b="1" i="0" lang="zh-CN" dirty="0">
                <a:solidFill>
                  <a:srgbClr val="2B3E5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37" b="1" i="0" lang="zh-CN" dirty="0">
                <a:solidFill>
                  <a:srgbClr val="2B3E57"/>
                </a:solidFill>
                <a:latin typeface="Noto Sans CJK SC"/>
                <a:ea typeface="Noto Sans CJK SC"/>
                <a:cs typeface="Noto Sans CJK SC"/>
              </a:rPr>
              <a:t>合成路线</a:t>
            </a:r>
          </a:p>
        </p:txBody>
      </p:sp>
      <p:cxnSp>
        <p:nvCxnSpPr>
          <p:cNvPr id="28" name="n2_r" descr="Editable line; source id n2_r"/>
          <p:cNvCxnSpPr/>
          <p:nvPr/>
        </p:nvCxnSpPr>
        <p:spPr>
          <a:xfrm>
            <a:off x="4619624" y="2063749"/>
            <a:ext cx="3032125" cy="0"/>
          </a:xfrm>
          <a:prstGeom prst="line">
            <a:avLst/>
          </a:prstGeom>
          <a:ln w="12699">
            <a:solidFill>
              <a:srgbClr val="CBD5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n2_p" descr="Editable shape; source id n2_p"/>
          <p:cNvSpPr/>
          <p:nvPr/>
        </p:nvSpPr>
        <p:spPr>
          <a:xfrm>
            <a:off x="4571999" y="2174874"/>
            <a:ext cx="3127374" cy="396874"/>
          </a:xfrm>
          <a:prstGeom prst="roundRect">
            <a:avLst>
              <a:gd name="adj" fmla="val 12000"/>
            </a:avLst>
          </a:prstGeom>
          <a:solidFill>
            <a:srgbClr val="F4F7FA"/>
          </a:solidFill>
          <a:ln w="12699">
            <a:solidFill>
              <a:srgbClr val="AEBB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n2_p_t" descr="Editable text; source id n2_p_t"/>
          <p:cNvSpPr txBox="1"/>
          <p:nvPr/>
        </p:nvSpPr>
        <p:spPr>
          <a:xfrm>
            <a:off x="4627562" y="2206624"/>
            <a:ext cx="3016249" cy="3333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2546"/>
              </a:lnSpc>
              <a:spcBef>
                <a:spcPts val="0"/>
              </a:spcBef>
              <a:spcAft>
                <a:spcPts val="0"/>
              </a:spcAft>
              <a:defRPr sz="1749" b="0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49" b="0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rPr>
              <a:t>固相</a:t>
            </a:r>
            <a:r>
              <a:rPr sz="1749" b="0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rPr>
              <a:t> · </a:t>
            </a:r>
            <a:r>
              <a:rPr sz="1749" b="0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rPr>
              <a:t>溶胶</a:t>
            </a:r>
            <a:r>
              <a:rPr sz="1749" b="0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rPr>
              <a:t>—</a:t>
            </a:r>
            <a:r>
              <a:rPr sz="1749" b="0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rPr>
              <a:t>凝胶</a:t>
            </a:r>
          </a:p>
        </p:txBody>
      </p:sp>
      <p:sp>
        <p:nvSpPr>
          <p:cNvPr id="31" name="n3" descr="Editable shape; source id n3"/>
          <p:cNvSpPr/>
          <p:nvPr/>
        </p:nvSpPr>
        <p:spPr>
          <a:xfrm>
            <a:off x="8366124" y="809624"/>
            <a:ext cx="3492499" cy="1904999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5081">
            <a:solidFill>
              <a:srgbClr val="5B75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n3_b" descr="Editable shape; source id n3_b"/>
          <p:cNvSpPr/>
          <p:nvPr/>
        </p:nvSpPr>
        <p:spPr>
          <a:xfrm>
            <a:off x="8366124" y="809624"/>
            <a:ext cx="79374" cy="1904999"/>
          </a:xfrm>
          <a:prstGeom prst="roundRect">
            <a:avLst>
              <a:gd name="adj" fmla="val 30000"/>
            </a:avLst>
          </a:prstGeom>
          <a:solidFill>
            <a:srgbClr val="5B75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n3_n" descr="Editable text; source id n3_n"/>
          <p:cNvSpPr txBox="1"/>
          <p:nvPr/>
        </p:nvSpPr>
        <p:spPr>
          <a:xfrm>
            <a:off x="8588374" y="952499"/>
            <a:ext cx="873124" cy="56356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3062"/>
              </a:lnSpc>
              <a:spcBef>
                <a:spcPts val="0"/>
              </a:spcBef>
              <a:spcAft>
                <a:spcPts val="0"/>
              </a:spcAft>
              <a:defRPr sz="2624" b="1" i="0" lang="zh-CN" dirty="0">
                <a:solidFill>
                  <a:srgbClr val="2B3E57"/>
                </a:solidFill>
                <a:latin typeface="DejaVu Sans"/>
                <a:ea typeface="DejaVu Sans"/>
                <a:cs typeface="DejaVu Sans"/>
              </a:defRPr>
            </a:pPr>
            <a:r>
              <a:rPr sz="2624" b="1" i="0" lang="zh-CN" dirty="0">
                <a:solidFill>
                  <a:srgbClr val="2B3E57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cxnSp>
        <p:nvCxnSpPr>
          <p:cNvPr id="34" name="n3_g_d0_0" descr="Editable line; source id n3_g_d0_0"/>
          <p:cNvCxnSpPr/>
          <p:nvPr/>
        </p:nvCxnSpPr>
        <p:spPr>
          <a:xfrm>
            <a:off x="11461749" y="1047749"/>
            <a:ext cx="190500" cy="9525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n3_g_d0_1" descr="Editable line; source id n3_g_d0_1"/>
          <p:cNvCxnSpPr/>
          <p:nvPr/>
        </p:nvCxnSpPr>
        <p:spPr>
          <a:xfrm flipH="1">
            <a:off x="11461749" y="1142999"/>
            <a:ext cx="190500" cy="9525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n3_g_d0_2" descr="Editable line; source id n3_g_d0_2"/>
          <p:cNvCxnSpPr/>
          <p:nvPr/>
        </p:nvCxnSpPr>
        <p:spPr>
          <a:xfrm flipH="1" flipV="1">
            <a:off x="11271249" y="1142999"/>
            <a:ext cx="190500" cy="9525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n3_g_d0_3" descr="Editable line; source id n3_g_d0_3"/>
          <p:cNvCxnSpPr/>
          <p:nvPr/>
        </p:nvCxnSpPr>
        <p:spPr>
          <a:xfrm flipV="1">
            <a:off x="11271249" y="1047749"/>
            <a:ext cx="190500" cy="9525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n3_g_d1_0" descr="Editable line; source id n3_g_d1_0"/>
          <p:cNvCxnSpPr/>
          <p:nvPr/>
        </p:nvCxnSpPr>
        <p:spPr>
          <a:xfrm>
            <a:off x="11461749" y="1166812"/>
            <a:ext cx="190500" cy="87312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n3_g_d1_1" descr="Editable line; source id n3_g_d1_1"/>
          <p:cNvCxnSpPr/>
          <p:nvPr/>
        </p:nvCxnSpPr>
        <p:spPr>
          <a:xfrm flipH="1">
            <a:off x="11461749" y="1254124"/>
            <a:ext cx="190500" cy="9525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n3_g_d1_2" descr="Editable line; source id n3_g_d1_2"/>
          <p:cNvCxnSpPr/>
          <p:nvPr/>
        </p:nvCxnSpPr>
        <p:spPr>
          <a:xfrm flipH="1" flipV="1">
            <a:off x="11271249" y="1254124"/>
            <a:ext cx="190500" cy="9525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n3_g_d1_3" descr="Editable line; source id n3_g_d1_3"/>
          <p:cNvCxnSpPr/>
          <p:nvPr/>
        </p:nvCxnSpPr>
        <p:spPr>
          <a:xfrm flipV="1">
            <a:off x="11271249" y="1166812"/>
            <a:ext cx="190500" cy="87312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n3_g_d2_0" descr="Editable line; source id n3_g_d2_0"/>
          <p:cNvCxnSpPr/>
          <p:nvPr/>
        </p:nvCxnSpPr>
        <p:spPr>
          <a:xfrm>
            <a:off x="11461749" y="1277937"/>
            <a:ext cx="190500" cy="87312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n3_g_d2_1" descr="Editable line; source id n3_g_d2_1"/>
          <p:cNvCxnSpPr/>
          <p:nvPr/>
        </p:nvCxnSpPr>
        <p:spPr>
          <a:xfrm flipH="1">
            <a:off x="11461749" y="1365249"/>
            <a:ext cx="190500" cy="9525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n3_g_d2_2" descr="Editable line; source id n3_g_d2_2"/>
          <p:cNvCxnSpPr/>
          <p:nvPr/>
        </p:nvCxnSpPr>
        <p:spPr>
          <a:xfrm flipH="1" flipV="1">
            <a:off x="11271249" y="1365249"/>
            <a:ext cx="190500" cy="9525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n3_g_d2_3" descr="Editable line; source id n3_g_d2_3"/>
          <p:cNvCxnSpPr/>
          <p:nvPr/>
        </p:nvCxnSpPr>
        <p:spPr>
          <a:xfrm flipV="1">
            <a:off x="11271249" y="1277937"/>
            <a:ext cx="190500" cy="87312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n3_t" descr="Editable text; source id n3_t"/>
          <p:cNvSpPr txBox="1"/>
          <p:nvPr/>
        </p:nvSpPr>
        <p:spPr>
          <a:xfrm>
            <a:off x="8588374" y="1579562"/>
            <a:ext cx="3127374" cy="38893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2812"/>
              </a:lnSpc>
              <a:spcBef>
                <a:spcPts val="0"/>
              </a:spcBef>
              <a:spcAft>
                <a:spcPts val="0"/>
              </a:spcAft>
              <a:defRPr sz="1937" b="1" i="0" lang="zh-CN" dirty="0">
                <a:solidFill>
                  <a:srgbClr val="2B3E5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37" b="1" i="0" lang="zh-CN" dirty="0">
                <a:solidFill>
                  <a:srgbClr val="2B3E57"/>
                </a:solidFill>
                <a:latin typeface="Noto Sans CJK SC"/>
                <a:ea typeface="Noto Sans CJK SC"/>
                <a:cs typeface="Noto Sans CJK SC"/>
              </a:rPr>
              <a:t>相控制</a:t>
            </a:r>
          </a:p>
        </p:txBody>
      </p:sp>
      <p:cxnSp>
        <p:nvCxnSpPr>
          <p:cNvPr id="47" name="n3_r" descr="Editable line; source id n3_r"/>
          <p:cNvCxnSpPr/>
          <p:nvPr/>
        </p:nvCxnSpPr>
        <p:spPr>
          <a:xfrm>
            <a:off x="8635999" y="2063749"/>
            <a:ext cx="3032125" cy="0"/>
          </a:xfrm>
          <a:prstGeom prst="line">
            <a:avLst/>
          </a:prstGeom>
          <a:ln w="12699">
            <a:solidFill>
              <a:srgbClr val="CBD5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n3_p" descr="Editable shape; source id n3_p"/>
          <p:cNvSpPr/>
          <p:nvPr/>
        </p:nvSpPr>
        <p:spPr>
          <a:xfrm>
            <a:off x="8588374" y="2174874"/>
            <a:ext cx="3127374" cy="396874"/>
          </a:xfrm>
          <a:prstGeom prst="roundRect">
            <a:avLst>
              <a:gd name="adj" fmla="val 12000"/>
            </a:avLst>
          </a:prstGeom>
          <a:solidFill>
            <a:srgbClr val="F4F7FA"/>
          </a:solidFill>
          <a:ln w="12699">
            <a:solidFill>
              <a:srgbClr val="AEBB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n3_p_t" descr="Editable text; source id n3_p_t"/>
          <p:cNvSpPr txBox="1"/>
          <p:nvPr/>
        </p:nvSpPr>
        <p:spPr>
          <a:xfrm>
            <a:off x="8643937" y="2206624"/>
            <a:ext cx="3016249" cy="3333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2546"/>
              </a:lnSpc>
              <a:spcBef>
                <a:spcPts val="0"/>
              </a:spcBef>
              <a:spcAft>
                <a:spcPts val="0"/>
              </a:spcAft>
              <a:defRPr sz="1749" b="0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49" b="0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rPr>
              <a:t>组成</a:t>
            </a:r>
            <a:r>
              <a:rPr sz="1749" b="0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rPr>
              <a:t> · </a:t>
            </a:r>
            <a:r>
              <a:rPr sz="1749" b="0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rPr>
              <a:t>热处理</a:t>
            </a:r>
          </a:p>
        </p:txBody>
      </p:sp>
      <p:sp>
        <p:nvSpPr>
          <p:cNvPr id="50" name="n4" descr="Editable shape; source id n4"/>
          <p:cNvSpPr/>
          <p:nvPr/>
        </p:nvSpPr>
        <p:spPr>
          <a:xfrm>
            <a:off x="333374" y="4079874"/>
            <a:ext cx="3492499" cy="1904999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5081">
            <a:solidFill>
              <a:srgbClr val="1F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n4_b" descr="Editable shape; source id n4_b"/>
          <p:cNvSpPr/>
          <p:nvPr/>
        </p:nvSpPr>
        <p:spPr>
          <a:xfrm>
            <a:off x="333374" y="4079874"/>
            <a:ext cx="79374" cy="1904999"/>
          </a:xfrm>
          <a:prstGeom prst="roundRect">
            <a:avLst>
              <a:gd name="adj" fmla="val 30000"/>
            </a:avLst>
          </a:prstGeom>
          <a:solidFill>
            <a:srgbClr val="1F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n4_n" descr="Editable text; source id n4_n"/>
          <p:cNvSpPr txBox="1"/>
          <p:nvPr/>
        </p:nvSpPr>
        <p:spPr>
          <a:xfrm>
            <a:off x="555624" y="4222749"/>
            <a:ext cx="873124" cy="56356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3062"/>
              </a:lnSpc>
              <a:spcBef>
                <a:spcPts val="0"/>
              </a:spcBef>
              <a:spcAft>
                <a:spcPts val="0"/>
              </a:spcAft>
              <a:defRPr sz="2624" b="1" i="0" lang="zh-CN" dirty="0">
                <a:solidFill>
                  <a:srgbClr val="0F4F58"/>
                </a:solidFill>
                <a:latin typeface="DejaVu Sans"/>
                <a:ea typeface="DejaVu Sans"/>
                <a:cs typeface="DejaVu Sans"/>
              </a:defRPr>
            </a:pPr>
            <a:r>
              <a:rPr sz="2624" b="1" i="0" lang="zh-CN" dirty="0">
                <a:solidFill>
                  <a:srgbClr val="0F4F58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  <p:sp>
        <p:nvSpPr>
          <p:cNvPr id="53" name="n4_g_a" descr="Editable shape; source id n4_g_a"/>
          <p:cNvSpPr/>
          <p:nvPr/>
        </p:nvSpPr>
        <p:spPr>
          <a:xfrm>
            <a:off x="3357562" y="4294187"/>
            <a:ext cx="142874" cy="142874"/>
          </a:xfrm>
          <a:prstGeom prst="rect">
            <a:avLst/>
          </a:prstGeom>
          <a:noFill/>
          <a:ln w="18216">
            <a:solidFill>
              <a:srgbClr val="111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n4_g_b" descr="Editable shape; source id n4_g_b"/>
          <p:cNvSpPr/>
          <p:nvPr/>
        </p:nvSpPr>
        <p:spPr>
          <a:xfrm>
            <a:off x="3206749" y="4556124"/>
            <a:ext cx="142874" cy="142874"/>
          </a:xfrm>
          <a:prstGeom prst="rect">
            <a:avLst/>
          </a:prstGeom>
          <a:noFill/>
          <a:ln w="18216">
            <a:solidFill>
              <a:srgbClr val="111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n4_g_c" descr="Editable shape; source id n4_g_c"/>
          <p:cNvSpPr/>
          <p:nvPr/>
        </p:nvSpPr>
        <p:spPr>
          <a:xfrm>
            <a:off x="3508374" y="4556124"/>
            <a:ext cx="142874" cy="142874"/>
          </a:xfrm>
          <a:prstGeom prst="rect">
            <a:avLst/>
          </a:prstGeom>
          <a:noFill/>
          <a:ln w="18216">
            <a:solidFill>
              <a:srgbClr val="111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" name="n4_g_l" descr="Editable line; source id n4_g_l"/>
          <p:cNvCxnSpPr/>
          <p:nvPr/>
        </p:nvCxnSpPr>
        <p:spPr>
          <a:xfrm flipH="1">
            <a:off x="3278187" y="4437062"/>
            <a:ext cx="150812" cy="119062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n4_g_r" descr="Editable line; source id n4_g_r"/>
          <p:cNvCxnSpPr/>
          <p:nvPr/>
        </p:nvCxnSpPr>
        <p:spPr>
          <a:xfrm>
            <a:off x="3428999" y="4437062"/>
            <a:ext cx="150813" cy="119062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n4_t" descr="Editable text; source id n4_t"/>
          <p:cNvSpPr txBox="1"/>
          <p:nvPr/>
        </p:nvSpPr>
        <p:spPr>
          <a:xfrm>
            <a:off x="555624" y="4849812"/>
            <a:ext cx="3127374" cy="38893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2812"/>
              </a:lnSpc>
              <a:spcBef>
                <a:spcPts val="0"/>
              </a:spcBef>
              <a:spcAft>
                <a:spcPts val="0"/>
              </a:spcAft>
              <a:defRPr sz="1937" b="1" i="0" lang="zh-CN" dirty="0">
                <a:solidFill>
                  <a:srgbClr val="0F4F5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37" b="1" i="0" lang="zh-CN" dirty="0">
                <a:solidFill>
                  <a:srgbClr val="0F4F58"/>
                </a:solidFill>
                <a:latin typeface="Noto Sans CJK SC"/>
                <a:ea typeface="Noto Sans CJK SC"/>
                <a:cs typeface="Noto Sans CJK SC"/>
              </a:rPr>
              <a:t>近邻体系</a:t>
            </a:r>
          </a:p>
        </p:txBody>
      </p:sp>
      <p:cxnSp>
        <p:nvCxnSpPr>
          <p:cNvPr id="59" name="n4_r" descr="Editable line; source id n4_r"/>
          <p:cNvCxnSpPr/>
          <p:nvPr/>
        </p:nvCxnSpPr>
        <p:spPr>
          <a:xfrm>
            <a:off x="603249" y="5333999"/>
            <a:ext cx="3032125" cy="0"/>
          </a:xfrm>
          <a:prstGeom prst="line">
            <a:avLst/>
          </a:prstGeom>
          <a:ln w="12699">
            <a:solidFill>
              <a:srgbClr val="CBD5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n4_p" descr="Editable shape; source id n4_p"/>
          <p:cNvSpPr/>
          <p:nvPr/>
        </p:nvSpPr>
        <p:spPr>
          <a:xfrm>
            <a:off x="555624" y="5445124"/>
            <a:ext cx="3127374" cy="396874"/>
          </a:xfrm>
          <a:prstGeom prst="roundRect">
            <a:avLst>
              <a:gd name="adj" fmla="val 12000"/>
            </a:avLst>
          </a:prstGeom>
          <a:solidFill>
            <a:srgbClr val="F4F7FA"/>
          </a:solidFill>
          <a:ln w="12699">
            <a:solidFill>
              <a:srgbClr val="AEBB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n4_p_t" descr="Editable text; source id n4_p_t"/>
          <p:cNvSpPr txBox="1"/>
          <p:nvPr/>
        </p:nvSpPr>
        <p:spPr>
          <a:xfrm>
            <a:off x="611187" y="5476874"/>
            <a:ext cx="3016249" cy="3333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2046"/>
              </a:lnSpc>
              <a:spcBef>
                <a:spcPts val="0"/>
              </a:spcBef>
              <a:spcAft>
                <a:spcPts val="0"/>
              </a:spcAft>
              <a:defRPr sz="1749" b="0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defRPr>
            </a:pPr>
            <a:r>
              <a:rPr sz="1749" b="0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rPr>
              <a:t>Ba–Sr–Zn–Si</a:t>
            </a:r>
          </a:p>
        </p:txBody>
      </p:sp>
      <p:sp>
        <p:nvSpPr>
          <p:cNvPr id="62" name="n5" descr="Editable shape; source id n5"/>
          <p:cNvSpPr/>
          <p:nvPr/>
        </p:nvSpPr>
        <p:spPr>
          <a:xfrm>
            <a:off x="4349749" y="4079874"/>
            <a:ext cx="3492499" cy="1904999"/>
          </a:xfrm>
          <a:prstGeom prst="roundRect">
            <a:avLst>
              <a:gd name="adj" fmla="val 3750"/>
            </a:avLst>
          </a:prstGeom>
          <a:solidFill>
            <a:srgbClr val="FFFAF0"/>
          </a:solidFill>
          <a:ln w="15081">
            <a:solidFill>
              <a:srgbClr val="C48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n5_b" descr="Editable shape; source id n5_b"/>
          <p:cNvSpPr/>
          <p:nvPr/>
        </p:nvSpPr>
        <p:spPr>
          <a:xfrm>
            <a:off x="4349749" y="4079874"/>
            <a:ext cx="79374" cy="1904999"/>
          </a:xfrm>
          <a:prstGeom prst="roundRect">
            <a:avLst>
              <a:gd name="adj" fmla="val 30000"/>
            </a:avLst>
          </a:prstGeom>
          <a:solidFill>
            <a:srgbClr val="C48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n5_n" descr="Editable text; source id n5_n"/>
          <p:cNvSpPr txBox="1"/>
          <p:nvPr/>
        </p:nvSpPr>
        <p:spPr>
          <a:xfrm>
            <a:off x="4571999" y="4222749"/>
            <a:ext cx="873124" cy="56356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3062"/>
              </a:lnSpc>
              <a:spcBef>
                <a:spcPts val="0"/>
              </a:spcBef>
              <a:spcAft>
                <a:spcPts val="0"/>
              </a:spcAft>
              <a:defRPr sz="2624" b="1" i="0" lang="zh-CN" dirty="0">
                <a:solidFill>
                  <a:srgbClr val="7A5410"/>
                </a:solidFill>
                <a:latin typeface="DejaVu Sans"/>
                <a:ea typeface="DejaVu Sans"/>
                <a:cs typeface="DejaVu Sans"/>
              </a:defRPr>
            </a:pPr>
            <a:r>
              <a:rPr sz="2624" b="1" i="0" lang="zh-CN" dirty="0">
                <a:solidFill>
                  <a:srgbClr val="7A5410"/>
                </a:solidFill>
                <a:latin typeface="DejaVu Sans"/>
                <a:ea typeface="DejaVu Sans"/>
                <a:cs typeface="DejaVu Sans"/>
              </a:rPr>
              <a:t>05</a:t>
            </a:r>
          </a:p>
        </p:txBody>
      </p:sp>
      <p:cxnSp>
        <p:nvCxnSpPr>
          <p:cNvPr id="65" name="n5_g_p" descr="Editable line; source id n5_g_p"/>
          <p:cNvCxnSpPr/>
          <p:nvPr/>
        </p:nvCxnSpPr>
        <p:spPr>
          <a:xfrm>
            <a:off x="7445374" y="4317999"/>
            <a:ext cx="0" cy="325438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n5_g_b" descr="Editable line; source id n5_g_b"/>
          <p:cNvCxnSpPr/>
          <p:nvPr/>
        </p:nvCxnSpPr>
        <p:spPr>
          <a:xfrm>
            <a:off x="7270749" y="4389437"/>
            <a:ext cx="349250" cy="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n5_g_l_0" descr="Editable line; source id n5_g_l_0"/>
          <p:cNvCxnSpPr/>
          <p:nvPr/>
        </p:nvCxnSpPr>
        <p:spPr>
          <a:xfrm flipH="1">
            <a:off x="7223124" y="4389437"/>
            <a:ext cx="47625" cy="119062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n5_g_l_1" descr="Editable line; source id n5_g_l_1"/>
          <p:cNvCxnSpPr/>
          <p:nvPr/>
        </p:nvCxnSpPr>
        <p:spPr>
          <a:xfrm>
            <a:off x="7223124" y="4508499"/>
            <a:ext cx="103188" cy="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n5_g_l_2" descr="Editable line; source id n5_g_l_2"/>
          <p:cNvCxnSpPr/>
          <p:nvPr/>
        </p:nvCxnSpPr>
        <p:spPr>
          <a:xfrm flipH="1" flipV="1">
            <a:off x="7270749" y="4389437"/>
            <a:ext cx="55563" cy="119062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n5_g_r_0" descr="Editable line; source id n5_g_r_0"/>
          <p:cNvCxnSpPr/>
          <p:nvPr/>
        </p:nvCxnSpPr>
        <p:spPr>
          <a:xfrm flipH="1">
            <a:off x="7564437" y="4389437"/>
            <a:ext cx="55562" cy="119062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n5_g_r_1" descr="Editable line; source id n5_g_r_1"/>
          <p:cNvCxnSpPr/>
          <p:nvPr/>
        </p:nvCxnSpPr>
        <p:spPr>
          <a:xfrm>
            <a:off x="7564437" y="4508499"/>
            <a:ext cx="103187" cy="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n5_g_r_2" descr="Editable line; source id n5_g_r_2"/>
          <p:cNvCxnSpPr/>
          <p:nvPr/>
        </p:nvCxnSpPr>
        <p:spPr>
          <a:xfrm flipH="1" flipV="1">
            <a:off x="7619999" y="4389437"/>
            <a:ext cx="47625" cy="119062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n5_g_f" descr="Editable line; source id n5_g_f"/>
          <p:cNvCxnSpPr/>
          <p:nvPr/>
        </p:nvCxnSpPr>
        <p:spPr>
          <a:xfrm>
            <a:off x="7342187" y="4691062"/>
            <a:ext cx="206375" cy="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n5_t" descr="Editable text; source id n5_t"/>
          <p:cNvSpPr txBox="1"/>
          <p:nvPr/>
        </p:nvSpPr>
        <p:spPr>
          <a:xfrm>
            <a:off x="4571999" y="4849812"/>
            <a:ext cx="3127374" cy="38893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2812"/>
              </a:lnSpc>
              <a:spcBef>
                <a:spcPts val="0"/>
              </a:spcBef>
              <a:spcAft>
                <a:spcPts val="0"/>
              </a:spcAft>
              <a:defRPr sz="1937" b="1" i="0" lang="zh-CN" dirty="0">
                <a:solidFill>
                  <a:srgbClr val="7A541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37" b="1" i="0" lang="zh-CN" dirty="0">
                <a:solidFill>
                  <a:srgbClr val="7A5410"/>
                </a:solidFill>
                <a:latin typeface="Noto Sans CJK SC"/>
                <a:ea typeface="Noto Sans CJK SC"/>
                <a:cs typeface="Noto Sans CJK SC"/>
              </a:rPr>
              <a:t>类似物判据</a:t>
            </a:r>
          </a:p>
        </p:txBody>
      </p:sp>
      <p:cxnSp>
        <p:nvCxnSpPr>
          <p:cNvPr id="75" name="n5_r" descr="Editable line; source id n5_r"/>
          <p:cNvCxnSpPr/>
          <p:nvPr/>
        </p:nvCxnSpPr>
        <p:spPr>
          <a:xfrm>
            <a:off x="4619624" y="5333999"/>
            <a:ext cx="3032125" cy="0"/>
          </a:xfrm>
          <a:prstGeom prst="line">
            <a:avLst/>
          </a:prstGeom>
          <a:ln w="12699">
            <a:solidFill>
              <a:srgbClr val="CBD5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n5_p" descr="Editable shape; source id n5_p"/>
          <p:cNvSpPr/>
          <p:nvPr/>
        </p:nvSpPr>
        <p:spPr>
          <a:xfrm>
            <a:off x="4571999" y="5445124"/>
            <a:ext cx="3127374" cy="396874"/>
          </a:xfrm>
          <a:prstGeom prst="roundRect">
            <a:avLst>
              <a:gd name="adj" fmla="val 12000"/>
            </a:avLst>
          </a:prstGeom>
          <a:solidFill>
            <a:srgbClr val="F4F7FA"/>
          </a:solidFill>
          <a:ln w="12699">
            <a:solidFill>
              <a:srgbClr val="AEBB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n5_p_t" descr="Editable text; source id n5_p_t"/>
          <p:cNvSpPr txBox="1"/>
          <p:nvPr/>
        </p:nvSpPr>
        <p:spPr>
          <a:xfrm>
            <a:off x="4627562" y="5476874"/>
            <a:ext cx="3016249" cy="3333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2046"/>
              </a:lnSpc>
              <a:spcBef>
                <a:spcPts val="0"/>
              </a:spcBef>
              <a:spcAft>
                <a:spcPts val="0"/>
              </a:spcAft>
              <a:defRPr sz="1749" b="0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defRPr>
            </a:pPr>
            <a:r>
              <a:rPr sz="1749" b="0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rPr>
              <a:t>Ba5Y12Zn[O(SiO4)]8</a:t>
            </a:r>
          </a:p>
        </p:txBody>
      </p:sp>
      <p:sp>
        <p:nvSpPr>
          <p:cNvPr id="78" name="n6" descr="Editable shape; source id n6"/>
          <p:cNvSpPr/>
          <p:nvPr/>
        </p:nvSpPr>
        <p:spPr>
          <a:xfrm>
            <a:off x="8366124" y="4079874"/>
            <a:ext cx="3492499" cy="1904999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5081">
            <a:solidFill>
              <a:srgbClr val="1F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n6_b" descr="Editable shape; source id n6_b"/>
          <p:cNvSpPr/>
          <p:nvPr/>
        </p:nvSpPr>
        <p:spPr>
          <a:xfrm>
            <a:off x="8366124" y="4079874"/>
            <a:ext cx="79374" cy="1904999"/>
          </a:xfrm>
          <a:prstGeom prst="roundRect">
            <a:avLst>
              <a:gd name="adj" fmla="val 30000"/>
            </a:avLst>
          </a:prstGeom>
          <a:solidFill>
            <a:srgbClr val="1F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n6_n" descr="Editable text; source id n6_n"/>
          <p:cNvSpPr txBox="1"/>
          <p:nvPr/>
        </p:nvSpPr>
        <p:spPr>
          <a:xfrm>
            <a:off x="8588374" y="4222749"/>
            <a:ext cx="873124" cy="56356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3062"/>
              </a:lnSpc>
              <a:spcBef>
                <a:spcPts val="0"/>
              </a:spcBef>
              <a:spcAft>
                <a:spcPts val="0"/>
              </a:spcAft>
              <a:defRPr sz="2624" b="1" i="0" lang="zh-CN" dirty="0">
                <a:solidFill>
                  <a:srgbClr val="0F4F58"/>
                </a:solidFill>
                <a:latin typeface="DejaVu Sans"/>
                <a:ea typeface="DejaVu Sans"/>
                <a:cs typeface="DejaVu Sans"/>
              </a:defRPr>
            </a:pPr>
            <a:r>
              <a:rPr sz="2624" b="1" i="0" lang="zh-CN" dirty="0">
                <a:solidFill>
                  <a:srgbClr val="0F4F58"/>
                </a:solidFill>
                <a:latin typeface="DejaVu Sans"/>
                <a:ea typeface="DejaVu Sans"/>
                <a:cs typeface="DejaVu Sans"/>
              </a:rPr>
              <a:t>06</a:t>
            </a:r>
          </a:p>
        </p:txBody>
      </p:sp>
      <p:sp>
        <p:nvSpPr>
          <p:cNvPr id="81" name="n6_g_b0" descr="Editable shape; source id n6_g_b0"/>
          <p:cNvSpPr/>
          <p:nvPr/>
        </p:nvSpPr>
        <p:spPr>
          <a:xfrm>
            <a:off x="11271249" y="4349749"/>
            <a:ext cx="103187" cy="103187"/>
          </a:xfrm>
          <a:prstGeom prst="rect">
            <a:avLst/>
          </a:prstGeom>
          <a:noFill/>
          <a:ln w="18216">
            <a:solidFill>
              <a:srgbClr val="111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2" name="n6_g_l0" descr="Editable line; source id n6_g_l0"/>
          <p:cNvCxnSpPr/>
          <p:nvPr/>
        </p:nvCxnSpPr>
        <p:spPr>
          <a:xfrm>
            <a:off x="11429999" y="4405312"/>
            <a:ext cx="238125" cy="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n6_g_k0_0" descr="Editable line; source id n6_g_k0_0"/>
          <p:cNvCxnSpPr/>
          <p:nvPr/>
        </p:nvCxnSpPr>
        <p:spPr>
          <a:xfrm>
            <a:off x="11287124" y="4405312"/>
            <a:ext cx="23813" cy="3175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n6_g_k0_1" descr="Editable line; source id n6_g_k0_1"/>
          <p:cNvCxnSpPr/>
          <p:nvPr/>
        </p:nvCxnSpPr>
        <p:spPr>
          <a:xfrm flipV="1">
            <a:off x="11310937" y="4373562"/>
            <a:ext cx="47625" cy="6350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n6_g_b1" descr="Editable shape; source id n6_g_b1"/>
          <p:cNvSpPr/>
          <p:nvPr/>
        </p:nvSpPr>
        <p:spPr>
          <a:xfrm>
            <a:off x="11271249" y="4484687"/>
            <a:ext cx="103187" cy="103187"/>
          </a:xfrm>
          <a:prstGeom prst="rect">
            <a:avLst/>
          </a:prstGeom>
          <a:noFill/>
          <a:ln w="18216">
            <a:solidFill>
              <a:srgbClr val="111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6" name="n6_g_l1" descr="Editable line; source id n6_g_l1"/>
          <p:cNvCxnSpPr/>
          <p:nvPr/>
        </p:nvCxnSpPr>
        <p:spPr>
          <a:xfrm>
            <a:off x="11429999" y="4532312"/>
            <a:ext cx="238125" cy="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n6_g_k1_0" descr="Editable line; source id n6_g_k1_0"/>
          <p:cNvCxnSpPr/>
          <p:nvPr/>
        </p:nvCxnSpPr>
        <p:spPr>
          <a:xfrm>
            <a:off x="11287124" y="4540249"/>
            <a:ext cx="23813" cy="23813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n6_g_k1_1" descr="Editable line; source id n6_g_k1_1"/>
          <p:cNvCxnSpPr/>
          <p:nvPr/>
        </p:nvCxnSpPr>
        <p:spPr>
          <a:xfrm flipV="1">
            <a:off x="11310937" y="4508499"/>
            <a:ext cx="47625" cy="55563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n6_g_b2" descr="Editable shape; source id n6_g_b2"/>
          <p:cNvSpPr/>
          <p:nvPr/>
        </p:nvSpPr>
        <p:spPr>
          <a:xfrm>
            <a:off x="11271249" y="4619624"/>
            <a:ext cx="103187" cy="103187"/>
          </a:xfrm>
          <a:prstGeom prst="rect">
            <a:avLst/>
          </a:prstGeom>
          <a:noFill/>
          <a:ln w="18216">
            <a:solidFill>
              <a:srgbClr val="111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0" name="n6_g_l2" descr="Editable line; source id n6_g_l2"/>
          <p:cNvCxnSpPr/>
          <p:nvPr/>
        </p:nvCxnSpPr>
        <p:spPr>
          <a:xfrm>
            <a:off x="11429999" y="4667249"/>
            <a:ext cx="238125" cy="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n6_t" descr="Editable text; source id n6_t"/>
          <p:cNvSpPr txBox="1"/>
          <p:nvPr/>
        </p:nvSpPr>
        <p:spPr>
          <a:xfrm>
            <a:off x="8588374" y="4849812"/>
            <a:ext cx="3127374" cy="38893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2812"/>
              </a:lnSpc>
              <a:spcBef>
                <a:spcPts val="0"/>
              </a:spcBef>
              <a:spcAft>
                <a:spcPts val="0"/>
              </a:spcAft>
              <a:defRPr sz="1937" b="1" i="0" lang="zh-CN" dirty="0">
                <a:solidFill>
                  <a:srgbClr val="0F4F5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37" b="1" i="0" lang="zh-CN" dirty="0">
                <a:solidFill>
                  <a:srgbClr val="0F4F58"/>
                </a:solidFill>
                <a:latin typeface="Noto Sans CJK SC"/>
                <a:ea typeface="Noto Sans CJK SC"/>
                <a:cs typeface="Noto Sans CJK SC"/>
              </a:rPr>
              <a:t>实验优先级</a:t>
            </a:r>
          </a:p>
        </p:txBody>
      </p:sp>
      <p:cxnSp>
        <p:nvCxnSpPr>
          <p:cNvPr id="92" name="n6_r" descr="Editable line; source id n6_r"/>
          <p:cNvCxnSpPr/>
          <p:nvPr/>
        </p:nvCxnSpPr>
        <p:spPr>
          <a:xfrm>
            <a:off x="8635999" y="5333999"/>
            <a:ext cx="3032125" cy="0"/>
          </a:xfrm>
          <a:prstGeom prst="line">
            <a:avLst/>
          </a:prstGeom>
          <a:ln w="12699">
            <a:solidFill>
              <a:srgbClr val="CBD5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n6_p" descr="Editable shape; source id n6_p"/>
          <p:cNvSpPr/>
          <p:nvPr/>
        </p:nvSpPr>
        <p:spPr>
          <a:xfrm>
            <a:off x="8588374" y="5445124"/>
            <a:ext cx="3127374" cy="396874"/>
          </a:xfrm>
          <a:prstGeom prst="roundRect">
            <a:avLst>
              <a:gd name="adj" fmla="val 12000"/>
            </a:avLst>
          </a:prstGeom>
          <a:solidFill>
            <a:srgbClr val="F4F7FA"/>
          </a:solidFill>
          <a:ln w="12699">
            <a:solidFill>
              <a:srgbClr val="AEBB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n6_p_t" descr="Editable text; source id n6_p_t"/>
          <p:cNvSpPr txBox="1"/>
          <p:nvPr/>
        </p:nvSpPr>
        <p:spPr>
          <a:xfrm>
            <a:off x="8643937" y="5476874"/>
            <a:ext cx="3016249" cy="3333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2546"/>
              </a:lnSpc>
              <a:spcBef>
                <a:spcPts val="0"/>
              </a:spcBef>
              <a:spcAft>
                <a:spcPts val="0"/>
              </a:spcAft>
              <a:defRPr sz="1749" b="0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49" b="0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rPr>
              <a:t>相图</a:t>
            </a:r>
            <a:r>
              <a:rPr sz="1749" b="0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rPr>
              <a:t> · </a:t>
            </a:r>
            <a:r>
              <a:rPr sz="1749" b="0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rPr>
              <a:t>结构</a:t>
            </a:r>
            <a:r>
              <a:rPr sz="1749" b="0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rPr>
              <a:t> · </a:t>
            </a:r>
            <a:r>
              <a:rPr sz="1749" b="0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rPr>
              <a:t>热力学</a:t>
            </a:r>
          </a:p>
        </p:txBody>
      </p:sp>
      <p:sp>
        <p:nvSpPr>
          <p:cNvPr id="95" name="e0_0" descr="Editable line; source id e0_0"/>
          <p:cNvSpPr/>
          <p:nvPr/>
        </p:nvSpPr>
        <p:spPr>
          <a:xfrm>
            <a:off x="3873500" y="1714500"/>
            <a:ext cx="428625" cy="95250"/>
          </a:xfrm>
          <a:custGeom>
            <a:avLst/>
            <a:gdLst/>
            <a:ahLst/>
            <a:cxnLst/>
            <a:rect l="l" t="t" r="r" b="b"/>
            <a:pathLst>
              <a:path w="54000" h="12000">
                <a:moveTo>
                  <a:pt x="0" y="4750"/>
                </a:moveTo>
                <a:lnTo>
                  <a:pt x="39000" y="4750"/>
                </a:lnTo>
                <a:lnTo>
                  <a:pt x="39000" y="0"/>
                </a:lnTo>
                <a:lnTo>
                  <a:pt x="54000" y="6000"/>
                </a:lnTo>
                <a:lnTo>
                  <a:pt x="39000" y="12000"/>
                </a:lnTo>
                <a:lnTo>
                  <a:pt x="39000" y="7250"/>
                </a:lnTo>
                <a:lnTo>
                  <a:pt x="0" y="7250"/>
                </a:lnTo>
                <a:close/>
              </a:path>
            </a:pathLst>
          </a:custGeom>
          <a:solidFill>
            <a:srgbClr val="3C47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e0_p" descr="Editable shape; source id e0_p"/>
          <p:cNvSpPr/>
          <p:nvPr/>
        </p:nvSpPr>
        <p:spPr>
          <a:xfrm>
            <a:off x="3532187" y="301624"/>
            <a:ext cx="1111249" cy="40481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699">
            <a:solidFill>
              <a:srgbClr val="CBD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e0_p_t" descr="Editable text; source id e0_p_t"/>
          <p:cNvSpPr txBox="1"/>
          <p:nvPr/>
        </p:nvSpPr>
        <p:spPr>
          <a:xfrm>
            <a:off x="3611562" y="333374"/>
            <a:ext cx="952499" cy="34131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2359"/>
              </a:lnSpc>
              <a:spcBef>
                <a:spcPts val="0"/>
              </a:spcBef>
              <a:spcAft>
                <a:spcPts val="0"/>
              </a:spcAft>
              <a:defRPr sz="1624" b="0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24" b="0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rPr>
              <a:t>结构约束</a:t>
            </a:r>
          </a:p>
        </p:txBody>
      </p:sp>
      <p:sp>
        <p:nvSpPr>
          <p:cNvPr id="98" name="e1_0" descr="Editable line; source id e1_0"/>
          <p:cNvSpPr/>
          <p:nvPr/>
        </p:nvSpPr>
        <p:spPr>
          <a:xfrm>
            <a:off x="7889875" y="1714500"/>
            <a:ext cx="428625" cy="95250"/>
          </a:xfrm>
          <a:custGeom>
            <a:avLst/>
            <a:gdLst/>
            <a:ahLst/>
            <a:cxnLst/>
            <a:rect l="l" t="t" r="r" b="b"/>
            <a:pathLst>
              <a:path w="54000" h="12000">
                <a:moveTo>
                  <a:pt x="0" y="4750"/>
                </a:moveTo>
                <a:lnTo>
                  <a:pt x="39000" y="4750"/>
                </a:lnTo>
                <a:lnTo>
                  <a:pt x="39000" y="0"/>
                </a:lnTo>
                <a:lnTo>
                  <a:pt x="54000" y="6000"/>
                </a:lnTo>
                <a:lnTo>
                  <a:pt x="39000" y="12000"/>
                </a:lnTo>
                <a:lnTo>
                  <a:pt x="39000" y="7250"/>
                </a:lnTo>
                <a:lnTo>
                  <a:pt x="0" y="7250"/>
                </a:lnTo>
                <a:close/>
              </a:path>
            </a:pathLst>
          </a:custGeom>
          <a:solidFill>
            <a:srgbClr val="3C47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e1_p" descr="Editable shape; source id e1_p"/>
          <p:cNvSpPr/>
          <p:nvPr/>
        </p:nvSpPr>
        <p:spPr>
          <a:xfrm>
            <a:off x="7548562" y="301624"/>
            <a:ext cx="1111249" cy="40481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699">
            <a:solidFill>
              <a:srgbClr val="CBD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e1_p_t" descr="Editable text; source id e1_p_t"/>
          <p:cNvSpPr txBox="1"/>
          <p:nvPr/>
        </p:nvSpPr>
        <p:spPr>
          <a:xfrm>
            <a:off x="7627937" y="333374"/>
            <a:ext cx="952499" cy="34131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2359"/>
              </a:lnSpc>
              <a:spcBef>
                <a:spcPts val="0"/>
              </a:spcBef>
              <a:spcAft>
                <a:spcPts val="0"/>
              </a:spcAft>
              <a:defRPr sz="1624" b="0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24" b="0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rPr>
              <a:t>条件窗口</a:t>
            </a:r>
          </a:p>
        </p:txBody>
      </p:sp>
      <p:sp>
        <p:nvSpPr>
          <p:cNvPr id="101" name="e3_0" descr="Editable line; source id e3_0"/>
          <p:cNvSpPr/>
          <p:nvPr/>
        </p:nvSpPr>
        <p:spPr>
          <a:xfrm>
            <a:off x="3873500" y="4984750"/>
            <a:ext cx="428625" cy="95250"/>
          </a:xfrm>
          <a:custGeom>
            <a:avLst/>
            <a:gdLst/>
            <a:ahLst/>
            <a:cxnLst/>
            <a:rect l="l" t="t" r="r" b="b"/>
            <a:pathLst>
              <a:path w="54000" h="12000">
                <a:moveTo>
                  <a:pt x="0" y="4750"/>
                </a:moveTo>
                <a:lnTo>
                  <a:pt x="39000" y="4750"/>
                </a:lnTo>
                <a:lnTo>
                  <a:pt x="39000" y="0"/>
                </a:lnTo>
                <a:lnTo>
                  <a:pt x="54000" y="6000"/>
                </a:lnTo>
                <a:lnTo>
                  <a:pt x="39000" y="12000"/>
                </a:lnTo>
                <a:lnTo>
                  <a:pt x="39000" y="7250"/>
                </a:lnTo>
                <a:lnTo>
                  <a:pt x="0" y="7250"/>
                </a:lnTo>
                <a:close/>
              </a:path>
            </a:pathLst>
          </a:custGeom>
          <a:solidFill>
            <a:srgbClr val="3C47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e3_p" descr="Editable shape; source id e3_p"/>
          <p:cNvSpPr/>
          <p:nvPr/>
        </p:nvSpPr>
        <p:spPr>
          <a:xfrm>
            <a:off x="3532187" y="3571874"/>
            <a:ext cx="1111249" cy="40481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699">
            <a:solidFill>
              <a:srgbClr val="CBD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e3_p_t" descr="Editable text; source id e3_p_t"/>
          <p:cNvSpPr txBox="1"/>
          <p:nvPr/>
        </p:nvSpPr>
        <p:spPr>
          <a:xfrm>
            <a:off x="3611562" y="3603624"/>
            <a:ext cx="952499" cy="34131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2359"/>
              </a:lnSpc>
              <a:spcBef>
                <a:spcPts val="0"/>
              </a:spcBef>
              <a:spcAft>
                <a:spcPts val="0"/>
              </a:spcAft>
              <a:defRPr sz="1624" b="0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24" b="0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rPr>
              <a:t>比较边界</a:t>
            </a:r>
          </a:p>
        </p:txBody>
      </p:sp>
      <p:sp>
        <p:nvSpPr>
          <p:cNvPr id="104" name="e4_0" descr="Editable line; source id e4_0"/>
          <p:cNvSpPr/>
          <p:nvPr/>
        </p:nvSpPr>
        <p:spPr>
          <a:xfrm>
            <a:off x="7889875" y="4984750"/>
            <a:ext cx="428625" cy="95250"/>
          </a:xfrm>
          <a:custGeom>
            <a:avLst/>
            <a:gdLst/>
            <a:ahLst/>
            <a:cxnLst/>
            <a:rect l="l" t="t" r="r" b="b"/>
            <a:pathLst>
              <a:path w="54000" h="12000">
                <a:moveTo>
                  <a:pt x="0" y="4750"/>
                </a:moveTo>
                <a:lnTo>
                  <a:pt x="39000" y="4750"/>
                </a:lnTo>
                <a:lnTo>
                  <a:pt x="39000" y="0"/>
                </a:lnTo>
                <a:lnTo>
                  <a:pt x="54000" y="6000"/>
                </a:lnTo>
                <a:lnTo>
                  <a:pt x="39000" y="12000"/>
                </a:lnTo>
                <a:lnTo>
                  <a:pt x="39000" y="7250"/>
                </a:lnTo>
                <a:lnTo>
                  <a:pt x="0" y="7250"/>
                </a:lnTo>
                <a:close/>
              </a:path>
            </a:pathLst>
          </a:custGeom>
          <a:solidFill>
            <a:srgbClr val="3C47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e4_p" descr="Editable shape; source id e4_p"/>
          <p:cNvSpPr/>
          <p:nvPr/>
        </p:nvSpPr>
        <p:spPr>
          <a:xfrm>
            <a:off x="7548562" y="3571874"/>
            <a:ext cx="1111249" cy="40481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699">
            <a:solidFill>
              <a:srgbClr val="CBD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e4_p_t" descr="Editable text; source id e4_p_t"/>
          <p:cNvSpPr txBox="1"/>
          <p:nvPr/>
        </p:nvSpPr>
        <p:spPr>
          <a:xfrm>
            <a:off x="7627937" y="3603624"/>
            <a:ext cx="952499" cy="34131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2359"/>
              </a:lnSpc>
              <a:spcBef>
                <a:spcPts val="0"/>
              </a:spcBef>
              <a:spcAft>
                <a:spcPts val="0"/>
              </a:spcAft>
              <a:defRPr sz="1624" b="0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24" b="0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rPr>
              <a:t>缺口驱动</a:t>
            </a:r>
          </a:p>
        </p:txBody>
      </p:sp>
      <p:cxnSp>
        <p:nvCxnSpPr>
          <p:cNvPr id="107" name="e2_0" descr="Editable line; source id e2_0"/>
          <p:cNvCxnSpPr/>
          <p:nvPr/>
        </p:nvCxnSpPr>
        <p:spPr>
          <a:xfrm>
            <a:off x="10112374" y="2746374"/>
            <a:ext cx="0" cy="420688"/>
          </a:xfrm>
          <a:prstGeom prst="line">
            <a:avLst/>
          </a:prstGeom>
          <a:ln w="19843">
            <a:solidFill>
              <a:srgbClr val="3C475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e2_1" descr="Editable line; source id e2_1"/>
          <p:cNvCxnSpPr/>
          <p:nvPr/>
        </p:nvCxnSpPr>
        <p:spPr>
          <a:xfrm flipH="1">
            <a:off x="2079624" y="3167062"/>
            <a:ext cx="8032750" cy="0"/>
          </a:xfrm>
          <a:prstGeom prst="line">
            <a:avLst/>
          </a:prstGeom>
          <a:ln w="19843">
            <a:solidFill>
              <a:srgbClr val="3C475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e2_2" descr="Editable line; source id e2_2"/>
          <p:cNvSpPr/>
          <p:nvPr/>
        </p:nvSpPr>
        <p:spPr>
          <a:xfrm>
            <a:off x="2032000" y="3167062"/>
            <a:ext cx="95250" cy="881062"/>
          </a:xfrm>
          <a:custGeom>
            <a:avLst/>
            <a:gdLst/>
            <a:ahLst/>
            <a:cxnLst/>
            <a:rect l="l" t="t" r="r" b="b"/>
            <a:pathLst>
              <a:path w="12000" h="111000">
                <a:moveTo>
                  <a:pt x="7250" y="0"/>
                </a:moveTo>
                <a:lnTo>
                  <a:pt x="7250" y="96000"/>
                </a:lnTo>
                <a:lnTo>
                  <a:pt x="12000" y="96000"/>
                </a:lnTo>
                <a:lnTo>
                  <a:pt x="6000" y="111000"/>
                </a:lnTo>
                <a:lnTo>
                  <a:pt x="0" y="96000"/>
                </a:lnTo>
                <a:lnTo>
                  <a:pt x="4750" y="96000"/>
                </a:lnTo>
                <a:lnTo>
                  <a:pt x="4750" y="0"/>
                </a:lnTo>
                <a:close/>
              </a:path>
            </a:pathLst>
          </a:custGeom>
          <a:solidFill>
            <a:srgbClr val="3C47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e2_p" descr="Editable shape; source id e2_p"/>
          <p:cNvSpPr/>
          <p:nvPr/>
        </p:nvSpPr>
        <p:spPr>
          <a:xfrm>
            <a:off x="5437187" y="2968624"/>
            <a:ext cx="1317624" cy="40481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699">
            <a:solidFill>
              <a:srgbClr val="CBD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e2_p_t" descr="Editable text; source id e2_p_t"/>
          <p:cNvSpPr txBox="1"/>
          <p:nvPr/>
        </p:nvSpPr>
        <p:spPr>
          <a:xfrm>
            <a:off x="5516562" y="3000374"/>
            <a:ext cx="1158874" cy="34131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2359"/>
              </a:lnSpc>
              <a:spcBef>
                <a:spcPts val="0"/>
              </a:spcBef>
              <a:spcAft>
                <a:spcPts val="0"/>
              </a:spcAft>
              <a:defRPr sz="1624" b="0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24" b="0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rPr>
              <a:t>可迁移变量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Editable reconstruction</dc:title>
  <dc:subject>Reconstructed from source images; see validation and font manifest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