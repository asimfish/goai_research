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714374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BaZn2Si2O7 本文的行文路线图（第五轮 F02 → super_img2ppt 重建；3+3 两行，印刷可读优先）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A" descr="Editable shape; source id zA"/>
          <p:cNvSpPr/>
          <p:nvPr/>
        </p:nvSpPr>
        <p:spPr>
          <a:xfrm>
            <a:off x="238124" y="317499"/>
            <a:ext cx="11715749" cy="3032124"/>
          </a:xfrm>
          <a:prstGeom prst="roundRect">
            <a:avLst>
              <a:gd name="adj" fmla="val 3664"/>
            </a:avLst>
          </a:prstGeom>
          <a:solidFill>
            <a:srgbClr val="EEF2F7"/>
          </a:solidFill>
          <a:ln w="12699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A_l" descr="Editable text; source id zA_l"/>
          <p:cNvSpPr txBox="1"/>
          <p:nvPr/>
        </p:nvSpPr>
        <p:spPr>
          <a:xfrm>
            <a:off x="380999" y="396874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文献证据</a:t>
            </a:r>
          </a:p>
        </p:txBody>
      </p:sp>
      <p:sp>
        <p:nvSpPr>
          <p:cNvPr id="4" name="zB" descr="Editable shape; source id zB"/>
          <p:cNvSpPr/>
          <p:nvPr/>
        </p:nvSpPr>
        <p:spPr>
          <a:xfrm>
            <a:off x="238124" y="3730624"/>
            <a:ext cx="11715749" cy="3095624"/>
          </a:xfrm>
          <a:prstGeom prst="roundRect">
            <a:avLst>
              <a:gd name="adj" fmla="val 3589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B_l" descr="Editable text; source id zB_l"/>
          <p:cNvSpPr txBox="1"/>
          <p:nvPr/>
        </p:nvSpPr>
        <p:spPr>
          <a:xfrm>
            <a:off x="380999" y="3809999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实验方法</a:t>
            </a:r>
          </a:p>
        </p:txBody>
      </p:sp>
      <p:sp>
        <p:nvSpPr>
          <p:cNvPr id="6" name="n1" descr="Editable shape; source id n1"/>
          <p:cNvSpPr/>
          <p:nvPr/>
        </p:nvSpPr>
        <p:spPr>
          <a:xfrm>
            <a:off x="555624" y="888999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1_b" descr="Editable shape; source id n1_b"/>
          <p:cNvSpPr/>
          <p:nvPr/>
        </p:nvSpPr>
        <p:spPr>
          <a:xfrm>
            <a:off x="555624" y="888999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1_n" descr="Editable text; source id n1_n"/>
          <p:cNvSpPr txBox="1"/>
          <p:nvPr/>
        </p:nvSpPr>
        <p:spPr>
          <a:xfrm>
            <a:off x="777874" y="1031874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cxnSp>
        <p:nvCxnSpPr>
          <p:cNvPr id="9" name="n1_g_o_0" descr="Editable line; source id n1_g_o_0"/>
          <p:cNvCxnSpPr/>
          <p:nvPr/>
        </p:nvCxnSpPr>
        <p:spPr>
          <a:xfrm>
            <a:off x="3238499" y="1055687"/>
            <a:ext cx="293688" cy="19050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n1_g_o_1" descr="Editable line; source id n1_g_o_1"/>
          <p:cNvCxnSpPr/>
          <p:nvPr/>
        </p:nvCxnSpPr>
        <p:spPr>
          <a:xfrm flipH="1">
            <a:off x="3397249" y="1246187"/>
            <a:ext cx="134938" cy="396875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n1_g_o_2" descr="Editable line; source id n1_g_o_2"/>
          <p:cNvCxnSpPr/>
          <p:nvPr/>
        </p:nvCxnSpPr>
        <p:spPr>
          <a:xfrm flipH="1">
            <a:off x="3079749" y="1643062"/>
            <a:ext cx="317500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n1_g_o_3" descr="Editable line; source id n1_g_o_3"/>
          <p:cNvCxnSpPr/>
          <p:nvPr/>
        </p:nvCxnSpPr>
        <p:spPr>
          <a:xfrm flipH="1" flipV="1">
            <a:off x="2944812" y="1246187"/>
            <a:ext cx="134937" cy="396875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n1_g_o_4" descr="Editable line; source id n1_g_o_4"/>
          <p:cNvCxnSpPr/>
          <p:nvPr/>
        </p:nvCxnSpPr>
        <p:spPr>
          <a:xfrm flipV="1">
            <a:off x="2944812" y="1055687"/>
            <a:ext cx="293687" cy="19050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n1_g_a" descr="Editable line; source id n1_g_a"/>
          <p:cNvCxnSpPr/>
          <p:nvPr/>
        </p:nvCxnSpPr>
        <p:spPr>
          <a:xfrm>
            <a:off x="3238499" y="1055687"/>
            <a:ext cx="0" cy="587375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n1_g_b" descr="Editable line; source id n1_g_b"/>
          <p:cNvCxnSpPr/>
          <p:nvPr/>
        </p:nvCxnSpPr>
        <p:spPr>
          <a:xfrm>
            <a:off x="2944812" y="1246187"/>
            <a:ext cx="587375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n1_t" descr="Editable text; source id n1_t"/>
          <p:cNvSpPr txBox="1"/>
          <p:nvPr/>
        </p:nvSpPr>
        <p:spPr>
          <a:xfrm>
            <a:off x="777874" y="1809749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结构基础</a:t>
            </a:r>
          </a:p>
        </p:txBody>
      </p:sp>
      <p:cxnSp>
        <p:nvCxnSpPr>
          <p:cNvPr id="17" name="n1_r" descr="Editable line; source id n1_r"/>
          <p:cNvCxnSpPr/>
          <p:nvPr/>
        </p:nvCxnSpPr>
        <p:spPr>
          <a:xfrm>
            <a:off x="825499" y="2262187"/>
            <a:ext cx="2873375" cy="0"/>
          </a:xfrm>
          <a:prstGeom prst="line">
            <a:avLst/>
          </a:prstGeom>
          <a:ln w="12699">
            <a:solidFill>
              <a:srgbClr val="CBD5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n1_p" descr="Editable shape; source id n1_p"/>
          <p:cNvSpPr/>
          <p:nvPr/>
        </p:nvSpPr>
        <p:spPr>
          <a:xfrm>
            <a:off x="777874" y="2666999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n1_p_t" descr="Editable text; source id n1_p_t"/>
          <p:cNvSpPr txBox="1"/>
          <p:nvPr/>
        </p:nvSpPr>
        <p:spPr>
          <a:xfrm>
            <a:off x="833437" y="2698749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18"/>
              </a:lnSpc>
              <a:spcBef>
                <a:spcPts val="0"/>
              </a:spcBef>
              <a:spcAft>
                <a:spcPts val="0"/>
              </a:spcAft>
              <a:defRPr sz="1185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5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低温与高温多晶型</a:t>
            </a:r>
          </a:p>
        </p:txBody>
      </p:sp>
      <p:sp>
        <p:nvSpPr>
          <p:cNvPr id="20" name="n2" descr="Editable shape; source id n2"/>
          <p:cNvSpPr/>
          <p:nvPr/>
        </p:nvSpPr>
        <p:spPr>
          <a:xfrm>
            <a:off x="4524374" y="888999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2_b" descr="Editable shape; source id n2_b"/>
          <p:cNvSpPr/>
          <p:nvPr/>
        </p:nvSpPr>
        <p:spPr>
          <a:xfrm>
            <a:off x="4524374" y="888999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n2_n" descr="Editable text; source id n2_n"/>
          <p:cNvSpPr txBox="1"/>
          <p:nvPr/>
        </p:nvSpPr>
        <p:spPr>
          <a:xfrm>
            <a:off x="4746624" y="1031874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cxnSp>
        <p:nvCxnSpPr>
          <p:cNvPr id="23" name="n2_g_b_0" descr="Editable line; source id n2_g_b_0"/>
          <p:cNvCxnSpPr/>
          <p:nvPr/>
        </p:nvCxnSpPr>
        <p:spPr>
          <a:xfrm>
            <a:off x="7000874" y="1222374"/>
            <a:ext cx="71438" cy="388938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n2_g_b_1" descr="Editable line; source id n2_g_b_1"/>
          <p:cNvCxnSpPr/>
          <p:nvPr/>
        </p:nvCxnSpPr>
        <p:spPr>
          <a:xfrm>
            <a:off x="7072312" y="1611312"/>
            <a:ext cx="269875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n2_g_b_2" descr="Editable line; source id n2_g_b_2"/>
          <p:cNvCxnSpPr/>
          <p:nvPr/>
        </p:nvCxnSpPr>
        <p:spPr>
          <a:xfrm flipV="1">
            <a:off x="7342187" y="1222374"/>
            <a:ext cx="71437" cy="388938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n2_g_r" descr="Editable line; source id n2_g_r"/>
          <p:cNvCxnSpPr/>
          <p:nvPr/>
        </p:nvCxnSpPr>
        <p:spPr>
          <a:xfrm>
            <a:off x="6961187" y="1222374"/>
            <a:ext cx="492125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n2_t" descr="Editable text; source id n2_t"/>
          <p:cNvSpPr txBox="1"/>
          <p:nvPr/>
        </p:nvSpPr>
        <p:spPr>
          <a:xfrm>
            <a:off x="4746624" y="1809749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合成路线</a:t>
            </a:r>
          </a:p>
        </p:txBody>
      </p:sp>
      <p:cxnSp>
        <p:nvCxnSpPr>
          <p:cNvPr id="28" name="n2_r" descr="Editable line; source id n2_r"/>
          <p:cNvCxnSpPr/>
          <p:nvPr/>
        </p:nvCxnSpPr>
        <p:spPr>
          <a:xfrm>
            <a:off x="4794249" y="2262187"/>
            <a:ext cx="2873375" cy="0"/>
          </a:xfrm>
          <a:prstGeom prst="line">
            <a:avLst/>
          </a:prstGeom>
          <a:ln w="12699">
            <a:solidFill>
              <a:srgbClr val="CBD5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n2_p" descr="Editable shape; source id n2_p"/>
          <p:cNvSpPr/>
          <p:nvPr/>
        </p:nvSpPr>
        <p:spPr>
          <a:xfrm>
            <a:off x="4746624" y="2666999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n2_p_t" descr="Editable text; source id n2_p_t"/>
          <p:cNvSpPr txBox="1"/>
          <p:nvPr/>
        </p:nvSpPr>
        <p:spPr>
          <a:xfrm>
            <a:off x="4802187" y="2698749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18"/>
              </a:lnSpc>
              <a:spcBef>
                <a:spcPts val="0"/>
              </a:spcBef>
              <a:spcAft>
                <a:spcPts val="0"/>
              </a:spcAft>
              <a:defRPr sz="1185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5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固相</a:t>
            </a:r>
            <a:r>
              <a:rPr sz="1185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85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溶胶</a:t>
            </a:r>
            <a:r>
              <a:rPr sz="1185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185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凝胶</a:t>
            </a:r>
          </a:p>
        </p:txBody>
      </p:sp>
      <p:sp>
        <p:nvSpPr>
          <p:cNvPr id="31" name="n3" descr="Editable shape; source id n3"/>
          <p:cNvSpPr/>
          <p:nvPr/>
        </p:nvSpPr>
        <p:spPr>
          <a:xfrm>
            <a:off x="8493124" y="888999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n3_b" descr="Editable shape; source id n3_b"/>
          <p:cNvSpPr/>
          <p:nvPr/>
        </p:nvSpPr>
        <p:spPr>
          <a:xfrm>
            <a:off x="8493124" y="888999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n3_n" descr="Editable text; source id n3_n"/>
          <p:cNvSpPr txBox="1"/>
          <p:nvPr/>
        </p:nvSpPr>
        <p:spPr>
          <a:xfrm>
            <a:off x="8715374" y="1031874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cxnSp>
        <p:nvCxnSpPr>
          <p:cNvPr id="34" name="n3_g_d0_0" descr="Editable line; source id n3_g_d0_0"/>
          <p:cNvCxnSpPr/>
          <p:nvPr/>
        </p:nvCxnSpPr>
        <p:spPr>
          <a:xfrm>
            <a:off x="11175999" y="1103312"/>
            <a:ext cx="277813" cy="12700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3_g_d0_1" descr="Editable line; source id n3_g_d0_1"/>
          <p:cNvCxnSpPr/>
          <p:nvPr/>
        </p:nvCxnSpPr>
        <p:spPr>
          <a:xfrm flipH="1">
            <a:off x="11175999" y="1230312"/>
            <a:ext cx="277813" cy="134937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3_g_d0_2" descr="Editable line; source id n3_g_d0_2"/>
          <p:cNvCxnSpPr/>
          <p:nvPr/>
        </p:nvCxnSpPr>
        <p:spPr>
          <a:xfrm flipH="1" flipV="1">
            <a:off x="10898187" y="1230312"/>
            <a:ext cx="277812" cy="134937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3_g_d0_3" descr="Editable line; source id n3_g_d0_3"/>
          <p:cNvCxnSpPr/>
          <p:nvPr/>
        </p:nvCxnSpPr>
        <p:spPr>
          <a:xfrm flipV="1">
            <a:off x="10898187" y="1103312"/>
            <a:ext cx="277812" cy="12700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3_g_d1_0" descr="Editable line; source id n3_g_d1_0"/>
          <p:cNvCxnSpPr/>
          <p:nvPr/>
        </p:nvCxnSpPr>
        <p:spPr>
          <a:xfrm>
            <a:off x="11175999" y="1262062"/>
            <a:ext cx="277813" cy="134937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n3_g_d1_1" descr="Editable line; source id n3_g_d1_1"/>
          <p:cNvCxnSpPr/>
          <p:nvPr/>
        </p:nvCxnSpPr>
        <p:spPr>
          <a:xfrm flipH="1">
            <a:off x="11175999" y="1396999"/>
            <a:ext cx="277813" cy="12700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n3_g_d1_2" descr="Editable line; source id n3_g_d1_2"/>
          <p:cNvCxnSpPr/>
          <p:nvPr/>
        </p:nvCxnSpPr>
        <p:spPr>
          <a:xfrm flipH="1" flipV="1">
            <a:off x="10898187" y="1396999"/>
            <a:ext cx="277812" cy="12700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n3_g_d1_3" descr="Editable line; source id n3_g_d1_3"/>
          <p:cNvCxnSpPr/>
          <p:nvPr/>
        </p:nvCxnSpPr>
        <p:spPr>
          <a:xfrm flipV="1">
            <a:off x="10898187" y="1262062"/>
            <a:ext cx="277812" cy="134937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n3_g_d2_0" descr="Editable line; source id n3_g_d2_0"/>
          <p:cNvCxnSpPr/>
          <p:nvPr/>
        </p:nvCxnSpPr>
        <p:spPr>
          <a:xfrm>
            <a:off x="11175999" y="1420812"/>
            <a:ext cx="277813" cy="134937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n3_g_d2_1" descr="Editable line; source id n3_g_d2_1"/>
          <p:cNvCxnSpPr/>
          <p:nvPr/>
        </p:nvCxnSpPr>
        <p:spPr>
          <a:xfrm flipH="1">
            <a:off x="11175999" y="1555749"/>
            <a:ext cx="277813" cy="12700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n3_g_d2_2" descr="Editable line; source id n3_g_d2_2"/>
          <p:cNvCxnSpPr/>
          <p:nvPr/>
        </p:nvCxnSpPr>
        <p:spPr>
          <a:xfrm flipH="1" flipV="1">
            <a:off x="10898187" y="1555749"/>
            <a:ext cx="277812" cy="12700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n3_g_d2_3" descr="Editable line; source id n3_g_d2_3"/>
          <p:cNvCxnSpPr/>
          <p:nvPr/>
        </p:nvCxnSpPr>
        <p:spPr>
          <a:xfrm flipV="1">
            <a:off x="10898187" y="1420812"/>
            <a:ext cx="277812" cy="134937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n3_t" descr="Editable text; source id n3_t"/>
          <p:cNvSpPr txBox="1"/>
          <p:nvPr/>
        </p:nvSpPr>
        <p:spPr>
          <a:xfrm>
            <a:off x="8715374" y="1809749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相控制</a:t>
            </a:r>
          </a:p>
        </p:txBody>
      </p:sp>
      <p:cxnSp>
        <p:nvCxnSpPr>
          <p:cNvPr id="47" name="n3_r" descr="Editable line; source id n3_r"/>
          <p:cNvCxnSpPr/>
          <p:nvPr/>
        </p:nvCxnSpPr>
        <p:spPr>
          <a:xfrm>
            <a:off x="8762999" y="2262187"/>
            <a:ext cx="2873375" cy="0"/>
          </a:xfrm>
          <a:prstGeom prst="line">
            <a:avLst/>
          </a:prstGeom>
          <a:ln w="12699">
            <a:solidFill>
              <a:srgbClr val="CBD5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n3_p" descr="Editable shape; source id n3_p"/>
          <p:cNvSpPr/>
          <p:nvPr/>
        </p:nvSpPr>
        <p:spPr>
          <a:xfrm>
            <a:off x="8715374" y="2666999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3_p_t" descr="Editable text; source id n3_p_t"/>
          <p:cNvSpPr txBox="1"/>
          <p:nvPr/>
        </p:nvSpPr>
        <p:spPr>
          <a:xfrm>
            <a:off x="8770937" y="2698749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18"/>
              </a:lnSpc>
              <a:spcBef>
                <a:spcPts val="0"/>
              </a:spcBef>
              <a:spcAft>
                <a:spcPts val="0"/>
              </a:spcAft>
              <a:defRPr sz="1185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5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组成</a:t>
            </a:r>
            <a:r>
              <a:rPr sz="1185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85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热处理</a:t>
            </a:r>
          </a:p>
        </p:txBody>
      </p:sp>
      <p:sp>
        <p:nvSpPr>
          <p:cNvPr id="50" name="n4" descr="Editable shape; source id n4"/>
          <p:cNvSpPr/>
          <p:nvPr/>
        </p:nvSpPr>
        <p:spPr>
          <a:xfrm>
            <a:off x="555624" y="4302124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n4_b" descr="Editable shape; source id n4_b"/>
          <p:cNvSpPr/>
          <p:nvPr/>
        </p:nvSpPr>
        <p:spPr>
          <a:xfrm>
            <a:off x="555624" y="4302124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n4_n" descr="Editable text; source id n4_n"/>
          <p:cNvSpPr txBox="1"/>
          <p:nvPr/>
        </p:nvSpPr>
        <p:spPr>
          <a:xfrm>
            <a:off x="777874" y="4444999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53" name="n4_g_a" descr="Editable shape; source id n4_g_a"/>
          <p:cNvSpPr/>
          <p:nvPr/>
        </p:nvSpPr>
        <p:spPr>
          <a:xfrm>
            <a:off x="3135312" y="4468812"/>
            <a:ext cx="206374" cy="206374"/>
          </a:xfrm>
          <a:prstGeom prst="rect">
            <a:avLst/>
          </a:prstGeom>
          <a:noFill/>
          <a:ln w="197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n4_g_b" descr="Editable shape; source id n4_g_b"/>
          <p:cNvSpPr/>
          <p:nvPr/>
        </p:nvSpPr>
        <p:spPr>
          <a:xfrm>
            <a:off x="2920999" y="4849812"/>
            <a:ext cx="206374" cy="206374"/>
          </a:xfrm>
          <a:prstGeom prst="rect">
            <a:avLst/>
          </a:prstGeom>
          <a:noFill/>
          <a:ln w="197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n4_g_c" descr="Editable shape; source id n4_g_c"/>
          <p:cNvSpPr/>
          <p:nvPr/>
        </p:nvSpPr>
        <p:spPr>
          <a:xfrm>
            <a:off x="3357562" y="4849812"/>
            <a:ext cx="206374" cy="206374"/>
          </a:xfrm>
          <a:prstGeom prst="rect">
            <a:avLst/>
          </a:prstGeom>
          <a:noFill/>
          <a:ln w="197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n4_g_l" descr="Editable line; source id n4_g_l"/>
          <p:cNvCxnSpPr/>
          <p:nvPr/>
        </p:nvCxnSpPr>
        <p:spPr>
          <a:xfrm flipH="1">
            <a:off x="3016249" y="4675187"/>
            <a:ext cx="222250" cy="174625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n4_g_r" descr="Editable line; source id n4_g_r"/>
          <p:cNvCxnSpPr/>
          <p:nvPr/>
        </p:nvCxnSpPr>
        <p:spPr>
          <a:xfrm>
            <a:off x="3238499" y="4675187"/>
            <a:ext cx="222250" cy="174625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n4_t" descr="Editable text; source id n4_t"/>
          <p:cNvSpPr txBox="1"/>
          <p:nvPr/>
        </p:nvSpPr>
        <p:spPr>
          <a:xfrm>
            <a:off x="777874" y="5222874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近邻体系</a:t>
            </a:r>
          </a:p>
        </p:txBody>
      </p:sp>
      <p:cxnSp>
        <p:nvCxnSpPr>
          <p:cNvPr id="59" name="n4_r" descr="Editable line; source id n4_r"/>
          <p:cNvCxnSpPr/>
          <p:nvPr/>
        </p:nvCxnSpPr>
        <p:spPr>
          <a:xfrm>
            <a:off x="825499" y="5675312"/>
            <a:ext cx="2873375" cy="0"/>
          </a:xfrm>
          <a:prstGeom prst="line">
            <a:avLst/>
          </a:prstGeom>
          <a:ln w="12699">
            <a:solidFill>
              <a:srgbClr val="CBD5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n4_p" descr="Editable shape; source id n4_p"/>
          <p:cNvSpPr/>
          <p:nvPr/>
        </p:nvSpPr>
        <p:spPr>
          <a:xfrm>
            <a:off x="777874" y="6080124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n4_p_t" descr="Editable text; source id n4_p_t"/>
          <p:cNvSpPr txBox="1"/>
          <p:nvPr/>
        </p:nvSpPr>
        <p:spPr>
          <a:xfrm>
            <a:off x="833437" y="6111874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5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5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Ba–Sr–Zn–Si</a:t>
            </a:r>
          </a:p>
        </p:txBody>
      </p:sp>
      <p:sp>
        <p:nvSpPr>
          <p:cNvPr id="62" name="n5" descr="Editable shape; source id n5"/>
          <p:cNvSpPr/>
          <p:nvPr/>
        </p:nvSpPr>
        <p:spPr>
          <a:xfrm>
            <a:off x="4524374" y="4302124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AF0"/>
          </a:solidFill>
          <a:ln w="1508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n5_b" descr="Editable shape; source id n5_b"/>
          <p:cNvSpPr/>
          <p:nvPr/>
        </p:nvSpPr>
        <p:spPr>
          <a:xfrm>
            <a:off x="4524374" y="4302124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n5_n" descr="Editable text; source id n5_n"/>
          <p:cNvSpPr txBox="1"/>
          <p:nvPr/>
        </p:nvSpPr>
        <p:spPr>
          <a:xfrm>
            <a:off x="4746624" y="4444999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cxnSp>
        <p:nvCxnSpPr>
          <p:cNvPr id="65" name="n5_g_p" descr="Editable line; source id n5_g_p"/>
          <p:cNvCxnSpPr/>
          <p:nvPr/>
        </p:nvCxnSpPr>
        <p:spPr>
          <a:xfrm>
            <a:off x="7207249" y="4516437"/>
            <a:ext cx="0" cy="468312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n5_g_b" descr="Editable line; source id n5_g_b"/>
          <p:cNvCxnSpPr/>
          <p:nvPr/>
        </p:nvCxnSpPr>
        <p:spPr>
          <a:xfrm>
            <a:off x="6961187" y="4619624"/>
            <a:ext cx="492125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n5_g_l_0" descr="Editable line; source id n5_g_l_0"/>
          <p:cNvCxnSpPr/>
          <p:nvPr/>
        </p:nvCxnSpPr>
        <p:spPr>
          <a:xfrm flipH="1">
            <a:off x="6889749" y="4619624"/>
            <a:ext cx="71438" cy="15875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n5_g_l_1" descr="Editable line; source id n5_g_l_1"/>
          <p:cNvCxnSpPr/>
          <p:nvPr/>
        </p:nvCxnSpPr>
        <p:spPr>
          <a:xfrm>
            <a:off x="6889749" y="4778374"/>
            <a:ext cx="142875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n5_g_l_2" descr="Editable line; source id n5_g_l_2"/>
          <p:cNvCxnSpPr/>
          <p:nvPr/>
        </p:nvCxnSpPr>
        <p:spPr>
          <a:xfrm flipH="1" flipV="1">
            <a:off x="6961187" y="4619624"/>
            <a:ext cx="71437" cy="15875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n5_g_r_0" descr="Editable line; source id n5_g_r_0"/>
          <p:cNvCxnSpPr/>
          <p:nvPr/>
        </p:nvCxnSpPr>
        <p:spPr>
          <a:xfrm flipH="1">
            <a:off x="7381874" y="4619624"/>
            <a:ext cx="71438" cy="15875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n5_g_r_1" descr="Editable line; source id n5_g_r_1"/>
          <p:cNvCxnSpPr/>
          <p:nvPr/>
        </p:nvCxnSpPr>
        <p:spPr>
          <a:xfrm>
            <a:off x="7381874" y="4778374"/>
            <a:ext cx="142875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n5_g_r_2" descr="Editable line; source id n5_g_r_2"/>
          <p:cNvCxnSpPr/>
          <p:nvPr/>
        </p:nvCxnSpPr>
        <p:spPr>
          <a:xfrm flipH="1" flipV="1">
            <a:off x="7453312" y="4619624"/>
            <a:ext cx="71437" cy="15875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n5_g_f" descr="Editable line; source id n5_g_f"/>
          <p:cNvCxnSpPr/>
          <p:nvPr/>
        </p:nvCxnSpPr>
        <p:spPr>
          <a:xfrm>
            <a:off x="7064374" y="5040312"/>
            <a:ext cx="285750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n5_t" descr="Editable text; source id n5_t"/>
          <p:cNvSpPr txBox="1"/>
          <p:nvPr/>
        </p:nvSpPr>
        <p:spPr>
          <a:xfrm>
            <a:off x="4746624" y="5222874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类似物判据</a:t>
            </a:r>
          </a:p>
        </p:txBody>
      </p:sp>
      <p:cxnSp>
        <p:nvCxnSpPr>
          <p:cNvPr id="75" name="n5_r" descr="Editable line; source id n5_r"/>
          <p:cNvCxnSpPr/>
          <p:nvPr/>
        </p:nvCxnSpPr>
        <p:spPr>
          <a:xfrm>
            <a:off x="4794249" y="5675312"/>
            <a:ext cx="2873375" cy="0"/>
          </a:xfrm>
          <a:prstGeom prst="line">
            <a:avLst/>
          </a:prstGeom>
          <a:ln w="12699">
            <a:solidFill>
              <a:srgbClr val="CBD5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n5_p" descr="Editable shape; source id n5_p"/>
          <p:cNvSpPr/>
          <p:nvPr/>
        </p:nvSpPr>
        <p:spPr>
          <a:xfrm>
            <a:off x="4746624" y="6080124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n5_p_t" descr="Editable text; source id n5_p_t"/>
          <p:cNvSpPr txBox="1"/>
          <p:nvPr/>
        </p:nvSpPr>
        <p:spPr>
          <a:xfrm>
            <a:off x="4802187" y="6111874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5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85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Ba5Y12Zn[O(SiO4)]8</a:t>
            </a:r>
          </a:p>
        </p:txBody>
      </p:sp>
      <p:sp>
        <p:nvSpPr>
          <p:cNvPr id="78" name="n6" descr="Editable shape; source id n6"/>
          <p:cNvSpPr/>
          <p:nvPr/>
        </p:nvSpPr>
        <p:spPr>
          <a:xfrm>
            <a:off x="8493124" y="4302124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n6_b" descr="Editable shape; source id n6_b"/>
          <p:cNvSpPr/>
          <p:nvPr/>
        </p:nvSpPr>
        <p:spPr>
          <a:xfrm>
            <a:off x="8493124" y="4302124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n6_n" descr="Editable text; source id n6_n"/>
          <p:cNvSpPr txBox="1"/>
          <p:nvPr/>
        </p:nvSpPr>
        <p:spPr>
          <a:xfrm>
            <a:off x="8715374" y="4444999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81" name="n6_g_b0" descr="Editable shape; source id n6_g_b0"/>
          <p:cNvSpPr/>
          <p:nvPr/>
        </p:nvSpPr>
        <p:spPr>
          <a:xfrm>
            <a:off x="10898187" y="4556124"/>
            <a:ext cx="142874" cy="142874"/>
          </a:xfrm>
          <a:prstGeom prst="rect">
            <a:avLst/>
          </a:prstGeom>
          <a:noFill/>
          <a:ln w="197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n6_g_l0" descr="Editable line; source id n6_g_l0"/>
          <p:cNvCxnSpPr/>
          <p:nvPr/>
        </p:nvCxnSpPr>
        <p:spPr>
          <a:xfrm>
            <a:off x="11128374" y="4635499"/>
            <a:ext cx="341313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n6_g_k0_0" descr="Editable line; source id n6_g_k0_0"/>
          <p:cNvCxnSpPr/>
          <p:nvPr/>
        </p:nvCxnSpPr>
        <p:spPr>
          <a:xfrm>
            <a:off x="10929937" y="4643437"/>
            <a:ext cx="31750" cy="3175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n6_g_k0_1" descr="Editable line; source id n6_g_k0_1"/>
          <p:cNvCxnSpPr/>
          <p:nvPr/>
        </p:nvCxnSpPr>
        <p:spPr>
          <a:xfrm flipV="1">
            <a:off x="10961687" y="4587874"/>
            <a:ext cx="71437" cy="87313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n6_g_b1" descr="Editable shape; source id n6_g_b1"/>
          <p:cNvSpPr/>
          <p:nvPr/>
        </p:nvSpPr>
        <p:spPr>
          <a:xfrm>
            <a:off x="10898187" y="4746624"/>
            <a:ext cx="142874" cy="142874"/>
          </a:xfrm>
          <a:prstGeom prst="rect">
            <a:avLst/>
          </a:prstGeom>
          <a:noFill/>
          <a:ln w="197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n6_g_l1" descr="Editable line; source id n6_g_l1"/>
          <p:cNvCxnSpPr/>
          <p:nvPr/>
        </p:nvCxnSpPr>
        <p:spPr>
          <a:xfrm>
            <a:off x="11128374" y="4825999"/>
            <a:ext cx="341313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n6_g_k1_0" descr="Editable line; source id n6_g_k1_0"/>
          <p:cNvCxnSpPr/>
          <p:nvPr/>
        </p:nvCxnSpPr>
        <p:spPr>
          <a:xfrm>
            <a:off x="10929937" y="4825999"/>
            <a:ext cx="31750" cy="39688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n6_g_k1_1" descr="Editable line; source id n6_g_k1_1"/>
          <p:cNvCxnSpPr/>
          <p:nvPr/>
        </p:nvCxnSpPr>
        <p:spPr>
          <a:xfrm flipV="1">
            <a:off x="10961687" y="4778374"/>
            <a:ext cx="71437" cy="87313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n6_g_b2" descr="Editable shape; source id n6_g_b2"/>
          <p:cNvSpPr/>
          <p:nvPr/>
        </p:nvSpPr>
        <p:spPr>
          <a:xfrm>
            <a:off x="10898187" y="4937124"/>
            <a:ext cx="142874" cy="142874"/>
          </a:xfrm>
          <a:prstGeom prst="rect">
            <a:avLst/>
          </a:prstGeom>
          <a:noFill/>
          <a:ln w="197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n6_g_l2" descr="Editable line; source id n6_g_l2"/>
          <p:cNvCxnSpPr/>
          <p:nvPr/>
        </p:nvCxnSpPr>
        <p:spPr>
          <a:xfrm>
            <a:off x="11128374" y="5008562"/>
            <a:ext cx="341313" cy="0"/>
          </a:xfrm>
          <a:prstGeom prst="line">
            <a:avLst/>
          </a:prstGeom>
          <a:ln w="197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n6_t" descr="Editable text; source id n6_t"/>
          <p:cNvSpPr txBox="1"/>
          <p:nvPr/>
        </p:nvSpPr>
        <p:spPr>
          <a:xfrm>
            <a:off x="8715374" y="5222874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实验优先级</a:t>
            </a:r>
          </a:p>
        </p:txBody>
      </p:sp>
      <p:cxnSp>
        <p:nvCxnSpPr>
          <p:cNvPr id="92" name="n6_r" descr="Editable line; source id n6_r"/>
          <p:cNvCxnSpPr/>
          <p:nvPr/>
        </p:nvCxnSpPr>
        <p:spPr>
          <a:xfrm>
            <a:off x="8762999" y="5675312"/>
            <a:ext cx="2873375" cy="0"/>
          </a:xfrm>
          <a:prstGeom prst="line">
            <a:avLst/>
          </a:prstGeom>
          <a:ln w="12699">
            <a:solidFill>
              <a:srgbClr val="CBD5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n6_p" descr="Editable shape; source id n6_p"/>
          <p:cNvSpPr/>
          <p:nvPr/>
        </p:nvSpPr>
        <p:spPr>
          <a:xfrm>
            <a:off x="8715374" y="6080124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n6_p_t" descr="Editable text; source id n6_p_t"/>
          <p:cNvSpPr txBox="1"/>
          <p:nvPr/>
        </p:nvSpPr>
        <p:spPr>
          <a:xfrm>
            <a:off x="8770937" y="6111874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18"/>
              </a:lnSpc>
              <a:spcBef>
                <a:spcPts val="0"/>
              </a:spcBef>
              <a:spcAft>
                <a:spcPts val="0"/>
              </a:spcAft>
              <a:defRPr sz="1185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5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相图</a:t>
            </a:r>
            <a:r>
              <a:rPr sz="1185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85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结构</a:t>
            </a:r>
            <a:r>
              <a:rPr sz="1185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85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热力学</a:t>
            </a:r>
          </a:p>
        </p:txBody>
      </p:sp>
      <p:sp>
        <p:nvSpPr>
          <p:cNvPr id="95" name="e0_0" descr="Editable line; source id e0_0"/>
          <p:cNvSpPr/>
          <p:nvPr/>
        </p:nvSpPr>
        <p:spPr>
          <a:xfrm>
            <a:off x="3952875" y="1944687"/>
            <a:ext cx="508000" cy="95250"/>
          </a:xfrm>
          <a:custGeom>
            <a:avLst/>
            <a:gdLst/>
            <a:ahLst/>
            <a:cxnLst/>
            <a:rect l="l" t="t" r="r" b="b"/>
            <a:pathLst>
              <a:path w="64000" h="12000">
                <a:moveTo>
                  <a:pt x="0" y="4750"/>
                </a:moveTo>
                <a:lnTo>
                  <a:pt x="49000" y="4750"/>
                </a:lnTo>
                <a:lnTo>
                  <a:pt x="49000" y="0"/>
                </a:lnTo>
                <a:lnTo>
                  <a:pt x="64000" y="6000"/>
                </a:lnTo>
                <a:lnTo>
                  <a:pt x="49000" y="12000"/>
                </a:lnTo>
                <a:lnTo>
                  <a:pt x="49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e0_p" descr="Editable shape; source id e0_p"/>
          <p:cNvSpPr/>
          <p:nvPr/>
        </p:nvSpPr>
        <p:spPr>
          <a:xfrm>
            <a:off x="3778249" y="460374"/>
            <a:ext cx="85724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e0_p_t" descr="Editable text; source id e0_p_t"/>
          <p:cNvSpPr txBox="1"/>
          <p:nvPr/>
        </p:nvSpPr>
        <p:spPr>
          <a:xfrm>
            <a:off x="3857624" y="492124"/>
            <a:ext cx="69849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结构约束</a:t>
            </a:r>
          </a:p>
        </p:txBody>
      </p:sp>
      <p:sp>
        <p:nvSpPr>
          <p:cNvPr id="98" name="e1_0" descr="Editable line; source id e1_0"/>
          <p:cNvSpPr/>
          <p:nvPr/>
        </p:nvSpPr>
        <p:spPr>
          <a:xfrm>
            <a:off x="7921625" y="1944687"/>
            <a:ext cx="508000" cy="95250"/>
          </a:xfrm>
          <a:custGeom>
            <a:avLst/>
            <a:gdLst/>
            <a:ahLst/>
            <a:cxnLst/>
            <a:rect l="l" t="t" r="r" b="b"/>
            <a:pathLst>
              <a:path w="64000" h="12000">
                <a:moveTo>
                  <a:pt x="0" y="4750"/>
                </a:moveTo>
                <a:lnTo>
                  <a:pt x="49000" y="4750"/>
                </a:lnTo>
                <a:lnTo>
                  <a:pt x="49000" y="0"/>
                </a:lnTo>
                <a:lnTo>
                  <a:pt x="64000" y="6000"/>
                </a:lnTo>
                <a:lnTo>
                  <a:pt x="49000" y="12000"/>
                </a:lnTo>
                <a:lnTo>
                  <a:pt x="49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1_p" descr="Editable shape; source id e1_p"/>
          <p:cNvSpPr/>
          <p:nvPr/>
        </p:nvSpPr>
        <p:spPr>
          <a:xfrm>
            <a:off x="7746999" y="460374"/>
            <a:ext cx="85724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1_p_t" descr="Editable text; source id e1_p_t"/>
          <p:cNvSpPr txBox="1"/>
          <p:nvPr/>
        </p:nvSpPr>
        <p:spPr>
          <a:xfrm>
            <a:off x="7826374" y="492124"/>
            <a:ext cx="69849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条件窗口</a:t>
            </a:r>
          </a:p>
        </p:txBody>
      </p:sp>
      <p:sp>
        <p:nvSpPr>
          <p:cNvPr id="101" name="e3_0" descr="Editable line; source id e3_0"/>
          <p:cNvSpPr/>
          <p:nvPr/>
        </p:nvSpPr>
        <p:spPr>
          <a:xfrm>
            <a:off x="3952875" y="5357812"/>
            <a:ext cx="508000" cy="95250"/>
          </a:xfrm>
          <a:custGeom>
            <a:avLst/>
            <a:gdLst/>
            <a:ahLst/>
            <a:cxnLst/>
            <a:rect l="l" t="t" r="r" b="b"/>
            <a:pathLst>
              <a:path w="64000" h="12000">
                <a:moveTo>
                  <a:pt x="0" y="4750"/>
                </a:moveTo>
                <a:lnTo>
                  <a:pt x="49000" y="4750"/>
                </a:lnTo>
                <a:lnTo>
                  <a:pt x="49000" y="0"/>
                </a:lnTo>
                <a:lnTo>
                  <a:pt x="64000" y="6000"/>
                </a:lnTo>
                <a:lnTo>
                  <a:pt x="49000" y="12000"/>
                </a:lnTo>
                <a:lnTo>
                  <a:pt x="49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e3_p" descr="Editable shape; source id e3_p"/>
          <p:cNvSpPr/>
          <p:nvPr/>
        </p:nvSpPr>
        <p:spPr>
          <a:xfrm>
            <a:off x="3778249" y="3873499"/>
            <a:ext cx="85724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e3_p_t" descr="Editable text; source id e3_p_t"/>
          <p:cNvSpPr txBox="1"/>
          <p:nvPr/>
        </p:nvSpPr>
        <p:spPr>
          <a:xfrm>
            <a:off x="3857624" y="3905249"/>
            <a:ext cx="69849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比较边界</a:t>
            </a:r>
          </a:p>
        </p:txBody>
      </p:sp>
      <p:sp>
        <p:nvSpPr>
          <p:cNvPr id="104" name="e4_0" descr="Editable line; source id e4_0"/>
          <p:cNvSpPr/>
          <p:nvPr/>
        </p:nvSpPr>
        <p:spPr>
          <a:xfrm>
            <a:off x="7921625" y="5357812"/>
            <a:ext cx="508000" cy="95250"/>
          </a:xfrm>
          <a:custGeom>
            <a:avLst/>
            <a:gdLst/>
            <a:ahLst/>
            <a:cxnLst/>
            <a:rect l="l" t="t" r="r" b="b"/>
            <a:pathLst>
              <a:path w="64000" h="12000">
                <a:moveTo>
                  <a:pt x="0" y="4750"/>
                </a:moveTo>
                <a:lnTo>
                  <a:pt x="49000" y="4750"/>
                </a:lnTo>
                <a:lnTo>
                  <a:pt x="49000" y="0"/>
                </a:lnTo>
                <a:lnTo>
                  <a:pt x="64000" y="6000"/>
                </a:lnTo>
                <a:lnTo>
                  <a:pt x="49000" y="12000"/>
                </a:lnTo>
                <a:lnTo>
                  <a:pt x="49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e4_p" descr="Editable shape; source id e4_p"/>
          <p:cNvSpPr/>
          <p:nvPr/>
        </p:nvSpPr>
        <p:spPr>
          <a:xfrm>
            <a:off x="7746999" y="3873499"/>
            <a:ext cx="85724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e4_p_t" descr="Editable text; source id e4_p_t"/>
          <p:cNvSpPr txBox="1"/>
          <p:nvPr/>
        </p:nvSpPr>
        <p:spPr>
          <a:xfrm>
            <a:off x="7826374" y="3905249"/>
            <a:ext cx="69849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缺口驱动</a:t>
            </a:r>
          </a:p>
        </p:txBody>
      </p:sp>
      <p:cxnSp>
        <p:nvCxnSpPr>
          <p:cNvPr id="107" name="e2_0" descr="Editable line; source id e2_0"/>
          <p:cNvCxnSpPr/>
          <p:nvPr/>
        </p:nvCxnSpPr>
        <p:spPr>
          <a:xfrm>
            <a:off x="10159999" y="3127374"/>
            <a:ext cx="0" cy="41275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2_1" descr="Editable line; source id e2_1"/>
          <p:cNvCxnSpPr/>
          <p:nvPr/>
        </p:nvCxnSpPr>
        <p:spPr>
          <a:xfrm flipH="1">
            <a:off x="2857499" y="3540124"/>
            <a:ext cx="7302500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e2_2" descr="Editable line; source id e2_2"/>
          <p:cNvSpPr/>
          <p:nvPr/>
        </p:nvSpPr>
        <p:spPr>
          <a:xfrm>
            <a:off x="2809875" y="3540125"/>
            <a:ext cx="95250" cy="730250"/>
          </a:xfrm>
          <a:custGeom>
            <a:avLst/>
            <a:gdLst/>
            <a:ahLst/>
            <a:cxnLst/>
            <a:rect l="l" t="t" r="r" b="b"/>
            <a:pathLst>
              <a:path w="12000" h="92000">
                <a:moveTo>
                  <a:pt x="7250" y="0"/>
                </a:moveTo>
                <a:lnTo>
                  <a:pt x="7250" y="77000"/>
                </a:lnTo>
                <a:lnTo>
                  <a:pt x="12000" y="77000"/>
                </a:lnTo>
                <a:lnTo>
                  <a:pt x="6000" y="92000"/>
                </a:lnTo>
                <a:lnTo>
                  <a:pt x="0" y="77000"/>
                </a:lnTo>
                <a:lnTo>
                  <a:pt x="4750" y="77000"/>
                </a:lnTo>
                <a:lnTo>
                  <a:pt x="4750" y="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e2_p" descr="Editable shape; source id e2_p"/>
          <p:cNvSpPr/>
          <p:nvPr/>
        </p:nvSpPr>
        <p:spPr>
          <a:xfrm>
            <a:off x="6008687" y="3873499"/>
            <a:ext cx="1000124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e2_p_t" descr="Editable text; source id e2_p_t"/>
          <p:cNvSpPr txBox="1"/>
          <p:nvPr/>
        </p:nvSpPr>
        <p:spPr>
          <a:xfrm>
            <a:off x="6088062" y="3905249"/>
            <a:ext cx="841374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1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可迁移变量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