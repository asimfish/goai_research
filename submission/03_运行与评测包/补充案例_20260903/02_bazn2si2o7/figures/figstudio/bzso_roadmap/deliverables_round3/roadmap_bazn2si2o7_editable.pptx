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453642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BaZn2Si2O7 综述路线图（super_teaser 第三轮 R01 → super_img2ppt 重建）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zA" descr="Editable shape; source id zA"/>
          <p:cNvSpPr/>
          <p:nvPr/>
        </p:nvSpPr>
        <p:spPr>
          <a:xfrm>
            <a:off x="237198" y="664155"/>
            <a:ext cx="5811361" cy="3231828"/>
          </a:xfrm>
          <a:prstGeom prst="roundRect">
            <a:avLst>
              <a:gd name="adj" fmla="val 2935"/>
            </a:avLst>
          </a:prstGeom>
          <a:solidFill>
            <a:srgbClr val="EEF2F7"/>
          </a:solidFill>
          <a:ln w="8894">
            <a:solidFill>
              <a:srgbClr val="5B75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zA_l" descr="Editable text; source id zA_l"/>
          <p:cNvSpPr txBox="1"/>
          <p:nvPr/>
        </p:nvSpPr>
        <p:spPr>
          <a:xfrm>
            <a:off x="343937" y="735315"/>
            <a:ext cx="592996" cy="195688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505"/>
              </a:lnSpc>
              <a:spcBef>
                <a:spcPts val="0"/>
              </a:spcBef>
              <a:spcAft>
                <a:spcPts val="0"/>
              </a:spcAft>
              <a:defRPr sz="1027" b="1" i="0" lang="zh-CN" dirty="0">
                <a:solidFill>
                  <a:srgbClr val="2B3E5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27" b="1" i="0" lang="zh-CN" dirty="0">
                <a:solidFill>
                  <a:srgbClr val="2B3E57"/>
                </a:solidFill>
                <a:latin typeface="Noto Sans CJK SC"/>
                <a:ea typeface="Noto Sans CJK SC"/>
                <a:cs typeface="Noto Sans CJK SC"/>
              </a:rPr>
              <a:t>文献证据</a:t>
            </a:r>
          </a:p>
        </p:txBody>
      </p:sp>
      <p:sp>
        <p:nvSpPr>
          <p:cNvPr id="4" name="zB" descr="Editable shape; source id zB"/>
          <p:cNvSpPr/>
          <p:nvPr/>
        </p:nvSpPr>
        <p:spPr>
          <a:xfrm>
            <a:off x="6190879" y="664155"/>
            <a:ext cx="5811361" cy="3231828"/>
          </a:xfrm>
          <a:prstGeom prst="roundRect">
            <a:avLst>
              <a:gd name="adj" fmla="val 2935"/>
            </a:avLst>
          </a:prstGeom>
          <a:solidFill>
            <a:srgbClr val="E6F2F3"/>
          </a:solidFill>
          <a:ln w="8894">
            <a:solidFill>
              <a:srgbClr val="1F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zB_l" descr="Editable text; source id zB_l"/>
          <p:cNvSpPr txBox="1"/>
          <p:nvPr/>
        </p:nvSpPr>
        <p:spPr>
          <a:xfrm>
            <a:off x="6297618" y="735315"/>
            <a:ext cx="592996" cy="195688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505"/>
              </a:lnSpc>
              <a:spcBef>
                <a:spcPts val="0"/>
              </a:spcBef>
              <a:spcAft>
                <a:spcPts val="0"/>
              </a:spcAft>
              <a:defRPr sz="1027" b="1" i="0" lang="zh-CN" dirty="0">
                <a:solidFill>
                  <a:srgbClr val="0F4F5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27" b="1" i="0" lang="zh-CN" dirty="0">
                <a:solidFill>
                  <a:srgbClr val="0F4F58"/>
                </a:solidFill>
                <a:latin typeface="Noto Sans CJK SC"/>
                <a:ea typeface="Noto Sans CJK SC"/>
                <a:cs typeface="Noto Sans CJK SC"/>
              </a:rPr>
              <a:t>实验方法</a:t>
            </a:r>
          </a:p>
        </p:txBody>
      </p:sp>
      <p:sp>
        <p:nvSpPr>
          <p:cNvPr id="6" name="n1" descr="Editable shape; source id n1"/>
          <p:cNvSpPr/>
          <p:nvPr/>
        </p:nvSpPr>
        <p:spPr>
          <a:xfrm>
            <a:off x="415097" y="1126692"/>
            <a:ext cx="1269011" cy="2490583"/>
          </a:xfrm>
          <a:prstGeom prst="roundRect">
            <a:avLst>
              <a:gd name="adj" fmla="val 4672"/>
            </a:avLst>
          </a:prstGeom>
          <a:solidFill>
            <a:srgbClr val="FFFFFF"/>
          </a:solidFill>
          <a:ln w="8894">
            <a:solidFill>
              <a:srgbClr val="5B75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n1_s" descr="Editable shape; source id n1_s"/>
          <p:cNvSpPr/>
          <p:nvPr/>
        </p:nvSpPr>
        <p:spPr>
          <a:xfrm>
            <a:off x="415097" y="1126692"/>
            <a:ext cx="1269011" cy="47439"/>
          </a:xfrm>
          <a:prstGeom prst="roundRect">
            <a:avLst>
              <a:gd name="adj" fmla="val 50000"/>
            </a:avLst>
          </a:prstGeom>
          <a:solidFill>
            <a:srgbClr val="5B75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n1_t" descr="Editable text; source id n1_t"/>
          <p:cNvSpPr txBox="1"/>
          <p:nvPr/>
        </p:nvSpPr>
        <p:spPr>
          <a:xfrm>
            <a:off x="498116" y="1482490"/>
            <a:ext cx="1102972" cy="219408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692"/>
              </a:lnSpc>
              <a:spcBef>
                <a:spcPts val="0"/>
              </a:spcBef>
              <a:spcAft>
                <a:spcPts val="0"/>
              </a:spcAft>
              <a:defRPr sz="1167" b="1" i="0" lang="zh-CN" dirty="0">
                <a:solidFill>
                  <a:srgbClr val="2B3E5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67" b="1" i="0" lang="zh-CN" dirty="0">
                <a:solidFill>
                  <a:srgbClr val="2B3E57"/>
                </a:solidFill>
                <a:latin typeface="Noto Sans CJK SC"/>
                <a:ea typeface="Noto Sans CJK SC"/>
                <a:cs typeface="Noto Sans CJK SC"/>
              </a:rPr>
              <a:t>结构基础</a:t>
            </a:r>
          </a:p>
        </p:txBody>
      </p:sp>
      <p:sp>
        <p:nvSpPr>
          <p:cNvPr id="9" name="n1_k0" descr="Editable text; source id n1_k0"/>
          <p:cNvSpPr txBox="1"/>
          <p:nvPr/>
        </p:nvSpPr>
        <p:spPr>
          <a:xfrm>
            <a:off x="498116" y="1749338"/>
            <a:ext cx="1102972" cy="171968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214"/>
              </a:lnSpc>
              <a:spcBef>
                <a:spcPts val="0"/>
              </a:spcBef>
              <a:spcAft>
                <a:spcPts val="0"/>
              </a:spcAft>
              <a:defRPr sz="828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28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rPr>
              <a:t>低温与高温多晶型</a:t>
            </a:r>
          </a:p>
        </p:txBody>
      </p:sp>
      <p:sp>
        <p:nvSpPr>
          <p:cNvPr id="10" name="n1_n" descr="Editable text; source id n1_n"/>
          <p:cNvSpPr txBox="1"/>
          <p:nvPr/>
        </p:nvSpPr>
        <p:spPr>
          <a:xfrm>
            <a:off x="509976" y="1233431"/>
            <a:ext cx="332077" cy="166038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038"/>
              </a:lnSpc>
              <a:spcBef>
                <a:spcPts val="0"/>
              </a:spcBef>
              <a:spcAft>
                <a:spcPts val="0"/>
              </a:spcAft>
              <a:defRPr sz="887" b="1" i="0" lang="zh-CN" dirty="0">
                <a:solidFill>
                  <a:srgbClr val="8A9199"/>
                </a:solidFill>
                <a:latin typeface="DejaVu Sans"/>
                <a:ea typeface="DejaVu Sans"/>
                <a:cs typeface="DejaVu Sans"/>
              </a:defRPr>
            </a:pPr>
            <a:r>
              <a:rPr sz="887" b="1" i="0" lang="zh-CN" dirty="0">
                <a:solidFill>
                  <a:srgbClr val="8A9199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pic>
        <p:nvPicPr>
          <p:cNvPr id="11" name="n1_ic" descr="exact crop of the generated raster (line motif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735" y="2729092"/>
            <a:ext cx="699735" cy="412475"/>
          </a:xfrm>
          <a:prstGeom prst="rect">
            <a:avLst/>
          </a:prstGeom>
          <a:effectLst/>
        </p:spPr>
      </p:pic>
      <p:sp>
        <p:nvSpPr>
          <p:cNvPr id="12" name="n2" descr="Editable shape; source id n2"/>
          <p:cNvSpPr/>
          <p:nvPr/>
        </p:nvSpPr>
        <p:spPr>
          <a:xfrm>
            <a:off x="2508373" y="1126692"/>
            <a:ext cx="1269011" cy="2490583"/>
          </a:xfrm>
          <a:prstGeom prst="roundRect">
            <a:avLst>
              <a:gd name="adj" fmla="val 4672"/>
            </a:avLst>
          </a:prstGeom>
          <a:solidFill>
            <a:srgbClr val="FFFFFF"/>
          </a:solidFill>
          <a:ln w="8894">
            <a:solidFill>
              <a:srgbClr val="5B75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n2_s" descr="Editable shape; source id n2_s"/>
          <p:cNvSpPr/>
          <p:nvPr/>
        </p:nvSpPr>
        <p:spPr>
          <a:xfrm>
            <a:off x="2508373" y="1126692"/>
            <a:ext cx="1269011" cy="47439"/>
          </a:xfrm>
          <a:prstGeom prst="roundRect">
            <a:avLst>
              <a:gd name="adj" fmla="val 50000"/>
            </a:avLst>
          </a:prstGeom>
          <a:solidFill>
            <a:srgbClr val="5B75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n2_t" descr="Editable text; source id n2_t"/>
          <p:cNvSpPr txBox="1"/>
          <p:nvPr/>
        </p:nvSpPr>
        <p:spPr>
          <a:xfrm>
            <a:off x="2591392" y="1482490"/>
            <a:ext cx="1102972" cy="219408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692"/>
              </a:lnSpc>
              <a:spcBef>
                <a:spcPts val="0"/>
              </a:spcBef>
              <a:spcAft>
                <a:spcPts val="0"/>
              </a:spcAft>
              <a:defRPr sz="1167" b="1" i="0" lang="zh-CN" dirty="0">
                <a:solidFill>
                  <a:srgbClr val="2B3E5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67" b="1" i="0" lang="zh-CN" dirty="0">
                <a:solidFill>
                  <a:srgbClr val="2B3E57"/>
                </a:solidFill>
                <a:latin typeface="Noto Sans CJK SC"/>
                <a:ea typeface="Noto Sans CJK SC"/>
                <a:cs typeface="Noto Sans CJK SC"/>
              </a:rPr>
              <a:t>合成路线</a:t>
            </a:r>
          </a:p>
        </p:txBody>
      </p:sp>
      <p:sp>
        <p:nvSpPr>
          <p:cNvPr id="15" name="n2_k0" descr="Editable text; source id n2_k0"/>
          <p:cNvSpPr txBox="1"/>
          <p:nvPr/>
        </p:nvSpPr>
        <p:spPr>
          <a:xfrm>
            <a:off x="2591392" y="1749338"/>
            <a:ext cx="1102972" cy="171968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214"/>
              </a:lnSpc>
              <a:spcBef>
                <a:spcPts val="0"/>
              </a:spcBef>
              <a:spcAft>
                <a:spcPts val="0"/>
              </a:spcAft>
              <a:defRPr sz="828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28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rPr>
              <a:t>固相</a:t>
            </a:r>
            <a:r>
              <a:rPr sz="828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rPr>
              <a:t> · </a:t>
            </a:r>
            <a:r>
              <a:rPr sz="828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rPr>
              <a:t>溶胶</a:t>
            </a:r>
            <a:r>
              <a:rPr sz="828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rPr>
              <a:t>—</a:t>
            </a:r>
            <a:r>
              <a:rPr sz="828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rPr>
              <a:t>凝胶</a:t>
            </a:r>
          </a:p>
        </p:txBody>
      </p:sp>
      <p:sp>
        <p:nvSpPr>
          <p:cNvPr id="16" name="n2_n" descr="Editable text; source id n2_n"/>
          <p:cNvSpPr txBox="1"/>
          <p:nvPr/>
        </p:nvSpPr>
        <p:spPr>
          <a:xfrm>
            <a:off x="2603252" y="1233431"/>
            <a:ext cx="332077" cy="166038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038"/>
              </a:lnSpc>
              <a:spcBef>
                <a:spcPts val="0"/>
              </a:spcBef>
              <a:spcAft>
                <a:spcPts val="0"/>
              </a:spcAft>
              <a:defRPr sz="887" b="1" i="0" lang="zh-CN" dirty="0">
                <a:solidFill>
                  <a:srgbClr val="8A9199"/>
                </a:solidFill>
                <a:latin typeface="DejaVu Sans"/>
                <a:ea typeface="DejaVu Sans"/>
                <a:cs typeface="DejaVu Sans"/>
              </a:defRPr>
            </a:pPr>
            <a:r>
              <a:rPr sz="887" b="1" i="0" lang="zh-CN" dirty="0">
                <a:solidFill>
                  <a:srgbClr val="8A9199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pic>
        <p:nvPicPr>
          <p:cNvPr id="17" name="n2_ic" descr="exact crop of the generated raster (line motif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3011" y="2619104"/>
            <a:ext cx="699735" cy="632453"/>
          </a:xfrm>
          <a:prstGeom prst="rect">
            <a:avLst/>
          </a:prstGeom>
          <a:effectLst/>
        </p:spPr>
      </p:pic>
      <p:sp>
        <p:nvSpPr>
          <p:cNvPr id="18" name="n3" descr="Editable shape; source id n3"/>
          <p:cNvSpPr/>
          <p:nvPr/>
        </p:nvSpPr>
        <p:spPr>
          <a:xfrm>
            <a:off x="4601649" y="1126692"/>
            <a:ext cx="1269011" cy="2490583"/>
          </a:xfrm>
          <a:prstGeom prst="roundRect">
            <a:avLst>
              <a:gd name="adj" fmla="val 4672"/>
            </a:avLst>
          </a:prstGeom>
          <a:solidFill>
            <a:srgbClr val="FFFFFF"/>
          </a:solidFill>
          <a:ln w="8894">
            <a:solidFill>
              <a:srgbClr val="5B75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n3_s" descr="Editable shape; source id n3_s"/>
          <p:cNvSpPr/>
          <p:nvPr/>
        </p:nvSpPr>
        <p:spPr>
          <a:xfrm>
            <a:off x="4601649" y="1126692"/>
            <a:ext cx="1269011" cy="47439"/>
          </a:xfrm>
          <a:prstGeom prst="roundRect">
            <a:avLst>
              <a:gd name="adj" fmla="val 50000"/>
            </a:avLst>
          </a:prstGeom>
          <a:solidFill>
            <a:srgbClr val="5B75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n3_t" descr="Editable text; source id n3_t"/>
          <p:cNvSpPr txBox="1"/>
          <p:nvPr/>
        </p:nvSpPr>
        <p:spPr>
          <a:xfrm>
            <a:off x="4684669" y="1482490"/>
            <a:ext cx="1102972" cy="219408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692"/>
              </a:lnSpc>
              <a:spcBef>
                <a:spcPts val="0"/>
              </a:spcBef>
              <a:spcAft>
                <a:spcPts val="0"/>
              </a:spcAft>
              <a:defRPr sz="1167" b="1" i="0" lang="zh-CN" dirty="0">
                <a:solidFill>
                  <a:srgbClr val="2B3E5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67" b="1" i="0" lang="zh-CN" dirty="0">
                <a:solidFill>
                  <a:srgbClr val="2B3E57"/>
                </a:solidFill>
                <a:latin typeface="Noto Sans CJK SC"/>
                <a:ea typeface="Noto Sans CJK SC"/>
                <a:cs typeface="Noto Sans CJK SC"/>
              </a:rPr>
              <a:t>相控制</a:t>
            </a:r>
          </a:p>
        </p:txBody>
      </p:sp>
      <p:sp>
        <p:nvSpPr>
          <p:cNvPr id="21" name="n3_k0" descr="Editable text; source id n3_k0"/>
          <p:cNvSpPr txBox="1"/>
          <p:nvPr/>
        </p:nvSpPr>
        <p:spPr>
          <a:xfrm>
            <a:off x="4684669" y="1749338"/>
            <a:ext cx="1102972" cy="171968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214"/>
              </a:lnSpc>
              <a:spcBef>
                <a:spcPts val="0"/>
              </a:spcBef>
              <a:spcAft>
                <a:spcPts val="0"/>
              </a:spcAft>
              <a:defRPr sz="828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28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rPr>
              <a:t>组成</a:t>
            </a:r>
            <a:r>
              <a:rPr sz="828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rPr>
              <a:t> · </a:t>
            </a:r>
            <a:r>
              <a:rPr sz="828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rPr>
              <a:t>热处理</a:t>
            </a:r>
          </a:p>
        </p:txBody>
      </p:sp>
      <p:sp>
        <p:nvSpPr>
          <p:cNvPr id="22" name="n3_n" descr="Editable text; source id n3_n"/>
          <p:cNvSpPr txBox="1"/>
          <p:nvPr/>
        </p:nvSpPr>
        <p:spPr>
          <a:xfrm>
            <a:off x="4696529" y="1233431"/>
            <a:ext cx="332077" cy="166038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038"/>
              </a:lnSpc>
              <a:spcBef>
                <a:spcPts val="0"/>
              </a:spcBef>
              <a:spcAft>
                <a:spcPts val="0"/>
              </a:spcAft>
              <a:defRPr sz="887" b="1" i="0" lang="zh-CN" dirty="0">
                <a:solidFill>
                  <a:srgbClr val="8A9199"/>
                </a:solidFill>
                <a:latin typeface="DejaVu Sans"/>
                <a:ea typeface="DejaVu Sans"/>
                <a:cs typeface="DejaVu Sans"/>
              </a:defRPr>
            </a:pPr>
            <a:r>
              <a:rPr sz="887" b="1" i="0" lang="zh-CN" dirty="0">
                <a:solidFill>
                  <a:srgbClr val="8A9199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pic>
        <p:nvPicPr>
          <p:cNvPr id="23" name="n3_ic" descr="exact crop of the generated raster (line motif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6287" y="2632460"/>
            <a:ext cx="699735" cy="605741"/>
          </a:xfrm>
          <a:prstGeom prst="rect">
            <a:avLst/>
          </a:prstGeom>
          <a:effectLst/>
        </p:spPr>
      </p:pic>
      <p:sp>
        <p:nvSpPr>
          <p:cNvPr id="24" name="n4" descr="Editable shape; source id n4"/>
          <p:cNvSpPr/>
          <p:nvPr/>
        </p:nvSpPr>
        <p:spPr>
          <a:xfrm>
            <a:off x="6368778" y="1126692"/>
            <a:ext cx="1269011" cy="2490583"/>
          </a:xfrm>
          <a:prstGeom prst="roundRect">
            <a:avLst>
              <a:gd name="adj" fmla="val 4672"/>
            </a:avLst>
          </a:prstGeom>
          <a:solidFill>
            <a:srgbClr val="FFFFFF"/>
          </a:solidFill>
          <a:ln w="8894">
            <a:solidFill>
              <a:srgbClr val="1F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n4_s" descr="Editable shape; source id n4_s"/>
          <p:cNvSpPr/>
          <p:nvPr/>
        </p:nvSpPr>
        <p:spPr>
          <a:xfrm>
            <a:off x="6368778" y="1126692"/>
            <a:ext cx="1269011" cy="47439"/>
          </a:xfrm>
          <a:prstGeom prst="roundRect">
            <a:avLst>
              <a:gd name="adj" fmla="val 50000"/>
            </a:avLst>
          </a:prstGeom>
          <a:solidFill>
            <a:srgbClr val="1F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n4_t" descr="Editable text; source id n4_t"/>
          <p:cNvSpPr txBox="1"/>
          <p:nvPr/>
        </p:nvSpPr>
        <p:spPr>
          <a:xfrm>
            <a:off x="6451797" y="1482490"/>
            <a:ext cx="1102972" cy="219408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692"/>
              </a:lnSpc>
              <a:spcBef>
                <a:spcPts val="0"/>
              </a:spcBef>
              <a:spcAft>
                <a:spcPts val="0"/>
              </a:spcAft>
              <a:defRPr sz="1167" b="1" i="0" lang="zh-CN" dirty="0">
                <a:solidFill>
                  <a:srgbClr val="0F4F5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67" b="1" i="0" lang="zh-CN" dirty="0">
                <a:solidFill>
                  <a:srgbClr val="0F4F58"/>
                </a:solidFill>
                <a:latin typeface="Noto Sans CJK SC"/>
                <a:ea typeface="Noto Sans CJK SC"/>
                <a:cs typeface="Noto Sans CJK SC"/>
              </a:rPr>
              <a:t>近邻体系</a:t>
            </a:r>
          </a:p>
        </p:txBody>
      </p:sp>
      <p:sp>
        <p:nvSpPr>
          <p:cNvPr id="27" name="n4_k0" descr="Editable text; source id n4_k0"/>
          <p:cNvSpPr txBox="1"/>
          <p:nvPr/>
        </p:nvSpPr>
        <p:spPr>
          <a:xfrm>
            <a:off x="6451797" y="1749338"/>
            <a:ext cx="1102972" cy="171968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968"/>
              </a:lnSpc>
              <a:spcBef>
                <a:spcPts val="0"/>
              </a:spcBef>
              <a:spcAft>
                <a:spcPts val="0"/>
              </a:spcAft>
              <a:defRPr sz="828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defRPr>
            </a:pPr>
            <a:r>
              <a:rPr sz="828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rPr>
              <a:t>Ba–Sr–Zn–Si</a:t>
            </a:r>
          </a:p>
        </p:txBody>
      </p:sp>
      <p:sp>
        <p:nvSpPr>
          <p:cNvPr id="28" name="n4_n" descr="Editable text; source id n4_n"/>
          <p:cNvSpPr txBox="1"/>
          <p:nvPr/>
        </p:nvSpPr>
        <p:spPr>
          <a:xfrm>
            <a:off x="6463657" y="1233431"/>
            <a:ext cx="332077" cy="166038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038"/>
              </a:lnSpc>
              <a:spcBef>
                <a:spcPts val="0"/>
              </a:spcBef>
              <a:spcAft>
                <a:spcPts val="0"/>
              </a:spcAft>
              <a:defRPr sz="887" b="1" i="0" lang="zh-CN" dirty="0">
                <a:solidFill>
                  <a:srgbClr val="8A9199"/>
                </a:solidFill>
                <a:latin typeface="DejaVu Sans"/>
                <a:ea typeface="DejaVu Sans"/>
                <a:cs typeface="DejaVu Sans"/>
              </a:defRPr>
            </a:pPr>
            <a:r>
              <a:rPr sz="887" b="1" i="0" lang="zh-CN" dirty="0">
                <a:solidFill>
                  <a:srgbClr val="8A9199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  <p:pic>
        <p:nvPicPr>
          <p:cNvPr id="29" name="n4_ic" descr="exact crop of the generated raster (line motif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53416" y="2596934"/>
            <a:ext cx="699735" cy="676793"/>
          </a:xfrm>
          <a:prstGeom prst="rect">
            <a:avLst/>
          </a:prstGeom>
          <a:effectLst/>
        </p:spPr>
      </p:pic>
      <p:sp>
        <p:nvSpPr>
          <p:cNvPr id="30" name="n5" descr="Editable shape; source id n5"/>
          <p:cNvSpPr/>
          <p:nvPr/>
        </p:nvSpPr>
        <p:spPr>
          <a:xfrm>
            <a:off x="8462054" y="1126692"/>
            <a:ext cx="1269011" cy="2490583"/>
          </a:xfrm>
          <a:prstGeom prst="roundRect">
            <a:avLst>
              <a:gd name="adj" fmla="val 4672"/>
            </a:avLst>
          </a:prstGeom>
          <a:solidFill>
            <a:srgbClr val="FFFFFF"/>
          </a:solidFill>
          <a:ln w="8894">
            <a:solidFill>
              <a:srgbClr val="C48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n5_s" descr="Editable shape; source id n5_s"/>
          <p:cNvSpPr/>
          <p:nvPr/>
        </p:nvSpPr>
        <p:spPr>
          <a:xfrm>
            <a:off x="8462054" y="1126692"/>
            <a:ext cx="1269011" cy="47439"/>
          </a:xfrm>
          <a:prstGeom prst="roundRect">
            <a:avLst>
              <a:gd name="adj" fmla="val 50000"/>
            </a:avLst>
          </a:prstGeom>
          <a:solidFill>
            <a:srgbClr val="C48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n5_t" descr="Editable text; source id n5_t"/>
          <p:cNvSpPr txBox="1"/>
          <p:nvPr/>
        </p:nvSpPr>
        <p:spPr>
          <a:xfrm>
            <a:off x="8545073" y="1482490"/>
            <a:ext cx="1102972" cy="219408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692"/>
              </a:lnSpc>
              <a:spcBef>
                <a:spcPts val="0"/>
              </a:spcBef>
              <a:spcAft>
                <a:spcPts val="0"/>
              </a:spcAft>
              <a:defRPr sz="1167" b="1" i="0" lang="zh-CN" dirty="0">
                <a:solidFill>
                  <a:srgbClr val="7A541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67" b="1" i="0" lang="zh-CN" dirty="0">
                <a:solidFill>
                  <a:srgbClr val="7A5410"/>
                </a:solidFill>
                <a:latin typeface="Noto Sans CJK SC"/>
                <a:ea typeface="Noto Sans CJK SC"/>
                <a:cs typeface="Noto Sans CJK SC"/>
              </a:rPr>
              <a:t>类似物判据</a:t>
            </a:r>
          </a:p>
        </p:txBody>
      </p:sp>
      <p:sp>
        <p:nvSpPr>
          <p:cNvPr id="33" name="n5_k0" descr="Editable text; source id n5_k0"/>
          <p:cNvSpPr txBox="1"/>
          <p:nvPr/>
        </p:nvSpPr>
        <p:spPr>
          <a:xfrm>
            <a:off x="8545073" y="1749338"/>
            <a:ext cx="1102972" cy="171968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968"/>
              </a:lnSpc>
              <a:spcBef>
                <a:spcPts val="0"/>
              </a:spcBef>
              <a:spcAft>
                <a:spcPts val="0"/>
              </a:spcAft>
              <a:defRPr sz="828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defRPr>
            </a:pPr>
            <a:r>
              <a:rPr sz="828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rPr>
              <a:t>Ba5Y12Zn[O(SiO4)]8</a:t>
            </a:r>
          </a:p>
        </p:txBody>
      </p:sp>
      <p:sp>
        <p:nvSpPr>
          <p:cNvPr id="34" name="n5_n" descr="Editable text; source id n5_n"/>
          <p:cNvSpPr txBox="1"/>
          <p:nvPr/>
        </p:nvSpPr>
        <p:spPr>
          <a:xfrm>
            <a:off x="8556933" y="1233431"/>
            <a:ext cx="332077" cy="166038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038"/>
              </a:lnSpc>
              <a:spcBef>
                <a:spcPts val="0"/>
              </a:spcBef>
              <a:spcAft>
                <a:spcPts val="0"/>
              </a:spcAft>
              <a:defRPr sz="887" b="1" i="0" lang="zh-CN" dirty="0">
                <a:solidFill>
                  <a:srgbClr val="8A9199"/>
                </a:solidFill>
                <a:latin typeface="DejaVu Sans"/>
                <a:ea typeface="DejaVu Sans"/>
                <a:cs typeface="DejaVu Sans"/>
              </a:defRPr>
            </a:pPr>
            <a:r>
              <a:rPr sz="887" b="1" i="0" lang="zh-CN" dirty="0">
                <a:solidFill>
                  <a:srgbClr val="8A9199"/>
                </a:solidFill>
                <a:latin typeface="DejaVu Sans"/>
                <a:ea typeface="DejaVu Sans"/>
                <a:cs typeface="DejaVu Sans"/>
              </a:rPr>
              <a:t>05</a:t>
            </a:r>
          </a:p>
        </p:txBody>
      </p:sp>
      <p:pic>
        <p:nvPicPr>
          <p:cNvPr id="35" name="n5_ic" descr="exact crop of the generated raster (line motif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46692" y="2602392"/>
            <a:ext cx="699735" cy="665877"/>
          </a:xfrm>
          <a:prstGeom prst="rect">
            <a:avLst/>
          </a:prstGeom>
          <a:effectLst/>
        </p:spPr>
      </p:pic>
      <p:sp>
        <p:nvSpPr>
          <p:cNvPr id="36" name="n6" descr="Editable shape; source id n6"/>
          <p:cNvSpPr/>
          <p:nvPr/>
        </p:nvSpPr>
        <p:spPr>
          <a:xfrm>
            <a:off x="10555330" y="1126692"/>
            <a:ext cx="1269011" cy="2490583"/>
          </a:xfrm>
          <a:prstGeom prst="roundRect">
            <a:avLst>
              <a:gd name="adj" fmla="val 4672"/>
            </a:avLst>
          </a:prstGeom>
          <a:solidFill>
            <a:srgbClr val="FFFFFF"/>
          </a:solidFill>
          <a:ln w="8894">
            <a:solidFill>
              <a:srgbClr val="1F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n6_s" descr="Editable shape; source id n6_s"/>
          <p:cNvSpPr/>
          <p:nvPr/>
        </p:nvSpPr>
        <p:spPr>
          <a:xfrm>
            <a:off x="10555330" y="1126692"/>
            <a:ext cx="1269011" cy="47439"/>
          </a:xfrm>
          <a:prstGeom prst="roundRect">
            <a:avLst>
              <a:gd name="adj" fmla="val 50000"/>
            </a:avLst>
          </a:prstGeom>
          <a:solidFill>
            <a:srgbClr val="1F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n6_t" descr="Editable text; source id n6_t"/>
          <p:cNvSpPr txBox="1"/>
          <p:nvPr/>
        </p:nvSpPr>
        <p:spPr>
          <a:xfrm>
            <a:off x="10638349" y="1482490"/>
            <a:ext cx="1102972" cy="219408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692"/>
              </a:lnSpc>
              <a:spcBef>
                <a:spcPts val="0"/>
              </a:spcBef>
              <a:spcAft>
                <a:spcPts val="0"/>
              </a:spcAft>
              <a:defRPr sz="1167" b="1" i="0" lang="zh-CN" dirty="0">
                <a:solidFill>
                  <a:srgbClr val="0F4F5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67" b="1" i="0" lang="zh-CN" dirty="0">
                <a:solidFill>
                  <a:srgbClr val="0F4F58"/>
                </a:solidFill>
                <a:latin typeface="Noto Sans CJK SC"/>
                <a:ea typeface="Noto Sans CJK SC"/>
                <a:cs typeface="Noto Sans CJK SC"/>
              </a:rPr>
              <a:t>实验优先级</a:t>
            </a:r>
          </a:p>
        </p:txBody>
      </p:sp>
      <p:sp>
        <p:nvSpPr>
          <p:cNvPr id="39" name="n6_k0" descr="Editable text; source id n6_k0"/>
          <p:cNvSpPr txBox="1"/>
          <p:nvPr/>
        </p:nvSpPr>
        <p:spPr>
          <a:xfrm>
            <a:off x="10638349" y="1749338"/>
            <a:ext cx="1102972" cy="171968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214"/>
              </a:lnSpc>
              <a:spcBef>
                <a:spcPts val="0"/>
              </a:spcBef>
              <a:spcAft>
                <a:spcPts val="0"/>
              </a:spcAft>
              <a:defRPr sz="828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28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rPr>
              <a:t>相图</a:t>
            </a:r>
            <a:r>
              <a:rPr sz="828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rPr>
              <a:t> · </a:t>
            </a:r>
            <a:r>
              <a:rPr sz="828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rPr>
              <a:t>结构</a:t>
            </a:r>
            <a:r>
              <a:rPr sz="828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rPr>
              <a:t> · </a:t>
            </a:r>
            <a:r>
              <a:rPr sz="828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rPr>
              <a:t>热力学</a:t>
            </a:r>
          </a:p>
        </p:txBody>
      </p:sp>
      <p:sp>
        <p:nvSpPr>
          <p:cNvPr id="40" name="n6_n" descr="Editable text; source id n6_n"/>
          <p:cNvSpPr txBox="1"/>
          <p:nvPr/>
        </p:nvSpPr>
        <p:spPr>
          <a:xfrm>
            <a:off x="10650209" y="1233431"/>
            <a:ext cx="332077" cy="166038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038"/>
              </a:lnSpc>
              <a:spcBef>
                <a:spcPts val="0"/>
              </a:spcBef>
              <a:spcAft>
                <a:spcPts val="0"/>
              </a:spcAft>
              <a:defRPr sz="887" b="1" i="0" lang="zh-CN" dirty="0">
                <a:solidFill>
                  <a:srgbClr val="8A9199"/>
                </a:solidFill>
                <a:latin typeface="DejaVu Sans"/>
                <a:ea typeface="DejaVu Sans"/>
                <a:cs typeface="DejaVu Sans"/>
              </a:defRPr>
            </a:pPr>
            <a:r>
              <a:rPr sz="887" b="1" i="0" lang="zh-CN" dirty="0">
                <a:solidFill>
                  <a:srgbClr val="8A9199"/>
                </a:solidFill>
                <a:latin typeface="DejaVu Sans"/>
                <a:ea typeface="DejaVu Sans"/>
                <a:cs typeface="DejaVu Sans"/>
              </a:rPr>
              <a:t>06</a:t>
            </a:r>
          </a:p>
        </p:txBody>
      </p:sp>
      <p:pic>
        <p:nvPicPr>
          <p:cNvPr id="41" name="n6_ic" descr="exact crop of the generated raster (line motif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39968" y="2522486"/>
            <a:ext cx="699735" cy="825687"/>
          </a:xfrm>
          <a:prstGeom prst="rect">
            <a:avLst/>
          </a:prstGeom>
          <a:effectLst/>
        </p:spPr>
      </p:pic>
      <p:sp>
        <p:nvSpPr>
          <p:cNvPr id="42" name="e0_p" descr="Editable shape; source id e0_p"/>
          <p:cNvSpPr/>
          <p:nvPr/>
        </p:nvSpPr>
        <p:spPr>
          <a:xfrm>
            <a:off x="1767128" y="2253385"/>
            <a:ext cx="664155" cy="24312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115">
            <a:solidFill>
              <a:srgbClr val="C6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e0_p_t" descr="Editable text; source id e0_p_t"/>
          <p:cNvSpPr txBox="1"/>
          <p:nvPr/>
        </p:nvSpPr>
        <p:spPr>
          <a:xfrm>
            <a:off x="1838287" y="2277105"/>
            <a:ext cx="521836" cy="183828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225"/>
              </a:lnSpc>
              <a:spcBef>
                <a:spcPts val="0"/>
              </a:spcBef>
              <a:spcAft>
                <a:spcPts val="0"/>
              </a:spcAft>
              <a:defRPr sz="840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40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rPr>
              <a:t>结构约束</a:t>
            </a:r>
          </a:p>
        </p:txBody>
      </p:sp>
      <p:sp>
        <p:nvSpPr>
          <p:cNvPr id="44" name="e0_0" descr="Editable line; source id e0_0"/>
          <p:cNvSpPr/>
          <p:nvPr/>
        </p:nvSpPr>
        <p:spPr>
          <a:xfrm>
            <a:off x="1707829" y="2339370"/>
            <a:ext cx="776825" cy="65230"/>
          </a:xfrm>
          <a:custGeom>
            <a:avLst/>
            <a:gdLst/>
            <a:ahLst/>
            <a:cxnLst/>
            <a:rect l="l" t="t" r="r" b="b"/>
            <a:pathLst>
              <a:path w="131000" h="11000">
                <a:moveTo>
                  <a:pt x="0" y="4500"/>
                </a:moveTo>
                <a:lnTo>
                  <a:pt x="118000" y="4500"/>
                </a:lnTo>
                <a:lnTo>
                  <a:pt x="118000" y="0"/>
                </a:lnTo>
                <a:lnTo>
                  <a:pt x="131000" y="5500"/>
                </a:lnTo>
                <a:lnTo>
                  <a:pt x="118000" y="11000"/>
                </a:lnTo>
                <a:lnTo>
                  <a:pt x="118000" y="6500"/>
                </a:lnTo>
                <a:lnTo>
                  <a:pt x="0" y="6500"/>
                </a:lnTo>
                <a:close/>
              </a:path>
            </a:pathLst>
          </a:custGeom>
          <a:solidFill>
            <a:srgbClr val="4B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e1_p" descr="Editable shape; source id e1_p"/>
          <p:cNvSpPr/>
          <p:nvPr/>
        </p:nvSpPr>
        <p:spPr>
          <a:xfrm>
            <a:off x="3854474" y="2253385"/>
            <a:ext cx="664155" cy="24312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115">
            <a:solidFill>
              <a:srgbClr val="C6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e1_p_t" descr="Editable text; source id e1_p_t"/>
          <p:cNvSpPr txBox="1"/>
          <p:nvPr/>
        </p:nvSpPr>
        <p:spPr>
          <a:xfrm>
            <a:off x="3925634" y="2277105"/>
            <a:ext cx="521836" cy="183828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225"/>
              </a:lnSpc>
              <a:spcBef>
                <a:spcPts val="0"/>
              </a:spcBef>
              <a:spcAft>
                <a:spcPts val="0"/>
              </a:spcAft>
              <a:defRPr sz="840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40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rPr>
              <a:t>条件窗口</a:t>
            </a:r>
          </a:p>
        </p:txBody>
      </p:sp>
      <p:sp>
        <p:nvSpPr>
          <p:cNvPr id="47" name="e1_0" descr="Editable line; source id e1_0"/>
          <p:cNvSpPr/>
          <p:nvPr/>
        </p:nvSpPr>
        <p:spPr>
          <a:xfrm>
            <a:off x="3801105" y="2339370"/>
            <a:ext cx="776825" cy="65230"/>
          </a:xfrm>
          <a:custGeom>
            <a:avLst/>
            <a:gdLst/>
            <a:ahLst/>
            <a:cxnLst/>
            <a:rect l="l" t="t" r="r" b="b"/>
            <a:pathLst>
              <a:path w="131000" h="11000">
                <a:moveTo>
                  <a:pt x="0" y="4500"/>
                </a:moveTo>
                <a:lnTo>
                  <a:pt x="118000" y="4500"/>
                </a:lnTo>
                <a:lnTo>
                  <a:pt x="118000" y="0"/>
                </a:lnTo>
                <a:lnTo>
                  <a:pt x="131000" y="5500"/>
                </a:lnTo>
                <a:lnTo>
                  <a:pt x="118000" y="11000"/>
                </a:lnTo>
                <a:lnTo>
                  <a:pt x="118000" y="6500"/>
                </a:lnTo>
                <a:lnTo>
                  <a:pt x="0" y="6500"/>
                </a:lnTo>
                <a:close/>
              </a:path>
            </a:pathLst>
          </a:custGeom>
          <a:solidFill>
            <a:srgbClr val="4B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e2_p" descr="Editable shape; source id e2_p"/>
          <p:cNvSpPr/>
          <p:nvPr/>
        </p:nvSpPr>
        <p:spPr>
          <a:xfrm>
            <a:off x="5734272" y="2253385"/>
            <a:ext cx="770894" cy="24312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115">
            <a:solidFill>
              <a:srgbClr val="C6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e2_p_t" descr="Editable text; source id e2_p_t"/>
          <p:cNvSpPr txBox="1"/>
          <p:nvPr/>
        </p:nvSpPr>
        <p:spPr>
          <a:xfrm>
            <a:off x="5805431" y="2277105"/>
            <a:ext cx="628575" cy="183828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225"/>
              </a:lnSpc>
              <a:spcBef>
                <a:spcPts val="0"/>
              </a:spcBef>
              <a:spcAft>
                <a:spcPts val="0"/>
              </a:spcAft>
              <a:defRPr sz="840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40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rPr>
              <a:t>可迁移变量</a:t>
            </a:r>
          </a:p>
        </p:txBody>
      </p:sp>
      <p:sp>
        <p:nvSpPr>
          <p:cNvPr id="50" name="e2_0" descr="Editable line; source id e2_0"/>
          <p:cNvSpPr/>
          <p:nvPr/>
        </p:nvSpPr>
        <p:spPr>
          <a:xfrm>
            <a:off x="5894381" y="2339370"/>
            <a:ext cx="450677" cy="65230"/>
          </a:xfrm>
          <a:custGeom>
            <a:avLst/>
            <a:gdLst/>
            <a:ahLst/>
            <a:cxnLst/>
            <a:rect l="l" t="t" r="r" b="b"/>
            <a:pathLst>
              <a:path w="76000" h="11000">
                <a:moveTo>
                  <a:pt x="0" y="4500"/>
                </a:moveTo>
                <a:lnTo>
                  <a:pt x="63000" y="4500"/>
                </a:lnTo>
                <a:lnTo>
                  <a:pt x="63000" y="0"/>
                </a:lnTo>
                <a:lnTo>
                  <a:pt x="76000" y="5500"/>
                </a:lnTo>
                <a:lnTo>
                  <a:pt x="63000" y="11000"/>
                </a:lnTo>
                <a:lnTo>
                  <a:pt x="63000" y="6500"/>
                </a:lnTo>
                <a:lnTo>
                  <a:pt x="0" y="6500"/>
                </a:lnTo>
                <a:close/>
              </a:path>
            </a:pathLst>
          </a:custGeom>
          <a:solidFill>
            <a:srgbClr val="4B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e3_p" descr="Editable shape; source id e3_p"/>
          <p:cNvSpPr/>
          <p:nvPr/>
        </p:nvSpPr>
        <p:spPr>
          <a:xfrm>
            <a:off x="7720809" y="2253385"/>
            <a:ext cx="664155" cy="24312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115">
            <a:solidFill>
              <a:srgbClr val="C6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e3_p_t" descr="Editable text; source id e3_p_t"/>
          <p:cNvSpPr txBox="1"/>
          <p:nvPr/>
        </p:nvSpPr>
        <p:spPr>
          <a:xfrm>
            <a:off x="7791968" y="2277105"/>
            <a:ext cx="521836" cy="183828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225"/>
              </a:lnSpc>
              <a:spcBef>
                <a:spcPts val="0"/>
              </a:spcBef>
              <a:spcAft>
                <a:spcPts val="0"/>
              </a:spcAft>
              <a:defRPr sz="840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40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rPr>
              <a:t>比较边界</a:t>
            </a:r>
          </a:p>
        </p:txBody>
      </p:sp>
      <p:sp>
        <p:nvSpPr>
          <p:cNvPr id="53" name="e3_0" descr="Editable line; source id e3_0"/>
          <p:cNvSpPr/>
          <p:nvPr/>
        </p:nvSpPr>
        <p:spPr>
          <a:xfrm>
            <a:off x="7661510" y="2339370"/>
            <a:ext cx="776825" cy="65230"/>
          </a:xfrm>
          <a:custGeom>
            <a:avLst/>
            <a:gdLst/>
            <a:ahLst/>
            <a:cxnLst/>
            <a:rect l="l" t="t" r="r" b="b"/>
            <a:pathLst>
              <a:path w="131000" h="11000">
                <a:moveTo>
                  <a:pt x="0" y="4500"/>
                </a:moveTo>
                <a:lnTo>
                  <a:pt x="118000" y="4500"/>
                </a:lnTo>
                <a:lnTo>
                  <a:pt x="118000" y="0"/>
                </a:lnTo>
                <a:lnTo>
                  <a:pt x="131000" y="5500"/>
                </a:lnTo>
                <a:lnTo>
                  <a:pt x="118000" y="11000"/>
                </a:lnTo>
                <a:lnTo>
                  <a:pt x="118000" y="6500"/>
                </a:lnTo>
                <a:lnTo>
                  <a:pt x="0" y="6500"/>
                </a:lnTo>
                <a:close/>
              </a:path>
            </a:pathLst>
          </a:custGeom>
          <a:solidFill>
            <a:srgbClr val="4B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e4_p" descr="Editable shape; source id e4_p"/>
          <p:cNvSpPr/>
          <p:nvPr/>
        </p:nvSpPr>
        <p:spPr>
          <a:xfrm>
            <a:off x="9808155" y="2253385"/>
            <a:ext cx="664155" cy="24312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115">
            <a:solidFill>
              <a:srgbClr val="C6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e4_p_t" descr="Editable text; source id e4_p_t"/>
          <p:cNvSpPr txBox="1"/>
          <p:nvPr/>
        </p:nvSpPr>
        <p:spPr>
          <a:xfrm>
            <a:off x="9879314" y="2277105"/>
            <a:ext cx="521836" cy="183828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225"/>
              </a:lnSpc>
              <a:spcBef>
                <a:spcPts val="0"/>
              </a:spcBef>
              <a:spcAft>
                <a:spcPts val="0"/>
              </a:spcAft>
              <a:defRPr sz="840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40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rPr>
              <a:t>缺口驱动</a:t>
            </a:r>
          </a:p>
        </p:txBody>
      </p:sp>
      <p:sp>
        <p:nvSpPr>
          <p:cNvPr id="56" name="e4_0" descr="Editable line; source id e4_0"/>
          <p:cNvSpPr/>
          <p:nvPr/>
        </p:nvSpPr>
        <p:spPr>
          <a:xfrm>
            <a:off x="9754786" y="2339370"/>
            <a:ext cx="776825" cy="65230"/>
          </a:xfrm>
          <a:custGeom>
            <a:avLst/>
            <a:gdLst/>
            <a:ahLst/>
            <a:cxnLst/>
            <a:rect l="l" t="t" r="r" b="b"/>
            <a:pathLst>
              <a:path w="131000" h="11000">
                <a:moveTo>
                  <a:pt x="0" y="4500"/>
                </a:moveTo>
                <a:lnTo>
                  <a:pt x="118000" y="4500"/>
                </a:lnTo>
                <a:lnTo>
                  <a:pt x="118000" y="0"/>
                </a:lnTo>
                <a:lnTo>
                  <a:pt x="131000" y="5500"/>
                </a:lnTo>
                <a:lnTo>
                  <a:pt x="118000" y="11000"/>
                </a:lnTo>
                <a:lnTo>
                  <a:pt x="118000" y="6500"/>
                </a:lnTo>
                <a:lnTo>
                  <a:pt x="0" y="6500"/>
                </a:lnTo>
                <a:close/>
              </a:path>
            </a:pathLst>
          </a:custGeom>
          <a:solidFill>
            <a:srgbClr val="4B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Editable reconstruction</dc:title>
  <dc:subject>Reconstructed from source images; see validation and font manifest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