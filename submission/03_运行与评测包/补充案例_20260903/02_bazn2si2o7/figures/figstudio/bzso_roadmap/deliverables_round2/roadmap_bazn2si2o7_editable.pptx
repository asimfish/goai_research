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063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综述路线图（super_teaser 第二轮 F03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1" descr="Editable shape; source id n1"/>
          <p:cNvSpPr/>
          <p:nvPr/>
        </p:nvSpPr>
        <p:spPr>
          <a:xfrm>
            <a:off x="230143" y="875668"/>
            <a:ext cx="1358408" cy="2194784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4033">
            <a:solidFill>
              <a:srgbClr val="4A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_n" descr="Editable text; source id n1_n"/>
          <p:cNvSpPr txBox="1"/>
          <p:nvPr/>
        </p:nvSpPr>
        <p:spPr>
          <a:xfrm>
            <a:off x="319955" y="943027"/>
            <a:ext cx="392928" cy="1908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def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n1_t" descr="Editable text; source id n1_t"/>
          <p:cNvSpPr txBox="1"/>
          <p:nvPr/>
        </p:nvSpPr>
        <p:spPr>
          <a:xfrm>
            <a:off x="286276" y="1279823"/>
            <a:ext cx="1246143" cy="33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def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结构基础</a:t>
            </a:r>
          </a:p>
        </p:txBody>
      </p:sp>
      <p:sp>
        <p:nvSpPr>
          <p:cNvPr id="5" name="n1_s" descr="Editable text; source id n1_s"/>
          <p:cNvSpPr txBox="1"/>
          <p:nvPr/>
        </p:nvSpPr>
        <p:spPr>
          <a:xfrm>
            <a:off x="275049" y="1661524"/>
            <a:ext cx="1268596" cy="2245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低温与高温多晶型</a:t>
            </a:r>
          </a:p>
        </p:txBody>
      </p:sp>
      <p:pic>
        <p:nvPicPr>
          <p:cNvPr id="6" name="n1_i" descr="exact crop of source page_001 (monochrome line motif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95" y="2104972"/>
            <a:ext cx="1178784" cy="813922"/>
          </a:xfrm>
          <a:prstGeom prst="rect">
            <a:avLst/>
          </a:prstGeom>
          <a:effectLst/>
        </p:spPr>
      </p:pic>
      <p:sp>
        <p:nvSpPr>
          <p:cNvPr id="7" name="n2" descr="Editable shape; source id n2"/>
          <p:cNvSpPr/>
          <p:nvPr/>
        </p:nvSpPr>
        <p:spPr>
          <a:xfrm>
            <a:off x="2234077" y="875668"/>
            <a:ext cx="1414541" cy="2194784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4033">
            <a:solidFill>
              <a:srgbClr val="4A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2_n" descr="Editable text; source id n2_n"/>
          <p:cNvSpPr txBox="1"/>
          <p:nvPr/>
        </p:nvSpPr>
        <p:spPr>
          <a:xfrm>
            <a:off x="2323889" y="943027"/>
            <a:ext cx="392928" cy="1908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def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n2_t" descr="Editable text; source id n2_t"/>
          <p:cNvSpPr txBox="1"/>
          <p:nvPr/>
        </p:nvSpPr>
        <p:spPr>
          <a:xfrm>
            <a:off x="2290209" y="1279823"/>
            <a:ext cx="1302276" cy="33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def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sp>
        <p:nvSpPr>
          <p:cNvPr id="10" name="n2_s" descr="Editable text; source id n2_s"/>
          <p:cNvSpPr txBox="1"/>
          <p:nvPr/>
        </p:nvSpPr>
        <p:spPr>
          <a:xfrm>
            <a:off x="2278983" y="1661524"/>
            <a:ext cx="1324729" cy="2245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063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063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pic>
        <p:nvPicPr>
          <p:cNvPr id="11" name="n2_i" descr="exact crop of source page_001 (monochrome line motif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033" y="2172331"/>
            <a:ext cx="785856" cy="757790"/>
          </a:xfrm>
          <a:prstGeom prst="rect">
            <a:avLst/>
          </a:prstGeom>
          <a:effectLst/>
        </p:spPr>
      </p:pic>
      <p:sp>
        <p:nvSpPr>
          <p:cNvPr id="12" name="n3" descr="Editable shape; source id n3"/>
          <p:cNvSpPr/>
          <p:nvPr/>
        </p:nvSpPr>
        <p:spPr>
          <a:xfrm>
            <a:off x="4294143" y="875668"/>
            <a:ext cx="1403314" cy="2194784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4033">
            <a:solidFill>
              <a:srgbClr val="4A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3_n" descr="Editable text; source id n3_n"/>
          <p:cNvSpPr txBox="1"/>
          <p:nvPr/>
        </p:nvSpPr>
        <p:spPr>
          <a:xfrm>
            <a:off x="4383955" y="943027"/>
            <a:ext cx="392928" cy="1908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def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n3_t" descr="Editable text; source id n3_t"/>
          <p:cNvSpPr txBox="1"/>
          <p:nvPr/>
        </p:nvSpPr>
        <p:spPr>
          <a:xfrm>
            <a:off x="4350276" y="1279823"/>
            <a:ext cx="1291049" cy="33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def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相控制</a:t>
            </a:r>
          </a:p>
        </p:txBody>
      </p:sp>
      <p:sp>
        <p:nvSpPr>
          <p:cNvPr id="15" name="n3_s" descr="Editable text; source id n3_s"/>
          <p:cNvSpPr txBox="1"/>
          <p:nvPr/>
        </p:nvSpPr>
        <p:spPr>
          <a:xfrm>
            <a:off x="4339049" y="1661524"/>
            <a:ext cx="1313502" cy="2245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组成</a:t>
            </a:r>
            <a:r>
              <a:rPr sz="1063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热处理</a:t>
            </a:r>
          </a:p>
        </p:txBody>
      </p:sp>
      <p:pic>
        <p:nvPicPr>
          <p:cNvPr id="16" name="n3_i" descr="exact crop of source page_001 (monochrome line motif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3767" y="2060066"/>
            <a:ext cx="1044066" cy="886895"/>
          </a:xfrm>
          <a:prstGeom prst="rect">
            <a:avLst/>
          </a:prstGeom>
          <a:effectLst/>
        </p:spPr>
      </p:pic>
      <p:sp>
        <p:nvSpPr>
          <p:cNvPr id="17" name="n4" descr="Editable shape; source id n4"/>
          <p:cNvSpPr/>
          <p:nvPr/>
        </p:nvSpPr>
        <p:spPr>
          <a:xfrm>
            <a:off x="6382276" y="875668"/>
            <a:ext cx="1392088" cy="2194784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4033">
            <a:solidFill>
              <a:srgbClr val="4A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4_n" descr="Editable text; source id n4_n"/>
          <p:cNvSpPr txBox="1"/>
          <p:nvPr/>
        </p:nvSpPr>
        <p:spPr>
          <a:xfrm>
            <a:off x="6472088" y="943027"/>
            <a:ext cx="392928" cy="1908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def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9" name="n4_t" descr="Editable text; source id n4_t"/>
          <p:cNvSpPr txBox="1"/>
          <p:nvPr/>
        </p:nvSpPr>
        <p:spPr>
          <a:xfrm>
            <a:off x="6438408" y="1279823"/>
            <a:ext cx="1279823" cy="33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def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sp>
        <p:nvSpPr>
          <p:cNvPr id="20" name="n4_s" descr="Editable text; source id n4_s"/>
          <p:cNvSpPr txBox="1"/>
          <p:nvPr/>
        </p:nvSpPr>
        <p:spPr>
          <a:xfrm>
            <a:off x="6427182" y="1661524"/>
            <a:ext cx="1302276" cy="2245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defRPr sz="1063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defRPr>
            </a:pPr>
            <a:r>
              <a:rPr sz="1063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Ba–Sr–Zn–Si</a:t>
            </a:r>
          </a:p>
        </p:txBody>
      </p:sp>
      <p:pic>
        <p:nvPicPr>
          <p:cNvPr id="21" name="n4_i" descr="exact crop of source page_001 (monochrome line motif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325" y="2104972"/>
            <a:ext cx="853215" cy="785856"/>
          </a:xfrm>
          <a:prstGeom prst="rect">
            <a:avLst/>
          </a:prstGeom>
          <a:effectLst/>
        </p:spPr>
      </p:pic>
      <p:sp>
        <p:nvSpPr>
          <p:cNvPr id="22" name="n5" descr="Editable shape; source id n5"/>
          <p:cNvSpPr/>
          <p:nvPr/>
        </p:nvSpPr>
        <p:spPr>
          <a:xfrm>
            <a:off x="8414276" y="875668"/>
            <a:ext cx="1504353" cy="2194784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14033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5_n" descr="Editable text; source id n5_n"/>
          <p:cNvSpPr txBox="1"/>
          <p:nvPr/>
        </p:nvSpPr>
        <p:spPr>
          <a:xfrm>
            <a:off x="8504088" y="943027"/>
            <a:ext cx="392928" cy="1908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def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4" name="n5_t" descr="Editable text; source id n5_t"/>
          <p:cNvSpPr txBox="1"/>
          <p:nvPr/>
        </p:nvSpPr>
        <p:spPr>
          <a:xfrm>
            <a:off x="8470408" y="1279823"/>
            <a:ext cx="1392088" cy="33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def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类似物判据</a:t>
            </a:r>
          </a:p>
        </p:txBody>
      </p:sp>
      <p:sp>
        <p:nvSpPr>
          <p:cNvPr id="25" name="n5_s" descr="Editable text; source id n5_s"/>
          <p:cNvSpPr txBox="1"/>
          <p:nvPr/>
        </p:nvSpPr>
        <p:spPr>
          <a:xfrm>
            <a:off x="8459182" y="1661524"/>
            <a:ext cx="1414541" cy="2245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defRPr sz="1063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defRPr>
            </a:pPr>
            <a:r>
              <a:rPr sz="1063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pic>
        <p:nvPicPr>
          <p:cNvPr id="26" name="n5_i" descr="exact crop of source page_001 (monochrome line motif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1259" y="2093745"/>
            <a:ext cx="1027226" cy="853215"/>
          </a:xfrm>
          <a:prstGeom prst="rect">
            <a:avLst/>
          </a:prstGeom>
          <a:effectLst/>
        </p:spPr>
      </p:pic>
      <p:sp>
        <p:nvSpPr>
          <p:cNvPr id="27" name="n6" descr="Editable shape; source id n6"/>
          <p:cNvSpPr/>
          <p:nvPr/>
        </p:nvSpPr>
        <p:spPr>
          <a:xfrm>
            <a:off x="10564154" y="875668"/>
            <a:ext cx="1408928" cy="2194784"/>
          </a:xfrm>
          <a:prstGeom prst="roundRect">
            <a:avLst>
              <a:gd name="adj" fmla="val 5577"/>
            </a:avLst>
          </a:prstGeom>
          <a:solidFill>
            <a:srgbClr val="FFFFFF"/>
          </a:solidFill>
          <a:ln w="14033">
            <a:solidFill>
              <a:srgbClr val="4A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6_n" descr="Editable text; source id n6_n"/>
          <p:cNvSpPr txBox="1"/>
          <p:nvPr/>
        </p:nvSpPr>
        <p:spPr>
          <a:xfrm>
            <a:off x="10653966" y="943027"/>
            <a:ext cx="392928" cy="1908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38"/>
              </a:lnSpc>
              <a:spcBef>
                <a:spcPts val="0"/>
              </a:spcBef>
              <a:spcAft>
                <a:spcPts val="0"/>
              </a:spcAft>
              <a:def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defRPr>
            </a:pPr>
            <a:r>
              <a:rPr sz="972" b="1" i="0" lang="zh-CN" dirty="0">
                <a:solidFill>
                  <a:srgbClr val="8A919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9" name="n6_t" descr="Editable text; source id n6_t"/>
          <p:cNvSpPr txBox="1"/>
          <p:nvPr/>
        </p:nvSpPr>
        <p:spPr>
          <a:xfrm>
            <a:off x="10620287" y="1279823"/>
            <a:ext cx="1296662" cy="33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def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67" b="1" i="0" lang="zh-CN" dirty="0">
                <a:solidFill>
                  <a:srgbClr val="1F2326"/>
                </a:solidFill>
                <a:latin typeface="Noto Sans CJK SC"/>
                <a:ea typeface="Noto Sans CJK SC"/>
                <a:cs typeface="Noto Sans CJK SC"/>
              </a:rPr>
              <a:t>实验优先级</a:t>
            </a:r>
          </a:p>
        </p:txBody>
      </p:sp>
      <p:sp>
        <p:nvSpPr>
          <p:cNvPr id="30" name="n6_s" descr="Editable text; source id n6_s"/>
          <p:cNvSpPr txBox="1"/>
          <p:nvPr/>
        </p:nvSpPr>
        <p:spPr>
          <a:xfrm>
            <a:off x="10609060" y="1661524"/>
            <a:ext cx="1319115" cy="2245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相图</a:t>
            </a:r>
            <a:r>
              <a:rPr sz="1063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1063" b="0" i="0" lang="zh-CN" dirty="0">
                <a:solidFill>
                  <a:srgbClr val="3A4046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热力学</a:t>
            </a:r>
          </a:p>
        </p:txBody>
      </p:sp>
      <p:pic>
        <p:nvPicPr>
          <p:cNvPr id="31" name="n6_i" descr="exact crop of source page_001 (monochrome line motif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1137" y="2093745"/>
            <a:ext cx="1066519" cy="841988"/>
          </a:xfrm>
          <a:prstGeom prst="rect">
            <a:avLst/>
          </a:prstGeom>
          <a:effectLst/>
        </p:spPr>
      </p:pic>
      <p:sp>
        <p:nvSpPr>
          <p:cNvPr id="32" name="e0" descr="Editable line; source id e0"/>
          <p:cNvSpPr/>
          <p:nvPr/>
        </p:nvSpPr>
        <p:spPr>
          <a:xfrm>
            <a:off x="1644685" y="1813083"/>
            <a:ext cx="533260" cy="101039"/>
          </a:xfrm>
          <a:custGeom>
            <a:avLst/>
            <a:gdLst/>
            <a:ahLst/>
            <a:cxnLst/>
            <a:rect l="l" t="t" r="r" b="b"/>
            <a:pathLst>
              <a:path w="95000" h="18000">
                <a:moveTo>
                  <a:pt x="0" y="6500"/>
                </a:moveTo>
                <a:lnTo>
                  <a:pt x="77000" y="6500"/>
                </a:lnTo>
                <a:lnTo>
                  <a:pt x="77000" y="0"/>
                </a:lnTo>
                <a:lnTo>
                  <a:pt x="95000" y="9000"/>
                </a:lnTo>
                <a:lnTo>
                  <a:pt x="77000" y="18000"/>
                </a:lnTo>
                <a:lnTo>
                  <a:pt x="770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0_l" descr="Editable text; source id e0_l"/>
          <p:cNvSpPr txBox="1"/>
          <p:nvPr/>
        </p:nvSpPr>
        <p:spPr>
          <a:xfrm>
            <a:off x="1650298" y="1605392"/>
            <a:ext cx="527646" cy="179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2"/>
              </a:lnSpc>
              <a:spcBef>
                <a:spcPts val="0"/>
              </a:spcBef>
              <a:spcAft>
                <a:spcPts val="0"/>
              </a:spcAft>
              <a:defRPr sz="88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结构约束</a:t>
            </a:r>
          </a:p>
        </p:txBody>
      </p:sp>
      <p:sp>
        <p:nvSpPr>
          <p:cNvPr id="34" name="e1" descr="Editable line; source id e1"/>
          <p:cNvSpPr/>
          <p:nvPr/>
        </p:nvSpPr>
        <p:spPr>
          <a:xfrm>
            <a:off x="3704751" y="1813083"/>
            <a:ext cx="533260" cy="101039"/>
          </a:xfrm>
          <a:custGeom>
            <a:avLst/>
            <a:gdLst/>
            <a:ahLst/>
            <a:cxnLst/>
            <a:rect l="l" t="t" r="r" b="b"/>
            <a:pathLst>
              <a:path w="95000" h="18000">
                <a:moveTo>
                  <a:pt x="0" y="6500"/>
                </a:moveTo>
                <a:lnTo>
                  <a:pt x="77000" y="6500"/>
                </a:lnTo>
                <a:lnTo>
                  <a:pt x="77000" y="0"/>
                </a:lnTo>
                <a:lnTo>
                  <a:pt x="95000" y="9000"/>
                </a:lnTo>
                <a:lnTo>
                  <a:pt x="77000" y="18000"/>
                </a:lnTo>
                <a:lnTo>
                  <a:pt x="770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1_l" descr="Editable text; source id e1_l"/>
          <p:cNvSpPr txBox="1"/>
          <p:nvPr/>
        </p:nvSpPr>
        <p:spPr>
          <a:xfrm>
            <a:off x="3704751" y="1605392"/>
            <a:ext cx="527646" cy="179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2"/>
              </a:lnSpc>
              <a:spcBef>
                <a:spcPts val="0"/>
              </a:spcBef>
              <a:spcAft>
                <a:spcPts val="0"/>
              </a:spcAft>
              <a:defRPr sz="88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条件窗口</a:t>
            </a:r>
          </a:p>
        </p:txBody>
      </p:sp>
      <p:sp>
        <p:nvSpPr>
          <p:cNvPr id="36" name="e2" descr="Editable line; source id e2"/>
          <p:cNvSpPr/>
          <p:nvPr/>
        </p:nvSpPr>
        <p:spPr>
          <a:xfrm>
            <a:off x="5753591" y="1813083"/>
            <a:ext cx="572552" cy="101039"/>
          </a:xfrm>
          <a:custGeom>
            <a:avLst/>
            <a:gdLst/>
            <a:ahLst/>
            <a:cxnLst/>
            <a:rect l="l" t="t" r="r" b="b"/>
            <a:pathLst>
              <a:path w="102000" h="18000">
                <a:moveTo>
                  <a:pt x="0" y="6500"/>
                </a:moveTo>
                <a:lnTo>
                  <a:pt x="84000" y="6500"/>
                </a:lnTo>
                <a:lnTo>
                  <a:pt x="84000" y="0"/>
                </a:lnTo>
                <a:lnTo>
                  <a:pt x="102000" y="9000"/>
                </a:lnTo>
                <a:lnTo>
                  <a:pt x="84000" y="18000"/>
                </a:lnTo>
                <a:lnTo>
                  <a:pt x="840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2_l" descr="Editable text; source id e2_l"/>
          <p:cNvSpPr txBox="1"/>
          <p:nvPr/>
        </p:nvSpPr>
        <p:spPr>
          <a:xfrm>
            <a:off x="5719911" y="1605392"/>
            <a:ext cx="639911" cy="179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2"/>
              </a:lnSpc>
              <a:spcBef>
                <a:spcPts val="0"/>
              </a:spcBef>
              <a:spcAft>
                <a:spcPts val="0"/>
              </a:spcAft>
              <a:defRPr sz="88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可迁移变量</a:t>
            </a:r>
          </a:p>
        </p:txBody>
      </p:sp>
      <p:sp>
        <p:nvSpPr>
          <p:cNvPr id="38" name="e3" descr="Editable line; source id e3"/>
          <p:cNvSpPr/>
          <p:nvPr/>
        </p:nvSpPr>
        <p:spPr>
          <a:xfrm>
            <a:off x="7830497" y="1813083"/>
            <a:ext cx="527646" cy="101039"/>
          </a:xfrm>
          <a:custGeom>
            <a:avLst/>
            <a:gdLst/>
            <a:ahLst/>
            <a:cxnLst/>
            <a:rect l="l" t="t" r="r" b="b"/>
            <a:pathLst>
              <a:path w="94000" h="18000">
                <a:moveTo>
                  <a:pt x="0" y="6500"/>
                </a:moveTo>
                <a:lnTo>
                  <a:pt x="76000" y="6500"/>
                </a:lnTo>
                <a:lnTo>
                  <a:pt x="76000" y="0"/>
                </a:lnTo>
                <a:lnTo>
                  <a:pt x="94000" y="9000"/>
                </a:lnTo>
                <a:lnTo>
                  <a:pt x="76000" y="18000"/>
                </a:lnTo>
                <a:lnTo>
                  <a:pt x="760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3_l" descr="Editable text; source id e3_l"/>
          <p:cNvSpPr txBox="1"/>
          <p:nvPr/>
        </p:nvSpPr>
        <p:spPr>
          <a:xfrm>
            <a:off x="7830497" y="1605392"/>
            <a:ext cx="527646" cy="179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2"/>
              </a:lnSpc>
              <a:spcBef>
                <a:spcPts val="0"/>
              </a:spcBef>
              <a:spcAft>
                <a:spcPts val="0"/>
              </a:spcAft>
              <a:defRPr sz="88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比较边界</a:t>
            </a:r>
          </a:p>
        </p:txBody>
      </p:sp>
      <p:sp>
        <p:nvSpPr>
          <p:cNvPr id="40" name="e4" descr="Editable line; source id e4"/>
          <p:cNvSpPr/>
          <p:nvPr/>
        </p:nvSpPr>
        <p:spPr>
          <a:xfrm>
            <a:off x="9974762" y="1813083"/>
            <a:ext cx="533260" cy="101039"/>
          </a:xfrm>
          <a:custGeom>
            <a:avLst/>
            <a:gdLst/>
            <a:ahLst/>
            <a:cxnLst/>
            <a:rect l="l" t="t" r="r" b="b"/>
            <a:pathLst>
              <a:path w="95000" h="18000">
                <a:moveTo>
                  <a:pt x="0" y="6500"/>
                </a:moveTo>
                <a:lnTo>
                  <a:pt x="77000" y="6500"/>
                </a:lnTo>
                <a:lnTo>
                  <a:pt x="77000" y="0"/>
                </a:lnTo>
                <a:lnTo>
                  <a:pt x="95000" y="9000"/>
                </a:lnTo>
                <a:lnTo>
                  <a:pt x="77000" y="18000"/>
                </a:lnTo>
                <a:lnTo>
                  <a:pt x="770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4_l" descr="Editable text; source id e4_l"/>
          <p:cNvSpPr txBox="1"/>
          <p:nvPr/>
        </p:nvSpPr>
        <p:spPr>
          <a:xfrm>
            <a:off x="9980375" y="1605392"/>
            <a:ext cx="527646" cy="179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2"/>
              </a:lnSpc>
              <a:spcBef>
                <a:spcPts val="0"/>
              </a:spcBef>
              <a:spcAft>
                <a:spcPts val="0"/>
              </a:spcAft>
              <a:defRPr sz="88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3" b="0" i="0" lang="zh-CN" dirty="0">
                <a:solidFill>
                  <a:srgbClr val="3A4046"/>
                </a:solidFill>
                <a:latin typeface="Noto Sans CJK SC"/>
                <a:ea typeface="Noto Sans CJK SC"/>
                <a:cs typeface="Noto Sans CJK SC"/>
              </a:rPr>
              <a:t>缺口驱动</a:t>
            </a:r>
          </a:p>
        </p:txBody>
      </p:sp>
      <p:cxnSp>
        <p:nvCxnSpPr>
          <p:cNvPr id="42" name="base" descr="Editable line; source id base"/>
          <p:cNvCxnSpPr/>
          <p:nvPr/>
        </p:nvCxnSpPr>
        <p:spPr>
          <a:xfrm>
            <a:off x="207690" y="3210784"/>
            <a:ext cx="11771005" cy="0"/>
          </a:xfrm>
          <a:prstGeom prst="line">
            <a:avLst/>
          </a:prstGeom>
          <a:ln w="22453">
            <a:solidFill>
              <a:srgbClr val="C9CF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