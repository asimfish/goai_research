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本文的研究路线（super_teaser S5 F01 → super_img2ppt 重建；两处连线按论文修正）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" descr="Editable shape; source id c1"/>
          <p:cNvSpPr/>
          <p:nvPr/>
        </p:nvSpPr>
        <p:spPr>
          <a:xfrm>
            <a:off x="214312" y="309562"/>
            <a:ext cx="2468562" cy="1928812"/>
          </a:xfrm>
          <a:prstGeom prst="roundRect">
            <a:avLst>
              <a:gd name="adj" fmla="val 5761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1_t" descr="Editable text; source id c1_t"/>
          <p:cNvSpPr txBox="1"/>
          <p:nvPr/>
        </p:nvSpPr>
        <p:spPr>
          <a:xfrm>
            <a:off x="317499" y="380999"/>
            <a:ext cx="2262187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文献依据</a:t>
            </a:r>
          </a:p>
        </p:txBody>
      </p:sp>
      <p:sp>
        <p:nvSpPr>
          <p:cNvPr id="4" name="c1_k0" descr="Editable shape; source id c1_k0"/>
          <p:cNvSpPr/>
          <p:nvPr/>
        </p:nvSpPr>
        <p:spPr>
          <a:xfrm>
            <a:off x="341312" y="769937"/>
            <a:ext cx="2238374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1_k0_t" descr="Editable text; source id c1_k0_t"/>
          <p:cNvSpPr txBox="1"/>
          <p:nvPr/>
        </p:nvSpPr>
        <p:spPr>
          <a:xfrm>
            <a:off x="388937" y="793749"/>
            <a:ext cx="21431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Ba–Y–Si–O </a:t>
            </a: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谱系</a:t>
            </a:r>
          </a:p>
        </p:txBody>
      </p:sp>
      <p:sp>
        <p:nvSpPr>
          <p:cNvPr id="6" name="c1_k1" descr="Editable shape; source id c1_k1"/>
          <p:cNvSpPr/>
          <p:nvPr/>
        </p:nvSpPr>
        <p:spPr>
          <a:xfrm>
            <a:off x="341312" y="1238249"/>
            <a:ext cx="2238374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1_k1_t" descr="Editable text; source id c1_k1_t"/>
          <p:cNvSpPr txBox="1"/>
          <p:nvPr/>
        </p:nvSpPr>
        <p:spPr>
          <a:xfrm>
            <a:off x="388937" y="1262062"/>
            <a:ext cx="21431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Ba–Zn–Si–O </a:t>
            </a: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结构近邻</a:t>
            </a:r>
          </a:p>
        </p:txBody>
      </p:sp>
      <p:sp>
        <p:nvSpPr>
          <p:cNvPr id="8" name="c1_k2" descr="Editable shape; source id c1_k2"/>
          <p:cNvSpPr/>
          <p:nvPr/>
        </p:nvSpPr>
        <p:spPr>
          <a:xfrm>
            <a:off x="341312" y="1706562"/>
            <a:ext cx="2238374" cy="404812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1_k2_t" descr="Editable text; source id c1_k2_t"/>
          <p:cNvSpPr txBox="1"/>
          <p:nvPr/>
        </p:nvSpPr>
        <p:spPr>
          <a:xfrm>
            <a:off x="388937" y="1730374"/>
            <a:ext cx="21431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Y–Si–O </a:t>
            </a: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工艺参照</a:t>
            </a:r>
          </a:p>
        </p:txBody>
      </p:sp>
      <p:sp>
        <p:nvSpPr>
          <p:cNvPr id="10" name="c1_c2" descr="Editable line; source id c1_c2"/>
          <p:cNvSpPr/>
          <p:nvPr/>
        </p:nvSpPr>
        <p:spPr>
          <a:xfrm>
            <a:off x="1381125" y="2254250"/>
            <a:ext cx="127000" cy="381000"/>
          </a:xfrm>
          <a:custGeom>
            <a:avLst/>
            <a:gdLst/>
            <a:ahLst/>
            <a:cxnLst/>
            <a:rect l="l" t="t" r="r" b="b"/>
            <a:pathLst>
              <a:path w="16000" h="48000">
                <a:moveTo>
                  <a:pt x="10500" y="0"/>
                </a:moveTo>
                <a:lnTo>
                  <a:pt x="10500" y="30000"/>
                </a:lnTo>
                <a:lnTo>
                  <a:pt x="16000" y="30000"/>
                </a:lnTo>
                <a:lnTo>
                  <a:pt x="8000" y="48000"/>
                </a:lnTo>
                <a:lnTo>
                  <a:pt x="0" y="30000"/>
                </a:lnTo>
                <a:lnTo>
                  <a:pt x="5500" y="30000"/>
                </a:lnTo>
                <a:lnTo>
                  <a:pt x="5500" y="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2" descr="Editable shape; source id c2"/>
          <p:cNvSpPr/>
          <p:nvPr/>
        </p:nvSpPr>
        <p:spPr>
          <a:xfrm>
            <a:off x="238124" y="2666999"/>
            <a:ext cx="2444749" cy="1936749"/>
          </a:xfrm>
          <a:prstGeom prst="roundRect">
            <a:avLst>
              <a:gd name="adj" fmla="val 5737"/>
            </a:avLst>
          </a:prstGeom>
          <a:solidFill>
            <a:srgbClr val="FBF3E3"/>
          </a:solidFill>
          <a:ln w="1984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2_t" descr="Editable text; source id c2_t"/>
          <p:cNvSpPr txBox="1"/>
          <p:nvPr/>
        </p:nvSpPr>
        <p:spPr>
          <a:xfrm>
            <a:off x="341312" y="2738437"/>
            <a:ext cx="2238374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结构假设</a:t>
            </a:r>
          </a:p>
        </p:txBody>
      </p:sp>
      <p:sp>
        <p:nvSpPr>
          <p:cNvPr id="13" name="c2_k0" descr="Editable shape; source id c2_k0"/>
          <p:cNvSpPr/>
          <p:nvPr/>
        </p:nvSpPr>
        <p:spPr>
          <a:xfrm>
            <a:off x="357187" y="3135312"/>
            <a:ext cx="2206624" cy="41274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2_k0_t" descr="Editable text; source id c2_k0_t"/>
          <p:cNvSpPr txBox="1"/>
          <p:nvPr/>
        </p:nvSpPr>
        <p:spPr>
          <a:xfrm>
            <a:off x="404812" y="3159124"/>
            <a:ext cx="21113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局部组成网格</a:t>
            </a:r>
          </a:p>
        </p:txBody>
      </p:sp>
      <p:sp>
        <p:nvSpPr>
          <p:cNvPr id="15" name="c2_k1" descr="Editable shape; source id c2_k1"/>
          <p:cNvSpPr/>
          <p:nvPr/>
        </p:nvSpPr>
        <p:spPr>
          <a:xfrm>
            <a:off x="357187" y="3603624"/>
            <a:ext cx="2206624" cy="41274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2_k1_t" descr="Editable text; source id c2_k1_t"/>
          <p:cNvSpPr txBox="1"/>
          <p:nvPr/>
        </p:nvSpPr>
        <p:spPr>
          <a:xfrm>
            <a:off x="404812" y="3619499"/>
            <a:ext cx="21113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Zn–Y–</a:t>
            </a: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氧计量耦合</a:t>
            </a:r>
          </a:p>
        </p:txBody>
      </p:sp>
      <p:sp>
        <p:nvSpPr>
          <p:cNvPr id="17" name="c2_k2" descr="Editable shape; source id c2_k2"/>
          <p:cNvSpPr/>
          <p:nvPr/>
        </p:nvSpPr>
        <p:spPr>
          <a:xfrm>
            <a:off x="357187" y="4063999"/>
            <a:ext cx="2206624" cy="41274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2_k2_t" descr="Editable text; source id c2_k2_t"/>
          <p:cNvSpPr txBox="1"/>
          <p:nvPr/>
        </p:nvSpPr>
        <p:spPr>
          <a:xfrm>
            <a:off x="404812" y="4087812"/>
            <a:ext cx="21113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竞争相与玻璃区</a:t>
            </a:r>
          </a:p>
        </p:txBody>
      </p:sp>
      <p:sp>
        <p:nvSpPr>
          <p:cNvPr id="19" name="c2_c3" descr="Editable line; source id c2_c3"/>
          <p:cNvSpPr/>
          <p:nvPr/>
        </p:nvSpPr>
        <p:spPr>
          <a:xfrm>
            <a:off x="1381125" y="4619625"/>
            <a:ext cx="127000" cy="388937"/>
          </a:xfrm>
          <a:custGeom>
            <a:avLst/>
            <a:gdLst/>
            <a:ahLst/>
            <a:cxnLst/>
            <a:rect l="l" t="t" r="r" b="b"/>
            <a:pathLst>
              <a:path w="16000" h="49000">
                <a:moveTo>
                  <a:pt x="10500" y="0"/>
                </a:moveTo>
                <a:lnTo>
                  <a:pt x="10500" y="31000"/>
                </a:lnTo>
                <a:lnTo>
                  <a:pt x="16000" y="31000"/>
                </a:lnTo>
                <a:lnTo>
                  <a:pt x="8000" y="49000"/>
                </a:lnTo>
                <a:lnTo>
                  <a:pt x="0" y="31000"/>
                </a:lnTo>
                <a:lnTo>
                  <a:pt x="5500" y="31000"/>
                </a:lnTo>
                <a:lnTo>
                  <a:pt x="5500" y="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3" descr="Editable shape; source id c3"/>
          <p:cNvSpPr/>
          <p:nvPr/>
        </p:nvSpPr>
        <p:spPr>
          <a:xfrm>
            <a:off x="246062" y="5040312"/>
            <a:ext cx="2420937" cy="2039937"/>
          </a:xfrm>
          <a:prstGeom prst="roundRect">
            <a:avLst>
              <a:gd name="adj" fmla="val 544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3_t" descr="Editable text; source id c3_t"/>
          <p:cNvSpPr txBox="1"/>
          <p:nvPr/>
        </p:nvSpPr>
        <p:spPr>
          <a:xfrm>
            <a:off x="317499" y="5127624"/>
            <a:ext cx="2278062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模型筛选的前驱体</a:t>
            </a:r>
          </a:p>
        </p:txBody>
      </p:sp>
      <p:sp>
        <p:nvSpPr>
          <p:cNvPr id="22" name="c3_k0" descr="Editable shape; source id c3_k0"/>
          <p:cNvSpPr/>
          <p:nvPr/>
        </p:nvSpPr>
        <p:spPr>
          <a:xfrm>
            <a:off x="357187" y="5540374"/>
            <a:ext cx="2206624" cy="41274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3_k0_t" descr="Editable text; source id c3_k0_t"/>
          <p:cNvSpPr txBox="1"/>
          <p:nvPr/>
        </p:nvSpPr>
        <p:spPr>
          <a:xfrm>
            <a:off x="404812" y="5564187"/>
            <a:ext cx="211137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8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sp>
        <p:nvSpPr>
          <p:cNvPr id="24" name="c3_k1" descr="Editable shape; source id c3_k1"/>
          <p:cNvSpPr/>
          <p:nvPr/>
        </p:nvSpPr>
        <p:spPr>
          <a:xfrm>
            <a:off x="357187" y="6008687"/>
            <a:ext cx="2206624" cy="420687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3_k1_t" descr="Editable text; source id c3_k1_t"/>
          <p:cNvSpPr txBox="1"/>
          <p:nvPr/>
        </p:nvSpPr>
        <p:spPr>
          <a:xfrm>
            <a:off x="404812" y="6032499"/>
            <a:ext cx="2111374" cy="373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8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26" name="c3_tag" descr="Editable shape; source id c3_tag"/>
          <p:cNvSpPr/>
          <p:nvPr/>
        </p:nvSpPr>
        <p:spPr>
          <a:xfrm>
            <a:off x="357187" y="6524624"/>
            <a:ext cx="2206624" cy="420687"/>
          </a:xfrm>
          <a:prstGeom prst="roundRect">
            <a:avLst>
              <a:gd name="adj" fmla="val 15094"/>
            </a:avLst>
          </a:prstGeom>
          <a:solidFill>
            <a:srgbClr val="F6E7C6"/>
          </a:solidFill>
          <a:ln w="15874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3_tag_t" descr="Editable text; source id c3_tag_t"/>
          <p:cNvSpPr txBox="1"/>
          <p:nvPr/>
        </p:nvSpPr>
        <p:spPr>
          <a:xfrm>
            <a:off x="404812" y="6548437"/>
            <a:ext cx="2111374" cy="373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35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模型排序</a:t>
            </a:r>
            <a:r>
              <a:rPr sz="1335" b="1" i="0" lang="zh-CN" dirty="0">
                <a:solidFill>
                  <a:srgbClr val="7A5A1C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335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验证</a:t>
            </a:r>
          </a:p>
        </p:txBody>
      </p:sp>
      <p:cxnSp>
        <p:nvCxnSpPr>
          <p:cNvPr id="28" name="fk_stub" descr="Editable line; source id fk_stub"/>
          <p:cNvCxnSpPr/>
          <p:nvPr/>
        </p:nvCxnSpPr>
        <p:spPr>
          <a:xfrm>
            <a:off x="2682874" y="6056312"/>
            <a:ext cx="492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fk_v" descr="Editable line; source id fk_v"/>
          <p:cNvCxnSpPr/>
          <p:nvPr/>
        </p:nvCxnSpPr>
        <p:spPr>
          <a:xfrm>
            <a:off x="3174999" y="3643312"/>
            <a:ext cx="0" cy="241300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k_a" descr="Editable line; source id fk_a"/>
          <p:cNvSpPr/>
          <p:nvPr/>
        </p:nvSpPr>
        <p:spPr>
          <a:xfrm>
            <a:off x="3175000" y="3579812"/>
            <a:ext cx="428625" cy="127000"/>
          </a:xfrm>
          <a:custGeom>
            <a:avLst/>
            <a:gdLst/>
            <a:ahLst/>
            <a:cxnLst/>
            <a:rect l="l" t="t" r="r" b="b"/>
            <a:pathLst>
              <a:path w="54000" h="16000">
                <a:moveTo>
                  <a:pt x="0" y="5500"/>
                </a:moveTo>
                <a:lnTo>
                  <a:pt x="36000" y="5500"/>
                </a:lnTo>
                <a:lnTo>
                  <a:pt x="36000" y="0"/>
                </a:lnTo>
                <a:lnTo>
                  <a:pt x="54000" y="8000"/>
                </a:lnTo>
                <a:lnTo>
                  <a:pt x="36000" y="16000"/>
                </a:lnTo>
                <a:lnTo>
                  <a:pt x="36000" y="10500"/>
                </a:lnTo>
                <a:lnTo>
                  <a:pt x="0" y="10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k_b" descr="Editable line; source id fk_b"/>
          <p:cNvSpPr/>
          <p:nvPr/>
        </p:nvSpPr>
        <p:spPr>
          <a:xfrm>
            <a:off x="3175000" y="5540375"/>
            <a:ext cx="428625" cy="127000"/>
          </a:xfrm>
          <a:custGeom>
            <a:avLst/>
            <a:gdLst/>
            <a:ahLst/>
            <a:cxnLst/>
            <a:rect l="l" t="t" r="r" b="b"/>
            <a:pathLst>
              <a:path w="54000" h="16000">
                <a:moveTo>
                  <a:pt x="0" y="5500"/>
                </a:moveTo>
                <a:lnTo>
                  <a:pt x="36000" y="5500"/>
                </a:lnTo>
                <a:lnTo>
                  <a:pt x="36000" y="0"/>
                </a:lnTo>
                <a:lnTo>
                  <a:pt x="54000" y="8000"/>
                </a:lnTo>
                <a:lnTo>
                  <a:pt x="36000" y="16000"/>
                </a:lnTo>
                <a:lnTo>
                  <a:pt x="36000" y="10500"/>
                </a:lnTo>
                <a:lnTo>
                  <a:pt x="0" y="10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1" descr="Editable shape; source id l1"/>
          <p:cNvSpPr/>
          <p:nvPr/>
        </p:nvSpPr>
        <p:spPr>
          <a:xfrm>
            <a:off x="3619499" y="3127374"/>
            <a:ext cx="6000749" cy="1031874"/>
          </a:xfrm>
          <a:prstGeom prst="roundRect">
            <a:avLst>
              <a:gd name="adj" fmla="val 10769"/>
            </a:avLst>
          </a:prstGeom>
          <a:solidFill>
            <a:srgbClr val="E4F0F1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1_t" descr="Editable text; source id l1_t"/>
          <p:cNvSpPr txBox="1"/>
          <p:nvPr/>
        </p:nvSpPr>
        <p:spPr>
          <a:xfrm>
            <a:off x="3778249" y="3174999"/>
            <a:ext cx="23812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5545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55459"/>
                </a:solidFill>
                <a:latin typeface="Noto Sans CJK SC"/>
                <a:ea typeface="Noto Sans CJK SC"/>
                <a:cs typeface="Noto Sans CJK SC"/>
              </a:rPr>
              <a:t>固相成相</a:t>
            </a:r>
          </a:p>
        </p:txBody>
      </p:sp>
      <p:sp>
        <p:nvSpPr>
          <p:cNvPr id="34" name="l1_k0" descr="Editable shape; source id l1_k0"/>
          <p:cNvSpPr/>
          <p:nvPr/>
        </p:nvSpPr>
        <p:spPr>
          <a:xfrm>
            <a:off x="3770312" y="3563937"/>
            <a:ext cx="1182687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1_k0_t" descr="Editable text; source id l1_k0_t"/>
          <p:cNvSpPr txBox="1"/>
          <p:nvPr/>
        </p:nvSpPr>
        <p:spPr>
          <a:xfrm>
            <a:off x="3817937" y="3587749"/>
            <a:ext cx="1087437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分段煅烧</a:t>
            </a:r>
          </a:p>
        </p:txBody>
      </p:sp>
      <p:sp>
        <p:nvSpPr>
          <p:cNvPr id="36" name="l1_a0" descr="Editable line; source id l1_a0"/>
          <p:cNvSpPr/>
          <p:nvPr/>
        </p:nvSpPr>
        <p:spPr>
          <a:xfrm>
            <a:off x="4976812" y="3750469"/>
            <a:ext cx="174625" cy="87312"/>
          </a:xfrm>
          <a:custGeom>
            <a:avLst/>
            <a:gdLst/>
            <a:ahLst/>
            <a:cxnLst/>
            <a:rect l="l" t="t" r="r" b="b"/>
            <a:pathLst>
              <a:path w="22000" h="11000">
                <a:moveTo>
                  <a:pt x="0" y="3500"/>
                </a:moveTo>
                <a:lnTo>
                  <a:pt x="10000" y="3500"/>
                </a:lnTo>
                <a:lnTo>
                  <a:pt x="10000" y="0"/>
                </a:lnTo>
                <a:lnTo>
                  <a:pt x="22000" y="5500"/>
                </a:lnTo>
                <a:lnTo>
                  <a:pt x="10000" y="11000"/>
                </a:lnTo>
                <a:lnTo>
                  <a:pt x="10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1_k1" descr="Editable shape; source id l1_k1"/>
          <p:cNvSpPr/>
          <p:nvPr/>
        </p:nvSpPr>
        <p:spPr>
          <a:xfrm>
            <a:off x="5175249" y="3563937"/>
            <a:ext cx="1015999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1_k1_t" descr="Editable text; source id l1_k1_t"/>
          <p:cNvSpPr txBox="1"/>
          <p:nvPr/>
        </p:nvSpPr>
        <p:spPr>
          <a:xfrm>
            <a:off x="5222874" y="3587749"/>
            <a:ext cx="920749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复磨</a:t>
            </a:r>
          </a:p>
        </p:txBody>
      </p:sp>
      <p:sp>
        <p:nvSpPr>
          <p:cNvPr id="39" name="l1_a1" descr="Editable line; source id l1_a1"/>
          <p:cNvSpPr/>
          <p:nvPr/>
        </p:nvSpPr>
        <p:spPr>
          <a:xfrm>
            <a:off x="6215062" y="3750469"/>
            <a:ext cx="269875" cy="87312"/>
          </a:xfrm>
          <a:custGeom>
            <a:avLst/>
            <a:gdLst/>
            <a:ahLst/>
            <a:cxnLst/>
            <a:rect l="l" t="t" r="r" b="b"/>
            <a:pathLst>
              <a:path w="34000" h="11000">
                <a:moveTo>
                  <a:pt x="0" y="3500"/>
                </a:moveTo>
                <a:lnTo>
                  <a:pt x="22000" y="3500"/>
                </a:lnTo>
                <a:lnTo>
                  <a:pt x="22000" y="0"/>
                </a:lnTo>
                <a:lnTo>
                  <a:pt x="34000" y="5500"/>
                </a:lnTo>
                <a:lnTo>
                  <a:pt x="22000" y="11000"/>
                </a:lnTo>
                <a:lnTo>
                  <a:pt x="22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l1_k2" descr="Editable shape; source id l1_k2"/>
          <p:cNvSpPr/>
          <p:nvPr/>
        </p:nvSpPr>
        <p:spPr>
          <a:xfrm>
            <a:off x="6508749" y="3563937"/>
            <a:ext cx="952499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1_k2_t" descr="Editable text; source id l1_k2_t"/>
          <p:cNvSpPr txBox="1"/>
          <p:nvPr/>
        </p:nvSpPr>
        <p:spPr>
          <a:xfrm>
            <a:off x="6556374" y="3587749"/>
            <a:ext cx="857249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42" name="l1_a2" descr="Editable line; source id l1_a2"/>
          <p:cNvSpPr/>
          <p:nvPr/>
        </p:nvSpPr>
        <p:spPr>
          <a:xfrm>
            <a:off x="7485062" y="3750469"/>
            <a:ext cx="222250" cy="87312"/>
          </a:xfrm>
          <a:custGeom>
            <a:avLst/>
            <a:gdLst/>
            <a:ahLst/>
            <a:cxnLst/>
            <a:rect l="l" t="t" r="r" b="b"/>
            <a:pathLst>
              <a:path w="28000" h="11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500"/>
                </a:lnTo>
                <a:lnTo>
                  <a:pt x="16000" y="11000"/>
                </a:lnTo>
                <a:lnTo>
                  <a:pt x="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1_k3" descr="Editable shape; source id l1_k3"/>
          <p:cNvSpPr/>
          <p:nvPr/>
        </p:nvSpPr>
        <p:spPr>
          <a:xfrm>
            <a:off x="7731124" y="3563937"/>
            <a:ext cx="1762124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1_k3_t" descr="Editable text; source id l1_k3_t"/>
          <p:cNvSpPr txBox="1"/>
          <p:nvPr/>
        </p:nvSpPr>
        <p:spPr>
          <a:xfrm>
            <a:off x="7778749" y="3587749"/>
            <a:ext cx="1666874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批量相区与相纯度</a:t>
            </a:r>
          </a:p>
        </p:txBody>
      </p:sp>
      <p:sp>
        <p:nvSpPr>
          <p:cNvPr id="45" name="l2" descr="Editable shape; source id l2"/>
          <p:cNvSpPr/>
          <p:nvPr/>
        </p:nvSpPr>
        <p:spPr>
          <a:xfrm>
            <a:off x="3619499" y="5079999"/>
            <a:ext cx="6000749" cy="1047749"/>
          </a:xfrm>
          <a:prstGeom prst="roundRect">
            <a:avLst>
              <a:gd name="adj" fmla="val 10606"/>
            </a:avLst>
          </a:prstGeom>
          <a:solidFill>
            <a:srgbClr val="E4F0F1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2_t" descr="Editable text; source id l2_t"/>
          <p:cNvSpPr txBox="1"/>
          <p:nvPr/>
        </p:nvSpPr>
        <p:spPr>
          <a:xfrm>
            <a:off x="3778249" y="5127624"/>
            <a:ext cx="2381249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15545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155459"/>
                </a:solidFill>
                <a:latin typeface="Noto Sans CJK SC"/>
                <a:ea typeface="Noto Sans CJK SC"/>
                <a:cs typeface="Noto Sans CJK SC"/>
              </a:rPr>
              <a:t>高温溶液长晶</a:t>
            </a:r>
          </a:p>
        </p:txBody>
      </p:sp>
      <p:sp>
        <p:nvSpPr>
          <p:cNvPr id="47" name="l2_k0" descr="Editable shape; source id l2_k0"/>
          <p:cNvSpPr/>
          <p:nvPr/>
        </p:nvSpPr>
        <p:spPr>
          <a:xfrm>
            <a:off x="3770312" y="5524499"/>
            <a:ext cx="960437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2_k0_t" descr="Editable text; source id l2_k0_t"/>
          <p:cNvSpPr txBox="1"/>
          <p:nvPr/>
        </p:nvSpPr>
        <p:spPr>
          <a:xfrm>
            <a:off x="3817937" y="5548312"/>
            <a:ext cx="865187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助熔</a:t>
            </a:r>
          </a:p>
        </p:txBody>
      </p:sp>
      <p:sp>
        <p:nvSpPr>
          <p:cNvPr id="49" name="l2_a0" descr="Editable line; source id l2_a0"/>
          <p:cNvSpPr/>
          <p:nvPr/>
        </p:nvSpPr>
        <p:spPr>
          <a:xfrm>
            <a:off x="4754562" y="5711031"/>
            <a:ext cx="222250" cy="87312"/>
          </a:xfrm>
          <a:custGeom>
            <a:avLst/>
            <a:gdLst/>
            <a:ahLst/>
            <a:cxnLst/>
            <a:rect l="l" t="t" r="r" b="b"/>
            <a:pathLst>
              <a:path w="28000" h="11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500"/>
                </a:lnTo>
                <a:lnTo>
                  <a:pt x="16000" y="11000"/>
                </a:lnTo>
                <a:lnTo>
                  <a:pt x="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2_k1" descr="Editable shape; source id l2_k1"/>
          <p:cNvSpPr/>
          <p:nvPr/>
        </p:nvSpPr>
        <p:spPr>
          <a:xfrm>
            <a:off x="5000624" y="5524499"/>
            <a:ext cx="1000124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2_k1_t" descr="Editable text; source id l2_k1_t"/>
          <p:cNvSpPr txBox="1"/>
          <p:nvPr/>
        </p:nvSpPr>
        <p:spPr>
          <a:xfrm>
            <a:off x="5048249" y="5548312"/>
            <a:ext cx="904874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52" name="l2_a1" descr="Editable line; source id l2_a1"/>
          <p:cNvSpPr/>
          <p:nvPr/>
        </p:nvSpPr>
        <p:spPr>
          <a:xfrm>
            <a:off x="6024562" y="5711031"/>
            <a:ext cx="174625" cy="87312"/>
          </a:xfrm>
          <a:custGeom>
            <a:avLst/>
            <a:gdLst/>
            <a:ahLst/>
            <a:cxnLst/>
            <a:rect l="l" t="t" r="r" b="b"/>
            <a:pathLst>
              <a:path w="22000" h="11000">
                <a:moveTo>
                  <a:pt x="0" y="3500"/>
                </a:moveTo>
                <a:lnTo>
                  <a:pt x="10000" y="3500"/>
                </a:lnTo>
                <a:lnTo>
                  <a:pt x="10000" y="0"/>
                </a:lnTo>
                <a:lnTo>
                  <a:pt x="22000" y="5500"/>
                </a:lnTo>
                <a:lnTo>
                  <a:pt x="10000" y="11000"/>
                </a:lnTo>
                <a:lnTo>
                  <a:pt x="10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2_k2" descr="Editable shape; source id l2_k2"/>
          <p:cNvSpPr/>
          <p:nvPr/>
        </p:nvSpPr>
        <p:spPr>
          <a:xfrm>
            <a:off x="6222999" y="5524499"/>
            <a:ext cx="968374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2_k2_t" descr="Editable text; source id l2_k2_t"/>
          <p:cNvSpPr txBox="1"/>
          <p:nvPr/>
        </p:nvSpPr>
        <p:spPr>
          <a:xfrm>
            <a:off x="6270624" y="5548312"/>
            <a:ext cx="873124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慢冷</a:t>
            </a:r>
          </a:p>
        </p:txBody>
      </p:sp>
      <p:sp>
        <p:nvSpPr>
          <p:cNvPr id="55" name="l2_a2" descr="Editable line; source id l2_a2"/>
          <p:cNvSpPr/>
          <p:nvPr/>
        </p:nvSpPr>
        <p:spPr>
          <a:xfrm>
            <a:off x="7215187" y="5711031"/>
            <a:ext cx="222250" cy="87312"/>
          </a:xfrm>
          <a:custGeom>
            <a:avLst/>
            <a:gdLst/>
            <a:ahLst/>
            <a:cxnLst/>
            <a:rect l="l" t="t" r="r" b="b"/>
            <a:pathLst>
              <a:path w="28000" h="11000">
                <a:moveTo>
                  <a:pt x="0" y="3500"/>
                </a:moveTo>
                <a:lnTo>
                  <a:pt x="16000" y="3500"/>
                </a:lnTo>
                <a:lnTo>
                  <a:pt x="16000" y="0"/>
                </a:lnTo>
                <a:lnTo>
                  <a:pt x="28000" y="5500"/>
                </a:lnTo>
                <a:lnTo>
                  <a:pt x="16000" y="11000"/>
                </a:lnTo>
                <a:lnTo>
                  <a:pt x="16000" y="7500"/>
                </a:lnTo>
                <a:lnTo>
                  <a:pt x="0" y="7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2_k3" descr="Editable shape; source id l2_k3"/>
          <p:cNvSpPr/>
          <p:nvPr/>
        </p:nvSpPr>
        <p:spPr>
          <a:xfrm>
            <a:off x="7461249" y="5524499"/>
            <a:ext cx="2031999" cy="46831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5874">
            <a:solidFill>
              <a:srgbClr val="9A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2_k3_t" descr="Editable text; source id l2_k3_t"/>
          <p:cNvSpPr txBox="1"/>
          <p:nvPr/>
        </p:nvSpPr>
        <p:spPr>
          <a:xfrm>
            <a:off x="7508874" y="5548312"/>
            <a:ext cx="1936749" cy="420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93"/>
              </a:lnSpc>
              <a:spcBef>
                <a:spcPts val="0"/>
              </a:spcBef>
              <a:spcAft>
                <a:spcPts val="0"/>
              </a:spcAft>
              <a:def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37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单晶结构与液相选择性</a:t>
            </a:r>
          </a:p>
        </p:txBody>
      </p:sp>
      <p:cxnSp>
        <p:nvCxnSpPr>
          <p:cNvPr id="58" name="mg_a" descr="Editable line; source id mg_a"/>
          <p:cNvCxnSpPr/>
          <p:nvPr/>
        </p:nvCxnSpPr>
        <p:spPr>
          <a:xfrm>
            <a:off x="9636124" y="3643312"/>
            <a:ext cx="20637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mg_b" descr="Editable line; source id mg_b"/>
          <p:cNvCxnSpPr/>
          <p:nvPr/>
        </p:nvCxnSpPr>
        <p:spPr>
          <a:xfrm>
            <a:off x="9636124" y="5603874"/>
            <a:ext cx="20637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mg_v" descr="Editable line; source id mg_v"/>
          <p:cNvCxnSpPr/>
          <p:nvPr/>
        </p:nvCxnSpPr>
        <p:spPr>
          <a:xfrm>
            <a:off x="9842499" y="3643312"/>
            <a:ext cx="0" cy="1960562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mg_out" descr="Editable line; source id mg_out"/>
          <p:cNvSpPr/>
          <p:nvPr/>
        </p:nvSpPr>
        <p:spPr>
          <a:xfrm>
            <a:off x="9842500" y="4302125"/>
            <a:ext cx="198437" cy="127000"/>
          </a:xfrm>
          <a:custGeom>
            <a:avLst/>
            <a:gdLst/>
            <a:ahLst/>
            <a:cxnLst/>
            <a:rect l="l" t="t" r="r" b="b"/>
            <a:pathLst>
              <a:path w="25000" h="16000">
                <a:moveTo>
                  <a:pt x="0" y="5500"/>
                </a:moveTo>
                <a:lnTo>
                  <a:pt x="9000" y="5500"/>
                </a:lnTo>
                <a:lnTo>
                  <a:pt x="9000" y="0"/>
                </a:lnTo>
                <a:lnTo>
                  <a:pt x="25000" y="8000"/>
                </a:lnTo>
                <a:lnTo>
                  <a:pt x="9000" y="16000"/>
                </a:lnTo>
                <a:lnTo>
                  <a:pt x="9000" y="10500"/>
                </a:lnTo>
                <a:lnTo>
                  <a:pt x="0" y="105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5" descr="Editable shape; source id c5"/>
          <p:cNvSpPr/>
          <p:nvPr/>
        </p:nvSpPr>
        <p:spPr>
          <a:xfrm>
            <a:off x="10056812" y="2920999"/>
            <a:ext cx="1897062" cy="2897187"/>
          </a:xfrm>
          <a:prstGeom prst="roundRect">
            <a:avLst>
              <a:gd name="adj" fmla="val 5857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5_t" descr="Editable text; source id c5_t"/>
          <p:cNvSpPr txBox="1"/>
          <p:nvPr/>
        </p:nvSpPr>
        <p:spPr>
          <a:xfrm>
            <a:off x="10159999" y="3016249"/>
            <a:ext cx="1690687" cy="349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5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结果反馈</a:t>
            </a:r>
          </a:p>
        </p:txBody>
      </p:sp>
      <p:sp>
        <p:nvSpPr>
          <p:cNvPr id="64" name="c5_k0" descr="Editable shape; source id c5_k0"/>
          <p:cNvSpPr/>
          <p:nvPr/>
        </p:nvSpPr>
        <p:spPr>
          <a:xfrm>
            <a:off x="10183812" y="3500437"/>
            <a:ext cx="1690687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5_k0_t" descr="Editable text; source id c5_k0_t"/>
          <p:cNvSpPr txBox="1"/>
          <p:nvPr/>
        </p:nvSpPr>
        <p:spPr>
          <a:xfrm>
            <a:off x="10231437" y="3524249"/>
            <a:ext cx="1595437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8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66" name="c5_k1" descr="Editable shape; source id c5_k1"/>
          <p:cNvSpPr/>
          <p:nvPr/>
        </p:nvSpPr>
        <p:spPr>
          <a:xfrm>
            <a:off x="10183812" y="4071937"/>
            <a:ext cx="1690687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5_k1_t" descr="Editable text; source id c5_k1_t"/>
          <p:cNvSpPr txBox="1"/>
          <p:nvPr/>
        </p:nvSpPr>
        <p:spPr>
          <a:xfrm>
            <a:off x="10231437" y="4095749"/>
            <a:ext cx="1595437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8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sp>
        <p:nvSpPr>
          <p:cNvPr id="68" name="c5_k2" descr="Editable shape; source id c5_k2"/>
          <p:cNvSpPr/>
          <p:nvPr/>
        </p:nvSpPr>
        <p:spPr>
          <a:xfrm>
            <a:off x="10183812" y="4643437"/>
            <a:ext cx="1690687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5_k2_t" descr="Editable text; source id c5_k2_t"/>
          <p:cNvSpPr txBox="1"/>
          <p:nvPr/>
        </p:nvSpPr>
        <p:spPr>
          <a:xfrm>
            <a:off x="10231437" y="4667249"/>
            <a:ext cx="1595437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78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1335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sp>
        <p:nvSpPr>
          <p:cNvPr id="70" name="c5_k3" descr="Editable shape; source id c5_k3"/>
          <p:cNvSpPr/>
          <p:nvPr/>
        </p:nvSpPr>
        <p:spPr>
          <a:xfrm>
            <a:off x="10183812" y="5214937"/>
            <a:ext cx="1690687" cy="476249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4">
            <a:solidFill>
              <a:srgbClr val="B5B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5_k3_t" descr="Editable text; source id c5_k3_t"/>
          <p:cNvSpPr txBox="1"/>
          <p:nvPr/>
        </p:nvSpPr>
        <p:spPr>
          <a:xfrm>
            <a:off x="10231437" y="5238749"/>
            <a:ext cx="1595437" cy="428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53"/>
              </a:lnSpc>
              <a:spcBef>
                <a:spcPts val="0"/>
              </a:spcBef>
              <a:spcAft>
                <a:spcPts val="0"/>
              </a:spcAft>
              <a:def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35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高温相与冷却产物</a:t>
            </a:r>
          </a:p>
        </p:txBody>
      </p:sp>
      <p:cxnSp>
        <p:nvCxnSpPr>
          <p:cNvPr id="72" name="fb1" descr="Editable line; source id fb1"/>
          <p:cNvCxnSpPr/>
          <p:nvPr/>
        </p:nvCxnSpPr>
        <p:spPr>
          <a:xfrm>
            <a:off x="11001374" y="5834062"/>
            <a:ext cx="0" cy="1785937"/>
          </a:xfrm>
          <a:prstGeom prst="line">
            <a:avLst/>
          </a:prstGeom>
          <a:ln w="31749">
            <a:solidFill>
              <a:srgbClr val="1F6F7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fb2" descr="Editable line; source id fb2"/>
          <p:cNvCxnSpPr/>
          <p:nvPr/>
        </p:nvCxnSpPr>
        <p:spPr>
          <a:xfrm flipH="1">
            <a:off x="6349999" y="7619999"/>
            <a:ext cx="4651375" cy="0"/>
          </a:xfrm>
          <a:prstGeom prst="line">
            <a:avLst/>
          </a:prstGeom>
          <a:ln w="31749">
            <a:solidFill>
              <a:srgbClr val="1F6F7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b_p" descr="Editable shape; source id fb_p"/>
          <p:cNvSpPr/>
          <p:nvPr/>
        </p:nvSpPr>
        <p:spPr>
          <a:xfrm>
            <a:off x="4937124" y="7429499"/>
            <a:ext cx="1396999" cy="38099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4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b_pt" descr="Editable text; source id fb_pt"/>
          <p:cNvSpPr txBox="1"/>
          <p:nvPr/>
        </p:nvSpPr>
        <p:spPr>
          <a:xfrm>
            <a:off x="5000624" y="7461249"/>
            <a:ext cx="126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更新组成与工艺</a:t>
            </a:r>
          </a:p>
        </p:txBody>
      </p:sp>
      <p:cxnSp>
        <p:nvCxnSpPr>
          <p:cNvPr id="76" name="fb3" descr="Editable line; source id fb3"/>
          <p:cNvCxnSpPr/>
          <p:nvPr/>
        </p:nvCxnSpPr>
        <p:spPr>
          <a:xfrm flipH="1">
            <a:off x="111124" y="7619999"/>
            <a:ext cx="4810125" cy="0"/>
          </a:xfrm>
          <a:prstGeom prst="line">
            <a:avLst/>
          </a:prstGeom>
          <a:ln w="31749">
            <a:solidFill>
              <a:srgbClr val="1F6F7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fb4" descr="Editable line; source id fb4"/>
          <p:cNvCxnSpPr/>
          <p:nvPr/>
        </p:nvCxnSpPr>
        <p:spPr>
          <a:xfrm flipV="1">
            <a:off x="111124" y="3627437"/>
            <a:ext cx="0" cy="3992562"/>
          </a:xfrm>
          <a:prstGeom prst="line">
            <a:avLst/>
          </a:prstGeom>
          <a:ln w="31749">
            <a:solidFill>
              <a:srgbClr val="1F6F78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fb5" descr="Editable line; source id fb5"/>
          <p:cNvCxnSpPr/>
          <p:nvPr/>
        </p:nvCxnSpPr>
        <p:spPr>
          <a:xfrm>
            <a:off x="111124" y="3627437"/>
            <a:ext cx="111125" cy="0"/>
          </a:xfrm>
          <a:prstGeom prst="line">
            <a:avLst/>
          </a:prstGeom>
          <a:ln w="31749">
            <a:solidFill>
              <a:srgbClr val="1F6F78"/>
            </a:solidFill>
            <a:custDash>
              <a:ds d="400000" sp="25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q1" descr="Editable shape; source id q1"/>
          <p:cNvSpPr/>
          <p:nvPr/>
        </p:nvSpPr>
        <p:spPr>
          <a:xfrm>
            <a:off x="2952749" y="2293937"/>
            <a:ext cx="2651124" cy="396874"/>
          </a:xfrm>
          <a:prstGeom prst="roundRect">
            <a:avLst>
              <a:gd name="adj" fmla="val 20000"/>
            </a:avLst>
          </a:prstGeom>
          <a:solidFill>
            <a:srgbClr val="FBF3E3"/>
          </a:solidFill>
          <a:ln w="1984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q1_t" descr="Editable text; source id q1_t"/>
          <p:cNvSpPr txBox="1"/>
          <p:nvPr/>
        </p:nvSpPr>
        <p:spPr>
          <a:xfrm>
            <a:off x="3032124" y="2333624"/>
            <a:ext cx="249237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7A5A1C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7A5A1C"/>
                </a:solidFill>
                <a:latin typeface="DejaVu Sans"/>
                <a:ea typeface="DejaVu Sans"/>
                <a:cs typeface="DejaVu Sans"/>
              </a:rPr>
              <a:t>Zn </a:t>
            </a:r>
            <a:r>
              <a: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是否进入并与氧计量耦合？</a:t>
            </a:r>
          </a:p>
        </p:txBody>
      </p:sp>
      <p:cxnSp>
        <p:nvCxnSpPr>
          <p:cNvPr id="81" name="q1_l" descr="Editable line; source id q1_l"/>
          <p:cNvCxnSpPr/>
          <p:nvPr/>
        </p:nvCxnSpPr>
        <p:spPr>
          <a:xfrm flipH="1">
            <a:off x="2873374" y="2698749"/>
            <a:ext cx="190500" cy="55563"/>
          </a:xfrm>
          <a:prstGeom prst="line">
            <a:avLst/>
          </a:prstGeom>
          <a:ln w="19843">
            <a:solidFill>
              <a:srgbClr val="B886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q1_d" descr="Editable shape; source id q1_d"/>
          <p:cNvSpPr/>
          <p:nvPr/>
        </p:nvSpPr>
        <p:spPr>
          <a:xfrm>
            <a:off x="2746374" y="2730499"/>
            <a:ext cx="95249" cy="95249"/>
          </a:xfrm>
          <a:prstGeom prst="ellipse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q2" descr="Editable shape; source id q2"/>
          <p:cNvSpPr/>
          <p:nvPr/>
        </p:nvSpPr>
        <p:spPr>
          <a:xfrm>
            <a:off x="5167312" y="4349749"/>
            <a:ext cx="2524124" cy="412749"/>
          </a:xfrm>
          <a:prstGeom prst="roundRect">
            <a:avLst>
              <a:gd name="adj" fmla="val 19230"/>
            </a:avLst>
          </a:prstGeom>
          <a:solidFill>
            <a:srgbClr val="FBF3E3"/>
          </a:solidFill>
          <a:ln w="1984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q2_t" descr="Editable text; source id q2_t"/>
          <p:cNvSpPr txBox="1"/>
          <p:nvPr/>
        </p:nvSpPr>
        <p:spPr>
          <a:xfrm>
            <a:off x="5246687" y="4389437"/>
            <a:ext cx="2365374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稳定相区还是液相选择性？</a:t>
            </a:r>
          </a:p>
        </p:txBody>
      </p:sp>
      <p:cxnSp>
        <p:nvCxnSpPr>
          <p:cNvPr id="85" name="q2_l" descr="Editable line; source id q2_l"/>
          <p:cNvCxnSpPr/>
          <p:nvPr/>
        </p:nvCxnSpPr>
        <p:spPr>
          <a:xfrm flipV="1">
            <a:off x="6429374" y="4286249"/>
            <a:ext cx="0" cy="47625"/>
          </a:xfrm>
          <a:prstGeom prst="line">
            <a:avLst/>
          </a:prstGeom>
          <a:ln w="19843">
            <a:solidFill>
              <a:srgbClr val="B886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q2_d" descr="Editable shape; source id q2_d"/>
          <p:cNvSpPr/>
          <p:nvPr/>
        </p:nvSpPr>
        <p:spPr>
          <a:xfrm>
            <a:off x="6381749" y="4175124"/>
            <a:ext cx="95249" cy="95249"/>
          </a:xfrm>
          <a:prstGeom prst="ellipse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q2_l2" descr="Editable line; source id q2_l2"/>
          <p:cNvCxnSpPr/>
          <p:nvPr/>
        </p:nvCxnSpPr>
        <p:spPr>
          <a:xfrm>
            <a:off x="6429374" y="4778374"/>
            <a:ext cx="0" cy="95250"/>
          </a:xfrm>
          <a:prstGeom prst="line">
            <a:avLst/>
          </a:prstGeom>
          <a:ln w="19843">
            <a:solidFill>
              <a:srgbClr val="B886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q2_d2" descr="Editable shape; source id q2_d2"/>
          <p:cNvSpPr/>
          <p:nvPr/>
        </p:nvSpPr>
        <p:spPr>
          <a:xfrm>
            <a:off x="6381749" y="4937124"/>
            <a:ext cx="95249" cy="95249"/>
          </a:xfrm>
          <a:prstGeom prst="ellipse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q3" descr="Editable shape; source id q3"/>
          <p:cNvSpPr/>
          <p:nvPr/>
        </p:nvSpPr>
        <p:spPr>
          <a:xfrm>
            <a:off x="10056812" y="1698624"/>
            <a:ext cx="1944687" cy="793749"/>
          </a:xfrm>
          <a:prstGeom prst="roundRect">
            <a:avLst>
              <a:gd name="adj" fmla="val 10000"/>
            </a:avLst>
          </a:prstGeom>
          <a:solidFill>
            <a:srgbClr val="FBF3E3"/>
          </a:solidFill>
          <a:ln w="1984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q3_t" descr="Editable text; source id q3_t"/>
          <p:cNvSpPr txBox="1"/>
          <p:nvPr/>
        </p:nvSpPr>
        <p:spPr>
          <a:xfrm>
            <a:off x="10136187" y="1738312"/>
            <a:ext cx="1785937" cy="714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实际组成与结构信号</a:t>
            </a:r>
          </a:p>
          <a:p>
            <a:pPr algn="ctr" fontAlgn="base">
              <a:lnSpc>
                <a:spcPts val="2062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7A5A1C"/>
                </a:solidFill>
                <a:latin typeface="Noto Sans CJK SC"/>
                <a:ea typeface="Noto Sans CJK SC"/>
                <a:cs typeface="Noto Sans CJK SC"/>
              </a:rPr>
              <a:t>如何对应？</a:t>
            </a:r>
          </a:p>
        </p:txBody>
      </p:sp>
      <p:cxnSp>
        <p:nvCxnSpPr>
          <p:cNvPr id="91" name="q3_l" descr="Editable line; source id q3_l"/>
          <p:cNvCxnSpPr/>
          <p:nvPr/>
        </p:nvCxnSpPr>
        <p:spPr>
          <a:xfrm>
            <a:off x="11112499" y="2508249"/>
            <a:ext cx="246063" cy="277813"/>
          </a:xfrm>
          <a:prstGeom prst="line">
            <a:avLst/>
          </a:prstGeom>
          <a:ln w="19843">
            <a:solidFill>
              <a:srgbClr val="B886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q3_d" descr="Editable shape; source id q3_d"/>
          <p:cNvSpPr/>
          <p:nvPr/>
        </p:nvSpPr>
        <p:spPr>
          <a:xfrm>
            <a:off x="11382374" y="2809874"/>
            <a:ext cx="95249" cy="95249"/>
          </a:xfrm>
          <a:prstGeom prst="ellipse">
            <a:avLst/>
          </a:prstGeom>
          <a:solidFill>
            <a:srgbClr val="B88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