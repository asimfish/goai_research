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522423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 3 本文的研究路线（super_teaser 第三轮 R02 → super_img2ppt 重建；分叉只由前驱体驱动、反馈回结构假设）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L" descr="Editable shape; source id zL"/>
          <p:cNvSpPr/>
          <p:nvPr/>
        </p:nvSpPr>
        <p:spPr>
          <a:xfrm>
            <a:off x="171807" y="190897"/>
            <a:ext cx="5936918" cy="3289803"/>
          </a:xfrm>
          <a:prstGeom prst="roundRect">
            <a:avLst>
              <a:gd name="adj" fmla="val 3094"/>
            </a:avLst>
          </a:prstGeom>
          <a:solidFill>
            <a:srgbClr val="EEF2F7"/>
          </a:solidFill>
          <a:ln w="954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L_l" descr="Editable text; source id zL_l"/>
          <p:cNvSpPr txBox="1"/>
          <p:nvPr/>
        </p:nvSpPr>
        <p:spPr>
          <a:xfrm>
            <a:off x="286346" y="267256"/>
            <a:ext cx="636325" cy="2099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15"/>
              </a:lnSpc>
              <a:spcBef>
                <a:spcPts val="0"/>
              </a:spcBef>
              <a:spcAft>
                <a:spcPts val="0"/>
              </a:spcAft>
              <a:defRPr sz="110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0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文献证据</a:t>
            </a:r>
          </a:p>
        </p:txBody>
      </p:sp>
      <p:sp>
        <p:nvSpPr>
          <p:cNvPr id="4" name="zE" descr="Editable shape; source id zE"/>
          <p:cNvSpPr/>
          <p:nvPr/>
        </p:nvSpPr>
        <p:spPr>
          <a:xfrm>
            <a:off x="6356893" y="184534"/>
            <a:ext cx="2793469" cy="3296166"/>
          </a:xfrm>
          <a:prstGeom prst="roundRect">
            <a:avLst>
              <a:gd name="adj" fmla="val 3644"/>
            </a:avLst>
          </a:prstGeom>
          <a:solidFill>
            <a:srgbClr val="E6F2F3"/>
          </a:solidFill>
          <a:ln w="954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E_l" descr="Editable text; source id zE_l"/>
          <p:cNvSpPr txBox="1"/>
          <p:nvPr/>
        </p:nvSpPr>
        <p:spPr>
          <a:xfrm>
            <a:off x="6471431" y="260893"/>
            <a:ext cx="636325" cy="2099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15"/>
              </a:lnSpc>
              <a:spcBef>
                <a:spcPts val="0"/>
              </a:spcBef>
              <a:spcAft>
                <a:spcPts val="0"/>
              </a:spcAft>
              <a:defRPr sz="110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0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实验方法</a:t>
            </a:r>
          </a:p>
        </p:txBody>
      </p:sp>
      <p:sp>
        <p:nvSpPr>
          <p:cNvPr id="6" name="zR" descr="Editable shape; source id zR"/>
          <p:cNvSpPr/>
          <p:nvPr/>
        </p:nvSpPr>
        <p:spPr>
          <a:xfrm>
            <a:off x="9398530" y="190897"/>
            <a:ext cx="2621661" cy="3289803"/>
          </a:xfrm>
          <a:prstGeom prst="roundRect">
            <a:avLst>
              <a:gd name="adj" fmla="val 3883"/>
            </a:avLst>
          </a:prstGeom>
          <a:solidFill>
            <a:srgbClr val="EEF2F7"/>
          </a:solidFill>
          <a:ln w="954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zR_l" descr="Editable text; source id zR_l"/>
          <p:cNvSpPr txBox="1"/>
          <p:nvPr/>
        </p:nvSpPr>
        <p:spPr>
          <a:xfrm>
            <a:off x="9513068" y="267256"/>
            <a:ext cx="636325" cy="2099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15"/>
              </a:lnSpc>
              <a:spcBef>
                <a:spcPts val="0"/>
              </a:spcBef>
              <a:spcAft>
                <a:spcPts val="0"/>
              </a:spcAft>
              <a:defRPr sz="110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0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结果反馈</a:t>
            </a:r>
          </a:p>
        </p:txBody>
      </p:sp>
      <p:sp>
        <p:nvSpPr>
          <p:cNvPr id="8" name="zQ" descr="Editable shape; source id zQ"/>
          <p:cNvSpPr/>
          <p:nvPr/>
        </p:nvSpPr>
        <p:spPr>
          <a:xfrm>
            <a:off x="184534" y="3913402"/>
            <a:ext cx="11822930" cy="1145386"/>
          </a:xfrm>
          <a:prstGeom prst="roundRect">
            <a:avLst>
              <a:gd name="adj" fmla="val 8888"/>
            </a:avLst>
          </a:prstGeom>
          <a:solidFill>
            <a:srgbClr val="FFF6E3"/>
          </a:solidFill>
          <a:ln w="9544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zQ_l" descr="Editable text; source id zQ_l"/>
          <p:cNvSpPr txBox="1"/>
          <p:nvPr/>
        </p:nvSpPr>
        <p:spPr>
          <a:xfrm>
            <a:off x="299073" y="3989761"/>
            <a:ext cx="636325" cy="2099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15"/>
              </a:lnSpc>
              <a:spcBef>
                <a:spcPts val="0"/>
              </a:spcBef>
              <a:spcAft>
                <a:spcPts val="0"/>
              </a:spcAft>
              <a:defRPr sz="1102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02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判断提醒</a:t>
            </a:r>
          </a:p>
        </p:txBody>
      </p:sp>
      <p:sp>
        <p:nvSpPr>
          <p:cNvPr id="10" name="c1" descr="Editable shape; source id c1"/>
          <p:cNvSpPr/>
          <p:nvPr/>
        </p:nvSpPr>
        <p:spPr>
          <a:xfrm>
            <a:off x="324526" y="833586"/>
            <a:ext cx="1718079" cy="2036242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954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1_s" descr="Editable shape; source id c1_s"/>
          <p:cNvSpPr/>
          <p:nvPr/>
        </p:nvSpPr>
        <p:spPr>
          <a:xfrm>
            <a:off x="324526" y="833586"/>
            <a:ext cx="1718079" cy="50906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c1_i" descr="exact crop of the generated raster (line motif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69" y="967215"/>
            <a:ext cx="213320" cy="279983"/>
          </a:xfrm>
          <a:prstGeom prst="rect">
            <a:avLst/>
          </a:prstGeom>
          <a:effectLst/>
        </p:spPr>
      </p:pic>
      <p:sp>
        <p:nvSpPr>
          <p:cNvPr id="13" name="c1_t" descr="Editable text; source id c1_t"/>
          <p:cNvSpPr txBox="1"/>
          <p:nvPr/>
        </p:nvSpPr>
        <p:spPr>
          <a:xfrm>
            <a:off x="782680" y="986304"/>
            <a:ext cx="1158112" cy="24816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文献依据</a:t>
            </a:r>
          </a:p>
        </p:txBody>
      </p:sp>
      <p:sp>
        <p:nvSpPr>
          <p:cNvPr id="14" name="c1_k0" descr="Editable text; source id c1_k0"/>
          <p:cNvSpPr txBox="1"/>
          <p:nvPr/>
        </p:nvSpPr>
        <p:spPr>
          <a:xfrm>
            <a:off x="426338" y="1285377"/>
            <a:ext cx="1514455" cy="19726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5"/>
              </a:lnSpc>
              <a:spcBef>
                <a:spcPts val="0"/>
              </a:spcBef>
              <a:spcAft>
                <a:spcPts val="0"/>
              </a:spcAft>
              <a:defRPr sz="100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00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Ba–Y–Si–O </a:t>
            </a:r>
            <a:r>
              <a:rPr sz="100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谱系</a:t>
            </a:r>
          </a:p>
        </p:txBody>
      </p:sp>
      <p:cxnSp>
        <p:nvCxnSpPr>
          <p:cNvPr id="15" name="c1_r1" descr="Editable line; source id c1_r1"/>
          <p:cNvCxnSpPr/>
          <p:nvPr/>
        </p:nvCxnSpPr>
        <p:spPr>
          <a:xfrm>
            <a:off x="426338" y="1558997"/>
            <a:ext cx="1514455" cy="0"/>
          </a:xfrm>
          <a:prstGeom prst="line">
            <a:avLst/>
          </a:prstGeom>
          <a:ln w="6363">
            <a:solidFill>
              <a:srgbClr val="DCE2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1_k1" descr="Editable text; source id c1_k1"/>
          <p:cNvSpPr txBox="1"/>
          <p:nvPr/>
        </p:nvSpPr>
        <p:spPr>
          <a:xfrm>
            <a:off x="426338" y="1584450"/>
            <a:ext cx="1514455" cy="19726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5"/>
              </a:lnSpc>
              <a:spcBef>
                <a:spcPts val="0"/>
              </a:spcBef>
              <a:spcAft>
                <a:spcPts val="0"/>
              </a:spcAft>
              <a:defRPr sz="100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00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Ba–Zn–Si–O </a:t>
            </a:r>
            <a:r>
              <a:rPr sz="100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结构近邻</a:t>
            </a:r>
          </a:p>
        </p:txBody>
      </p:sp>
      <p:cxnSp>
        <p:nvCxnSpPr>
          <p:cNvPr id="17" name="c1_r2" descr="Editable line; source id c1_r2"/>
          <p:cNvCxnSpPr/>
          <p:nvPr/>
        </p:nvCxnSpPr>
        <p:spPr>
          <a:xfrm>
            <a:off x="426338" y="1858070"/>
            <a:ext cx="1514455" cy="0"/>
          </a:xfrm>
          <a:prstGeom prst="line">
            <a:avLst/>
          </a:prstGeom>
          <a:ln w="6363">
            <a:solidFill>
              <a:srgbClr val="DCE2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1_k2" descr="Editable text; source id c1_k2"/>
          <p:cNvSpPr txBox="1"/>
          <p:nvPr/>
        </p:nvSpPr>
        <p:spPr>
          <a:xfrm>
            <a:off x="426338" y="1883523"/>
            <a:ext cx="1514455" cy="19726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5"/>
              </a:lnSpc>
              <a:spcBef>
                <a:spcPts val="0"/>
              </a:spcBef>
              <a:spcAft>
                <a:spcPts val="0"/>
              </a:spcAft>
              <a:defRPr sz="100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00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Y–Si–O </a:t>
            </a:r>
            <a:r>
              <a:rPr sz="100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工艺参照</a:t>
            </a:r>
          </a:p>
        </p:txBody>
      </p:sp>
      <p:sp>
        <p:nvSpPr>
          <p:cNvPr id="19" name="c2" descr="Editable shape; source id c2"/>
          <p:cNvSpPr/>
          <p:nvPr/>
        </p:nvSpPr>
        <p:spPr>
          <a:xfrm>
            <a:off x="2246229" y="833586"/>
            <a:ext cx="1768985" cy="2036242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954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2_s" descr="Editable shape; source id c2_s"/>
          <p:cNvSpPr/>
          <p:nvPr/>
        </p:nvSpPr>
        <p:spPr>
          <a:xfrm>
            <a:off x="2246229" y="833586"/>
            <a:ext cx="1768985" cy="50906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c2_i" descr="exact crop of the generated raster (line motif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373" y="967215"/>
            <a:ext cx="213320" cy="279983"/>
          </a:xfrm>
          <a:prstGeom prst="rect">
            <a:avLst/>
          </a:prstGeom>
          <a:effectLst/>
        </p:spPr>
      </p:pic>
      <p:sp>
        <p:nvSpPr>
          <p:cNvPr id="22" name="c2_t" descr="Editable text; source id c2_t"/>
          <p:cNvSpPr txBox="1"/>
          <p:nvPr/>
        </p:nvSpPr>
        <p:spPr>
          <a:xfrm>
            <a:off x="2704384" y="986304"/>
            <a:ext cx="1209018" cy="24816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结构假设</a:t>
            </a:r>
          </a:p>
        </p:txBody>
      </p:sp>
      <p:sp>
        <p:nvSpPr>
          <p:cNvPr id="23" name="c2_k0" descr="Editable text; source id c2_k0"/>
          <p:cNvSpPr txBox="1"/>
          <p:nvPr/>
        </p:nvSpPr>
        <p:spPr>
          <a:xfrm>
            <a:off x="2348041" y="1285377"/>
            <a:ext cx="1565361" cy="19726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5"/>
              </a:lnSpc>
              <a:spcBef>
                <a:spcPts val="0"/>
              </a:spcBef>
              <a:spcAft>
                <a:spcPts val="0"/>
              </a:spcAft>
              <a:defRPr sz="100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0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局部组成网格</a:t>
            </a:r>
          </a:p>
        </p:txBody>
      </p:sp>
      <p:cxnSp>
        <p:nvCxnSpPr>
          <p:cNvPr id="24" name="c2_r1" descr="Editable line; source id c2_r1"/>
          <p:cNvCxnSpPr/>
          <p:nvPr/>
        </p:nvCxnSpPr>
        <p:spPr>
          <a:xfrm>
            <a:off x="2348041" y="1558997"/>
            <a:ext cx="1565361" cy="0"/>
          </a:xfrm>
          <a:prstGeom prst="line">
            <a:avLst/>
          </a:prstGeom>
          <a:ln w="6363">
            <a:solidFill>
              <a:srgbClr val="DCE2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2_k1" descr="Editable text; source id c2_k1"/>
          <p:cNvSpPr txBox="1"/>
          <p:nvPr/>
        </p:nvSpPr>
        <p:spPr>
          <a:xfrm>
            <a:off x="2348041" y="1584450"/>
            <a:ext cx="1565361" cy="19726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5"/>
              </a:lnSpc>
              <a:spcBef>
                <a:spcPts val="0"/>
              </a:spcBef>
              <a:spcAft>
                <a:spcPts val="0"/>
              </a:spcAft>
              <a:defRPr sz="100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00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Zn–Y–</a:t>
            </a:r>
            <a:r>
              <a:rPr sz="100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氧计量耦合</a:t>
            </a:r>
          </a:p>
        </p:txBody>
      </p:sp>
      <p:cxnSp>
        <p:nvCxnSpPr>
          <p:cNvPr id="26" name="c2_r2" descr="Editable line; source id c2_r2"/>
          <p:cNvCxnSpPr/>
          <p:nvPr/>
        </p:nvCxnSpPr>
        <p:spPr>
          <a:xfrm>
            <a:off x="2348041" y="1858070"/>
            <a:ext cx="1565361" cy="0"/>
          </a:xfrm>
          <a:prstGeom prst="line">
            <a:avLst/>
          </a:prstGeom>
          <a:ln w="6363">
            <a:solidFill>
              <a:srgbClr val="DCE2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2_k2" descr="Editable text; source id c2_k2"/>
          <p:cNvSpPr txBox="1"/>
          <p:nvPr/>
        </p:nvSpPr>
        <p:spPr>
          <a:xfrm>
            <a:off x="2348041" y="1883523"/>
            <a:ext cx="1565361" cy="19726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5"/>
              </a:lnSpc>
              <a:spcBef>
                <a:spcPts val="0"/>
              </a:spcBef>
              <a:spcAft>
                <a:spcPts val="0"/>
              </a:spcAft>
              <a:defRPr sz="100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0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竞争相与玻璃区</a:t>
            </a:r>
          </a:p>
        </p:txBody>
      </p:sp>
      <p:sp>
        <p:nvSpPr>
          <p:cNvPr id="28" name="c3" descr="Editable shape; source id c3"/>
          <p:cNvSpPr/>
          <p:nvPr/>
        </p:nvSpPr>
        <p:spPr>
          <a:xfrm>
            <a:off x="4180659" y="833586"/>
            <a:ext cx="1768985" cy="2036242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954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3_s" descr="Editable shape; source id c3_s"/>
          <p:cNvSpPr/>
          <p:nvPr/>
        </p:nvSpPr>
        <p:spPr>
          <a:xfrm>
            <a:off x="4180659" y="833586"/>
            <a:ext cx="1768985" cy="50906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c3_i" descr="exact crop of the generated raster (line motif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803" y="967215"/>
            <a:ext cx="213320" cy="279983"/>
          </a:xfrm>
          <a:prstGeom prst="rect">
            <a:avLst/>
          </a:prstGeom>
          <a:effectLst/>
        </p:spPr>
      </p:pic>
      <p:sp>
        <p:nvSpPr>
          <p:cNvPr id="31" name="c3_t" descr="Editable text; source id c3_t"/>
          <p:cNvSpPr txBox="1"/>
          <p:nvPr/>
        </p:nvSpPr>
        <p:spPr>
          <a:xfrm>
            <a:off x="4638814" y="986304"/>
            <a:ext cx="1209018" cy="24816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模型筛选的前驱体</a:t>
            </a:r>
          </a:p>
        </p:txBody>
      </p:sp>
      <p:sp>
        <p:nvSpPr>
          <p:cNvPr id="32" name="c3_k0" descr="Editable text; source id c3_k0"/>
          <p:cNvSpPr txBox="1"/>
          <p:nvPr/>
        </p:nvSpPr>
        <p:spPr>
          <a:xfrm>
            <a:off x="4282471" y="1285377"/>
            <a:ext cx="1565361" cy="19726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77"/>
              </a:lnSpc>
              <a:spcBef>
                <a:spcPts val="0"/>
              </a:spcBef>
              <a:spcAft>
                <a:spcPts val="0"/>
              </a:spcAft>
              <a:defRPr sz="100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00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BaCO3 + Y2O3 + SiO2</a:t>
            </a:r>
          </a:p>
        </p:txBody>
      </p:sp>
      <p:cxnSp>
        <p:nvCxnSpPr>
          <p:cNvPr id="33" name="c3_r1" descr="Editable line; source id c3_r1"/>
          <p:cNvCxnSpPr/>
          <p:nvPr/>
        </p:nvCxnSpPr>
        <p:spPr>
          <a:xfrm>
            <a:off x="4282471" y="1558997"/>
            <a:ext cx="1565361" cy="0"/>
          </a:xfrm>
          <a:prstGeom prst="line">
            <a:avLst/>
          </a:prstGeom>
          <a:ln w="6363">
            <a:solidFill>
              <a:srgbClr val="DCE2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3_k1" descr="Editable text; source id c3_k1"/>
          <p:cNvSpPr txBox="1"/>
          <p:nvPr/>
        </p:nvSpPr>
        <p:spPr>
          <a:xfrm>
            <a:off x="4282471" y="1584450"/>
            <a:ext cx="1565361" cy="19726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77"/>
              </a:lnSpc>
              <a:spcBef>
                <a:spcPts val="0"/>
              </a:spcBef>
              <a:spcAft>
                <a:spcPts val="0"/>
              </a:spcAft>
              <a:defRPr sz="100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00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ZnO / MgO / Co3O4</a:t>
            </a:r>
          </a:p>
        </p:txBody>
      </p:sp>
      <p:sp>
        <p:nvSpPr>
          <p:cNvPr id="35" name="c3_tg" descr="Editable shape; source id c3_tg"/>
          <p:cNvSpPr/>
          <p:nvPr/>
        </p:nvSpPr>
        <p:spPr>
          <a:xfrm>
            <a:off x="4759715" y="2526212"/>
            <a:ext cx="1088116" cy="267256"/>
          </a:xfrm>
          <a:prstGeom prst="roundRect">
            <a:avLst>
              <a:gd name="adj" fmla="val 50000"/>
            </a:avLst>
          </a:prstGeom>
          <a:solidFill>
            <a:srgbClr val="FFF6E3"/>
          </a:solidFill>
          <a:ln w="9544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3_tgt" descr="Editable text; source id c3_tgt"/>
          <p:cNvSpPr txBox="1"/>
          <p:nvPr/>
        </p:nvSpPr>
        <p:spPr>
          <a:xfrm>
            <a:off x="4810622" y="2551665"/>
            <a:ext cx="986304" cy="21635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951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51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模型排序</a:t>
            </a:r>
            <a:r>
              <a:rPr sz="951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 ≠ </a:t>
            </a:r>
            <a:r>
              <a:rPr sz="951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验证</a:t>
            </a:r>
          </a:p>
        </p:txBody>
      </p:sp>
      <p:sp>
        <p:nvSpPr>
          <p:cNvPr id="37" name="l1" descr="Editable shape; source id l1"/>
          <p:cNvSpPr/>
          <p:nvPr/>
        </p:nvSpPr>
        <p:spPr>
          <a:xfrm>
            <a:off x="6605060" y="668141"/>
            <a:ext cx="2335315" cy="1240835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4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l1_s" descr="Editable shape; source id l1_s"/>
          <p:cNvSpPr/>
          <p:nvPr/>
        </p:nvSpPr>
        <p:spPr>
          <a:xfrm>
            <a:off x="6605060" y="668141"/>
            <a:ext cx="2335315" cy="50906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l1_i" descr="exact crop of the generated raster (line motif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6872" y="843131"/>
            <a:ext cx="279983" cy="197260"/>
          </a:xfrm>
          <a:prstGeom prst="rect">
            <a:avLst/>
          </a:prstGeom>
          <a:effectLst/>
        </p:spPr>
      </p:pic>
      <p:sp>
        <p:nvSpPr>
          <p:cNvPr id="40" name="l1_t" descr="Editable text; source id l1_t"/>
          <p:cNvSpPr txBox="1"/>
          <p:nvPr/>
        </p:nvSpPr>
        <p:spPr>
          <a:xfrm>
            <a:off x="7063214" y="820860"/>
            <a:ext cx="1775348" cy="24816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固相成相</a:t>
            </a:r>
          </a:p>
        </p:txBody>
      </p:sp>
      <p:sp>
        <p:nvSpPr>
          <p:cNvPr id="41" name="l1_k0" descr="Editable text; source id l1_k0"/>
          <p:cNvSpPr txBox="1"/>
          <p:nvPr/>
        </p:nvSpPr>
        <p:spPr>
          <a:xfrm>
            <a:off x="6706872" y="1119933"/>
            <a:ext cx="2131690" cy="19726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5"/>
              </a:lnSpc>
              <a:spcBef>
                <a:spcPts val="0"/>
              </a:spcBef>
              <a:spcAft>
                <a:spcPts val="0"/>
              </a:spcAft>
              <a:defRPr sz="100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0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分段煅烧</a:t>
            </a:r>
            <a:r>
              <a:rPr sz="100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→ </a:t>
            </a:r>
            <a:r>
              <a:rPr sz="100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复磨</a:t>
            </a:r>
            <a:r>
              <a:rPr sz="100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→ </a:t>
            </a:r>
            <a:r>
              <a:rPr sz="100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退火</a:t>
            </a:r>
          </a:p>
        </p:txBody>
      </p:sp>
      <p:cxnSp>
        <p:nvCxnSpPr>
          <p:cNvPr id="42" name="l1_r1" descr="Editable line; source id l1_r1"/>
          <p:cNvCxnSpPr/>
          <p:nvPr/>
        </p:nvCxnSpPr>
        <p:spPr>
          <a:xfrm>
            <a:off x="6706872" y="1380826"/>
            <a:ext cx="2131691" cy="0"/>
          </a:xfrm>
          <a:prstGeom prst="line">
            <a:avLst/>
          </a:prstGeom>
          <a:ln w="6363">
            <a:solidFill>
              <a:srgbClr val="DCE2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l1_k1" descr="Editable text; source id l1_k1"/>
          <p:cNvSpPr txBox="1"/>
          <p:nvPr/>
        </p:nvSpPr>
        <p:spPr>
          <a:xfrm>
            <a:off x="6706872" y="1406279"/>
            <a:ext cx="2131690" cy="19726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5"/>
              </a:lnSpc>
              <a:spcBef>
                <a:spcPts val="0"/>
              </a:spcBef>
              <a:spcAft>
                <a:spcPts val="0"/>
              </a:spcAft>
              <a:defRPr sz="100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0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批量相区与相纯度</a:t>
            </a:r>
          </a:p>
        </p:txBody>
      </p:sp>
      <p:sp>
        <p:nvSpPr>
          <p:cNvPr id="44" name="l2" descr="Editable shape; source id l2"/>
          <p:cNvSpPr/>
          <p:nvPr/>
        </p:nvSpPr>
        <p:spPr>
          <a:xfrm>
            <a:off x="6605060" y="2017152"/>
            <a:ext cx="2335315" cy="1349010"/>
          </a:xfrm>
          <a:prstGeom prst="roundRect">
            <a:avLst>
              <a:gd name="adj" fmla="val 4716"/>
            </a:avLst>
          </a:prstGeom>
          <a:solidFill>
            <a:srgbClr val="FFFFFF"/>
          </a:solidFill>
          <a:ln w="954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l2_s" descr="Editable shape; source id l2_s"/>
          <p:cNvSpPr/>
          <p:nvPr/>
        </p:nvSpPr>
        <p:spPr>
          <a:xfrm>
            <a:off x="6605060" y="2017152"/>
            <a:ext cx="2335315" cy="50906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l2_i" descr="exact crop of the generated raster (line motif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3150" y="2150780"/>
            <a:ext cx="247427" cy="279983"/>
          </a:xfrm>
          <a:prstGeom prst="rect">
            <a:avLst/>
          </a:prstGeom>
          <a:effectLst/>
        </p:spPr>
      </p:pic>
      <p:sp>
        <p:nvSpPr>
          <p:cNvPr id="47" name="l2_t" descr="Editable text; source id l2_t"/>
          <p:cNvSpPr txBox="1"/>
          <p:nvPr/>
        </p:nvSpPr>
        <p:spPr>
          <a:xfrm>
            <a:off x="7063214" y="2169870"/>
            <a:ext cx="1775348" cy="24816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高温溶液长晶</a:t>
            </a:r>
          </a:p>
        </p:txBody>
      </p:sp>
      <p:sp>
        <p:nvSpPr>
          <p:cNvPr id="48" name="l2_k0" descr="Editable text; source id l2_k0"/>
          <p:cNvSpPr txBox="1"/>
          <p:nvPr/>
        </p:nvSpPr>
        <p:spPr>
          <a:xfrm>
            <a:off x="6706872" y="2468943"/>
            <a:ext cx="2131690" cy="19726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5"/>
              </a:lnSpc>
              <a:spcBef>
                <a:spcPts val="0"/>
              </a:spcBef>
              <a:spcAft>
                <a:spcPts val="0"/>
              </a:spcAft>
              <a:defRPr sz="100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0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助熔</a:t>
            </a:r>
            <a:r>
              <a:rPr sz="100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→ </a:t>
            </a:r>
            <a:r>
              <a:rPr sz="100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保温</a:t>
            </a:r>
            <a:r>
              <a:rPr sz="100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→ </a:t>
            </a:r>
            <a:r>
              <a:rPr sz="100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慢冷</a:t>
            </a:r>
          </a:p>
        </p:txBody>
      </p:sp>
      <p:cxnSp>
        <p:nvCxnSpPr>
          <p:cNvPr id="49" name="l2_r1" descr="Editable line; source id l2_r1"/>
          <p:cNvCxnSpPr/>
          <p:nvPr/>
        </p:nvCxnSpPr>
        <p:spPr>
          <a:xfrm>
            <a:off x="6706872" y="2729837"/>
            <a:ext cx="2131691" cy="0"/>
          </a:xfrm>
          <a:prstGeom prst="line">
            <a:avLst/>
          </a:prstGeom>
          <a:ln w="6363">
            <a:solidFill>
              <a:srgbClr val="DCE2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l2_k1" descr="Editable text; source id l2_k1"/>
          <p:cNvSpPr txBox="1"/>
          <p:nvPr/>
        </p:nvSpPr>
        <p:spPr>
          <a:xfrm>
            <a:off x="6706872" y="2755290"/>
            <a:ext cx="2131690" cy="19726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5"/>
              </a:lnSpc>
              <a:spcBef>
                <a:spcPts val="0"/>
              </a:spcBef>
              <a:spcAft>
                <a:spcPts val="0"/>
              </a:spcAft>
              <a:defRPr sz="100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0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单晶结构与液相选择性</a:t>
            </a:r>
          </a:p>
        </p:txBody>
      </p:sp>
      <p:sp>
        <p:nvSpPr>
          <p:cNvPr id="51" name="c5" descr="Editable shape; source id c5"/>
          <p:cNvSpPr/>
          <p:nvPr/>
        </p:nvSpPr>
        <p:spPr>
          <a:xfrm>
            <a:off x="9602154" y="827223"/>
            <a:ext cx="2258956" cy="2335315"/>
          </a:xfrm>
          <a:prstGeom prst="roundRect">
            <a:avLst>
              <a:gd name="adj" fmla="val 2816"/>
            </a:avLst>
          </a:prstGeom>
          <a:solidFill>
            <a:srgbClr val="FFFFFF"/>
          </a:solidFill>
          <a:ln w="954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5_s" descr="Editable shape; source id c5_s"/>
          <p:cNvSpPr/>
          <p:nvPr/>
        </p:nvSpPr>
        <p:spPr>
          <a:xfrm>
            <a:off x="9602154" y="827223"/>
            <a:ext cx="2258956" cy="50906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c5_i" descr="exact crop of the generated raster (line motif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3966" y="1004546"/>
            <a:ext cx="279983" cy="205321"/>
          </a:xfrm>
          <a:prstGeom prst="rect">
            <a:avLst/>
          </a:prstGeom>
          <a:effectLst/>
        </p:spPr>
      </p:pic>
      <p:sp>
        <p:nvSpPr>
          <p:cNvPr id="54" name="c5_t" descr="Editable text; source id c5_t"/>
          <p:cNvSpPr txBox="1"/>
          <p:nvPr/>
        </p:nvSpPr>
        <p:spPr>
          <a:xfrm>
            <a:off x="10060308" y="979941"/>
            <a:ext cx="1698989" cy="24816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结果反馈</a:t>
            </a:r>
          </a:p>
        </p:txBody>
      </p:sp>
      <p:sp>
        <p:nvSpPr>
          <p:cNvPr id="55" name="c5_k0" descr="Editable text; source id c5_k0"/>
          <p:cNvSpPr txBox="1"/>
          <p:nvPr/>
        </p:nvSpPr>
        <p:spPr>
          <a:xfrm>
            <a:off x="9703966" y="1279014"/>
            <a:ext cx="2055331" cy="19726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77"/>
              </a:lnSpc>
              <a:spcBef>
                <a:spcPts val="0"/>
              </a:spcBef>
              <a:spcAft>
                <a:spcPts val="0"/>
              </a:spcAft>
              <a:defRPr sz="100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00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PXRD / Rietveld</a:t>
            </a:r>
          </a:p>
        </p:txBody>
      </p:sp>
      <p:cxnSp>
        <p:nvCxnSpPr>
          <p:cNvPr id="56" name="c5_r1" descr="Editable line; source id c5_r1"/>
          <p:cNvCxnSpPr/>
          <p:nvPr/>
        </p:nvCxnSpPr>
        <p:spPr>
          <a:xfrm>
            <a:off x="9703966" y="1578087"/>
            <a:ext cx="2055332" cy="0"/>
          </a:xfrm>
          <a:prstGeom prst="line">
            <a:avLst/>
          </a:prstGeom>
          <a:ln w="6363">
            <a:solidFill>
              <a:srgbClr val="DCE2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5_k1" descr="Editable text; source id c5_k1"/>
          <p:cNvSpPr txBox="1"/>
          <p:nvPr/>
        </p:nvSpPr>
        <p:spPr>
          <a:xfrm>
            <a:off x="9703966" y="1603540"/>
            <a:ext cx="2055331" cy="19726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77"/>
              </a:lnSpc>
              <a:spcBef>
                <a:spcPts val="0"/>
              </a:spcBef>
              <a:spcAft>
                <a:spcPts val="0"/>
              </a:spcAft>
              <a:defRPr sz="100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00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SCXRD</a:t>
            </a:r>
          </a:p>
        </p:txBody>
      </p:sp>
      <p:cxnSp>
        <p:nvCxnSpPr>
          <p:cNvPr id="58" name="c5_r2" descr="Editable line; source id c5_r2"/>
          <p:cNvCxnSpPr/>
          <p:nvPr/>
        </p:nvCxnSpPr>
        <p:spPr>
          <a:xfrm>
            <a:off x="9703966" y="1902613"/>
            <a:ext cx="2055332" cy="0"/>
          </a:xfrm>
          <a:prstGeom prst="line">
            <a:avLst/>
          </a:prstGeom>
          <a:ln w="6363">
            <a:solidFill>
              <a:srgbClr val="DCE2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5_k2" descr="Editable text; source id c5_k2"/>
          <p:cNvSpPr txBox="1"/>
          <p:nvPr/>
        </p:nvSpPr>
        <p:spPr>
          <a:xfrm>
            <a:off x="9703966" y="1928066"/>
            <a:ext cx="2055331" cy="19726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77"/>
              </a:lnSpc>
              <a:spcBef>
                <a:spcPts val="0"/>
              </a:spcBef>
              <a:spcAft>
                <a:spcPts val="0"/>
              </a:spcAft>
              <a:defRPr sz="100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00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EDS / EPMA / ICP</a:t>
            </a:r>
          </a:p>
        </p:txBody>
      </p:sp>
      <p:cxnSp>
        <p:nvCxnSpPr>
          <p:cNvPr id="60" name="c5_r3" descr="Editable line; source id c5_r3"/>
          <p:cNvCxnSpPr/>
          <p:nvPr/>
        </p:nvCxnSpPr>
        <p:spPr>
          <a:xfrm>
            <a:off x="9703966" y="2227139"/>
            <a:ext cx="2055332" cy="0"/>
          </a:xfrm>
          <a:prstGeom prst="line">
            <a:avLst/>
          </a:prstGeom>
          <a:ln w="6363">
            <a:solidFill>
              <a:srgbClr val="DCE2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5_k3" descr="Editable text; source id c5_k3"/>
          <p:cNvSpPr txBox="1"/>
          <p:nvPr/>
        </p:nvSpPr>
        <p:spPr>
          <a:xfrm>
            <a:off x="9703966" y="2252592"/>
            <a:ext cx="2055331" cy="19726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5"/>
              </a:lnSpc>
              <a:spcBef>
                <a:spcPts val="0"/>
              </a:spcBef>
              <a:spcAft>
                <a:spcPts val="0"/>
              </a:spcAft>
              <a:defRPr sz="100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0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高温相与冷却产物</a:t>
            </a:r>
          </a:p>
        </p:txBody>
      </p:sp>
      <p:sp>
        <p:nvSpPr>
          <p:cNvPr id="62" name="q1" descr="Editable shape; source id q1"/>
          <p:cNvSpPr/>
          <p:nvPr/>
        </p:nvSpPr>
        <p:spPr>
          <a:xfrm>
            <a:off x="668141" y="4276108"/>
            <a:ext cx="3429795" cy="610872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44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q1_t" descr="Editable text; source id q1_t"/>
          <p:cNvSpPr txBox="1"/>
          <p:nvPr/>
        </p:nvSpPr>
        <p:spPr>
          <a:xfrm>
            <a:off x="820860" y="4428826"/>
            <a:ext cx="3124359" cy="22907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3"/>
              </a:lnSpc>
              <a:spcBef>
                <a:spcPts val="0"/>
              </a:spcBef>
              <a:spcAft>
                <a:spcPts val="0"/>
              </a:spcAft>
              <a:defRPr sz="1095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095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Zn </a:t>
            </a:r>
            <a:r>
              <a:rPr sz="1095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是否进入并与氧计量耦合？</a:t>
            </a:r>
          </a:p>
        </p:txBody>
      </p:sp>
      <p:sp>
        <p:nvSpPr>
          <p:cNvPr id="64" name="q2" descr="Editable shape; source id q2"/>
          <p:cNvSpPr/>
          <p:nvPr/>
        </p:nvSpPr>
        <p:spPr>
          <a:xfrm>
            <a:off x="4473369" y="4276108"/>
            <a:ext cx="3429795" cy="610872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44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q2_t" descr="Editable text; source id q2_t"/>
          <p:cNvSpPr txBox="1"/>
          <p:nvPr/>
        </p:nvSpPr>
        <p:spPr>
          <a:xfrm>
            <a:off x="4626087" y="4428826"/>
            <a:ext cx="3124359" cy="22907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3"/>
              </a:lnSpc>
              <a:spcBef>
                <a:spcPts val="0"/>
              </a:spcBef>
              <a:spcAft>
                <a:spcPts val="0"/>
              </a:spcAft>
              <a:defRPr sz="1095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5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稳定相区还是液相选择性？</a:t>
            </a:r>
          </a:p>
        </p:txBody>
      </p:sp>
      <p:sp>
        <p:nvSpPr>
          <p:cNvPr id="66" name="q3" descr="Editable shape; source id q3"/>
          <p:cNvSpPr/>
          <p:nvPr/>
        </p:nvSpPr>
        <p:spPr>
          <a:xfrm>
            <a:off x="8221327" y="4276108"/>
            <a:ext cx="3537970" cy="610872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44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q3_t" descr="Editable text; source id q3_t"/>
          <p:cNvSpPr txBox="1"/>
          <p:nvPr/>
        </p:nvSpPr>
        <p:spPr>
          <a:xfrm>
            <a:off x="8374045" y="4428826"/>
            <a:ext cx="3232534" cy="22907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3"/>
              </a:lnSpc>
              <a:spcBef>
                <a:spcPts val="0"/>
              </a:spcBef>
              <a:spcAft>
                <a:spcPts val="0"/>
              </a:spcAft>
              <a:defRPr sz="1095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5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实际组成与结构信号如何对应？</a:t>
            </a:r>
          </a:p>
        </p:txBody>
      </p:sp>
      <p:sp>
        <p:nvSpPr>
          <p:cNvPr id="68" name="e1_0" descr="Editable line; source id e1_0"/>
          <p:cNvSpPr/>
          <p:nvPr/>
        </p:nvSpPr>
        <p:spPr>
          <a:xfrm>
            <a:off x="2042605" y="1816710"/>
            <a:ext cx="190898" cy="69996"/>
          </a:xfrm>
          <a:custGeom>
            <a:avLst/>
            <a:gdLst/>
            <a:ahLst/>
            <a:cxnLst/>
            <a:rect l="l" t="t" r="r" b="b"/>
            <a:pathLst>
              <a:path w="30000" h="11000">
                <a:moveTo>
                  <a:pt x="0" y="4500"/>
                </a:moveTo>
                <a:lnTo>
                  <a:pt x="17000" y="4500"/>
                </a:lnTo>
                <a:lnTo>
                  <a:pt x="17000" y="0"/>
                </a:lnTo>
                <a:lnTo>
                  <a:pt x="30000" y="5500"/>
                </a:lnTo>
                <a:lnTo>
                  <a:pt x="17000" y="11000"/>
                </a:lnTo>
                <a:lnTo>
                  <a:pt x="17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2_0" descr="Editable line; source id e2_0"/>
          <p:cNvSpPr/>
          <p:nvPr/>
        </p:nvSpPr>
        <p:spPr>
          <a:xfrm>
            <a:off x="4015215" y="1816710"/>
            <a:ext cx="152718" cy="69996"/>
          </a:xfrm>
          <a:custGeom>
            <a:avLst/>
            <a:gdLst/>
            <a:ahLst/>
            <a:cxnLst/>
            <a:rect l="l" t="t" r="r" b="b"/>
            <a:pathLst>
              <a:path w="24000" h="11000">
                <a:moveTo>
                  <a:pt x="0" y="4500"/>
                </a:moveTo>
                <a:lnTo>
                  <a:pt x="11000" y="4500"/>
                </a:lnTo>
                <a:lnTo>
                  <a:pt x="11000" y="0"/>
                </a:lnTo>
                <a:lnTo>
                  <a:pt x="24000" y="5500"/>
                </a:lnTo>
                <a:lnTo>
                  <a:pt x="11000" y="11000"/>
                </a:lnTo>
                <a:lnTo>
                  <a:pt x="11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fk0_0" descr="Editable line; source id fk0_0"/>
          <p:cNvCxnSpPr/>
          <p:nvPr/>
        </p:nvCxnSpPr>
        <p:spPr>
          <a:xfrm>
            <a:off x="5949644" y="1851707"/>
            <a:ext cx="318163" cy="0"/>
          </a:xfrm>
          <a:prstGeom prst="line">
            <a:avLst/>
          </a:prstGeom>
          <a:ln w="12726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fkv_0" descr="Editable line; source id fkv_0"/>
          <p:cNvCxnSpPr/>
          <p:nvPr/>
        </p:nvCxnSpPr>
        <p:spPr>
          <a:xfrm>
            <a:off x="6267807" y="1285377"/>
            <a:ext cx="0" cy="1406280"/>
          </a:xfrm>
          <a:prstGeom prst="line">
            <a:avLst/>
          </a:prstGeom>
          <a:ln w="12726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k1_0" descr="Editable line; source id fk1_0"/>
          <p:cNvSpPr/>
          <p:nvPr/>
        </p:nvSpPr>
        <p:spPr>
          <a:xfrm>
            <a:off x="6267808" y="1250380"/>
            <a:ext cx="324526" cy="69996"/>
          </a:xfrm>
          <a:custGeom>
            <a:avLst/>
            <a:gdLst/>
            <a:ahLst/>
            <a:cxnLst/>
            <a:rect l="l" t="t" r="r" b="b"/>
            <a:pathLst>
              <a:path w="51000" h="11000">
                <a:moveTo>
                  <a:pt x="0" y="4500"/>
                </a:moveTo>
                <a:lnTo>
                  <a:pt x="38000" y="4500"/>
                </a:lnTo>
                <a:lnTo>
                  <a:pt x="38000" y="0"/>
                </a:lnTo>
                <a:lnTo>
                  <a:pt x="51000" y="5500"/>
                </a:lnTo>
                <a:lnTo>
                  <a:pt x="38000" y="11000"/>
                </a:lnTo>
                <a:lnTo>
                  <a:pt x="38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k2_0" descr="Editable line; source id fk2_0"/>
          <p:cNvSpPr/>
          <p:nvPr/>
        </p:nvSpPr>
        <p:spPr>
          <a:xfrm>
            <a:off x="6267808" y="2656660"/>
            <a:ext cx="324526" cy="69996"/>
          </a:xfrm>
          <a:custGeom>
            <a:avLst/>
            <a:gdLst/>
            <a:ahLst/>
            <a:cxnLst/>
            <a:rect l="l" t="t" r="r" b="b"/>
            <a:pathLst>
              <a:path w="51000" h="11000">
                <a:moveTo>
                  <a:pt x="0" y="4500"/>
                </a:moveTo>
                <a:lnTo>
                  <a:pt x="38000" y="4500"/>
                </a:lnTo>
                <a:lnTo>
                  <a:pt x="38000" y="0"/>
                </a:lnTo>
                <a:lnTo>
                  <a:pt x="51000" y="5500"/>
                </a:lnTo>
                <a:lnTo>
                  <a:pt x="38000" y="11000"/>
                </a:lnTo>
                <a:lnTo>
                  <a:pt x="38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mg1_0" descr="Editable line; source id mg1_0"/>
          <p:cNvCxnSpPr/>
          <p:nvPr/>
        </p:nvCxnSpPr>
        <p:spPr>
          <a:xfrm>
            <a:off x="8940375" y="1285377"/>
            <a:ext cx="318163" cy="0"/>
          </a:xfrm>
          <a:prstGeom prst="line">
            <a:avLst/>
          </a:prstGeom>
          <a:ln w="12726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mg2_0" descr="Editable line; source id mg2_0"/>
          <p:cNvCxnSpPr/>
          <p:nvPr/>
        </p:nvCxnSpPr>
        <p:spPr>
          <a:xfrm>
            <a:off x="8940375" y="2691657"/>
            <a:ext cx="318163" cy="0"/>
          </a:xfrm>
          <a:prstGeom prst="line">
            <a:avLst/>
          </a:prstGeom>
          <a:ln w="12726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mgv_0" descr="Editable line; source id mgv_0"/>
          <p:cNvCxnSpPr/>
          <p:nvPr/>
        </p:nvCxnSpPr>
        <p:spPr>
          <a:xfrm>
            <a:off x="9258538" y="1285377"/>
            <a:ext cx="0" cy="1406280"/>
          </a:xfrm>
          <a:prstGeom prst="line">
            <a:avLst/>
          </a:prstGeom>
          <a:ln w="12726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mg3_0" descr="Editable line; source id mg3_0"/>
          <p:cNvSpPr/>
          <p:nvPr/>
        </p:nvSpPr>
        <p:spPr>
          <a:xfrm>
            <a:off x="9258538" y="1956701"/>
            <a:ext cx="330889" cy="69996"/>
          </a:xfrm>
          <a:custGeom>
            <a:avLst/>
            <a:gdLst/>
            <a:ahLst/>
            <a:cxnLst/>
            <a:rect l="l" t="t" r="r" b="b"/>
            <a:pathLst>
              <a:path w="52000" h="11000">
                <a:moveTo>
                  <a:pt x="0" y="4500"/>
                </a:moveTo>
                <a:lnTo>
                  <a:pt x="39000" y="4500"/>
                </a:lnTo>
                <a:lnTo>
                  <a:pt x="39000" y="0"/>
                </a:lnTo>
                <a:lnTo>
                  <a:pt x="52000" y="5500"/>
                </a:lnTo>
                <a:lnTo>
                  <a:pt x="39000" y="11000"/>
                </a:lnTo>
                <a:lnTo>
                  <a:pt x="39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b_p" descr="Editable shape; source id fb_p"/>
          <p:cNvSpPr/>
          <p:nvPr/>
        </p:nvSpPr>
        <p:spPr>
          <a:xfrm>
            <a:off x="5968734" y="3582513"/>
            <a:ext cx="1145386" cy="27998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35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b_p_t" descr="Editable text; source id fb_p_t"/>
          <p:cNvSpPr txBox="1"/>
          <p:nvPr/>
        </p:nvSpPr>
        <p:spPr>
          <a:xfrm>
            <a:off x="6045093" y="3614329"/>
            <a:ext cx="992668" cy="21635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5"/>
              </a:lnSpc>
              <a:spcBef>
                <a:spcPts val="0"/>
              </a:spcBef>
              <a:spcAft>
                <a:spcPts val="0"/>
              </a:spcAft>
              <a:defRPr sz="100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0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更新组成与工艺</a:t>
            </a:r>
          </a:p>
        </p:txBody>
      </p:sp>
      <p:cxnSp>
        <p:nvCxnSpPr>
          <p:cNvPr id="80" name="fb_0" descr="Editable line; source id fb_0"/>
          <p:cNvCxnSpPr/>
          <p:nvPr/>
        </p:nvCxnSpPr>
        <p:spPr>
          <a:xfrm>
            <a:off x="10728450" y="3162538"/>
            <a:ext cx="0" cy="559967"/>
          </a:xfrm>
          <a:prstGeom prst="line">
            <a:avLst/>
          </a:prstGeom>
          <a:ln w="12726">
            <a:solidFill>
              <a:srgbClr val="4B5563"/>
            </a:solidFill>
            <a:custDash>
              <a:ds d="600000" sp="40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fb_1" descr="Editable line; source id fb_1"/>
          <p:cNvCxnSpPr/>
          <p:nvPr/>
        </p:nvCxnSpPr>
        <p:spPr>
          <a:xfrm flipH="1">
            <a:off x="3130722" y="3722505"/>
            <a:ext cx="2812559" cy="0"/>
          </a:xfrm>
          <a:prstGeom prst="line">
            <a:avLst/>
          </a:prstGeom>
          <a:ln w="12726">
            <a:solidFill>
              <a:srgbClr val="4B5563"/>
            </a:solidFill>
            <a:custDash>
              <a:ds d="600000" sp="40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fb_2" descr="Editable line; source id fb_2"/>
          <p:cNvCxnSpPr/>
          <p:nvPr/>
        </p:nvCxnSpPr>
        <p:spPr>
          <a:xfrm flipH="1">
            <a:off x="7139573" y="3722505"/>
            <a:ext cx="3588877" cy="0"/>
          </a:xfrm>
          <a:prstGeom prst="line">
            <a:avLst/>
          </a:prstGeom>
          <a:ln w="12726">
            <a:solidFill>
              <a:srgbClr val="4B5563"/>
            </a:solidFill>
            <a:custDash>
              <a:ds d="600000" sp="40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fb_3" descr="Editable line; source id fb_3"/>
          <p:cNvCxnSpPr/>
          <p:nvPr/>
        </p:nvCxnSpPr>
        <p:spPr>
          <a:xfrm flipV="1">
            <a:off x="3130722" y="2882555"/>
            <a:ext cx="0" cy="839950"/>
          </a:xfrm>
          <a:prstGeom prst="line">
            <a:avLst/>
          </a:prstGeom>
          <a:ln w="12726">
            <a:solidFill>
              <a:srgbClr val="4B5563"/>
            </a:solidFill>
            <a:custDash>
              <a:ds d="600000" sp="400000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