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812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 3 本文的研究路线（super_teaser 第四轮 R05 → super_img2ppt 重建；分叉只由前驱体驱动、反馈回结构假设）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L" descr="Editable shape; source id zL"/>
          <p:cNvSpPr/>
          <p:nvPr/>
        </p:nvSpPr>
        <p:spPr>
          <a:xfrm>
            <a:off x="285749" y="476249"/>
            <a:ext cx="6588124" cy="3492499"/>
          </a:xfrm>
          <a:prstGeom prst="roundRect">
            <a:avLst>
              <a:gd name="adj" fmla="val 3181"/>
            </a:avLst>
          </a:prstGeom>
          <a:solidFill>
            <a:srgbClr val="EEF2F7"/>
          </a:solidFill>
          <a:ln w="9524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L_l" descr="Editable text; source id zL_l"/>
          <p:cNvSpPr txBox="1"/>
          <p:nvPr/>
        </p:nvSpPr>
        <p:spPr>
          <a:xfrm>
            <a:off x="428624" y="555624"/>
            <a:ext cx="904874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文献证据</a:t>
            </a:r>
          </a:p>
        </p:txBody>
      </p:sp>
      <p:sp>
        <p:nvSpPr>
          <p:cNvPr id="4" name="zE" descr="Editable shape; source id zE"/>
          <p:cNvSpPr/>
          <p:nvPr/>
        </p:nvSpPr>
        <p:spPr>
          <a:xfrm>
            <a:off x="7064374" y="476249"/>
            <a:ext cx="2778124" cy="3492499"/>
          </a:xfrm>
          <a:prstGeom prst="roundRect">
            <a:avLst>
              <a:gd name="adj" fmla="val 4000"/>
            </a:avLst>
          </a:prstGeom>
          <a:solidFill>
            <a:srgbClr val="E6F2F3"/>
          </a:solidFill>
          <a:ln w="9524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E_l" descr="Editable text; source id zE_l"/>
          <p:cNvSpPr txBox="1"/>
          <p:nvPr/>
        </p:nvSpPr>
        <p:spPr>
          <a:xfrm>
            <a:off x="7207249" y="555624"/>
            <a:ext cx="904874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实验方法</a:t>
            </a:r>
          </a:p>
        </p:txBody>
      </p:sp>
      <p:sp>
        <p:nvSpPr>
          <p:cNvPr id="6" name="zR" descr="Editable shape; source id zR"/>
          <p:cNvSpPr/>
          <p:nvPr/>
        </p:nvSpPr>
        <p:spPr>
          <a:xfrm>
            <a:off x="10032999" y="476249"/>
            <a:ext cx="1952624" cy="3492499"/>
          </a:xfrm>
          <a:prstGeom prst="roundRect">
            <a:avLst>
              <a:gd name="adj" fmla="val 5691"/>
            </a:avLst>
          </a:prstGeom>
          <a:solidFill>
            <a:srgbClr val="EEF2F7"/>
          </a:solidFill>
          <a:ln w="9524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zR_l" descr="Editable text; source id zR_l"/>
          <p:cNvSpPr txBox="1"/>
          <p:nvPr/>
        </p:nvSpPr>
        <p:spPr>
          <a:xfrm>
            <a:off x="10175874" y="555624"/>
            <a:ext cx="904874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结果反馈</a:t>
            </a:r>
          </a:p>
        </p:txBody>
      </p:sp>
      <p:sp>
        <p:nvSpPr>
          <p:cNvPr id="8" name="zQ" descr="Editable shape; source id zQ"/>
          <p:cNvSpPr/>
          <p:nvPr/>
        </p:nvSpPr>
        <p:spPr>
          <a:xfrm>
            <a:off x="206374" y="4762499"/>
            <a:ext cx="11779249" cy="1587499"/>
          </a:xfrm>
          <a:prstGeom prst="roundRect">
            <a:avLst>
              <a:gd name="adj" fmla="val 7000"/>
            </a:avLst>
          </a:prstGeom>
          <a:solidFill>
            <a:srgbClr val="FFF6E3"/>
          </a:solidFill>
          <a:ln w="9524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zQ_l" descr="Editable text; source id zQ_l"/>
          <p:cNvSpPr txBox="1"/>
          <p:nvPr/>
        </p:nvSpPr>
        <p:spPr>
          <a:xfrm>
            <a:off x="349249" y="4841874"/>
            <a:ext cx="904874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判断提醒</a:t>
            </a:r>
          </a:p>
        </p:txBody>
      </p:sp>
      <p:sp>
        <p:nvSpPr>
          <p:cNvPr id="10" name="cav" descr="Editable shape; source id cav"/>
          <p:cNvSpPr/>
          <p:nvPr/>
        </p:nvSpPr>
        <p:spPr>
          <a:xfrm>
            <a:off x="4929187" y="539749"/>
            <a:ext cx="1254124" cy="293687"/>
          </a:xfrm>
          <a:prstGeom prst="roundRect">
            <a:avLst>
              <a:gd name="adj" fmla="val 50000"/>
            </a:avLst>
          </a:prstGeom>
          <a:solidFill>
            <a:srgbClr val="FFF6E3"/>
          </a:solidFill>
          <a:ln w="8731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v_t" descr="Editable text; source id cav_t"/>
          <p:cNvSpPr txBox="1"/>
          <p:nvPr/>
        </p:nvSpPr>
        <p:spPr>
          <a:xfrm>
            <a:off x="5008562" y="571499"/>
            <a:ext cx="1095374" cy="230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0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模型排序</a:t>
            </a:r>
            <a:r>
              <a:rPr sz="1062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 ≠ </a:t>
            </a:r>
            <a:r>
              <a:rPr sz="1062" b="0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验证</a:t>
            </a:r>
          </a:p>
        </p:txBody>
      </p:sp>
      <p:sp>
        <p:nvSpPr>
          <p:cNvPr id="12" name="c1" descr="Editable shape; source id c1"/>
          <p:cNvSpPr/>
          <p:nvPr/>
        </p:nvSpPr>
        <p:spPr>
          <a:xfrm>
            <a:off x="412749" y="888999"/>
            <a:ext cx="1920874" cy="2936874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1_a" descr="Editable shape; source id c1_a"/>
          <p:cNvSpPr/>
          <p:nvPr/>
        </p:nvSpPr>
        <p:spPr>
          <a:xfrm>
            <a:off x="412749" y="888999"/>
            <a:ext cx="1920874" cy="47624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1_g_s2" descr="Editable shape; source id c1_g_s2"/>
          <p:cNvSpPr/>
          <p:nvPr/>
        </p:nvSpPr>
        <p:spPr>
          <a:xfrm>
            <a:off x="1325562" y="1150937"/>
            <a:ext cx="150812" cy="230187"/>
          </a:xfrm>
          <a:prstGeom prst="rect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1_g_s1" descr="Editable shape; source id c1_g_s1"/>
          <p:cNvSpPr/>
          <p:nvPr/>
        </p:nvSpPr>
        <p:spPr>
          <a:xfrm>
            <a:off x="1301749" y="1119187"/>
            <a:ext cx="150812" cy="230187"/>
          </a:xfrm>
          <a:prstGeom prst="rect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1_g_s0" descr="Editable shape; source id c1_g_s0"/>
          <p:cNvSpPr/>
          <p:nvPr/>
        </p:nvSpPr>
        <p:spPr>
          <a:xfrm>
            <a:off x="1269999" y="1095374"/>
            <a:ext cx="150812" cy="230187"/>
          </a:xfrm>
          <a:prstGeom prst="rect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1_g_l1" descr="Editable line; source id c1_g_l1"/>
          <p:cNvCxnSpPr/>
          <p:nvPr/>
        </p:nvCxnSpPr>
        <p:spPr>
          <a:xfrm>
            <a:off x="1309687" y="1174749"/>
            <a:ext cx="103187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1_g_l2" descr="Editable line; source id c1_g_l2"/>
          <p:cNvCxnSpPr/>
          <p:nvPr/>
        </p:nvCxnSpPr>
        <p:spPr>
          <a:xfrm>
            <a:off x="1309687" y="1222374"/>
            <a:ext cx="103187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1_g_l3" descr="Editable line; source id c1_g_l3"/>
          <p:cNvCxnSpPr/>
          <p:nvPr/>
        </p:nvCxnSpPr>
        <p:spPr>
          <a:xfrm>
            <a:off x="1309687" y="1262062"/>
            <a:ext cx="71437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1_t" descr="Editable text; source id c1_t"/>
          <p:cNvSpPr txBox="1"/>
          <p:nvPr/>
        </p:nvSpPr>
        <p:spPr>
          <a:xfrm>
            <a:off x="539749" y="1444624"/>
            <a:ext cx="1666874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99"/>
              </a:lnSpc>
              <a:spcBef>
                <a:spcPts val="0"/>
              </a:spcBef>
              <a:spcAft>
                <a:spcPts val="0"/>
              </a:spcAft>
              <a:defRPr sz="136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6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文献依据</a:t>
            </a:r>
          </a:p>
        </p:txBody>
      </p:sp>
      <p:sp>
        <p:nvSpPr>
          <p:cNvPr id="21" name="c1k_t0" descr="Editable shape; source id c1k_t0"/>
          <p:cNvSpPr/>
          <p:nvPr/>
        </p:nvSpPr>
        <p:spPr>
          <a:xfrm>
            <a:off x="539749" y="1785937"/>
            <a:ext cx="1666874" cy="571499"/>
          </a:xfrm>
          <a:prstGeom prst="roundRect">
            <a:avLst>
              <a:gd name="adj" fmla="val 8333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1k_t0_t" descr="Editable text; source id c1k_t0_t"/>
          <p:cNvSpPr txBox="1"/>
          <p:nvPr/>
        </p:nvSpPr>
        <p:spPr>
          <a:xfrm>
            <a:off x="595312" y="1817687"/>
            <a:ext cx="1555749" cy="507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defRPr sz="107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07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Ba–Y–Si–O </a:t>
            </a:r>
            <a:r>
              <a:rPr sz="10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谱系</a:t>
            </a:r>
          </a:p>
        </p:txBody>
      </p:sp>
      <p:sp>
        <p:nvSpPr>
          <p:cNvPr id="23" name="c1k_t1" descr="Editable shape; source id c1k_t1"/>
          <p:cNvSpPr/>
          <p:nvPr/>
        </p:nvSpPr>
        <p:spPr>
          <a:xfrm>
            <a:off x="539749" y="2452687"/>
            <a:ext cx="1666874" cy="571499"/>
          </a:xfrm>
          <a:prstGeom prst="roundRect">
            <a:avLst>
              <a:gd name="adj" fmla="val 8333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1k_t1_t" descr="Editable text; source id c1k_t1_t"/>
          <p:cNvSpPr txBox="1"/>
          <p:nvPr/>
        </p:nvSpPr>
        <p:spPr>
          <a:xfrm>
            <a:off x="595312" y="2484437"/>
            <a:ext cx="1555749" cy="507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defRPr sz="107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07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Ba–Zn–Si–O </a:t>
            </a:r>
            <a:r>
              <a:rPr sz="10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结构近邻</a:t>
            </a:r>
          </a:p>
        </p:txBody>
      </p:sp>
      <p:sp>
        <p:nvSpPr>
          <p:cNvPr id="25" name="c1k_t2" descr="Editable shape; source id c1k_t2"/>
          <p:cNvSpPr/>
          <p:nvPr/>
        </p:nvSpPr>
        <p:spPr>
          <a:xfrm>
            <a:off x="539749" y="3127374"/>
            <a:ext cx="1666874" cy="571499"/>
          </a:xfrm>
          <a:prstGeom prst="roundRect">
            <a:avLst>
              <a:gd name="adj" fmla="val 8333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1k_t2_t" descr="Editable text; source id c1k_t2_t"/>
          <p:cNvSpPr txBox="1"/>
          <p:nvPr/>
        </p:nvSpPr>
        <p:spPr>
          <a:xfrm>
            <a:off x="595312" y="3159124"/>
            <a:ext cx="1555749" cy="507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defRPr sz="107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07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Y–Si–O </a:t>
            </a:r>
            <a:r>
              <a:rPr sz="10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工艺参照</a:t>
            </a:r>
          </a:p>
        </p:txBody>
      </p:sp>
      <p:sp>
        <p:nvSpPr>
          <p:cNvPr id="27" name="c2" descr="Editable shape; source id c2"/>
          <p:cNvSpPr/>
          <p:nvPr/>
        </p:nvSpPr>
        <p:spPr>
          <a:xfrm>
            <a:off x="2619374" y="888999"/>
            <a:ext cx="1920874" cy="2936874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2_a" descr="Editable shape; source id c2_a"/>
          <p:cNvSpPr/>
          <p:nvPr/>
        </p:nvSpPr>
        <p:spPr>
          <a:xfrm>
            <a:off x="2619374" y="888999"/>
            <a:ext cx="1920874" cy="47624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2_g_h0" descr="Editable line; source id c2_g_h0"/>
          <p:cNvCxnSpPr/>
          <p:nvPr/>
        </p:nvCxnSpPr>
        <p:spPr>
          <a:xfrm>
            <a:off x="3476624" y="1103312"/>
            <a:ext cx="20637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2_g_v0" descr="Editable line; source id c2_g_v0"/>
          <p:cNvCxnSpPr/>
          <p:nvPr/>
        </p:nvCxnSpPr>
        <p:spPr>
          <a:xfrm>
            <a:off x="3476624" y="1103312"/>
            <a:ext cx="0" cy="20637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2_g_h1" descr="Editable line; source id c2_g_h1"/>
          <p:cNvCxnSpPr/>
          <p:nvPr/>
        </p:nvCxnSpPr>
        <p:spPr>
          <a:xfrm>
            <a:off x="3476624" y="1206499"/>
            <a:ext cx="20637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2_g_v1" descr="Editable line; source id c2_g_v1"/>
          <p:cNvCxnSpPr/>
          <p:nvPr/>
        </p:nvCxnSpPr>
        <p:spPr>
          <a:xfrm>
            <a:off x="3579812" y="1103312"/>
            <a:ext cx="0" cy="20637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2_g_h2" descr="Editable line; source id c2_g_h2"/>
          <p:cNvCxnSpPr/>
          <p:nvPr/>
        </p:nvCxnSpPr>
        <p:spPr>
          <a:xfrm>
            <a:off x="3476624" y="1309687"/>
            <a:ext cx="20637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2_g_v2" descr="Editable line; source id c2_g_v2"/>
          <p:cNvCxnSpPr/>
          <p:nvPr/>
        </p:nvCxnSpPr>
        <p:spPr>
          <a:xfrm>
            <a:off x="3682999" y="1103312"/>
            <a:ext cx="0" cy="20637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2_g_d00" descr="Editable shape; source id c2_g_d00"/>
          <p:cNvSpPr/>
          <p:nvPr/>
        </p:nvSpPr>
        <p:spPr>
          <a:xfrm>
            <a:off x="3452812" y="1079499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2_g_d01" descr="Editable shape; source id c2_g_d01"/>
          <p:cNvSpPr/>
          <p:nvPr/>
        </p:nvSpPr>
        <p:spPr>
          <a:xfrm>
            <a:off x="3452812" y="1182687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2_g_d02" descr="Editable shape; source id c2_g_d02"/>
          <p:cNvSpPr/>
          <p:nvPr/>
        </p:nvSpPr>
        <p:spPr>
          <a:xfrm>
            <a:off x="3452812" y="1285874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2_g_d10" descr="Editable shape; source id c2_g_d10"/>
          <p:cNvSpPr/>
          <p:nvPr/>
        </p:nvSpPr>
        <p:spPr>
          <a:xfrm>
            <a:off x="3555999" y="1079499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2_g_d11" descr="Editable shape; source id c2_g_d11"/>
          <p:cNvSpPr/>
          <p:nvPr/>
        </p:nvSpPr>
        <p:spPr>
          <a:xfrm>
            <a:off x="3555999" y="1182687"/>
            <a:ext cx="47624" cy="47624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2_g_d12" descr="Editable shape; source id c2_g_d12"/>
          <p:cNvSpPr/>
          <p:nvPr/>
        </p:nvSpPr>
        <p:spPr>
          <a:xfrm>
            <a:off x="3555999" y="1285874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2_g_d20" descr="Editable shape; source id c2_g_d20"/>
          <p:cNvSpPr/>
          <p:nvPr/>
        </p:nvSpPr>
        <p:spPr>
          <a:xfrm>
            <a:off x="3659187" y="1079499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2_g_d21" descr="Editable shape; source id c2_g_d21"/>
          <p:cNvSpPr/>
          <p:nvPr/>
        </p:nvSpPr>
        <p:spPr>
          <a:xfrm>
            <a:off x="3659187" y="1182687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2_g_d22" descr="Editable shape; source id c2_g_d22"/>
          <p:cNvSpPr/>
          <p:nvPr/>
        </p:nvSpPr>
        <p:spPr>
          <a:xfrm>
            <a:off x="3659187" y="1285874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2_t" descr="Editable text; source id c2_t"/>
          <p:cNvSpPr txBox="1"/>
          <p:nvPr/>
        </p:nvSpPr>
        <p:spPr>
          <a:xfrm>
            <a:off x="2746374" y="1444624"/>
            <a:ext cx="1666874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99"/>
              </a:lnSpc>
              <a:spcBef>
                <a:spcPts val="0"/>
              </a:spcBef>
              <a:spcAft>
                <a:spcPts val="0"/>
              </a:spcAft>
              <a:defRPr sz="136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6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结构假设</a:t>
            </a:r>
          </a:p>
        </p:txBody>
      </p:sp>
      <p:sp>
        <p:nvSpPr>
          <p:cNvPr id="45" name="c2k_t0" descr="Editable shape; source id c2k_t0"/>
          <p:cNvSpPr/>
          <p:nvPr/>
        </p:nvSpPr>
        <p:spPr>
          <a:xfrm>
            <a:off x="2746374" y="1785937"/>
            <a:ext cx="1666874" cy="571499"/>
          </a:xfrm>
          <a:prstGeom prst="roundRect">
            <a:avLst>
              <a:gd name="adj" fmla="val 8333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2k_t0_t" descr="Editable text; source id c2k_t0_t"/>
          <p:cNvSpPr txBox="1"/>
          <p:nvPr/>
        </p:nvSpPr>
        <p:spPr>
          <a:xfrm>
            <a:off x="2801937" y="1817687"/>
            <a:ext cx="1555749" cy="507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defRPr sz="10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局部组成网格</a:t>
            </a:r>
          </a:p>
        </p:txBody>
      </p:sp>
      <p:sp>
        <p:nvSpPr>
          <p:cNvPr id="47" name="c2k_t1" descr="Editable shape; source id c2k_t1"/>
          <p:cNvSpPr/>
          <p:nvPr/>
        </p:nvSpPr>
        <p:spPr>
          <a:xfrm>
            <a:off x="2746374" y="2452687"/>
            <a:ext cx="1666874" cy="571499"/>
          </a:xfrm>
          <a:prstGeom prst="roundRect">
            <a:avLst>
              <a:gd name="adj" fmla="val 8333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2k_t1_t" descr="Editable text; source id c2k_t1_t"/>
          <p:cNvSpPr txBox="1"/>
          <p:nvPr/>
        </p:nvSpPr>
        <p:spPr>
          <a:xfrm>
            <a:off x="2801937" y="2484437"/>
            <a:ext cx="1555749" cy="507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defRPr sz="107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07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Zn–Y–</a:t>
            </a:r>
            <a:r>
              <a:rPr sz="10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氧计量耦合</a:t>
            </a:r>
          </a:p>
        </p:txBody>
      </p:sp>
      <p:sp>
        <p:nvSpPr>
          <p:cNvPr id="49" name="c2k_t2" descr="Editable shape; source id c2k_t2"/>
          <p:cNvSpPr/>
          <p:nvPr/>
        </p:nvSpPr>
        <p:spPr>
          <a:xfrm>
            <a:off x="2746374" y="3127374"/>
            <a:ext cx="1666874" cy="571499"/>
          </a:xfrm>
          <a:prstGeom prst="roundRect">
            <a:avLst>
              <a:gd name="adj" fmla="val 8333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2k_t2_t" descr="Editable text; source id c2k_t2_t"/>
          <p:cNvSpPr txBox="1"/>
          <p:nvPr/>
        </p:nvSpPr>
        <p:spPr>
          <a:xfrm>
            <a:off x="2801937" y="3159124"/>
            <a:ext cx="1555749" cy="507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defRPr sz="10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竞争相与玻璃区</a:t>
            </a:r>
          </a:p>
        </p:txBody>
      </p:sp>
      <p:sp>
        <p:nvSpPr>
          <p:cNvPr id="51" name="c3" descr="Editable shape; source id c3"/>
          <p:cNvSpPr/>
          <p:nvPr/>
        </p:nvSpPr>
        <p:spPr>
          <a:xfrm>
            <a:off x="4825999" y="888999"/>
            <a:ext cx="1920874" cy="2936874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3_a" descr="Editable shape; source id c3_a"/>
          <p:cNvSpPr/>
          <p:nvPr/>
        </p:nvSpPr>
        <p:spPr>
          <a:xfrm>
            <a:off x="4825999" y="888999"/>
            <a:ext cx="1920874" cy="47624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3_g_f_0" descr="Editable line; source id c3_g_f_0"/>
          <p:cNvCxnSpPr/>
          <p:nvPr/>
        </p:nvCxnSpPr>
        <p:spPr>
          <a:xfrm>
            <a:off x="5667374" y="1103312"/>
            <a:ext cx="23812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3_g_f_1" descr="Editable line; source id c3_g_f_1"/>
          <p:cNvCxnSpPr/>
          <p:nvPr/>
        </p:nvCxnSpPr>
        <p:spPr>
          <a:xfrm flipH="1">
            <a:off x="5810249" y="1103312"/>
            <a:ext cx="95250" cy="12700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3_g_f_2" descr="Editable line; source id c3_g_f_2"/>
          <p:cNvCxnSpPr/>
          <p:nvPr/>
        </p:nvCxnSpPr>
        <p:spPr>
          <a:xfrm>
            <a:off x="5810249" y="1230312"/>
            <a:ext cx="0" cy="9525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3_g_f_3" descr="Editable line; source id c3_g_f_3"/>
          <p:cNvCxnSpPr/>
          <p:nvPr/>
        </p:nvCxnSpPr>
        <p:spPr>
          <a:xfrm flipH="1">
            <a:off x="5762624" y="1325562"/>
            <a:ext cx="4762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3_g_f_4" descr="Editable line; source id c3_g_f_4"/>
          <p:cNvCxnSpPr/>
          <p:nvPr/>
        </p:nvCxnSpPr>
        <p:spPr>
          <a:xfrm flipV="1">
            <a:off x="5762624" y="1230312"/>
            <a:ext cx="0" cy="9525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3_g_f_5" descr="Editable line; source id c3_g_f_5"/>
          <p:cNvCxnSpPr/>
          <p:nvPr/>
        </p:nvCxnSpPr>
        <p:spPr>
          <a:xfrm flipH="1" flipV="1">
            <a:off x="5667374" y="1103312"/>
            <a:ext cx="95250" cy="12700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3_t" descr="Editable text; source id c3_t"/>
          <p:cNvSpPr txBox="1"/>
          <p:nvPr/>
        </p:nvSpPr>
        <p:spPr>
          <a:xfrm>
            <a:off x="4952999" y="1444624"/>
            <a:ext cx="1666874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99"/>
              </a:lnSpc>
              <a:spcBef>
                <a:spcPts val="0"/>
              </a:spcBef>
              <a:spcAft>
                <a:spcPts val="0"/>
              </a:spcAft>
              <a:defRPr sz="136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6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前驱体筛选</a:t>
            </a:r>
          </a:p>
        </p:txBody>
      </p:sp>
      <p:sp>
        <p:nvSpPr>
          <p:cNvPr id="60" name="c3k_t0" descr="Editable shape; source id c3k_t0"/>
          <p:cNvSpPr/>
          <p:nvPr/>
        </p:nvSpPr>
        <p:spPr>
          <a:xfrm>
            <a:off x="4952999" y="1785937"/>
            <a:ext cx="1666874" cy="571499"/>
          </a:xfrm>
          <a:prstGeom prst="roundRect">
            <a:avLst>
              <a:gd name="adj" fmla="val 8333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3k_t0_t" descr="Editable text; source id c3k_t0_t"/>
          <p:cNvSpPr txBox="1"/>
          <p:nvPr/>
        </p:nvSpPr>
        <p:spPr>
          <a:xfrm>
            <a:off x="5008562" y="1817687"/>
            <a:ext cx="1555749" cy="507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65"/>
              </a:lnSpc>
              <a:spcBef>
                <a:spcPts val="0"/>
              </a:spcBef>
              <a:spcAft>
                <a:spcPts val="0"/>
              </a:spcAft>
              <a:defRPr sz="107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07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BaCO3 + Y2O3 + SiO2</a:t>
            </a:r>
          </a:p>
        </p:txBody>
      </p:sp>
      <p:sp>
        <p:nvSpPr>
          <p:cNvPr id="62" name="c3k_t1" descr="Editable shape; source id c3k_t1"/>
          <p:cNvSpPr/>
          <p:nvPr/>
        </p:nvSpPr>
        <p:spPr>
          <a:xfrm>
            <a:off x="4952999" y="2452687"/>
            <a:ext cx="1666874" cy="571499"/>
          </a:xfrm>
          <a:prstGeom prst="roundRect">
            <a:avLst>
              <a:gd name="adj" fmla="val 8333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3k_t1_t" descr="Editable text; source id c3k_t1_t"/>
          <p:cNvSpPr txBox="1"/>
          <p:nvPr/>
        </p:nvSpPr>
        <p:spPr>
          <a:xfrm>
            <a:off x="5008562" y="2484437"/>
            <a:ext cx="1555749" cy="507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65"/>
              </a:lnSpc>
              <a:spcBef>
                <a:spcPts val="0"/>
              </a:spcBef>
              <a:spcAft>
                <a:spcPts val="0"/>
              </a:spcAft>
              <a:defRPr sz="107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07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ZnO / MgO / Co3O4</a:t>
            </a:r>
          </a:p>
        </p:txBody>
      </p:sp>
      <p:sp>
        <p:nvSpPr>
          <p:cNvPr id="64" name="c3k_t2" descr="Editable shape; source id c3k_t2"/>
          <p:cNvSpPr/>
          <p:nvPr/>
        </p:nvSpPr>
        <p:spPr>
          <a:xfrm>
            <a:off x="4952999" y="3127374"/>
            <a:ext cx="1666874" cy="571499"/>
          </a:xfrm>
          <a:prstGeom prst="roundRect">
            <a:avLst>
              <a:gd name="adj" fmla="val 8333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c3k_t2_t" descr="Editable text; source id c3k_t2_t"/>
          <p:cNvSpPr txBox="1"/>
          <p:nvPr/>
        </p:nvSpPr>
        <p:spPr>
          <a:xfrm>
            <a:off x="5008562" y="3159124"/>
            <a:ext cx="1555749" cy="507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defRPr sz="10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模型排序的候选</a:t>
            </a:r>
          </a:p>
        </p:txBody>
      </p:sp>
      <p:sp>
        <p:nvSpPr>
          <p:cNvPr id="66" name="l1" descr="Editable shape; source id l1"/>
          <p:cNvSpPr/>
          <p:nvPr/>
        </p:nvSpPr>
        <p:spPr>
          <a:xfrm>
            <a:off x="7143749" y="888999"/>
            <a:ext cx="2619374" cy="1396999"/>
          </a:xfrm>
          <a:prstGeom prst="roundRect">
            <a:avLst>
              <a:gd name="adj" fmla="val 5113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1_a" descr="Editable shape; source id l1_a"/>
          <p:cNvSpPr/>
          <p:nvPr/>
        </p:nvSpPr>
        <p:spPr>
          <a:xfrm>
            <a:off x="7143749" y="888999"/>
            <a:ext cx="2619374" cy="47624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1_g_b" descr="Editable shape; source id l1_g_b"/>
          <p:cNvSpPr/>
          <p:nvPr/>
        </p:nvSpPr>
        <p:spPr>
          <a:xfrm>
            <a:off x="7286624" y="1111249"/>
            <a:ext cx="206374" cy="158749"/>
          </a:xfrm>
          <a:prstGeom prst="rect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l1_g_d" descr="Editable line; source id l1_g_d"/>
          <p:cNvCxnSpPr/>
          <p:nvPr/>
        </p:nvCxnSpPr>
        <p:spPr>
          <a:xfrm>
            <a:off x="7350124" y="1111249"/>
            <a:ext cx="0" cy="166688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l1_g_h0_0" descr="Editable line; source id l1_g_h0_0"/>
          <p:cNvCxnSpPr/>
          <p:nvPr/>
        </p:nvCxnSpPr>
        <p:spPr>
          <a:xfrm flipH="1">
            <a:off x="7381874" y="1166812"/>
            <a:ext cx="15875" cy="23812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l1_g_h0_1" descr="Editable line; source id l1_g_h0_1"/>
          <p:cNvCxnSpPr/>
          <p:nvPr/>
        </p:nvCxnSpPr>
        <p:spPr>
          <a:xfrm>
            <a:off x="7381874" y="1190624"/>
            <a:ext cx="15875" cy="3175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l1_g_h1_0" descr="Editable line; source id l1_g_h1_0"/>
          <p:cNvCxnSpPr/>
          <p:nvPr/>
        </p:nvCxnSpPr>
        <p:spPr>
          <a:xfrm flipH="1">
            <a:off x="7413624" y="1166812"/>
            <a:ext cx="15875" cy="23812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l1_g_h1_1" descr="Editable line; source id l1_g_h1_1"/>
          <p:cNvCxnSpPr/>
          <p:nvPr/>
        </p:nvCxnSpPr>
        <p:spPr>
          <a:xfrm>
            <a:off x="7413624" y="1190624"/>
            <a:ext cx="15875" cy="3175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l1_g_h2_0" descr="Editable line; source id l1_g_h2_0"/>
          <p:cNvCxnSpPr/>
          <p:nvPr/>
        </p:nvCxnSpPr>
        <p:spPr>
          <a:xfrm flipH="1">
            <a:off x="7445374" y="1166812"/>
            <a:ext cx="15875" cy="23812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l1_g_h2_1" descr="Editable line; source id l1_g_h2_1"/>
          <p:cNvCxnSpPr/>
          <p:nvPr/>
        </p:nvCxnSpPr>
        <p:spPr>
          <a:xfrm>
            <a:off x="7445374" y="1190624"/>
            <a:ext cx="15875" cy="3175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l1_t" descr="Editable text; source id l1_t"/>
          <p:cNvSpPr txBox="1"/>
          <p:nvPr/>
        </p:nvSpPr>
        <p:spPr>
          <a:xfrm>
            <a:off x="7604124" y="1047749"/>
            <a:ext cx="204787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78"/>
              </a:lnSpc>
              <a:spcBef>
                <a:spcPts val="0"/>
              </a:spcBef>
              <a:spcAft>
                <a:spcPts val="0"/>
              </a:spcAft>
              <a:defRPr sz="1425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固相成相</a:t>
            </a:r>
          </a:p>
        </p:txBody>
      </p:sp>
      <p:sp>
        <p:nvSpPr>
          <p:cNvPr id="77" name="l1c_t0" descr="Editable shape; source id l1c_t0"/>
          <p:cNvSpPr/>
          <p:nvPr/>
        </p:nvSpPr>
        <p:spPr>
          <a:xfrm>
            <a:off x="7238999" y="1460499"/>
            <a:ext cx="722312" cy="365124"/>
          </a:xfrm>
          <a:prstGeom prst="roundRect">
            <a:avLst>
              <a:gd name="adj" fmla="val 13043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l1c_t0_t" descr="Editable text; source id l1c_t0_t"/>
          <p:cNvSpPr txBox="1"/>
          <p:nvPr/>
        </p:nvSpPr>
        <p:spPr>
          <a:xfrm>
            <a:off x="7294562" y="1492249"/>
            <a:ext cx="611187" cy="301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defRPr sz="10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分段煅烧</a:t>
            </a:r>
          </a:p>
        </p:txBody>
      </p:sp>
      <p:sp>
        <p:nvSpPr>
          <p:cNvPr id="79" name="l1c_t1" descr="Editable shape; source id l1c_t1"/>
          <p:cNvSpPr/>
          <p:nvPr/>
        </p:nvSpPr>
        <p:spPr>
          <a:xfrm>
            <a:off x="8088312" y="1460499"/>
            <a:ext cx="722312" cy="365124"/>
          </a:xfrm>
          <a:prstGeom prst="roundRect">
            <a:avLst>
              <a:gd name="adj" fmla="val 13043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l1c_t1_t" descr="Editable text; source id l1c_t1_t"/>
          <p:cNvSpPr txBox="1"/>
          <p:nvPr/>
        </p:nvSpPr>
        <p:spPr>
          <a:xfrm>
            <a:off x="8143874" y="1492249"/>
            <a:ext cx="611187" cy="301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defRPr sz="10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复磨</a:t>
            </a:r>
          </a:p>
        </p:txBody>
      </p:sp>
      <p:sp>
        <p:nvSpPr>
          <p:cNvPr id="81" name="l1c_a1" descr="Editable line; source id l1c_a1"/>
          <p:cNvSpPr/>
          <p:nvPr/>
        </p:nvSpPr>
        <p:spPr>
          <a:xfrm>
            <a:off x="7985125" y="1623417"/>
            <a:ext cx="79375" cy="39291"/>
          </a:xfrm>
          <a:custGeom>
            <a:avLst/>
            <a:gdLst/>
            <a:ahLst/>
            <a:cxnLst/>
            <a:rect l="l" t="t" r="r" b="b"/>
            <a:pathLst>
              <a:path w="10000" h="4950">
                <a:moveTo>
                  <a:pt x="0" y="1675"/>
                </a:moveTo>
                <a:lnTo>
                  <a:pt x="4500" y="1675"/>
                </a:lnTo>
                <a:lnTo>
                  <a:pt x="4500" y="0"/>
                </a:lnTo>
                <a:lnTo>
                  <a:pt x="10000" y="2475"/>
                </a:lnTo>
                <a:lnTo>
                  <a:pt x="4500" y="4950"/>
                </a:lnTo>
                <a:lnTo>
                  <a:pt x="4500" y="3275"/>
                </a:lnTo>
                <a:lnTo>
                  <a:pt x="0" y="3275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l1c_t2" descr="Editable shape; source id l1c_t2"/>
          <p:cNvSpPr/>
          <p:nvPr/>
        </p:nvSpPr>
        <p:spPr>
          <a:xfrm>
            <a:off x="8945562" y="1460499"/>
            <a:ext cx="722312" cy="365124"/>
          </a:xfrm>
          <a:prstGeom prst="roundRect">
            <a:avLst>
              <a:gd name="adj" fmla="val 13043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l1c_t2_t" descr="Editable text; source id l1c_t2_t"/>
          <p:cNvSpPr txBox="1"/>
          <p:nvPr/>
        </p:nvSpPr>
        <p:spPr>
          <a:xfrm>
            <a:off x="9001124" y="1492249"/>
            <a:ext cx="611187" cy="301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defRPr sz="10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退火</a:t>
            </a:r>
          </a:p>
        </p:txBody>
      </p:sp>
      <p:sp>
        <p:nvSpPr>
          <p:cNvPr id="84" name="l1c_a2" descr="Editable line; source id l1c_a2"/>
          <p:cNvSpPr/>
          <p:nvPr/>
        </p:nvSpPr>
        <p:spPr>
          <a:xfrm>
            <a:off x="8842375" y="1623417"/>
            <a:ext cx="79375" cy="39291"/>
          </a:xfrm>
          <a:custGeom>
            <a:avLst/>
            <a:gdLst/>
            <a:ahLst/>
            <a:cxnLst/>
            <a:rect l="l" t="t" r="r" b="b"/>
            <a:pathLst>
              <a:path w="10000" h="4950">
                <a:moveTo>
                  <a:pt x="0" y="1675"/>
                </a:moveTo>
                <a:lnTo>
                  <a:pt x="4500" y="1675"/>
                </a:lnTo>
                <a:lnTo>
                  <a:pt x="4500" y="0"/>
                </a:lnTo>
                <a:lnTo>
                  <a:pt x="10000" y="2475"/>
                </a:lnTo>
                <a:lnTo>
                  <a:pt x="4500" y="4950"/>
                </a:lnTo>
                <a:lnTo>
                  <a:pt x="4500" y="3275"/>
                </a:lnTo>
                <a:lnTo>
                  <a:pt x="0" y="3275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l1_o" descr="Editable shape; source id l1_o"/>
          <p:cNvSpPr/>
          <p:nvPr/>
        </p:nvSpPr>
        <p:spPr>
          <a:xfrm>
            <a:off x="7238999" y="1889124"/>
            <a:ext cx="2428874" cy="333374"/>
          </a:xfrm>
          <a:prstGeom prst="roundRect">
            <a:avLst>
              <a:gd name="adj" fmla="val 14285"/>
            </a:avLst>
          </a:prstGeom>
          <a:solidFill>
            <a:srgbClr val="E6F2F3"/>
          </a:solidFill>
          <a:ln w="9524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l1_o_t" descr="Editable text; source id l1_o_t"/>
          <p:cNvSpPr txBox="1"/>
          <p:nvPr/>
        </p:nvSpPr>
        <p:spPr>
          <a:xfrm>
            <a:off x="7294562" y="1920874"/>
            <a:ext cx="23177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56"/>
              </a:lnSpc>
              <a:spcBef>
                <a:spcPts val="0"/>
              </a:spcBef>
              <a:spcAft>
                <a:spcPts val="0"/>
              </a:spcAft>
              <a:defRPr sz="113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3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批量相区与相纯度</a:t>
            </a:r>
          </a:p>
        </p:txBody>
      </p:sp>
      <p:sp>
        <p:nvSpPr>
          <p:cNvPr id="87" name="l2" descr="Editable shape; source id l2"/>
          <p:cNvSpPr/>
          <p:nvPr/>
        </p:nvSpPr>
        <p:spPr>
          <a:xfrm>
            <a:off x="7143749" y="2428874"/>
            <a:ext cx="2619374" cy="1396999"/>
          </a:xfrm>
          <a:prstGeom prst="roundRect">
            <a:avLst>
              <a:gd name="adj" fmla="val 5113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l2_a" descr="Editable shape; source id l2_a"/>
          <p:cNvSpPr/>
          <p:nvPr/>
        </p:nvSpPr>
        <p:spPr>
          <a:xfrm>
            <a:off x="7143749" y="2428874"/>
            <a:ext cx="2619374" cy="47624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l2_g_b_0" descr="Editable line; source id l2_g_b_0"/>
          <p:cNvCxnSpPr/>
          <p:nvPr/>
        </p:nvCxnSpPr>
        <p:spPr>
          <a:xfrm>
            <a:off x="7310437" y="2666999"/>
            <a:ext cx="31750" cy="150813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l2_g_b_1" descr="Editable line; source id l2_g_b_1"/>
          <p:cNvCxnSpPr/>
          <p:nvPr/>
        </p:nvCxnSpPr>
        <p:spPr>
          <a:xfrm>
            <a:off x="7342187" y="2817812"/>
            <a:ext cx="9525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l2_g_b_2" descr="Editable line; source id l2_g_b_2"/>
          <p:cNvCxnSpPr/>
          <p:nvPr/>
        </p:nvCxnSpPr>
        <p:spPr>
          <a:xfrm flipV="1">
            <a:off x="7437437" y="2666999"/>
            <a:ext cx="31750" cy="150813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l2_g_r" descr="Editable line; source id l2_g_r"/>
          <p:cNvCxnSpPr/>
          <p:nvPr/>
        </p:nvCxnSpPr>
        <p:spPr>
          <a:xfrm>
            <a:off x="7294562" y="2666999"/>
            <a:ext cx="19050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l2_g_c_0" descr="Editable line; source id l2_g_c_0"/>
          <p:cNvCxnSpPr/>
          <p:nvPr/>
        </p:nvCxnSpPr>
        <p:spPr>
          <a:xfrm>
            <a:off x="7389812" y="2611437"/>
            <a:ext cx="31750" cy="3175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l2_g_c_1" descr="Editable line; source id l2_g_c_1"/>
          <p:cNvCxnSpPr/>
          <p:nvPr/>
        </p:nvCxnSpPr>
        <p:spPr>
          <a:xfrm flipH="1">
            <a:off x="7389812" y="2643187"/>
            <a:ext cx="31750" cy="23812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l2_g_c_2" descr="Editable line; source id l2_g_c_2"/>
          <p:cNvCxnSpPr/>
          <p:nvPr/>
        </p:nvCxnSpPr>
        <p:spPr>
          <a:xfrm flipH="1" flipV="1">
            <a:off x="7358062" y="2643187"/>
            <a:ext cx="31750" cy="23812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l2_g_c_3" descr="Editable line; source id l2_g_c_3"/>
          <p:cNvCxnSpPr/>
          <p:nvPr/>
        </p:nvCxnSpPr>
        <p:spPr>
          <a:xfrm flipV="1">
            <a:off x="7358062" y="2611437"/>
            <a:ext cx="31750" cy="3175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l2_t" descr="Editable text; source id l2_t"/>
          <p:cNvSpPr txBox="1"/>
          <p:nvPr/>
        </p:nvSpPr>
        <p:spPr>
          <a:xfrm>
            <a:off x="7604124" y="2587624"/>
            <a:ext cx="204787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78"/>
              </a:lnSpc>
              <a:spcBef>
                <a:spcPts val="0"/>
              </a:spcBef>
              <a:spcAft>
                <a:spcPts val="0"/>
              </a:spcAft>
              <a:defRPr sz="1425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高温溶液长晶</a:t>
            </a:r>
          </a:p>
        </p:txBody>
      </p:sp>
      <p:sp>
        <p:nvSpPr>
          <p:cNvPr id="98" name="l2c_t0" descr="Editable shape; source id l2c_t0"/>
          <p:cNvSpPr/>
          <p:nvPr/>
        </p:nvSpPr>
        <p:spPr>
          <a:xfrm>
            <a:off x="7238999" y="3000374"/>
            <a:ext cx="722312" cy="365124"/>
          </a:xfrm>
          <a:prstGeom prst="roundRect">
            <a:avLst>
              <a:gd name="adj" fmla="val 13043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l2c_t0_t" descr="Editable text; source id l2c_t0_t"/>
          <p:cNvSpPr txBox="1"/>
          <p:nvPr/>
        </p:nvSpPr>
        <p:spPr>
          <a:xfrm>
            <a:off x="7294562" y="3032124"/>
            <a:ext cx="611187" cy="301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defRPr sz="10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助熔</a:t>
            </a:r>
          </a:p>
        </p:txBody>
      </p:sp>
      <p:sp>
        <p:nvSpPr>
          <p:cNvPr id="100" name="l2c_t1" descr="Editable shape; source id l2c_t1"/>
          <p:cNvSpPr/>
          <p:nvPr/>
        </p:nvSpPr>
        <p:spPr>
          <a:xfrm>
            <a:off x="8088312" y="3000374"/>
            <a:ext cx="722312" cy="365124"/>
          </a:xfrm>
          <a:prstGeom prst="roundRect">
            <a:avLst>
              <a:gd name="adj" fmla="val 13043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l2c_t1_t" descr="Editable text; source id l2c_t1_t"/>
          <p:cNvSpPr txBox="1"/>
          <p:nvPr/>
        </p:nvSpPr>
        <p:spPr>
          <a:xfrm>
            <a:off x="8143874" y="3032124"/>
            <a:ext cx="611187" cy="301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defRPr sz="10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保温</a:t>
            </a:r>
          </a:p>
        </p:txBody>
      </p:sp>
      <p:sp>
        <p:nvSpPr>
          <p:cNvPr id="102" name="l2c_a1" descr="Editable line; source id l2c_a1"/>
          <p:cNvSpPr/>
          <p:nvPr/>
        </p:nvSpPr>
        <p:spPr>
          <a:xfrm>
            <a:off x="7985125" y="3163292"/>
            <a:ext cx="79375" cy="39291"/>
          </a:xfrm>
          <a:custGeom>
            <a:avLst/>
            <a:gdLst/>
            <a:ahLst/>
            <a:cxnLst/>
            <a:rect l="l" t="t" r="r" b="b"/>
            <a:pathLst>
              <a:path w="10000" h="4950">
                <a:moveTo>
                  <a:pt x="0" y="1675"/>
                </a:moveTo>
                <a:lnTo>
                  <a:pt x="4500" y="1675"/>
                </a:lnTo>
                <a:lnTo>
                  <a:pt x="4500" y="0"/>
                </a:lnTo>
                <a:lnTo>
                  <a:pt x="10000" y="2475"/>
                </a:lnTo>
                <a:lnTo>
                  <a:pt x="4500" y="4950"/>
                </a:lnTo>
                <a:lnTo>
                  <a:pt x="4500" y="3275"/>
                </a:lnTo>
                <a:lnTo>
                  <a:pt x="0" y="3275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l2c_t2" descr="Editable shape; source id l2c_t2"/>
          <p:cNvSpPr/>
          <p:nvPr/>
        </p:nvSpPr>
        <p:spPr>
          <a:xfrm>
            <a:off x="8945562" y="3000374"/>
            <a:ext cx="722312" cy="365124"/>
          </a:xfrm>
          <a:prstGeom prst="roundRect">
            <a:avLst>
              <a:gd name="adj" fmla="val 13043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l2c_t2_t" descr="Editable text; source id l2c_t2_t"/>
          <p:cNvSpPr txBox="1"/>
          <p:nvPr/>
        </p:nvSpPr>
        <p:spPr>
          <a:xfrm>
            <a:off x="9001124" y="3032124"/>
            <a:ext cx="611187" cy="301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defRPr sz="10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7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慢冷</a:t>
            </a:r>
          </a:p>
        </p:txBody>
      </p:sp>
      <p:sp>
        <p:nvSpPr>
          <p:cNvPr id="105" name="l2c_a2" descr="Editable line; source id l2c_a2"/>
          <p:cNvSpPr/>
          <p:nvPr/>
        </p:nvSpPr>
        <p:spPr>
          <a:xfrm>
            <a:off x="8842375" y="3163292"/>
            <a:ext cx="79375" cy="39291"/>
          </a:xfrm>
          <a:custGeom>
            <a:avLst/>
            <a:gdLst/>
            <a:ahLst/>
            <a:cxnLst/>
            <a:rect l="l" t="t" r="r" b="b"/>
            <a:pathLst>
              <a:path w="10000" h="4950">
                <a:moveTo>
                  <a:pt x="0" y="1675"/>
                </a:moveTo>
                <a:lnTo>
                  <a:pt x="4500" y="1675"/>
                </a:lnTo>
                <a:lnTo>
                  <a:pt x="4500" y="0"/>
                </a:lnTo>
                <a:lnTo>
                  <a:pt x="10000" y="2475"/>
                </a:lnTo>
                <a:lnTo>
                  <a:pt x="4500" y="4950"/>
                </a:lnTo>
                <a:lnTo>
                  <a:pt x="4500" y="3275"/>
                </a:lnTo>
                <a:lnTo>
                  <a:pt x="0" y="3275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l2_o" descr="Editable shape; source id l2_o"/>
          <p:cNvSpPr/>
          <p:nvPr/>
        </p:nvSpPr>
        <p:spPr>
          <a:xfrm>
            <a:off x="7238999" y="3428999"/>
            <a:ext cx="2428874" cy="333374"/>
          </a:xfrm>
          <a:prstGeom prst="roundRect">
            <a:avLst>
              <a:gd name="adj" fmla="val 14285"/>
            </a:avLst>
          </a:prstGeom>
          <a:solidFill>
            <a:srgbClr val="E6F2F3"/>
          </a:solidFill>
          <a:ln w="9524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l2_o_t" descr="Editable text; source id l2_o_t"/>
          <p:cNvSpPr txBox="1"/>
          <p:nvPr/>
        </p:nvSpPr>
        <p:spPr>
          <a:xfrm>
            <a:off x="7294562" y="3460749"/>
            <a:ext cx="23177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56"/>
              </a:lnSpc>
              <a:spcBef>
                <a:spcPts val="0"/>
              </a:spcBef>
              <a:spcAft>
                <a:spcPts val="0"/>
              </a:spcAft>
              <a:defRPr sz="113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3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单晶结构与液相选择性</a:t>
            </a:r>
          </a:p>
        </p:txBody>
      </p:sp>
      <p:sp>
        <p:nvSpPr>
          <p:cNvPr id="108" name="c5" descr="Editable shape; source id c5"/>
          <p:cNvSpPr/>
          <p:nvPr/>
        </p:nvSpPr>
        <p:spPr>
          <a:xfrm>
            <a:off x="10191749" y="888999"/>
            <a:ext cx="1635124" cy="2936874"/>
          </a:xfrm>
          <a:prstGeom prst="roundRect">
            <a:avLst>
              <a:gd name="adj" fmla="val 4368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c5_a" descr="Editable shape; source id c5_a"/>
          <p:cNvSpPr/>
          <p:nvPr/>
        </p:nvSpPr>
        <p:spPr>
          <a:xfrm>
            <a:off x="10191749" y="888999"/>
            <a:ext cx="1635124" cy="47624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c5_g_a_0" descr="Editable line; source id c5_g_a_0"/>
          <p:cNvCxnSpPr/>
          <p:nvPr/>
        </p:nvCxnSpPr>
        <p:spPr>
          <a:xfrm>
            <a:off x="10882312" y="1309687"/>
            <a:ext cx="4762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5_g_a_1" descr="Editable line; source id c5_g_a_1"/>
          <p:cNvCxnSpPr/>
          <p:nvPr/>
        </p:nvCxnSpPr>
        <p:spPr>
          <a:xfrm flipV="1">
            <a:off x="10929937" y="1158874"/>
            <a:ext cx="23812" cy="150813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5_g_a_2" descr="Editable line; source id c5_g_a_2"/>
          <p:cNvCxnSpPr/>
          <p:nvPr/>
        </p:nvCxnSpPr>
        <p:spPr>
          <a:xfrm>
            <a:off x="10953749" y="1158874"/>
            <a:ext cx="15875" cy="150813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5_g_a_3" descr="Editable line; source id c5_g_a_3"/>
          <p:cNvCxnSpPr/>
          <p:nvPr/>
        </p:nvCxnSpPr>
        <p:spPr>
          <a:xfrm>
            <a:off x="10969624" y="1309687"/>
            <a:ext cx="39688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5_g_a_4" descr="Editable line; source id c5_g_a_4"/>
          <p:cNvCxnSpPr/>
          <p:nvPr/>
        </p:nvCxnSpPr>
        <p:spPr>
          <a:xfrm flipV="1">
            <a:off x="11009312" y="1206499"/>
            <a:ext cx="15875" cy="103188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5_g_a_5" descr="Editable line; source id c5_g_a_5"/>
          <p:cNvCxnSpPr/>
          <p:nvPr/>
        </p:nvCxnSpPr>
        <p:spPr>
          <a:xfrm>
            <a:off x="11025187" y="1206499"/>
            <a:ext cx="23812" cy="103188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5_g_a_6" descr="Editable line; source id c5_g_a_6"/>
          <p:cNvCxnSpPr/>
          <p:nvPr/>
        </p:nvCxnSpPr>
        <p:spPr>
          <a:xfrm>
            <a:off x="11048999" y="1309687"/>
            <a:ext cx="39688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5_g_a_7" descr="Editable line; source id c5_g_a_7"/>
          <p:cNvCxnSpPr/>
          <p:nvPr/>
        </p:nvCxnSpPr>
        <p:spPr>
          <a:xfrm flipV="1">
            <a:off x="11088687" y="1246187"/>
            <a:ext cx="7937" cy="6350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5_g_a_8" descr="Editable line; source id c5_g_a_8"/>
          <p:cNvCxnSpPr/>
          <p:nvPr/>
        </p:nvCxnSpPr>
        <p:spPr>
          <a:xfrm>
            <a:off x="11096624" y="1246187"/>
            <a:ext cx="15875" cy="6350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5_g_a_9" descr="Editable line; source id c5_g_a_9"/>
          <p:cNvCxnSpPr/>
          <p:nvPr/>
        </p:nvCxnSpPr>
        <p:spPr>
          <a:xfrm>
            <a:off x="11112499" y="1309687"/>
            <a:ext cx="3175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5_g_k_0" descr="Editable line; source id c5_g_k_0"/>
          <p:cNvCxnSpPr/>
          <p:nvPr/>
        </p:nvCxnSpPr>
        <p:spPr>
          <a:xfrm>
            <a:off x="11056937" y="1127124"/>
            <a:ext cx="23812" cy="3175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5_g_k_1" descr="Editable line; source id c5_g_k_1"/>
          <p:cNvCxnSpPr/>
          <p:nvPr/>
        </p:nvCxnSpPr>
        <p:spPr>
          <a:xfrm flipV="1">
            <a:off x="11080749" y="1079499"/>
            <a:ext cx="55563" cy="7937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c5_t" descr="Editable text; source id c5_t"/>
          <p:cNvSpPr txBox="1"/>
          <p:nvPr/>
        </p:nvSpPr>
        <p:spPr>
          <a:xfrm>
            <a:off x="10302874" y="1444624"/>
            <a:ext cx="141287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06"/>
              </a:lnSpc>
              <a:spcBef>
                <a:spcPts val="0"/>
              </a:spcBef>
              <a:spcAft>
                <a:spcPts val="0"/>
              </a:spcAft>
              <a:defRPr sz="130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0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表征手段</a:t>
            </a:r>
          </a:p>
        </p:txBody>
      </p:sp>
      <p:sp>
        <p:nvSpPr>
          <p:cNvPr id="123" name="c5k_t0" descr="Editable shape; source id c5k_t0"/>
          <p:cNvSpPr/>
          <p:nvPr/>
        </p:nvSpPr>
        <p:spPr>
          <a:xfrm>
            <a:off x="10302874" y="1770062"/>
            <a:ext cx="1412874" cy="412749"/>
          </a:xfrm>
          <a:prstGeom prst="roundRect">
            <a:avLst>
              <a:gd name="adj" fmla="val 11538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c5k_t0_t" descr="Editable text; source id c5k_t0_t"/>
          <p:cNvSpPr txBox="1"/>
          <p:nvPr/>
        </p:nvSpPr>
        <p:spPr>
          <a:xfrm>
            <a:off x="10358437" y="1801812"/>
            <a:ext cx="1301749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03"/>
              </a:lnSpc>
              <a:spcBef>
                <a:spcPts val="0"/>
              </a:spcBef>
              <a:spcAft>
                <a:spcPts val="0"/>
              </a:spcAft>
              <a:defRPr sz="101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01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PXRD / Rietveld</a:t>
            </a:r>
          </a:p>
        </p:txBody>
      </p:sp>
      <p:sp>
        <p:nvSpPr>
          <p:cNvPr id="125" name="c5k_t1" descr="Editable shape; source id c5k_t1"/>
          <p:cNvSpPr/>
          <p:nvPr/>
        </p:nvSpPr>
        <p:spPr>
          <a:xfrm>
            <a:off x="10302874" y="2278062"/>
            <a:ext cx="1412874" cy="412749"/>
          </a:xfrm>
          <a:prstGeom prst="roundRect">
            <a:avLst>
              <a:gd name="adj" fmla="val 11538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c5k_t1_t" descr="Editable text; source id c5k_t1_t"/>
          <p:cNvSpPr txBox="1"/>
          <p:nvPr/>
        </p:nvSpPr>
        <p:spPr>
          <a:xfrm>
            <a:off x="10358437" y="2309812"/>
            <a:ext cx="1301749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03"/>
              </a:lnSpc>
              <a:spcBef>
                <a:spcPts val="0"/>
              </a:spcBef>
              <a:spcAft>
                <a:spcPts val="0"/>
              </a:spcAft>
              <a:defRPr sz="101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01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SCXRD</a:t>
            </a:r>
          </a:p>
        </p:txBody>
      </p:sp>
      <p:sp>
        <p:nvSpPr>
          <p:cNvPr id="127" name="c5k_t2" descr="Editable shape; source id c5k_t2"/>
          <p:cNvSpPr/>
          <p:nvPr/>
        </p:nvSpPr>
        <p:spPr>
          <a:xfrm>
            <a:off x="10302874" y="2778124"/>
            <a:ext cx="1412874" cy="412749"/>
          </a:xfrm>
          <a:prstGeom prst="roundRect">
            <a:avLst>
              <a:gd name="adj" fmla="val 11538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c5k_t2_t" descr="Editable text; source id c5k_t2_t"/>
          <p:cNvSpPr txBox="1"/>
          <p:nvPr/>
        </p:nvSpPr>
        <p:spPr>
          <a:xfrm>
            <a:off x="10358437" y="2809874"/>
            <a:ext cx="1301749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03"/>
              </a:lnSpc>
              <a:spcBef>
                <a:spcPts val="0"/>
              </a:spcBef>
              <a:spcAft>
                <a:spcPts val="0"/>
              </a:spcAft>
              <a:defRPr sz="101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01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EDS / EPMA / ICP</a:t>
            </a:r>
          </a:p>
        </p:txBody>
      </p:sp>
      <p:sp>
        <p:nvSpPr>
          <p:cNvPr id="129" name="c5k_t3" descr="Editable shape; source id c5k_t3"/>
          <p:cNvSpPr/>
          <p:nvPr/>
        </p:nvSpPr>
        <p:spPr>
          <a:xfrm>
            <a:off x="10302874" y="3286124"/>
            <a:ext cx="1412874" cy="412749"/>
          </a:xfrm>
          <a:prstGeom prst="roundRect">
            <a:avLst>
              <a:gd name="adj" fmla="val 11538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c5k_t3_t" descr="Editable text; source id c5k_t3_t"/>
          <p:cNvSpPr txBox="1"/>
          <p:nvPr/>
        </p:nvSpPr>
        <p:spPr>
          <a:xfrm>
            <a:off x="10358437" y="3317874"/>
            <a:ext cx="1301749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84"/>
              </a:lnSpc>
              <a:spcBef>
                <a:spcPts val="0"/>
              </a:spcBef>
              <a:spcAft>
                <a:spcPts val="0"/>
              </a:spcAft>
              <a:defRPr sz="101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高温相与冷却产物</a:t>
            </a:r>
          </a:p>
        </p:txBody>
      </p:sp>
      <p:sp>
        <p:nvSpPr>
          <p:cNvPr id="131" name="e1_0" descr="Editable line; source id e1_0"/>
          <p:cNvSpPr/>
          <p:nvPr/>
        </p:nvSpPr>
        <p:spPr>
          <a:xfrm>
            <a:off x="2349500" y="2317750"/>
            <a:ext cx="238125" cy="79375"/>
          </a:xfrm>
          <a:custGeom>
            <a:avLst/>
            <a:gdLst/>
            <a:ahLst/>
            <a:cxnLst/>
            <a:rect l="l" t="t" r="r" b="b"/>
            <a:pathLst>
              <a:path w="30000" h="10000">
                <a:moveTo>
                  <a:pt x="0" y="4100"/>
                </a:moveTo>
                <a:lnTo>
                  <a:pt x="18000" y="4100"/>
                </a:lnTo>
                <a:lnTo>
                  <a:pt x="18000" y="0"/>
                </a:lnTo>
                <a:lnTo>
                  <a:pt x="30000" y="5000"/>
                </a:lnTo>
                <a:lnTo>
                  <a:pt x="18000" y="10000"/>
                </a:lnTo>
                <a:lnTo>
                  <a:pt x="18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e2_0" descr="Editable line; source id e2_0"/>
          <p:cNvSpPr/>
          <p:nvPr/>
        </p:nvSpPr>
        <p:spPr>
          <a:xfrm>
            <a:off x="4556125" y="2317750"/>
            <a:ext cx="238125" cy="79375"/>
          </a:xfrm>
          <a:custGeom>
            <a:avLst/>
            <a:gdLst/>
            <a:ahLst/>
            <a:cxnLst/>
            <a:rect l="l" t="t" r="r" b="b"/>
            <a:pathLst>
              <a:path w="30000" h="10000">
                <a:moveTo>
                  <a:pt x="0" y="4100"/>
                </a:moveTo>
                <a:lnTo>
                  <a:pt x="18000" y="4100"/>
                </a:lnTo>
                <a:lnTo>
                  <a:pt x="18000" y="0"/>
                </a:lnTo>
                <a:lnTo>
                  <a:pt x="30000" y="5000"/>
                </a:lnTo>
                <a:lnTo>
                  <a:pt x="18000" y="10000"/>
                </a:lnTo>
                <a:lnTo>
                  <a:pt x="18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3" name="fk0_0" descr="Editable line; source id fk0_0"/>
          <p:cNvCxnSpPr/>
          <p:nvPr/>
        </p:nvCxnSpPr>
        <p:spPr>
          <a:xfrm>
            <a:off x="6778624" y="2357437"/>
            <a:ext cx="190500" cy="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fkv_0" descr="Editable line; source id fkv_0"/>
          <p:cNvCxnSpPr/>
          <p:nvPr/>
        </p:nvCxnSpPr>
        <p:spPr>
          <a:xfrm>
            <a:off x="6969124" y="1587499"/>
            <a:ext cx="0" cy="1539875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fk1_0" descr="Editable line; source id fk1_0"/>
          <p:cNvSpPr/>
          <p:nvPr/>
        </p:nvSpPr>
        <p:spPr>
          <a:xfrm>
            <a:off x="6969125" y="1547812"/>
            <a:ext cx="142875" cy="79375"/>
          </a:xfrm>
          <a:custGeom>
            <a:avLst/>
            <a:gdLst/>
            <a:ahLst/>
            <a:cxnLst/>
            <a:rect l="l" t="t" r="r" b="b"/>
            <a:pathLst>
              <a:path w="18000" h="10000">
                <a:moveTo>
                  <a:pt x="0" y="4100"/>
                </a:moveTo>
                <a:lnTo>
                  <a:pt x="6000" y="4100"/>
                </a:lnTo>
                <a:lnTo>
                  <a:pt x="6000" y="0"/>
                </a:lnTo>
                <a:lnTo>
                  <a:pt x="18000" y="5000"/>
                </a:lnTo>
                <a:lnTo>
                  <a:pt x="6000" y="10000"/>
                </a:lnTo>
                <a:lnTo>
                  <a:pt x="6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k2_0" descr="Editable line; source id fk2_0"/>
          <p:cNvSpPr/>
          <p:nvPr/>
        </p:nvSpPr>
        <p:spPr>
          <a:xfrm>
            <a:off x="6969125" y="3087687"/>
            <a:ext cx="142875" cy="79375"/>
          </a:xfrm>
          <a:custGeom>
            <a:avLst/>
            <a:gdLst/>
            <a:ahLst/>
            <a:cxnLst/>
            <a:rect l="l" t="t" r="r" b="b"/>
            <a:pathLst>
              <a:path w="18000" h="10000">
                <a:moveTo>
                  <a:pt x="0" y="4100"/>
                </a:moveTo>
                <a:lnTo>
                  <a:pt x="6000" y="4100"/>
                </a:lnTo>
                <a:lnTo>
                  <a:pt x="6000" y="0"/>
                </a:lnTo>
                <a:lnTo>
                  <a:pt x="18000" y="5000"/>
                </a:lnTo>
                <a:lnTo>
                  <a:pt x="6000" y="10000"/>
                </a:lnTo>
                <a:lnTo>
                  <a:pt x="6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7" name="mg1_0" descr="Editable line; source id mg1_0"/>
          <p:cNvCxnSpPr/>
          <p:nvPr/>
        </p:nvCxnSpPr>
        <p:spPr>
          <a:xfrm>
            <a:off x="9794874" y="1587499"/>
            <a:ext cx="142875" cy="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mg2_0" descr="Editable line; source id mg2_0"/>
          <p:cNvCxnSpPr/>
          <p:nvPr/>
        </p:nvCxnSpPr>
        <p:spPr>
          <a:xfrm>
            <a:off x="9794874" y="3127374"/>
            <a:ext cx="142875" cy="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mgv_0" descr="Editable line; source id mgv_0"/>
          <p:cNvCxnSpPr/>
          <p:nvPr/>
        </p:nvCxnSpPr>
        <p:spPr>
          <a:xfrm>
            <a:off x="9937749" y="1587499"/>
            <a:ext cx="0" cy="1539875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mg3_0" descr="Editable line; source id mg3_0"/>
          <p:cNvSpPr/>
          <p:nvPr/>
        </p:nvSpPr>
        <p:spPr>
          <a:xfrm>
            <a:off x="9937750" y="2317750"/>
            <a:ext cx="222250" cy="79375"/>
          </a:xfrm>
          <a:custGeom>
            <a:avLst/>
            <a:gdLst/>
            <a:ahLst/>
            <a:cxnLst/>
            <a:rect l="l" t="t" r="r" b="b"/>
            <a:pathLst>
              <a:path w="28000" h="10000">
                <a:moveTo>
                  <a:pt x="0" y="4100"/>
                </a:moveTo>
                <a:lnTo>
                  <a:pt x="16000" y="4100"/>
                </a:lnTo>
                <a:lnTo>
                  <a:pt x="16000" y="0"/>
                </a:lnTo>
                <a:lnTo>
                  <a:pt x="28000" y="5000"/>
                </a:lnTo>
                <a:lnTo>
                  <a:pt x="16000" y="10000"/>
                </a:lnTo>
                <a:lnTo>
                  <a:pt x="16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1" name="fb_0" descr="Editable line; source id fb_0"/>
          <p:cNvCxnSpPr/>
          <p:nvPr/>
        </p:nvCxnSpPr>
        <p:spPr>
          <a:xfrm>
            <a:off x="11009312" y="3857624"/>
            <a:ext cx="0" cy="508000"/>
          </a:xfrm>
          <a:prstGeom prst="line">
            <a:avLst/>
          </a:prstGeom>
          <a:ln w="14287">
            <a:solidFill>
              <a:srgbClr val="4B5563"/>
            </a:solidFill>
            <a:custDash>
              <a:ds d="611111" sp="388889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fb_1" descr="Editable line; source id fb_1"/>
          <p:cNvCxnSpPr/>
          <p:nvPr/>
        </p:nvCxnSpPr>
        <p:spPr>
          <a:xfrm flipH="1">
            <a:off x="3579812" y="4365624"/>
            <a:ext cx="7429500" cy="0"/>
          </a:xfrm>
          <a:prstGeom prst="line">
            <a:avLst/>
          </a:prstGeom>
          <a:ln w="14287">
            <a:solidFill>
              <a:srgbClr val="4B5563"/>
            </a:solidFill>
            <a:custDash>
              <a:ds d="611111" sp="388889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fb_2" descr="Editable line; source id fb_2"/>
          <p:cNvCxnSpPr/>
          <p:nvPr/>
        </p:nvCxnSpPr>
        <p:spPr>
          <a:xfrm flipV="1">
            <a:off x="3579812" y="3857624"/>
            <a:ext cx="0" cy="508000"/>
          </a:xfrm>
          <a:prstGeom prst="line">
            <a:avLst/>
          </a:prstGeom>
          <a:ln w="14287">
            <a:solidFill>
              <a:srgbClr val="4B5563"/>
            </a:solidFill>
            <a:custDash>
              <a:ds d="611111" sp="388889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fb_p" descr="Editable shape; source id fb_p"/>
          <p:cNvSpPr/>
          <p:nvPr/>
        </p:nvSpPr>
        <p:spPr>
          <a:xfrm>
            <a:off x="6651624" y="4206874"/>
            <a:ext cx="1285874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b_p_t" descr="Editable text; source id fb_p_t"/>
          <p:cNvSpPr txBox="1"/>
          <p:nvPr/>
        </p:nvSpPr>
        <p:spPr>
          <a:xfrm>
            <a:off x="6730999" y="4238624"/>
            <a:ext cx="112712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更新组成与工艺</a:t>
            </a:r>
          </a:p>
        </p:txBody>
      </p:sp>
      <p:sp>
        <p:nvSpPr>
          <p:cNvPr id="146" name="q1" descr="Editable shape; source id q1"/>
          <p:cNvSpPr/>
          <p:nvPr/>
        </p:nvSpPr>
        <p:spPr>
          <a:xfrm>
            <a:off x="476249" y="5270499"/>
            <a:ext cx="3524249" cy="825499"/>
          </a:xfrm>
          <a:prstGeom prst="roundRect">
            <a:avLst>
              <a:gd name="adj" fmla="val 8653"/>
            </a:avLst>
          </a:prstGeom>
          <a:solidFill>
            <a:srgbClr val="FFFFFF"/>
          </a:solidFill>
          <a:ln w="11112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q1_t" descr="Editable text; source id q1_t"/>
          <p:cNvSpPr txBox="1"/>
          <p:nvPr/>
        </p:nvSpPr>
        <p:spPr>
          <a:xfrm>
            <a:off x="666749" y="5556249"/>
            <a:ext cx="31432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06"/>
              </a:lnSpc>
              <a:spcBef>
                <a:spcPts val="0"/>
              </a:spcBef>
              <a:spcAft>
                <a:spcPts val="0"/>
              </a:spcAft>
              <a:defRPr sz="1306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306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Zn </a:t>
            </a:r>
            <a:r>
              <a:rPr sz="1306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是否进入并与氧计量耦合？</a:t>
            </a:r>
          </a:p>
        </p:txBody>
      </p:sp>
      <p:sp>
        <p:nvSpPr>
          <p:cNvPr id="148" name="q2" descr="Editable shape; source id q2"/>
          <p:cNvSpPr/>
          <p:nvPr/>
        </p:nvSpPr>
        <p:spPr>
          <a:xfrm>
            <a:off x="4333874" y="5270499"/>
            <a:ext cx="3524249" cy="825499"/>
          </a:xfrm>
          <a:prstGeom prst="roundRect">
            <a:avLst>
              <a:gd name="adj" fmla="val 8653"/>
            </a:avLst>
          </a:prstGeom>
          <a:solidFill>
            <a:srgbClr val="FFFFFF"/>
          </a:solidFill>
          <a:ln w="11112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q2_t" descr="Editable text; source id q2_t"/>
          <p:cNvSpPr txBox="1"/>
          <p:nvPr/>
        </p:nvSpPr>
        <p:spPr>
          <a:xfrm>
            <a:off x="4524374" y="5556249"/>
            <a:ext cx="31432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06"/>
              </a:lnSpc>
              <a:spcBef>
                <a:spcPts val="0"/>
              </a:spcBef>
              <a:spcAft>
                <a:spcPts val="0"/>
              </a:spcAft>
              <a:defRPr sz="1306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06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稳定相区还是液相选择性？</a:t>
            </a:r>
          </a:p>
        </p:txBody>
      </p:sp>
      <p:sp>
        <p:nvSpPr>
          <p:cNvPr id="150" name="q3" descr="Editable shape; source id q3"/>
          <p:cNvSpPr/>
          <p:nvPr/>
        </p:nvSpPr>
        <p:spPr>
          <a:xfrm>
            <a:off x="8191499" y="5270499"/>
            <a:ext cx="3524249" cy="825499"/>
          </a:xfrm>
          <a:prstGeom prst="roundRect">
            <a:avLst>
              <a:gd name="adj" fmla="val 8653"/>
            </a:avLst>
          </a:prstGeom>
          <a:solidFill>
            <a:srgbClr val="FFFFFF"/>
          </a:solidFill>
          <a:ln w="11112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q3_t" descr="Editable text; source id q3_t"/>
          <p:cNvSpPr txBox="1"/>
          <p:nvPr/>
        </p:nvSpPr>
        <p:spPr>
          <a:xfrm>
            <a:off x="8381999" y="5556249"/>
            <a:ext cx="31432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06"/>
              </a:lnSpc>
              <a:spcBef>
                <a:spcPts val="0"/>
              </a:spcBef>
              <a:spcAft>
                <a:spcPts val="0"/>
              </a:spcAft>
              <a:defRPr sz="1306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06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实际组成与结构信号如何对应？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