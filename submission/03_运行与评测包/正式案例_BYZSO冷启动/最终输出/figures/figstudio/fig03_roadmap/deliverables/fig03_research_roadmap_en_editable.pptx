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10456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3 本文的研究路线（第六轮：印刷字号 + 内容定尺寸；分叉同时进入两条通道） [paper=byzso] [print_width_pt=451.4]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L" descr="Editable shape; source id zL"/>
          <p:cNvSpPr/>
          <p:nvPr/>
        </p:nvSpPr>
        <p:spPr>
          <a:xfrm>
            <a:off x="206374" y="206374"/>
            <a:ext cx="11779249" cy="3643312"/>
          </a:xfrm>
          <a:prstGeom prst="roundRect">
            <a:avLst>
              <a:gd name="adj" fmla="val 3050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L_l" descr="Editable text; source id zL_l"/>
          <p:cNvSpPr txBox="1"/>
          <p:nvPr/>
        </p:nvSpPr>
        <p:spPr>
          <a:xfrm>
            <a:off x="349249" y="285749"/>
            <a:ext cx="2778124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Evidence</a:t>
            </a:r>
          </a:p>
        </p:txBody>
      </p:sp>
      <p:sp>
        <p:nvSpPr>
          <p:cNvPr id="4" name="cav" descr="Editable shape; source id cav"/>
          <p:cNvSpPr/>
          <p:nvPr/>
        </p:nvSpPr>
        <p:spPr>
          <a:xfrm>
            <a:off x="9318624" y="285749"/>
            <a:ext cx="2524124" cy="3809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v_t" descr="Editable text; source id cav_t"/>
          <p:cNvSpPr txBox="1"/>
          <p:nvPr/>
        </p:nvSpPr>
        <p:spPr>
          <a:xfrm>
            <a:off x="9397999" y="317499"/>
            <a:ext cx="236537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Ranking ≠ validation</a:t>
            </a:r>
          </a:p>
        </p:txBody>
      </p:sp>
      <p:sp>
        <p:nvSpPr>
          <p:cNvPr id="6" name="c1" descr="Editable shape; source id c1"/>
          <p:cNvSpPr/>
          <p:nvPr/>
        </p:nvSpPr>
        <p:spPr>
          <a:xfrm>
            <a:off x="333374" y="746124"/>
            <a:ext cx="3627437" cy="2976562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1_b" descr="Editable shape; source id c1_b"/>
          <p:cNvSpPr/>
          <p:nvPr/>
        </p:nvSpPr>
        <p:spPr>
          <a:xfrm>
            <a:off x="333374" y="746124"/>
            <a:ext cx="47624" cy="2976562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1_g_s2" descr="Editable shape; source id c1_g_s2"/>
          <p:cNvSpPr/>
          <p:nvPr/>
        </p:nvSpPr>
        <p:spPr>
          <a:xfrm>
            <a:off x="587374" y="952499"/>
            <a:ext cx="158749" cy="2381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1_g_s1" descr="Editable shape; source id c1_g_s1"/>
          <p:cNvSpPr/>
          <p:nvPr/>
        </p:nvSpPr>
        <p:spPr>
          <a:xfrm>
            <a:off x="555624" y="928687"/>
            <a:ext cx="158749" cy="2381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1_g_s0" descr="Editable shape; source id c1_g_s0"/>
          <p:cNvSpPr/>
          <p:nvPr/>
        </p:nvSpPr>
        <p:spPr>
          <a:xfrm>
            <a:off x="531812" y="896937"/>
            <a:ext cx="158749" cy="2381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1_g_l1" descr="Editable line; source id c1_g_l1"/>
          <p:cNvCxnSpPr/>
          <p:nvPr/>
        </p:nvCxnSpPr>
        <p:spPr>
          <a:xfrm>
            <a:off x="571499" y="984249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1_g_l2" descr="Editable line; source id c1_g_l2"/>
          <p:cNvCxnSpPr/>
          <p:nvPr/>
        </p:nvCxnSpPr>
        <p:spPr>
          <a:xfrm>
            <a:off x="571499" y="1031874"/>
            <a:ext cx="1031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1_g_l3" descr="Editable line; source id c1_g_l3"/>
          <p:cNvCxnSpPr/>
          <p:nvPr/>
        </p:nvCxnSpPr>
        <p:spPr>
          <a:xfrm>
            <a:off x="571499" y="1079499"/>
            <a:ext cx="7143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1_t" descr="Editable text; source id c1_t"/>
          <p:cNvSpPr txBox="1"/>
          <p:nvPr/>
        </p:nvSpPr>
        <p:spPr>
          <a:xfrm>
            <a:off x="896937" y="833437"/>
            <a:ext cx="2976562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Literature Basis</a:t>
            </a:r>
          </a:p>
        </p:txBody>
      </p:sp>
      <p:sp>
        <p:nvSpPr>
          <p:cNvPr id="15" name="c1_i0" descr="Editable shape; source id c1_i0"/>
          <p:cNvSpPr/>
          <p:nvPr/>
        </p:nvSpPr>
        <p:spPr>
          <a:xfrm>
            <a:off x="468312" y="1269999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1_i0_t" descr="Editable text; source id c1_i0_t"/>
          <p:cNvSpPr txBox="1"/>
          <p:nvPr/>
        </p:nvSpPr>
        <p:spPr>
          <a:xfrm>
            <a:off x="523874" y="1301749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Ba–Y–Si–O family</a:t>
            </a:r>
          </a:p>
        </p:txBody>
      </p:sp>
      <p:sp>
        <p:nvSpPr>
          <p:cNvPr id="17" name="c1_i1" descr="Editable shape; source id c1_i1"/>
          <p:cNvSpPr/>
          <p:nvPr/>
        </p:nvSpPr>
        <p:spPr>
          <a:xfrm>
            <a:off x="468312" y="2079624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1_i1_t" descr="Editable text; source id c1_i1_t"/>
          <p:cNvSpPr txBox="1"/>
          <p:nvPr/>
        </p:nvSpPr>
        <p:spPr>
          <a:xfrm>
            <a:off x="523874" y="2111374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Ba–Zn–Si–O structural neighbors</a:t>
            </a:r>
          </a:p>
        </p:txBody>
      </p:sp>
      <p:sp>
        <p:nvSpPr>
          <p:cNvPr id="19" name="c1_i2" descr="Editable shape; source id c1_i2"/>
          <p:cNvSpPr/>
          <p:nvPr/>
        </p:nvSpPr>
        <p:spPr>
          <a:xfrm>
            <a:off x="468312" y="2897187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1_i2_t" descr="Editable text; source id c1_i2_t"/>
          <p:cNvSpPr txBox="1"/>
          <p:nvPr/>
        </p:nvSpPr>
        <p:spPr>
          <a:xfrm>
            <a:off x="523874" y="2928937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Y–Si–O process reference</a:t>
            </a:r>
          </a:p>
        </p:txBody>
      </p:sp>
      <p:sp>
        <p:nvSpPr>
          <p:cNvPr id="21" name="c2" descr="Editable shape; source id c2"/>
          <p:cNvSpPr/>
          <p:nvPr/>
        </p:nvSpPr>
        <p:spPr>
          <a:xfrm>
            <a:off x="4278312" y="746124"/>
            <a:ext cx="3627437" cy="2976562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2_b" descr="Editable shape; source id c2_b"/>
          <p:cNvSpPr/>
          <p:nvPr/>
        </p:nvSpPr>
        <p:spPr>
          <a:xfrm>
            <a:off x="4278312" y="746124"/>
            <a:ext cx="47624" cy="2976562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2_g_o_0" descr="Editable line; source id c2_g_o_0"/>
          <p:cNvCxnSpPr/>
          <p:nvPr/>
        </p:nvCxnSpPr>
        <p:spPr>
          <a:xfrm>
            <a:off x="4579937" y="873124"/>
            <a:ext cx="134937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2_g_o_1" descr="Editable line; source id c2_g_o_1"/>
          <p:cNvCxnSpPr/>
          <p:nvPr/>
        </p:nvCxnSpPr>
        <p:spPr>
          <a:xfrm flipH="1">
            <a:off x="4651374" y="960437"/>
            <a:ext cx="63500" cy="182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2_g_o_2" descr="Editable line; source id c2_g_o_2"/>
          <p:cNvCxnSpPr/>
          <p:nvPr/>
        </p:nvCxnSpPr>
        <p:spPr>
          <a:xfrm flipH="1">
            <a:off x="4508499" y="1142999"/>
            <a:ext cx="142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2_g_o_3" descr="Editable line; source id c2_g_o_3"/>
          <p:cNvCxnSpPr/>
          <p:nvPr/>
        </p:nvCxnSpPr>
        <p:spPr>
          <a:xfrm flipH="1" flipV="1">
            <a:off x="4444999" y="960437"/>
            <a:ext cx="63500" cy="18256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2_g_o_4" descr="Editable line; source id c2_g_o_4"/>
          <p:cNvCxnSpPr/>
          <p:nvPr/>
        </p:nvCxnSpPr>
        <p:spPr>
          <a:xfrm flipV="1">
            <a:off x="4444999" y="873124"/>
            <a:ext cx="134938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2_g_a" descr="Editable line; source id c2_g_a"/>
          <p:cNvCxnSpPr/>
          <p:nvPr/>
        </p:nvCxnSpPr>
        <p:spPr>
          <a:xfrm>
            <a:off x="4579937" y="873124"/>
            <a:ext cx="0" cy="269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2_g_b" descr="Editable line; source id c2_g_b"/>
          <p:cNvCxnSpPr/>
          <p:nvPr/>
        </p:nvCxnSpPr>
        <p:spPr>
          <a:xfrm>
            <a:off x="4444999" y="960437"/>
            <a:ext cx="2698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2_t" descr="Editable text; source id c2_t"/>
          <p:cNvSpPr txBox="1"/>
          <p:nvPr/>
        </p:nvSpPr>
        <p:spPr>
          <a:xfrm>
            <a:off x="4841874" y="833437"/>
            <a:ext cx="2976562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Structural Hypothesis</a:t>
            </a:r>
          </a:p>
        </p:txBody>
      </p:sp>
      <p:sp>
        <p:nvSpPr>
          <p:cNvPr id="31" name="c2_i0" descr="Editable shape; source id c2_i0"/>
          <p:cNvSpPr/>
          <p:nvPr/>
        </p:nvSpPr>
        <p:spPr>
          <a:xfrm>
            <a:off x="4413249" y="1269999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2_i0_t" descr="Editable text; source id c2_i0_t"/>
          <p:cNvSpPr txBox="1"/>
          <p:nvPr/>
        </p:nvSpPr>
        <p:spPr>
          <a:xfrm>
            <a:off x="4468812" y="1301749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Local composition grid</a:t>
            </a:r>
          </a:p>
        </p:txBody>
      </p:sp>
      <p:sp>
        <p:nvSpPr>
          <p:cNvPr id="33" name="c2_i1" descr="Editable shape; source id c2_i1"/>
          <p:cNvSpPr/>
          <p:nvPr/>
        </p:nvSpPr>
        <p:spPr>
          <a:xfrm>
            <a:off x="4413249" y="2079624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2_i1_t" descr="Editable text; source id c2_i1_t"/>
          <p:cNvSpPr txBox="1"/>
          <p:nvPr/>
        </p:nvSpPr>
        <p:spPr>
          <a:xfrm>
            <a:off x="4468812" y="2111374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Zn–Y–O stoichiometric coupling</a:t>
            </a:r>
          </a:p>
        </p:txBody>
      </p:sp>
      <p:sp>
        <p:nvSpPr>
          <p:cNvPr id="35" name="c2_i2" descr="Editable shape; source id c2_i2"/>
          <p:cNvSpPr/>
          <p:nvPr/>
        </p:nvSpPr>
        <p:spPr>
          <a:xfrm>
            <a:off x="4413249" y="2897187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_i2_t" descr="Editable text; source id c2_i2_t"/>
          <p:cNvSpPr txBox="1"/>
          <p:nvPr/>
        </p:nvSpPr>
        <p:spPr>
          <a:xfrm>
            <a:off x="4468812" y="2928937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Competing phases, glass region</a:t>
            </a:r>
          </a:p>
        </p:txBody>
      </p:sp>
      <p:sp>
        <p:nvSpPr>
          <p:cNvPr id="37" name="c3" descr="Editable shape; source id c3"/>
          <p:cNvSpPr/>
          <p:nvPr/>
        </p:nvSpPr>
        <p:spPr>
          <a:xfrm>
            <a:off x="8223249" y="746124"/>
            <a:ext cx="3627437" cy="2976562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3_b" descr="Editable shape; source id c3_b"/>
          <p:cNvSpPr/>
          <p:nvPr/>
        </p:nvSpPr>
        <p:spPr>
          <a:xfrm>
            <a:off x="8223249" y="746124"/>
            <a:ext cx="47624" cy="2976562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3_g_f_0" descr="Editable line; source id c3_g_f_0"/>
          <p:cNvCxnSpPr/>
          <p:nvPr/>
        </p:nvCxnSpPr>
        <p:spPr>
          <a:xfrm>
            <a:off x="8397874" y="912812"/>
            <a:ext cx="2540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3_g_f_1" descr="Editable line; source id c3_g_f_1"/>
          <p:cNvCxnSpPr/>
          <p:nvPr/>
        </p:nvCxnSpPr>
        <p:spPr>
          <a:xfrm flipH="1">
            <a:off x="8548687" y="912812"/>
            <a:ext cx="103187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3_g_f_2" descr="Editable line; source id c3_g_f_2"/>
          <p:cNvCxnSpPr/>
          <p:nvPr/>
        </p:nvCxnSpPr>
        <p:spPr>
          <a:xfrm>
            <a:off x="8548687" y="1039812"/>
            <a:ext cx="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3_g_f_3" descr="Editable line; source id c3_g_f_3"/>
          <p:cNvCxnSpPr/>
          <p:nvPr/>
        </p:nvCxnSpPr>
        <p:spPr>
          <a:xfrm flipH="1">
            <a:off x="8501062" y="1142999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3_g_f_4" descr="Editable line; source id c3_g_f_4"/>
          <p:cNvCxnSpPr/>
          <p:nvPr/>
        </p:nvCxnSpPr>
        <p:spPr>
          <a:xfrm flipV="1">
            <a:off x="8501062" y="1039812"/>
            <a:ext cx="0" cy="1031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3_g_f_5" descr="Editable line; source id c3_g_f_5"/>
          <p:cNvCxnSpPr/>
          <p:nvPr/>
        </p:nvCxnSpPr>
        <p:spPr>
          <a:xfrm flipH="1" flipV="1">
            <a:off x="8397874" y="912812"/>
            <a:ext cx="103188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3_t" descr="Editable text; source id c3_t"/>
          <p:cNvSpPr txBox="1"/>
          <p:nvPr/>
        </p:nvSpPr>
        <p:spPr>
          <a:xfrm>
            <a:off x="8786812" y="833437"/>
            <a:ext cx="2976562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Screened Precursors</a:t>
            </a:r>
          </a:p>
        </p:txBody>
      </p:sp>
      <p:sp>
        <p:nvSpPr>
          <p:cNvPr id="46" name="c3_i0" descr="Editable shape; source id c3_i0"/>
          <p:cNvSpPr/>
          <p:nvPr/>
        </p:nvSpPr>
        <p:spPr>
          <a:xfrm>
            <a:off x="8358187" y="1269999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3_i0_t" descr="Editable text; source id c3_i0_t"/>
          <p:cNvSpPr txBox="1"/>
          <p:nvPr/>
        </p:nvSpPr>
        <p:spPr>
          <a:xfrm>
            <a:off x="8413749" y="1301749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BaCO3 + Y2O3 + SiO2</a:t>
            </a:r>
          </a:p>
        </p:txBody>
      </p:sp>
      <p:sp>
        <p:nvSpPr>
          <p:cNvPr id="48" name="c3_i1" descr="Editable shape; source id c3_i1"/>
          <p:cNvSpPr/>
          <p:nvPr/>
        </p:nvSpPr>
        <p:spPr>
          <a:xfrm>
            <a:off x="8358187" y="2079624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3_i1_t" descr="Editable text; source id c3_i1_t"/>
          <p:cNvSpPr txBox="1"/>
          <p:nvPr/>
        </p:nvSpPr>
        <p:spPr>
          <a:xfrm>
            <a:off x="8413749" y="2111374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ZnO / MgO / Co3O4</a:t>
            </a:r>
          </a:p>
        </p:txBody>
      </p:sp>
      <p:sp>
        <p:nvSpPr>
          <p:cNvPr id="50" name="c3_i2" descr="Editable shape; source id c3_i2"/>
          <p:cNvSpPr/>
          <p:nvPr/>
        </p:nvSpPr>
        <p:spPr>
          <a:xfrm>
            <a:off x="8358187" y="2897187"/>
            <a:ext cx="3405187" cy="738187"/>
          </a:xfrm>
          <a:prstGeom prst="roundRect">
            <a:avLst>
              <a:gd name="adj" fmla="val 6451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3_i2_t" descr="Editable text; source id c3_i2_t"/>
          <p:cNvSpPr txBox="1"/>
          <p:nvPr/>
        </p:nvSpPr>
        <p:spPr>
          <a:xfrm>
            <a:off x="8413749" y="2928937"/>
            <a:ext cx="3294062" cy="674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Model-ranked candidates</a:t>
            </a:r>
          </a:p>
        </p:txBody>
      </p:sp>
      <p:sp>
        <p:nvSpPr>
          <p:cNvPr id="52" name="e1_0" descr="Editable line; source id e1_0"/>
          <p:cNvSpPr/>
          <p:nvPr/>
        </p:nvSpPr>
        <p:spPr>
          <a:xfrm>
            <a:off x="3992562" y="2190750"/>
            <a:ext cx="254000" cy="95250"/>
          </a:xfrm>
          <a:custGeom>
            <a:avLst/>
            <a:gdLst/>
            <a:ahLst/>
            <a:cxnLst/>
            <a:rect l="l" t="t" r="r" b="b"/>
            <a:pathLst>
              <a:path w="32000" h="12000">
                <a:moveTo>
                  <a:pt x="0" y="4750"/>
                </a:moveTo>
                <a:lnTo>
                  <a:pt x="17000" y="4750"/>
                </a:lnTo>
                <a:lnTo>
                  <a:pt x="17000" y="0"/>
                </a:lnTo>
                <a:lnTo>
                  <a:pt x="32000" y="6000"/>
                </a:lnTo>
                <a:lnTo>
                  <a:pt x="17000" y="12000"/>
                </a:lnTo>
                <a:lnTo>
                  <a:pt x="1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2_0" descr="Editable line; source id e2_0"/>
          <p:cNvSpPr/>
          <p:nvPr/>
        </p:nvSpPr>
        <p:spPr>
          <a:xfrm>
            <a:off x="7937500" y="2190750"/>
            <a:ext cx="254000" cy="95250"/>
          </a:xfrm>
          <a:custGeom>
            <a:avLst/>
            <a:gdLst/>
            <a:ahLst/>
            <a:cxnLst/>
            <a:rect l="l" t="t" r="r" b="b"/>
            <a:pathLst>
              <a:path w="32000" h="12000">
                <a:moveTo>
                  <a:pt x="0" y="4750"/>
                </a:moveTo>
                <a:lnTo>
                  <a:pt x="17000" y="4750"/>
                </a:lnTo>
                <a:lnTo>
                  <a:pt x="17000" y="0"/>
                </a:lnTo>
                <a:lnTo>
                  <a:pt x="32000" y="6000"/>
                </a:lnTo>
                <a:lnTo>
                  <a:pt x="17000" y="12000"/>
                </a:lnTo>
                <a:lnTo>
                  <a:pt x="17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zE" descr="Editable shape; source id zE"/>
          <p:cNvSpPr/>
          <p:nvPr/>
        </p:nvSpPr>
        <p:spPr>
          <a:xfrm>
            <a:off x="206374" y="4881562"/>
            <a:ext cx="11779249" cy="2190749"/>
          </a:xfrm>
          <a:prstGeom prst="roundRect">
            <a:avLst>
              <a:gd name="adj" fmla="val 5072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zE_l" descr="Editable text; source id zE_l"/>
          <p:cNvSpPr txBox="1"/>
          <p:nvPr/>
        </p:nvSpPr>
        <p:spPr>
          <a:xfrm>
            <a:off x="349249" y="4960937"/>
            <a:ext cx="264318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Experimental Items</a:t>
            </a:r>
          </a:p>
        </p:txBody>
      </p:sp>
      <p:sp>
        <p:nvSpPr>
          <p:cNvPr id="56" name="l1" descr="Editable shape; source id l1"/>
          <p:cNvSpPr/>
          <p:nvPr/>
        </p:nvSpPr>
        <p:spPr>
          <a:xfrm>
            <a:off x="333374" y="5421312"/>
            <a:ext cx="5683249" cy="1523999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1_b" descr="Editable shape; source id l1_b"/>
          <p:cNvSpPr/>
          <p:nvPr/>
        </p:nvSpPr>
        <p:spPr>
          <a:xfrm>
            <a:off x="333374" y="5421312"/>
            <a:ext cx="47624" cy="15239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1_g_b" descr="Editable shape; source id l1_g_b"/>
          <p:cNvSpPr/>
          <p:nvPr/>
        </p:nvSpPr>
        <p:spPr>
          <a:xfrm>
            <a:off x="531812" y="5635624"/>
            <a:ext cx="238124" cy="190499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l1_g_d" descr="Editable line; source id l1_g_d"/>
          <p:cNvCxnSpPr/>
          <p:nvPr/>
        </p:nvCxnSpPr>
        <p:spPr>
          <a:xfrm>
            <a:off x="603249" y="5635624"/>
            <a:ext cx="0" cy="190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l1_g_h0_0" descr="Editable line; source id l1_g_h0_0"/>
          <p:cNvCxnSpPr/>
          <p:nvPr/>
        </p:nvCxnSpPr>
        <p:spPr>
          <a:xfrm flipH="1">
            <a:off x="634999" y="5699124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1_g_h0_1" descr="Editable line; source id l1_g_h0_1"/>
          <p:cNvCxnSpPr/>
          <p:nvPr/>
        </p:nvCxnSpPr>
        <p:spPr>
          <a:xfrm>
            <a:off x="634999" y="5730874"/>
            <a:ext cx="23813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l1_g_h1_0" descr="Editable line; source id l1_g_h1_0"/>
          <p:cNvCxnSpPr/>
          <p:nvPr/>
        </p:nvCxnSpPr>
        <p:spPr>
          <a:xfrm flipH="1">
            <a:off x="674687" y="5699124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1_g_h1_1" descr="Editable line; source id l1_g_h1_1"/>
          <p:cNvCxnSpPr/>
          <p:nvPr/>
        </p:nvCxnSpPr>
        <p:spPr>
          <a:xfrm>
            <a:off x="674687" y="5730874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1_g_h2_0" descr="Editable line; source id l1_g_h2_0"/>
          <p:cNvCxnSpPr/>
          <p:nvPr/>
        </p:nvCxnSpPr>
        <p:spPr>
          <a:xfrm flipH="1">
            <a:off x="714374" y="5699124"/>
            <a:ext cx="15875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l1_g_h2_1" descr="Editable line; source id l1_g_h2_1"/>
          <p:cNvCxnSpPr/>
          <p:nvPr/>
        </p:nvCxnSpPr>
        <p:spPr>
          <a:xfrm>
            <a:off x="714374" y="5730874"/>
            <a:ext cx="15875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l1_t" descr="Editable text; source id l1_t"/>
          <p:cNvSpPr txBox="1"/>
          <p:nvPr/>
        </p:nvSpPr>
        <p:spPr>
          <a:xfrm>
            <a:off x="888999" y="5532437"/>
            <a:ext cx="501649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Solid-State Route</a:t>
            </a:r>
          </a:p>
        </p:txBody>
      </p:sp>
      <p:sp>
        <p:nvSpPr>
          <p:cNvPr id="67" name="l1r_t0" descr="Editable shape; source id l1r_t0"/>
          <p:cNvSpPr/>
          <p:nvPr/>
        </p:nvSpPr>
        <p:spPr>
          <a:xfrm>
            <a:off x="492124" y="5976937"/>
            <a:ext cx="1055687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1r_t0_t" descr="Editable text; source id l1r_t0_t"/>
          <p:cNvSpPr txBox="1"/>
          <p:nvPr/>
        </p:nvSpPr>
        <p:spPr>
          <a:xfrm>
            <a:off x="547687" y="6008687"/>
            <a:ext cx="944562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Calcine</a:t>
            </a:r>
          </a:p>
        </p:txBody>
      </p:sp>
      <p:sp>
        <p:nvSpPr>
          <p:cNvPr id="69" name="l1r_t1" descr="Editable shape; source id l1r_t1"/>
          <p:cNvSpPr/>
          <p:nvPr/>
        </p:nvSpPr>
        <p:spPr>
          <a:xfrm>
            <a:off x="1738312" y="5976937"/>
            <a:ext cx="1055687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1r_t1_t" descr="Editable text; source id l1r_t1_t"/>
          <p:cNvSpPr txBox="1"/>
          <p:nvPr/>
        </p:nvSpPr>
        <p:spPr>
          <a:xfrm>
            <a:off x="1793874" y="6008687"/>
            <a:ext cx="944562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Regrind</a:t>
            </a:r>
          </a:p>
        </p:txBody>
      </p:sp>
      <p:sp>
        <p:nvSpPr>
          <p:cNvPr id="71" name="l1r_a1" descr="Editable line; source id l1r_a1"/>
          <p:cNvSpPr/>
          <p:nvPr/>
        </p:nvSpPr>
        <p:spPr>
          <a:xfrm>
            <a:off x="1587500" y="6147871"/>
            <a:ext cx="111125" cy="55007"/>
          </a:xfrm>
          <a:custGeom>
            <a:avLst/>
            <a:gdLst/>
            <a:ahLst/>
            <a:cxnLst/>
            <a:rect l="l" t="t" r="r" b="b"/>
            <a:pathLst>
              <a:path w="14000" h="6930">
                <a:moveTo>
                  <a:pt x="0" y="2365"/>
                </a:moveTo>
                <a:lnTo>
                  <a:pt x="6300" y="2365"/>
                </a:lnTo>
                <a:lnTo>
                  <a:pt x="6300" y="0"/>
                </a:lnTo>
                <a:lnTo>
                  <a:pt x="14000" y="3465"/>
                </a:lnTo>
                <a:lnTo>
                  <a:pt x="6300" y="6930"/>
                </a:lnTo>
                <a:lnTo>
                  <a:pt x="6300" y="4565"/>
                </a:lnTo>
                <a:lnTo>
                  <a:pt x="0" y="456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1r_t2" descr="Editable shape; source id l1r_t2"/>
          <p:cNvSpPr/>
          <p:nvPr/>
        </p:nvSpPr>
        <p:spPr>
          <a:xfrm>
            <a:off x="2984499" y="5976937"/>
            <a:ext cx="936624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1r_t2_t" descr="Editable text; source id l1r_t2_t"/>
          <p:cNvSpPr txBox="1"/>
          <p:nvPr/>
        </p:nvSpPr>
        <p:spPr>
          <a:xfrm>
            <a:off x="3040062" y="6008687"/>
            <a:ext cx="82549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Anneal</a:t>
            </a:r>
          </a:p>
        </p:txBody>
      </p:sp>
      <p:sp>
        <p:nvSpPr>
          <p:cNvPr id="74" name="l1r_a2" descr="Editable line; source id l1r_a2"/>
          <p:cNvSpPr/>
          <p:nvPr/>
        </p:nvSpPr>
        <p:spPr>
          <a:xfrm>
            <a:off x="2833687" y="6147871"/>
            <a:ext cx="111125" cy="55007"/>
          </a:xfrm>
          <a:custGeom>
            <a:avLst/>
            <a:gdLst/>
            <a:ahLst/>
            <a:cxnLst/>
            <a:rect l="l" t="t" r="r" b="b"/>
            <a:pathLst>
              <a:path w="14000" h="6930">
                <a:moveTo>
                  <a:pt x="0" y="2365"/>
                </a:moveTo>
                <a:lnTo>
                  <a:pt x="6300" y="2365"/>
                </a:lnTo>
                <a:lnTo>
                  <a:pt x="6300" y="0"/>
                </a:lnTo>
                <a:lnTo>
                  <a:pt x="14000" y="3465"/>
                </a:lnTo>
                <a:lnTo>
                  <a:pt x="6300" y="6930"/>
                </a:lnTo>
                <a:lnTo>
                  <a:pt x="6300" y="4565"/>
                </a:lnTo>
                <a:lnTo>
                  <a:pt x="0" y="456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l1_o" descr="Editable shape; source id l1_o"/>
          <p:cNvSpPr/>
          <p:nvPr/>
        </p:nvSpPr>
        <p:spPr>
          <a:xfrm>
            <a:off x="492124" y="6445249"/>
            <a:ext cx="5413374" cy="388937"/>
          </a:xfrm>
          <a:prstGeom prst="roundRect">
            <a:avLst>
              <a:gd name="adj" fmla="val 12244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1_o_t" descr="Editable text; source id l1_o_t"/>
          <p:cNvSpPr txBox="1"/>
          <p:nvPr/>
        </p:nvSpPr>
        <p:spPr>
          <a:xfrm>
            <a:off x="547687" y="6476999"/>
            <a:ext cx="530224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Bulk phase purity</a:t>
            </a:r>
          </a:p>
        </p:txBody>
      </p:sp>
      <p:sp>
        <p:nvSpPr>
          <p:cNvPr id="77" name="l2" descr="Editable shape; source id l2"/>
          <p:cNvSpPr/>
          <p:nvPr/>
        </p:nvSpPr>
        <p:spPr>
          <a:xfrm>
            <a:off x="6175374" y="5421312"/>
            <a:ext cx="5683249" cy="1523999"/>
          </a:xfrm>
          <a:prstGeom prst="roundRect">
            <a:avLst>
              <a:gd name="adj" fmla="val 468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l2_b" descr="Editable shape; source id l2_b"/>
          <p:cNvSpPr/>
          <p:nvPr/>
        </p:nvSpPr>
        <p:spPr>
          <a:xfrm>
            <a:off x="6175374" y="5421312"/>
            <a:ext cx="47624" cy="1523999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l2_g_n_0" descr="Editable line; source id l2_g_n_0"/>
          <p:cNvCxnSpPr/>
          <p:nvPr/>
        </p:nvCxnSpPr>
        <p:spPr>
          <a:xfrm>
            <a:off x="6461124" y="5587999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2_g_n_1" descr="Editable line; source id l2_g_n_1"/>
          <p:cNvCxnSpPr/>
          <p:nvPr/>
        </p:nvCxnSpPr>
        <p:spPr>
          <a:xfrm flipH="1">
            <a:off x="6381749" y="5675312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2_g_n_2" descr="Editable line; source id l2_g_n_2"/>
          <p:cNvCxnSpPr/>
          <p:nvPr/>
        </p:nvCxnSpPr>
        <p:spPr>
          <a:xfrm>
            <a:off x="6381749" y="5834062"/>
            <a:ext cx="222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2_g_n_3" descr="Editable line; source id l2_g_n_3"/>
          <p:cNvCxnSpPr/>
          <p:nvPr/>
        </p:nvCxnSpPr>
        <p:spPr>
          <a:xfrm flipH="1" flipV="1">
            <a:off x="6524624" y="5675312"/>
            <a:ext cx="793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2_g_n_4" descr="Editable line; source id l2_g_n_4"/>
          <p:cNvCxnSpPr/>
          <p:nvPr/>
        </p:nvCxnSpPr>
        <p:spPr>
          <a:xfrm flipV="1">
            <a:off x="6524624" y="5587999"/>
            <a:ext cx="0" cy="873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2_g_m" descr="Editable line; source id l2_g_m"/>
          <p:cNvCxnSpPr/>
          <p:nvPr/>
        </p:nvCxnSpPr>
        <p:spPr>
          <a:xfrm>
            <a:off x="6445249" y="5587999"/>
            <a:ext cx="952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l2_g_d1" descr="Editable shape; source id l2_g_d1"/>
          <p:cNvSpPr/>
          <p:nvPr/>
        </p:nvSpPr>
        <p:spPr>
          <a:xfrm>
            <a:off x="6453187" y="5762624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l2_g_d2" descr="Editable shape; source id l2_g_d2"/>
          <p:cNvSpPr/>
          <p:nvPr/>
        </p:nvSpPr>
        <p:spPr>
          <a:xfrm>
            <a:off x="6508749" y="5786437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l2_t" descr="Editable text; source id l2_t"/>
          <p:cNvSpPr txBox="1"/>
          <p:nvPr/>
        </p:nvSpPr>
        <p:spPr>
          <a:xfrm>
            <a:off x="6730999" y="5532437"/>
            <a:ext cx="5016499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Solution Growth</a:t>
            </a:r>
          </a:p>
        </p:txBody>
      </p:sp>
      <p:sp>
        <p:nvSpPr>
          <p:cNvPr id="88" name="l2r_t0" descr="Editable shape; source id l2r_t0"/>
          <p:cNvSpPr/>
          <p:nvPr/>
        </p:nvSpPr>
        <p:spPr>
          <a:xfrm>
            <a:off x="6334124" y="5976937"/>
            <a:ext cx="698499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2r_t0_t" descr="Editable text; source id l2r_t0_t"/>
          <p:cNvSpPr txBox="1"/>
          <p:nvPr/>
        </p:nvSpPr>
        <p:spPr>
          <a:xfrm>
            <a:off x="6389687" y="6008687"/>
            <a:ext cx="5873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Flux</a:t>
            </a:r>
          </a:p>
        </p:txBody>
      </p:sp>
      <p:sp>
        <p:nvSpPr>
          <p:cNvPr id="90" name="l2r_t1" descr="Editable shape; source id l2r_t1"/>
          <p:cNvSpPr/>
          <p:nvPr/>
        </p:nvSpPr>
        <p:spPr>
          <a:xfrm>
            <a:off x="7223124" y="5976937"/>
            <a:ext cx="817562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2r_t1_t" descr="Editable text; source id l2r_t1_t"/>
          <p:cNvSpPr txBox="1"/>
          <p:nvPr/>
        </p:nvSpPr>
        <p:spPr>
          <a:xfrm>
            <a:off x="7278687" y="6008687"/>
            <a:ext cx="706437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Dwell</a:t>
            </a:r>
          </a:p>
        </p:txBody>
      </p:sp>
      <p:sp>
        <p:nvSpPr>
          <p:cNvPr id="92" name="l2r_a1" descr="Editable line; source id l2r_a1"/>
          <p:cNvSpPr/>
          <p:nvPr/>
        </p:nvSpPr>
        <p:spPr>
          <a:xfrm>
            <a:off x="7072312" y="6147871"/>
            <a:ext cx="111125" cy="55007"/>
          </a:xfrm>
          <a:custGeom>
            <a:avLst/>
            <a:gdLst/>
            <a:ahLst/>
            <a:cxnLst/>
            <a:rect l="l" t="t" r="r" b="b"/>
            <a:pathLst>
              <a:path w="14000" h="6930">
                <a:moveTo>
                  <a:pt x="0" y="2365"/>
                </a:moveTo>
                <a:lnTo>
                  <a:pt x="6300" y="2365"/>
                </a:lnTo>
                <a:lnTo>
                  <a:pt x="6300" y="0"/>
                </a:lnTo>
                <a:lnTo>
                  <a:pt x="14000" y="3465"/>
                </a:lnTo>
                <a:lnTo>
                  <a:pt x="6300" y="6930"/>
                </a:lnTo>
                <a:lnTo>
                  <a:pt x="6300" y="4565"/>
                </a:lnTo>
                <a:lnTo>
                  <a:pt x="0" y="456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2r_t2" descr="Editable shape; source id l2r_t2"/>
          <p:cNvSpPr/>
          <p:nvPr/>
        </p:nvSpPr>
        <p:spPr>
          <a:xfrm>
            <a:off x="8231187" y="5976937"/>
            <a:ext cx="1230312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2r_t2_t" descr="Editable text; source id l2r_t2_t"/>
          <p:cNvSpPr txBox="1"/>
          <p:nvPr/>
        </p:nvSpPr>
        <p:spPr>
          <a:xfrm>
            <a:off x="8286749" y="6008687"/>
            <a:ext cx="1119187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Slow cool</a:t>
            </a:r>
          </a:p>
        </p:txBody>
      </p:sp>
      <p:sp>
        <p:nvSpPr>
          <p:cNvPr id="95" name="l2r_a2" descr="Editable line; source id l2r_a2"/>
          <p:cNvSpPr/>
          <p:nvPr/>
        </p:nvSpPr>
        <p:spPr>
          <a:xfrm>
            <a:off x="8080375" y="6147871"/>
            <a:ext cx="111125" cy="55007"/>
          </a:xfrm>
          <a:custGeom>
            <a:avLst/>
            <a:gdLst/>
            <a:ahLst/>
            <a:cxnLst/>
            <a:rect l="l" t="t" r="r" b="b"/>
            <a:pathLst>
              <a:path w="14000" h="6930">
                <a:moveTo>
                  <a:pt x="0" y="2365"/>
                </a:moveTo>
                <a:lnTo>
                  <a:pt x="6300" y="2365"/>
                </a:lnTo>
                <a:lnTo>
                  <a:pt x="6300" y="0"/>
                </a:lnTo>
                <a:lnTo>
                  <a:pt x="14000" y="3465"/>
                </a:lnTo>
                <a:lnTo>
                  <a:pt x="6300" y="6930"/>
                </a:lnTo>
                <a:lnTo>
                  <a:pt x="6300" y="4565"/>
                </a:lnTo>
                <a:lnTo>
                  <a:pt x="0" y="4565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2_o" descr="Editable shape; source id l2_o"/>
          <p:cNvSpPr/>
          <p:nvPr/>
        </p:nvSpPr>
        <p:spPr>
          <a:xfrm>
            <a:off x="6334124" y="6445249"/>
            <a:ext cx="5413374" cy="388937"/>
          </a:xfrm>
          <a:prstGeom prst="roundRect">
            <a:avLst>
              <a:gd name="adj" fmla="val 12244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l2_o_t" descr="Editable text; source id l2_o_t"/>
          <p:cNvSpPr txBox="1"/>
          <p:nvPr/>
        </p:nvSpPr>
        <p:spPr>
          <a:xfrm>
            <a:off x="6389687" y="6476999"/>
            <a:ext cx="5302249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Single-crystal structure</a:t>
            </a:r>
          </a:p>
        </p:txBody>
      </p:sp>
      <p:sp>
        <p:nvSpPr>
          <p:cNvPr id="98" name="zR" descr="Editable shape; source id zR"/>
          <p:cNvSpPr/>
          <p:nvPr/>
        </p:nvSpPr>
        <p:spPr>
          <a:xfrm>
            <a:off x="206374" y="7580312"/>
            <a:ext cx="11779249" cy="1254124"/>
          </a:xfrm>
          <a:prstGeom prst="roundRect">
            <a:avLst>
              <a:gd name="adj" fmla="val 8860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zR_l" descr="Editable text; source id zR_l"/>
          <p:cNvSpPr txBox="1"/>
          <p:nvPr/>
        </p:nvSpPr>
        <p:spPr>
          <a:xfrm>
            <a:off x="349249" y="7659687"/>
            <a:ext cx="2230437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Result Feedback</a:t>
            </a:r>
          </a:p>
        </p:txBody>
      </p:sp>
      <p:sp>
        <p:nvSpPr>
          <p:cNvPr id="100" name="c5" descr="Editable shape; source id c5"/>
          <p:cNvSpPr/>
          <p:nvPr/>
        </p:nvSpPr>
        <p:spPr>
          <a:xfrm>
            <a:off x="904874" y="8120062"/>
            <a:ext cx="10374312" cy="587374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5_b" descr="Editable shape; source id c5_b"/>
          <p:cNvSpPr/>
          <p:nvPr/>
        </p:nvSpPr>
        <p:spPr>
          <a:xfrm>
            <a:off x="904874" y="8120062"/>
            <a:ext cx="47624" cy="58737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5_g_a_0" descr="Editable line; source id c5_g_a_0"/>
          <p:cNvCxnSpPr/>
          <p:nvPr/>
        </p:nvCxnSpPr>
        <p:spPr>
          <a:xfrm>
            <a:off x="1135062" y="8516937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5_g_a_1" descr="Editable line; source id c5_g_a_1"/>
          <p:cNvCxnSpPr/>
          <p:nvPr/>
        </p:nvCxnSpPr>
        <p:spPr>
          <a:xfrm flipV="1">
            <a:off x="1182687" y="8358187"/>
            <a:ext cx="23812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5_g_a_2" descr="Editable line; source id c5_g_a_2"/>
          <p:cNvCxnSpPr/>
          <p:nvPr/>
        </p:nvCxnSpPr>
        <p:spPr>
          <a:xfrm>
            <a:off x="1206499" y="8358187"/>
            <a:ext cx="15875" cy="158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5_g_a_3" descr="Editable line; source id c5_g_a_3"/>
          <p:cNvCxnSpPr/>
          <p:nvPr/>
        </p:nvCxnSpPr>
        <p:spPr>
          <a:xfrm>
            <a:off x="1222374" y="8516937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5_g_a_4" descr="Editable line; source id c5_g_a_4"/>
          <p:cNvCxnSpPr/>
          <p:nvPr/>
        </p:nvCxnSpPr>
        <p:spPr>
          <a:xfrm flipV="1">
            <a:off x="1269999" y="8413749"/>
            <a:ext cx="15875" cy="103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5_g_a_5" descr="Editable line; source id c5_g_a_5"/>
          <p:cNvCxnSpPr/>
          <p:nvPr/>
        </p:nvCxnSpPr>
        <p:spPr>
          <a:xfrm>
            <a:off x="1285874" y="8413749"/>
            <a:ext cx="23813" cy="1031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5_g_a_6" descr="Editable line; source id c5_g_a_6"/>
          <p:cNvCxnSpPr/>
          <p:nvPr/>
        </p:nvCxnSpPr>
        <p:spPr>
          <a:xfrm>
            <a:off x="1309687" y="8516937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5_g_a_7" descr="Editable line; source id c5_g_a_7"/>
          <p:cNvCxnSpPr/>
          <p:nvPr/>
        </p:nvCxnSpPr>
        <p:spPr>
          <a:xfrm flipV="1">
            <a:off x="1349374" y="8453437"/>
            <a:ext cx="7938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5_g_a_8" descr="Editable line; source id c5_g_a_8"/>
          <p:cNvCxnSpPr/>
          <p:nvPr/>
        </p:nvCxnSpPr>
        <p:spPr>
          <a:xfrm>
            <a:off x="1357312" y="8453437"/>
            <a:ext cx="15875" cy="635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5_g_a_9" descr="Editable line; source id c5_g_a_9"/>
          <p:cNvCxnSpPr/>
          <p:nvPr/>
        </p:nvCxnSpPr>
        <p:spPr>
          <a:xfrm>
            <a:off x="1373187" y="8516937"/>
            <a:ext cx="3175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5_g_k_0" descr="Editable line; source id c5_g_k_0"/>
          <p:cNvCxnSpPr/>
          <p:nvPr/>
        </p:nvCxnSpPr>
        <p:spPr>
          <a:xfrm>
            <a:off x="1309687" y="8326437"/>
            <a:ext cx="31750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5_g_k_1" descr="Editable line; source id c5_g_k_1"/>
          <p:cNvCxnSpPr/>
          <p:nvPr/>
        </p:nvCxnSpPr>
        <p:spPr>
          <a:xfrm flipV="1">
            <a:off x="1341437" y="8278812"/>
            <a:ext cx="55562" cy="793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5_t" descr="Editable text; source id c5_t"/>
          <p:cNvSpPr txBox="1"/>
          <p:nvPr/>
        </p:nvSpPr>
        <p:spPr>
          <a:xfrm>
            <a:off x="1508124" y="8231187"/>
            <a:ext cx="2333624" cy="365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84"/>
              </a:lnSpc>
              <a:spcBef>
                <a:spcPts val="0"/>
              </a:spcBef>
              <a:spcAft>
                <a:spcPts val="0"/>
              </a:spcAft>
              <a:def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defRPr>
            </a:pPr>
            <a:r>
              <a:rPr sz="1687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Characterization</a:t>
            </a:r>
          </a:p>
        </p:txBody>
      </p:sp>
      <p:sp>
        <p:nvSpPr>
          <p:cNvPr id="115" name="c5r_t0" descr="Editable shape; source id c5r_t0"/>
          <p:cNvSpPr/>
          <p:nvPr/>
        </p:nvSpPr>
        <p:spPr>
          <a:xfrm>
            <a:off x="4000499" y="8223249"/>
            <a:ext cx="1873249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c5r_t0_t" descr="Editable text; source id c5r_t0_t"/>
          <p:cNvSpPr txBox="1"/>
          <p:nvPr/>
        </p:nvSpPr>
        <p:spPr>
          <a:xfrm>
            <a:off x="4063999" y="8254999"/>
            <a:ext cx="176212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sp>
        <p:nvSpPr>
          <p:cNvPr id="117" name="c5r_t1" descr="Editable shape; source id c5r_t1"/>
          <p:cNvSpPr/>
          <p:nvPr/>
        </p:nvSpPr>
        <p:spPr>
          <a:xfrm>
            <a:off x="5968999" y="8223249"/>
            <a:ext cx="817562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c5r_t1_t" descr="Editable text; source id c5r_t1_t"/>
          <p:cNvSpPr txBox="1"/>
          <p:nvPr/>
        </p:nvSpPr>
        <p:spPr>
          <a:xfrm>
            <a:off x="6032499" y="8254999"/>
            <a:ext cx="706437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SCXRD</a:t>
            </a:r>
          </a:p>
        </p:txBody>
      </p:sp>
      <p:sp>
        <p:nvSpPr>
          <p:cNvPr id="119" name="c5r_t2" descr="Editable shape; source id c5r_t2"/>
          <p:cNvSpPr/>
          <p:nvPr/>
        </p:nvSpPr>
        <p:spPr>
          <a:xfrm>
            <a:off x="6889749" y="8223249"/>
            <a:ext cx="1873249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c5r_t2_t" descr="Editable text; source id c5r_t2_t"/>
          <p:cNvSpPr txBox="1"/>
          <p:nvPr/>
        </p:nvSpPr>
        <p:spPr>
          <a:xfrm>
            <a:off x="6937374" y="8254999"/>
            <a:ext cx="176212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EDS / EPMA / ICP</a:t>
            </a:r>
          </a:p>
        </p:txBody>
      </p:sp>
      <p:sp>
        <p:nvSpPr>
          <p:cNvPr id="121" name="c5r_t3" descr="Editable shape; source id c5r_t3"/>
          <p:cNvSpPr/>
          <p:nvPr/>
        </p:nvSpPr>
        <p:spPr>
          <a:xfrm>
            <a:off x="8858249" y="8223249"/>
            <a:ext cx="2285999" cy="388937"/>
          </a:xfrm>
          <a:prstGeom prst="roundRect">
            <a:avLst>
              <a:gd name="adj" fmla="val 12244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c5r_t3_t" descr="Editable text; source id c5r_t3_t"/>
          <p:cNvSpPr txBox="1"/>
          <p:nvPr/>
        </p:nvSpPr>
        <p:spPr>
          <a:xfrm>
            <a:off x="8905874" y="8254999"/>
            <a:ext cx="2174874" cy="3254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HT vs cooled phases</a:t>
            </a:r>
          </a:p>
        </p:txBody>
      </p:sp>
      <p:sp>
        <p:nvSpPr>
          <p:cNvPr id="123" name="zQ" descr="Editable shape; source id zQ"/>
          <p:cNvSpPr/>
          <p:nvPr/>
        </p:nvSpPr>
        <p:spPr>
          <a:xfrm>
            <a:off x="206374" y="9056687"/>
            <a:ext cx="11779249" cy="1841499"/>
          </a:xfrm>
          <a:prstGeom prst="roundRect">
            <a:avLst>
              <a:gd name="adj" fmla="val 6034"/>
            </a:avLst>
          </a:prstGeom>
          <a:solidFill>
            <a:srgbClr val="FFF6E3"/>
          </a:solidFill>
          <a:ln w="12699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zQ_l" descr="Editable text; source id zQ_l"/>
          <p:cNvSpPr txBox="1"/>
          <p:nvPr/>
        </p:nvSpPr>
        <p:spPr>
          <a:xfrm>
            <a:off x="349249" y="9136062"/>
            <a:ext cx="2095499" cy="380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46"/>
              </a:lnSpc>
              <a:spcBef>
                <a:spcPts val="0"/>
              </a:spcBef>
              <a:spcAft>
                <a:spcPts val="0"/>
              </a:spcAft>
              <a:defRPr sz="17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749" b="1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Open Questions</a:t>
            </a:r>
          </a:p>
        </p:txBody>
      </p:sp>
      <p:sp>
        <p:nvSpPr>
          <p:cNvPr id="125" name="q1" descr="Editable shape; source id q1"/>
          <p:cNvSpPr/>
          <p:nvPr/>
        </p:nvSpPr>
        <p:spPr>
          <a:xfrm>
            <a:off x="333374" y="9596437"/>
            <a:ext cx="3730624" cy="1174749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q1_b" descr="Editable shape; source id q1_b"/>
          <p:cNvSpPr/>
          <p:nvPr/>
        </p:nvSpPr>
        <p:spPr>
          <a:xfrm>
            <a:off x="333374" y="9596437"/>
            <a:ext cx="47624" cy="1174749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q1_t" descr="Editable text; source id q1_t"/>
          <p:cNvSpPr txBox="1"/>
          <p:nvPr/>
        </p:nvSpPr>
        <p:spPr>
          <a:xfrm>
            <a:off x="492124" y="9707562"/>
            <a:ext cx="3460749" cy="952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Does Zn enter and couple with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oxygen stoichiometry?</a:t>
            </a:r>
          </a:p>
        </p:txBody>
      </p:sp>
      <p:sp>
        <p:nvSpPr>
          <p:cNvPr id="128" name="q2" descr="Editable shape; source id q2"/>
          <p:cNvSpPr/>
          <p:nvPr/>
        </p:nvSpPr>
        <p:spPr>
          <a:xfrm>
            <a:off x="4222749" y="9596437"/>
            <a:ext cx="3730624" cy="1174749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q2_b" descr="Editable shape; source id q2_b"/>
          <p:cNvSpPr/>
          <p:nvPr/>
        </p:nvSpPr>
        <p:spPr>
          <a:xfrm>
            <a:off x="4222749" y="9596437"/>
            <a:ext cx="47624" cy="1174749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q2_t" descr="Editable text; source id q2_t"/>
          <p:cNvSpPr txBox="1"/>
          <p:nvPr/>
        </p:nvSpPr>
        <p:spPr>
          <a:xfrm>
            <a:off x="4381499" y="9707562"/>
            <a:ext cx="3460749" cy="952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Stable phase field, or liquid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selectivity?</a:t>
            </a:r>
          </a:p>
        </p:txBody>
      </p:sp>
      <p:sp>
        <p:nvSpPr>
          <p:cNvPr id="131" name="q3" descr="Editable shape; source id q3"/>
          <p:cNvSpPr/>
          <p:nvPr/>
        </p:nvSpPr>
        <p:spPr>
          <a:xfrm>
            <a:off x="8112124" y="9596437"/>
            <a:ext cx="3730624" cy="1174749"/>
          </a:xfrm>
          <a:prstGeom prst="roundRect">
            <a:avLst>
              <a:gd name="adj" fmla="val 6081"/>
            </a:avLst>
          </a:prstGeom>
          <a:solidFill>
            <a:srgbClr val="FFFFFF"/>
          </a:solidFill>
          <a:ln w="1508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q3_b" descr="Editable shape; source id q3_b"/>
          <p:cNvSpPr/>
          <p:nvPr/>
        </p:nvSpPr>
        <p:spPr>
          <a:xfrm>
            <a:off x="8112124" y="9596437"/>
            <a:ext cx="47624" cy="1174749"/>
          </a:xfrm>
          <a:prstGeom prst="roundRect">
            <a:avLst>
              <a:gd name="adj" fmla="val 50000"/>
            </a:avLst>
          </a:prstGeom>
          <a:solidFill>
            <a:srgbClr val="C4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q3_t" descr="Editable text; source id q3_t"/>
          <p:cNvSpPr txBox="1"/>
          <p:nvPr/>
        </p:nvSpPr>
        <p:spPr>
          <a:xfrm>
            <a:off x="8270874" y="9707562"/>
            <a:ext cx="3460749" cy="952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How do actual composition and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structural signals correspond?</a:t>
            </a:r>
          </a:p>
        </p:txBody>
      </p:sp>
      <p:cxnSp>
        <p:nvCxnSpPr>
          <p:cNvPr id="134" name="fk0_0" descr="Editable line; source id fk0_0"/>
          <p:cNvCxnSpPr/>
          <p:nvPr/>
        </p:nvCxnSpPr>
        <p:spPr>
          <a:xfrm>
            <a:off x="10032999" y="3762374"/>
            <a:ext cx="0" cy="9128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fkh_0" descr="Editable line; source id fkh_0"/>
          <p:cNvCxnSpPr/>
          <p:nvPr/>
        </p:nvCxnSpPr>
        <p:spPr>
          <a:xfrm>
            <a:off x="3174999" y="4675187"/>
            <a:ext cx="685800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fk1_0" descr="Editable line; source id fk1_0"/>
          <p:cNvSpPr/>
          <p:nvPr/>
        </p:nvSpPr>
        <p:spPr>
          <a:xfrm>
            <a:off x="3127375" y="4675187"/>
            <a:ext cx="95250" cy="222250"/>
          </a:xfrm>
          <a:custGeom>
            <a:avLst/>
            <a:gdLst/>
            <a:ahLst/>
            <a:cxnLst/>
            <a:rect l="l" t="t" r="r" b="b"/>
            <a:pathLst>
              <a:path w="12000" h="28000">
                <a:moveTo>
                  <a:pt x="7250" y="0"/>
                </a:moveTo>
                <a:lnTo>
                  <a:pt x="7250" y="13000"/>
                </a:lnTo>
                <a:lnTo>
                  <a:pt x="12000" y="13000"/>
                </a:lnTo>
                <a:lnTo>
                  <a:pt x="6000" y="28000"/>
                </a:lnTo>
                <a:lnTo>
                  <a:pt x="0" y="13000"/>
                </a:lnTo>
                <a:lnTo>
                  <a:pt x="4750" y="13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k2_0" descr="Editable line; source id fk2_0"/>
          <p:cNvSpPr/>
          <p:nvPr/>
        </p:nvSpPr>
        <p:spPr>
          <a:xfrm>
            <a:off x="8969375" y="4675187"/>
            <a:ext cx="95250" cy="222250"/>
          </a:xfrm>
          <a:custGeom>
            <a:avLst/>
            <a:gdLst/>
            <a:ahLst/>
            <a:cxnLst/>
            <a:rect l="l" t="t" r="r" b="b"/>
            <a:pathLst>
              <a:path w="12000" h="28000">
                <a:moveTo>
                  <a:pt x="7250" y="0"/>
                </a:moveTo>
                <a:lnTo>
                  <a:pt x="7250" y="13000"/>
                </a:lnTo>
                <a:lnTo>
                  <a:pt x="12000" y="13000"/>
                </a:lnTo>
                <a:lnTo>
                  <a:pt x="6000" y="28000"/>
                </a:lnTo>
                <a:lnTo>
                  <a:pt x="0" y="13000"/>
                </a:lnTo>
                <a:lnTo>
                  <a:pt x="4750" y="13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mg1_0" descr="Editable line; source id mg1_0"/>
          <p:cNvCxnSpPr/>
          <p:nvPr/>
        </p:nvCxnSpPr>
        <p:spPr>
          <a:xfrm>
            <a:off x="3174999" y="6984999"/>
            <a:ext cx="0" cy="3413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mg2_0" descr="Editable line; source id mg2_0"/>
          <p:cNvCxnSpPr/>
          <p:nvPr/>
        </p:nvCxnSpPr>
        <p:spPr>
          <a:xfrm>
            <a:off x="9016999" y="6984999"/>
            <a:ext cx="0" cy="341313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mgh_0" descr="Editable line; source id mgh_0"/>
          <p:cNvCxnSpPr/>
          <p:nvPr/>
        </p:nvCxnSpPr>
        <p:spPr>
          <a:xfrm>
            <a:off x="3174999" y="7326312"/>
            <a:ext cx="5842000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mg3_0" descr="Editable line; source id mg3_0"/>
          <p:cNvSpPr/>
          <p:nvPr/>
        </p:nvSpPr>
        <p:spPr>
          <a:xfrm>
            <a:off x="6048375" y="7326312"/>
            <a:ext cx="95250" cy="269875"/>
          </a:xfrm>
          <a:custGeom>
            <a:avLst/>
            <a:gdLst/>
            <a:ahLst/>
            <a:cxnLst/>
            <a:rect l="l" t="t" r="r" b="b"/>
            <a:pathLst>
              <a:path w="12000" h="34000">
                <a:moveTo>
                  <a:pt x="7250" y="0"/>
                </a:moveTo>
                <a:lnTo>
                  <a:pt x="7250" y="19000"/>
                </a:lnTo>
                <a:lnTo>
                  <a:pt x="12000" y="19000"/>
                </a:lnTo>
                <a:lnTo>
                  <a:pt x="6000" y="34000"/>
                </a:lnTo>
                <a:lnTo>
                  <a:pt x="0" y="19000"/>
                </a:lnTo>
                <a:lnTo>
                  <a:pt x="4750" y="19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fb_0" descr="Editable line; source id fb_0"/>
          <p:cNvCxnSpPr/>
          <p:nvPr/>
        </p:nvCxnSpPr>
        <p:spPr>
          <a:xfrm>
            <a:off x="11318874" y="8413749"/>
            <a:ext cx="603250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fb_1" descr="Editable line; source id fb_1"/>
          <p:cNvCxnSpPr/>
          <p:nvPr/>
        </p:nvCxnSpPr>
        <p:spPr>
          <a:xfrm flipV="1">
            <a:off x="11922124" y="4222749"/>
            <a:ext cx="0" cy="419100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fb_2" descr="Editable line; source id fb_2"/>
          <p:cNvCxnSpPr/>
          <p:nvPr/>
        </p:nvCxnSpPr>
        <p:spPr>
          <a:xfrm flipH="1">
            <a:off x="6095999" y="4222749"/>
            <a:ext cx="5826125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fb_3" descr="Editable line; source id fb_3"/>
          <p:cNvCxnSpPr/>
          <p:nvPr/>
        </p:nvCxnSpPr>
        <p:spPr>
          <a:xfrm flipV="1">
            <a:off x="6095999" y="3770312"/>
            <a:ext cx="0" cy="452437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fb_p" descr="Editable shape; source id fb_p"/>
          <p:cNvSpPr/>
          <p:nvPr/>
        </p:nvSpPr>
        <p:spPr>
          <a:xfrm>
            <a:off x="6730999" y="3881437"/>
            <a:ext cx="2412999" cy="682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b_p_t" descr="Editable text; source id fb_p_t"/>
          <p:cNvSpPr txBox="1"/>
          <p:nvPr/>
        </p:nvSpPr>
        <p:spPr>
          <a:xfrm>
            <a:off x="6810374" y="3913187"/>
            <a:ext cx="2254249" cy="619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Update composition </a:t>
            </a:r>
          </a:p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499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and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