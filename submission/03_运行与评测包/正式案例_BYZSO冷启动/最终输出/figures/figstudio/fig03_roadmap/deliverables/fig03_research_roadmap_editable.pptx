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942974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 3 本文的研究路线（第六轮：印刷字号 + 内容定尺寸；分叉同时进入两条通道） [paper=byzso] [print_width_pt=435.2]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L" descr="Editable shape; source id zL"/>
          <p:cNvSpPr/>
          <p:nvPr/>
        </p:nvSpPr>
        <p:spPr>
          <a:xfrm>
            <a:off x="206374" y="206374"/>
            <a:ext cx="11779249" cy="2928937"/>
          </a:xfrm>
          <a:prstGeom prst="roundRect">
            <a:avLst>
              <a:gd name="adj" fmla="val 3794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L_l" descr="Editable text; source id zL_l"/>
          <p:cNvSpPr txBox="1"/>
          <p:nvPr/>
        </p:nvSpPr>
        <p:spPr>
          <a:xfrm>
            <a:off x="349249" y="285749"/>
            <a:ext cx="1285874" cy="444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0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4" name="cav" descr="Editable shape; source id cav"/>
          <p:cNvSpPr/>
          <p:nvPr/>
        </p:nvSpPr>
        <p:spPr>
          <a:xfrm>
            <a:off x="10080624" y="301624"/>
            <a:ext cx="1770062" cy="404812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v_t" descr="Editable text; source id cav_t"/>
          <p:cNvSpPr txBox="1"/>
          <p:nvPr/>
        </p:nvSpPr>
        <p:spPr>
          <a:xfrm>
            <a:off x="10159999" y="333374"/>
            <a:ext cx="1611312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模型排序</a:t>
            </a:r>
            <a:r>
              <a:rPr sz="1624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6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验证</a:t>
            </a:r>
          </a:p>
        </p:txBody>
      </p:sp>
      <p:sp>
        <p:nvSpPr>
          <p:cNvPr id="6" name="c1" descr="Editable shape; source id c1"/>
          <p:cNvSpPr/>
          <p:nvPr/>
        </p:nvSpPr>
        <p:spPr>
          <a:xfrm>
            <a:off x="333374" y="809624"/>
            <a:ext cx="3627437" cy="2198687"/>
          </a:xfrm>
          <a:prstGeom prst="roundRect">
            <a:avLst>
              <a:gd name="adj" fmla="val 3249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1_b" descr="Editable shape; source id c1_b"/>
          <p:cNvSpPr/>
          <p:nvPr/>
        </p:nvSpPr>
        <p:spPr>
          <a:xfrm>
            <a:off x="333374" y="809624"/>
            <a:ext cx="47624" cy="2198687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1_g_s2" descr="Editable shape; source id c1_g_s2"/>
          <p:cNvSpPr/>
          <p:nvPr/>
        </p:nvSpPr>
        <p:spPr>
          <a:xfrm>
            <a:off x="587374" y="1047749"/>
            <a:ext cx="158749" cy="23812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1_g_s1" descr="Editable shape; source id c1_g_s1"/>
          <p:cNvSpPr/>
          <p:nvPr/>
        </p:nvSpPr>
        <p:spPr>
          <a:xfrm>
            <a:off x="555624" y="1015999"/>
            <a:ext cx="158749" cy="23812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1_g_s0" descr="Editable shape; source id c1_g_s0"/>
          <p:cNvSpPr/>
          <p:nvPr/>
        </p:nvSpPr>
        <p:spPr>
          <a:xfrm>
            <a:off x="531812" y="984249"/>
            <a:ext cx="158749" cy="23812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1_g_l1" descr="Editable line; source id c1_g_l1"/>
          <p:cNvCxnSpPr/>
          <p:nvPr/>
        </p:nvCxnSpPr>
        <p:spPr>
          <a:xfrm>
            <a:off x="571499" y="1071562"/>
            <a:ext cx="1031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1_g_l2" descr="Editable line; source id c1_g_l2"/>
          <p:cNvCxnSpPr/>
          <p:nvPr/>
        </p:nvCxnSpPr>
        <p:spPr>
          <a:xfrm>
            <a:off x="571499" y="1119187"/>
            <a:ext cx="1031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1_g_l3" descr="Editable line; source id c1_g_l3"/>
          <p:cNvCxnSpPr/>
          <p:nvPr/>
        </p:nvCxnSpPr>
        <p:spPr>
          <a:xfrm>
            <a:off x="571499" y="1166812"/>
            <a:ext cx="7143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1_t" descr="Editable text; source id c1_t"/>
          <p:cNvSpPr txBox="1"/>
          <p:nvPr/>
        </p:nvSpPr>
        <p:spPr>
          <a:xfrm>
            <a:off x="896937" y="896937"/>
            <a:ext cx="2976562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文献依据</a:t>
            </a:r>
          </a:p>
        </p:txBody>
      </p:sp>
      <p:sp>
        <p:nvSpPr>
          <p:cNvPr id="15" name="c1_i0" descr="Editable shape; source id c1_i0"/>
          <p:cNvSpPr/>
          <p:nvPr/>
        </p:nvSpPr>
        <p:spPr>
          <a:xfrm>
            <a:off x="468312" y="1389062"/>
            <a:ext cx="3405187" cy="460374"/>
          </a:xfrm>
          <a:prstGeom prst="roundRect">
            <a:avLst>
              <a:gd name="adj" fmla="val 1034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1_i0_t" descr="Editable text; source id c1_i0_t"/>
          <p:cNvSpPr txBox="1"/>
          <p:nvPr/>
        </p:nvSpPr>
        <p:spPr>
          <a:xfrm>
            <a:off x="523874" y="1420812"/>
            <a:ext cx="3294062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Ba–Y–Si–O 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系列</a:t>
            </a:r>
          </a:p>
        </p:txBody>
      </p:sp>
      <p:sp>
        <p:nvSpPr>
          <p:cNvPr id="17" name="c1_i1" descr="Editable shape; source id c1_i1"/>
          <p:cNvSpPr/>
          <p:nvPr/>
        </p:nvSpPr>
        <p:spPr>
          <a:xfrm>
            <a:off x="468312" y="1920874"/>
            <a:ext cx="3405187" cy="460374"/>
          </a:xfrm>
          <a:prstGeom prst="roundRect">
            <a:avLst>
              <a:gd name="adj" fmla="val 1034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1_i1_t" descr="Editable text; source id c1_i1_t"/>
          <p:cNvSpPr txBox="1"/>
          <p:nvPr/>
        </p:nvSpPr>
        <p:spPr>
          <a:xfrm>
            <a:off x="523874" y="1952624"/>
            <a:ext cx="3294062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Ba–Zn–Si–O 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结构相关化合物</a:t>
            </a:r>
          </a:p>
        </p:txBody>
      </p:sp>
      <p:sp>
        <p:nvSpPr>
          <p:cNvPr id="19" name="c1_i2" descr="Editable shape; source id c1_i2"/>
          <p:cNvSpPr/>
          <p:nvPr/>
        </p:nvSpPr>
        <p:spPr>
          <a:xfrm>
            <a:off x="468312" y="2460624"/>
            <a:ext cx="3405187" cy="460374"/>
          </a:xfrm>
          <a:prstGeom prst="roundRect">
            <a:avLst>
              <a:gd name="adj" fmla="val 1034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1_i2_t" descr="Editable text; source id c1_i2_t"/>
          <p:cNvSpPr txBox="1"/>
          <p:nvPr/>
        </p:nvSpPr>
        <p:spPr>
          <a:xfrm>
            <a:off x="523874" y="2492374"/>
            <a:ext cx="3294062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Y–Si–O 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工艺参照</a:t>
            </a:r>
          </a:p>
        </p:txBody>
      </p:sp>
      <p:sp>
        <p:nvSpPr>
          <p:cNvPr id="21" name="c2" descr="Editable shape; source id c2"/>
          <p:cNvSpPr/>
          <p:nvPr/>
        </p:nvSpPr>
        <p:spPr>
          <a:xfrm>
            <a:off x="4278312" y="809624"/>
            <a:ext cx="3627437" cy="2198687"/>
          </a:xfrm>
          <a:prstGeom prst="roundRect">
            <a:avLst>
              <a:gd name="adj" fmla="val 3249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2_b" descr="Editable shape; source id c2_b"/>
          <p:cNvSpPr/>
          <p:nvPr/>
        </p:nvSpPr>
        <p:spPr>
          <a:xfrm>
            <a:off x="4278312" y="809624"/>
            <a:ext cx="47624" cy="2198687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2_g_o_0" descr="Editable line; source id c2_g_o_0"/>
          <p:cNvCxnSpPr/>
          <p:nvPr/>
        </p:nvCxnSpPr>
        <p:spPr>
          <a:xfrm>
            <a:off x="4579937" y="968374"/>
            <a:ext cx="134937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2_g_o_1" descr="Editable line; source id c2_g_o_1"/>
          <p:cNvCxnSpPr/>
          <p:nvPr/>
        </p:nvCxnSpPr>
        <p:spPr>
          <a:xfrm flipH="1">
            <a:off x="4651374" y="1055687"/>
            <a:ext cx="63500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2_g_o_2" descr="Editable line; source id c2_g_o_2"/>
          <p:cNvCxnSpPr/>
          <p:nvPr/>
        </p:nvCxnSpPr>
        <p:spPr>
          <a:xfrm flipH="1">
            <a:off x="4508499" y="1230312"/>
            <a:ext cx="142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2_g_o_3" descr="Editable line; source id c2_g_o_3"/>
          <p:cNvCxnSpPr/>
          <p:nvPr/>
        </p:nvCxnSpPr>
        <p:spPr>
          <a:xfrm flipH="1" flipV="1">
            <a:off x="4444999" y="1055687"/>
            <a:ext cx="63500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2_g_o_4" descr="Editable line; source id c2_g_o_4"/>
          <p:cNvCxnSpPr/>
          <p:nvPr/>
        </p:nvCxnSpPr>
        <p:spPr>
          <a:xfrm flipV="1">
            <a:off x="4444999" y="968374"/>
            <a:ext cx="134938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2_g_a" descr="Editable line; source id c2_g_a"/>
          <p:cNvCxnSpPr/>
          <p:nvPr/>
        </p:nvCxnSpPr>
        <p:spPr>
          <a:xfrm>
            <a:off x="4579937" y="968374"/>
            <a:ext cx="0" cy="2619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2_g_b" descr="Editable line; source id c2_g_b"/>
          <p:cNvCxnSpPr/>
          <p:nvPr/>
        </p:nvCxnSpPr>
        <p:spPr>
          <a:xfrm>
            <a:off x="4444999" y="1055687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2_t" descr="Editable text; source id c2_t"/>
          <p:cNvSpPr txBox="1"/>
          <p:nvPr/>
        </p:nvSpPr>
        <p:spPr>
          <a:xfrm>
            <a:off x="4841874" y="896937"/>
            <a:ext cx="2976562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结构假设</a:t>
            </a:r>
          </a:p>
        </p:txBody>
      </p:sp>
      <p:sp>
        <p:nvSpPr>
          <p:cNvPr id="31" name="c2_i0" descr="Editable shape; source id c2_i0"/>
          <p:cNvSpPr/>
          <p:nvPr/>
        </p:nvSpPr>
        <p:spPr>
          <a:xfrm>
            <a:off x="4413249" y="1389062"/>
            <a:ext cx="3405187" cy="460374"/>
          </a:xfrm>
          <a:prstGeom prst="roundRect">
            <a:avLst>
              <a:gd name="adj" fmla="val 1034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2_i0_t" descr="Editable text; source id c2_i0_t"/>
          <p:cNvSpPr txBox="1"/>
          <p:nvPr/>
        </p:nvSpPr>
        <p:spPr>
          <a:xfrm>
            <a:off x="4468812" y="1420812"/>
            <a:ext cx="3294062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局部组成网格</a:t>
            </a:r>
          </a:p>
        </p:txBody>
      </p:sp>
      <p:sp>
        <p:nvSpPr>
          <p:cNvPr id="33" name="c2_i1" descr="Editable shape; source id c2_i1"/>
          <p:cNvSpPr/>
          <p:nvPr/>
        </p:nvSpPr>
        <p:spPr>
          <a:xfrm>
            <a:off x="4413249" y="1920874"/>
            <a:ext cx="3405187" cy="460374"/>
          </a:xfrm>
          <a:prstGeom prst="roundRect">
            <a:avLst>
              <a:gd name="adj" fmla="val 1034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2_i1_t" descr="Editable text; source id c2_i1_t"/>
          <p:cNvSpPr txBox="1"/>
          <p:nvPr/>
        </p:nvSpPr>
        <p:spPr>
          <a:xfrm>
            <a:off x="4468812" y="1952624"/>
            <a:ext cx="3294062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Zn–Y–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氧计量耦合</a:t>
            </a:r>
          </a:p>
        </p:txBody>
      </p:sp>
      <p:sp>
        <p:nvSpPr>
          <p:cNvPr id="35" name="c2_i2" descr="Editable shape; source id c2_i2"/>
          <p:cNvSpPr/>
          <p:nvPr/>
        </p:nvSpPr>
        <p:spPr>
          <a:xfrm>
            <a:off x="4413249" y="2460624"/>
            <a:ext cx="3405187" cy="460374"/>
          </a:xfrm>
          <a:prstGeom prst="roundRect">
            <a:avLst>
              <a:gd name="adj" fmla="val 1034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2_i2_t" descr="Editable text; source id c2_i2_t"/>
          <p:cNvSpPr txBox="1"/>
          <p:nvPr/>
        </p:nvSpPr>
        <p:spPr>
          <a:xfrm>
            <a:off x="4468812" y="2492374"/>
            <a:ext cx="3294062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竞争相与玻璃区</a:t>
            </a:r>
          </a:p>
        </p:txBody>
      </p:sp>
      <p:sp>
        <p:nvSpPr>
          <p:cNvPr id="37" name="c3" descr="Editable shape; source id c3"/>
          <p:cNvSpPr/>
          <p:nvPr/>
        </p:nvSpPr>
        <p:spPr>
          <a:xfrm>
            <a:off x="8223249" y="809624"/>
            <a:ext cx="3627437" cy="2198687"/>
          </a:xfrm>
          <a:prstGeom prst="roundRect">
            <a:avLst>
              <a:gd name="adj" fmla="val 3249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3_b" descr="Editable shape; source id c3_b"/>
          <p:cNvSpPr/>
          <p:nvPr/>
        </p:nvSpPr>
        <p:spPr>
          <a:xfrm>
            <a:off x="8223249" y="809624"/>
            <a:ext cx="47624" cy="2198687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3_g_f_0" descr="Editable line; source id c3_g_f_0"/>
          <p:cNvCxnSpPr/>
          <p:nvPr/>
        </p:nvCxnSpPr>
        <p:spPr>
          <a:xfrm>
            <a:off x="8397874" y="1000124"/>
            <a:ext cx="254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3_g_f_1" descr="Editable line; source id c3_g_f_1"/>
          <p:cNvCxnSpPr/>
          <p:nvPr/>
        </p:nvCxnSpPr>
        <p:spPr>
          <a:xfrm flipH="1">
            <a:off x="8548687" y="1000124"/>
            <a:ext cx="103187" cy="1349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3_g_f_2" descr="Editable line; source id c3_g_f_2"/>
          <p:cNvCxnSpPr/>
          <p:nvPr/>
        </p:nvCxnSpPr>
        <p:spPr>
          <a:xfrm>
            <a:off x="8548687" y="1135062"/>
            <a:ext cx="0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3_g_f_3" descr="Editable line; source id c3_g_f_3"/>
          <p:cNvCxnSpPr/>
          <p:nvPr/>
        </p:nvCxnSpPr>
        <p:spPr>
          <a:xfrm flipH="1">
            <a:off x="8501062" y="1230312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3_g_f_4" descr="Editable line; source id c3_g_f_4"/>
          <p:cNvCxnSpPr/>
          <p:nvPr/>
        </p:nvCxnSpPr>
        <p:spPr>
          <a:xfrm flipV="1">
            <a:off x="8501062" y="1135062"/>
            <a:ext cx="0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3_g_f_5" descr="Editable line; source id c3_g_f_5"/>
          <p:cNvCxnSpPr/>
          <p:nvPr/>
        </p:nvCxnSpPr>
        <p:spPr>
          <a:xfrm flipH="1" flipV="1">
            <a:off x="8397874" y="1000124"/>
            <a:ext cx="103188" cy="1349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3_t" descr="Editable text; source id c3_t"/>
          <p:cNvSpPr txBox="1"/>
          <p:nvPr/>
        </p:nvSpPr>
        <p:spPr>
          <a:xfrm>
            <a:off x="8786812" y="896937"/>
            <a:ext cx="2976562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前驱体筛选</a:t>
            </a:r>
          </a:p>
        </p:txBody>
      </p:sp>
      <p:sp>
        <p:nvSpPr>
          <p:cNvPr id="46" name="c3_i0" descr="Editable shape; source id c3_i0"/>
          <p:cNvSpPr/>
          <p:nvPr/>
        </p:nvSpPr>
        <p:spPr>
          <a:xfrm>
            <a:off x="8358187" y="1389062"/>
            <a:ext cx="3405187" cy="460374"/>
          </a:xfrm>
          <a:prstGeom prst="roundRect">
            <a:avLst>
              <a:gd name="adj" fmla="val 1034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3_i0_t" descr="Editable text; source id c3_i0_t"/>
          <p:cNvSpPr txBox="1"/>
          <p:nvPr/>
        </p:nvSpPr>
        <p:spPr>
          <a:xfrm>
            <a:off x="8413749" y="1420812"/>
            <a:ext cx="3294062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BaCO3 + Y2O3 + SiO2</a:t>
            </a:r>
          </a:p>
        </p:txBody>
      </p:sp>
      <p:sp>
        <p:nvSpPr>
          <p:cNvPr id="48" name="c3_i1" descr="Editable shape; source id c3_i1"/>
          <p:cNvSpPr/>
          <p:nvPr/>
        </p:nvSpPr>
        <p:spPr>
          <a:xfrm>
            <a:off x="8358187" y="1920874"/>
            <a:ext cx="3405187" cy="460374"/>
          </a:xfrm>
          <a:prstGeom prst="roundRect">
            <a:avLst>
              <a:gd name="adj" fmla="val 1034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c3_i1_t" descr="Editable text; source id c3_i1_t"/>
          <p:cNvSpPr txBox="1"/>
          <p:nvPr/>
        </p:nvSpPr>
        <p:spPr>
          <a:xfrm>
            <a:off x="8413749" y="1952624"/>
            <a:ext cx="3294062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ZnO / MgO / Co3O4</a:t>
            </a:r>
          </a:p>
        </p:txBody>
      </p:sp>
      <p:sp>
        <p:nvSpPr>
          <p:cNvPr id="50" name="c3_i2" descr="Editable shape; source id c3_i2"/>
          <p:cNvSpPr/>
          <p:nvPr/>
        </p:nvSpPr>
        <p:spPr>
          <a:xfrm>
            <a:off x="8358187" y="2460624"/>
            <a:ext cx="3405187" cy="460374"/>
          </a:xfrm>
          <a:prstGeom prst="roundRect">
            <a:avLst>
              <a:gd name="adj" fmla="val 1034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3_i2_t" descr="Editable text; source id c3_i2_t"/>
          <p:cNvSpPr txBox="1"/>
          <p:nvPr/>
        </p:nvSpPr>
        <p:spPr>
          <a:xfrm>
            <a:off x="8413749" y="2492374"/>
            <a:ext cx="3294062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模型排序的候选</a:t>
            </a:r>
          </a:p>
        </p:txBody>
      </p:sp>
      <p:sp>
        <p:nvSpPr>
          <p:cNvPr id="52" name="e1_0" descr="Editable line; source id e1_0"/>
          <p:cNvSpPr/>
          <p:nvPr/>
        </p:nvSpPr>
        <p:spPr>
          <a:xfrm>
            <a:off x="3992562" y="1857375"/>
            <a:ext cx="254000" cy="95250"/>
          </a:xfrm>
          <a:custGeom>
            <a:avLst/>
            <a:gdLst/>
            <a:ahLst/>
            <a:cxnLst/>
            <a:rect l="l" t="t" r="r" b="b"/>
            <a:pathLst>
              <a:path w="32000" h="12000">
                <a:moveTo>
                  <a:pt x="0" y="4750"/>
                </a:moveTo>
                <a:lnTo>
                  <a:pt x="17000" y="4750"/>
                </a:lnTo>
                <a:lnTo>
                  <a:pt x="17000" y="0"/>
                </a:lnTo>
                <a:lnTo>
                  <a:pt x="32000" y="6000"/>
                </a:lnTo>
                <a:lnTo>
                  <a:pt x="17000" y="12000"/>
                </a:lnTo>
                <a:lnTo>
                  <a:pt x="1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2_0" descr="Editable line; source id e2_0"/>
          <p:cNvSpPr/>
          <p:nvPr/>
        </p:nvSpPr>
        <p:spPr>
          <a:xfrm>
            <a:off x="7937500" y="1857375"/>
            <a:ext cx="254000" cy="95250"/>
          </a:xfrm>
          <a:custGeom>
            <a:avLst/>
            <a:gdLst/>
            <a:ahLst/>
            <a:cxnLst/>
            <a:rect l="l" t="t" r="r" b="b"/>
            <a:pathLst>
              <a:path w="32000" h="12000">
                <a:moveTo>
                  <a:pt x="0" y="4750"/>
                </a:moveTo>
                <a:lnTo>
                  <a:pt x="17000" y="4750"/>
                </a:lnTo>
                <a:lnTo>
                  <a:pt x="17000" y="0"/>
                </a:lnTo>
                <a:lnTo>
                  <a:pt x="32000" y="6000"/>
                </a:lnTo>
                <a:lnTo>
                  <a:pt x="17000" y="12000"/>
                </a:lnTo>
                <a:lnTo>
                  <a:pt x="1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zE" descr="Editable shape; source id zE"/>
          <p:cNvSpPr/>
          <p:nvPr/>
        </p:nvSpPr>
        <p:spPr>
          <a:xfrm>
            <a:off x="206374" y="3889374"/>
            <a:ext cx="11779249" cy="1897062"/>
          </a:xfrm>
          <a:prstGeom prst="roundRect">
            <a:avLst>
              <a:gd name="adj" fmla="val 5857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zE_l" descr="Editable text; source id zE_l"/>
          <p:cNvSpPr txBox="1"/>
          <p:nvPr/>
        </p:nvSpPr>
        <p:spPr>
          <a:xfrm>
            <a:off x="349249" y="3968749"/>
            <a:ext cx="1285874" cy="444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0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56" name="l1" descr="Editable shape; source id l1"/>
          <p:cNvSpPr/>
          <p:nvPr/>
        </p:nvSpPr>
        <p:spPr>
          <a:xfrm>
            <a:off x="333374" y="4492624"/>
            <a:ext cx="5683249" cy="11668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1_b" descr="Editable shape; source id l1_b"/>
          <p:cNvSpPr/>
          <p:nvPr/>
        </p:nvSpPr>
        <p:spPr>
          <a:xfrm>
            <a:off x="333374" y="4492624"/>
            <a:ext cx="47624" cy="1166812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l1_g_b" descr="Editable shape; source id l1_g_b"/>
          <p:cNvSpPr/>
          <p:nvPr/>
        </p:nvSpPr>
        <p:spPr>
          <a:xfrm>
            <a:off x="531812" y="4730749"/>
            <a:ext cx="238124" cy="190499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l1_g_d" descr="Editable line; source id l1_g_d"/>
          <p:cNvCxnSpPr/>
          <p:nvPr/>
        </p:nvCxnSpPr>
        <p:spPr>
          <a:xfrm>
            <a:off x="603249" y="4730749"/>
            <a:ext cx="0" cy="190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l1_g_h0_0" descr="Editable line; source id l1_g_h0_0"/>
          <p:cNvCxnSpPr/>
          <p:nvPr/>
        </p:nvCxnSpPr>
        <p:spPr>
          <a:xfrm flipH="1">
            <a:off x="634999" y="4794249"/>
            <a:ext cx="23813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l1_g_h0_1" descr="Editable line; source id l1_g_h0_1"/>
          <p:cNvCxnSpPr/>
          <p:nvPr/>
        </p:nvCxnSpPr>
        <p:spPr>
          <a:xfrm>
            <a:off x="634999" y="4825999"/>
            <a:ext cx="23813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l1_g_h1_0" descr="Editable line; source id l1_g_h1_0"/>
          <p:cNvCxnSpPr/>
          <p:nvPr/>
        </p:nvCxnSpPr>
        <p:spPr>
          <a:xfrm flipH="1">
            <a:off x="674687" y="4794249"/>
            <a:ext cx="23812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l1_g_h1_1" descr="Editable line; source id l1_g_h1_1"/>
          <p:cNvCxnSpPr/>
          <p:nvPr/>
        </p:nvCxnSpPr>
        <p:spPr>
          <a:xfrm>
            <a:off x="674687" y="4825999"/>
            <a:ext cx="23812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l1_g_h2_0" descr="Editable line; source id l1_g_h2_0"/>
          <p:cNvCxnSpPr/>
          <p:nvPr/>
        </p:nvCxnSpPr>
        <p:spPr>
          <a:xfrm flipH="1">
            <a:off x="714374" y="4794249"/>
            <a:ext cx="15875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l1_g_h2_1" descr="Editable line; source id l1_g_h2_1"/>
          <p:cNvCxnSpPr/>
          <p:nvPr/>
        </p:nvCxnSpPr>
        <p:spPr>
          <a:xfrm>
            <a:off x="714374" y="4825999"/>
            <a:ext cx="15875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l1_t" descr="Editable text; source id l1_t"/>
          <p:cNvSpPr txBox="1"/>
          <p:nvPr/>
        </p:nvSpPr>
        <p:spPr>
          <a:xfrm>
            <a:off x="888999" y="4603749"/>
            <a:ext cx="50164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固相反应</a:t>
            </a:r>
          </a:p>
        </p:txBody>
      </p:sp>
      <p:sp>
        <p:nvSpPr>
          <p:cNvPr id="67" name="l1r_t0" descr="Editable shape; source id l1r_t0"/>
          <p:cNvSpPr/>
          <p:nvPr/>
        </p:nvSpPr>
        <p:spPr>
          <a:xfrm>
            <a:off x="492124" y="5103812"/>
            <a:ext cx="1119187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l1r_t0_t" descr="Editable text; source id l1r_t0_t"/>
          <p:cNvSpPr txBox="1"/>
          <p:nvPr/>
        </p:nvSpPr>
        <p:spPr>
          <a:xfrm>
            <a:off x="547687" y="5135562"/>
            <a:ext cx="1008062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分段煅烧</a:t>
            </a:r>
          </a:p>
        </p:txBody>
      </p:sp>
      <p:sp>
        <p:nvSpPr>
          <p:cNvPr id="69" name="l1r_t1" descr="Editable shape; source id l1r_t1"/>
          <p:cNvSpPr/>
          <p:nvPr/>
        </p:nvSpPr>
        <p:spPr>
          <a:xfrm>
            <a:off x="1801812" y="5103812"/>
            <a:ext cx="674687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l1r_t1_t" descr="Editable text; source id l1r_t1_t"/>
          <p:cNvSpPr txBox="1"/>
          <p:nvPr/>
        </p:nvSpPr>
        <p:spPr>
          <a:xfrm>
            <a:off x="1857374" y="5135562"/>
            <a:ext cx="563562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复磨</a:t>
            </a:r>
          </a:p>
        </p:txBody>
      </p:sp>
      <p:sp>
        <p:nvSpPr>
          <p:cNvPr id="71" name="l1r_a1" descr="Editable line; source id l1r_a1"/>
          <p:cNvSpPr/>
          <p:nvPr/>
        </p:nvSpPr>
        <p:spPr>
          <a:xfrm>
            <a:off x="1651000" y="5298559"/>
            <a:ext cx="111125" cy="55007"/>
          </a:xfrm>
          <a:custGeom>
            <a:avLst/>
            <a:gdLst/>
            <a:ahLst/>
            <a:cxnLst/>
            <a:rect l="l" t="t" r="r" b="b"/>
            <a:pathLst>
              <a:path w="14000" h="6930">
                <a:moveTo>
                  <a:pt x="0" y="2365"/>
                </a:moveTo>
                <a:lnTo>
                  <a:pt x="6300" y="2365"/>
                </a:lnTo>
                <a:lnTo>
                  <a:pt x="6300" y="0"/>
                </a:lnTo>
                <a:lnTo>
                  <a:pt x="14000" y="3465"/>
                </a:lnTo>
                <a:lnTo>
                  <a:pt x="6300" y="6930"/>
                </a:lnTo>
                <a:lnTo>
                  <a:pt x="6300" y="4565"/>
                </a:lnTo>
                <a:lnTo>
                  <a:pt x="0" y="4565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1r_t2" descr="Editable shape; source id l1r_t2"/>
          <p:cNvSpPr/>
          <p:nvPr/>
        </p:nvSpPr>
        <p:spPr>
          <a:xfrm>
            <a:off x="2666999" y="5103812"/>
            <a:ext cx="674687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l1r_t2_t" descr="Editable text; source id l1r_t2_t"/>
          <p:cNvSpPr txBox="1"/>
          <p:nvPr/>
        </p:nvSpPr>
        <p:spPr>
          <a:xfrm>
            <a:off x="2722562" y="5135562"/>
            <a:ext cx="563562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74" name="l1r_a2" descr="Editable line; source id l1r_a2"/>
          <p:cNvSpPr/>
          <p:nvPr/>
        </p:nvSpPr>
        <p:spPr>
          <a:xfrm>
            <a:off x="2516187" y="5298559"/>
            <a:ext cx="111125" cy="55007"/>
          </a:xfrm>
          <a:custGeom>
            <a:avLst/>
            <a:gdLst/>
            <a:ahLst/>
            <a:cxnLst/>
            <a:rect l="l" t="t" r="r" b="b"/>
            <a:pathLst>
              <a:path w="14000" h="6930">
                <a:moveTo>
                  <a:pt x="0" y="2365"/>
                </a:moveTo>
                <a:lnTo>
                  <a:pt x="6300" y="2365"/>
                </a:lnTo>
                <a:lnTo>
                  <a:pt x="6300" y="0"/>
                </a:lnTo>
                <a:lnTo>
                  <a:pt x="14000" y="3465"/>
                </a:lnTo>
                <a:lnTo>
                  <a:pt x="6300" y="6930"/>
                </a:lnTo>
                <a:lnTo>
                  <a:pt x="6300" y="4565"/>
                </a:lnTo>
                <a:lnTo>
                  <a:pt x="0" y="4565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1_o" descr="Editable shape; source id l1_o"/>
          <p:cNvSpPr/>
          <p:nvPr/>
        </p:nvSpPr>
        <p:spPr>
          <a:xfrm>
            <a:off x="3468687" y="5103812"/>
            <a:ext cx="2436812" cy="444499"/>
          </a:xfrm>
          <a:prstGeom prst="roundRect">
            <a:avLst>
              <a:gd name="adj" fmla="val 10714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l1_o_t" descr="Editable text; source id l1_o_t"/>
          <p:cNvSpPr txBox="1"/>
          <p:nvPr/>
        </p:nvSpPr>
        <p:spPr>
          <a:xfrm>
            <a:off x="3524249" y="5135562"/>
            <a:ext cx="2325687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块体相区与相纯度</a:t>
            </a:r>
          </a:p>
        </p:txBody>
      </p:sp>
      <p:sp>
        <p:nvSpPr>
          <p:cNvPr id="77" name="l2" descr="Editable shape; source id l2"/>
          <p:cNvSpPr/>
          <p:nvPr/>
        </p:nvSpPr>
        <p:spPr>
          <a:xfrm>
            <a:off x="6175374" y="4492624"/>
            <a:ext cx="5683249" cy="11668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l2_b" descr="Editable shape; source id l2_b"/>
          <p:cNvSpPr/>
          <p:nvPr/>
        </p:nvSpPr>
        <p:spPr>
          <a:xfrm>
            <a:off x="6175374" y="4492624"/>
            <a:ext cx="47624" cy="1166812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l2_g_n_0" descr="Editable line; source id l2_g_n_0"/>
          <p:cNvCxnSpPr/>
          <p:nvPr/>
        </p:nvCxnSpPr>
        <p:spPr>
          <a:xfrm>
            <a:off x="6461124" y="4683124"/>
            <a:ext cx="0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l2_g_n_1" descr="Editable line; source id l2_g_n_1"/>
          <p:cNvCxnSpPr/>
          <p:nvPr/>
        </p:nvCxnSpPr>
        <p:spPr>
          <a:xfrm flipH="1">
            <a:off x="6381749" y="4778374"/>
            <a:ext cx="79375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l2_g_n_2" descr="Editable line; source id l2_g_n_2"/>
          <p:cNvCxnSpPr/>
          <p:nvPr/>
        </p:nvCxnSpPr>
        <p:spPr>
          <a:xfrm>
            <a:off x="6381749" y="4937124"/>
            <a:ext cx="222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l2_g_n_3" descr="Editable line; source id l2_g_n_3"/>
          <p:cNvCxnSpPr/>
          <p:nvPr/>
        </p:nvCxnSpPr>
        <p:spPr>
          <a:xfrm flipH="1" flipV="1">
            <a:off x="6524624" y="4778374"/>
            <a:ext cx="79375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l2_g_n_4" descr="Editable line; source id l2_g_n_4"/>
          <p:cNvCxnSpPr/>
          <p:nvPr/>
        </p:nvCxnSpPr>
        <p:spPr>
          <a:xfrm flipV="1">
            <a:off x="6524624" y="4683124"/>
            <a:ext cx="0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l2_g_m" descr="Editable line; source id l2_g_m"/>
          <p:cNvCxnSpPr/>
          <p:nvPr/>
        </p:nvCxnSpPr>
        <p:spPr>
          <a:xfrm>
            <a:off x="6445249" y="4683124"/>
            <a:ext cx="95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l2_g_d1" descr="Editable shape; source id l2_g_d1"/>
          <p:cNvSpPr/>
          <p:nvPr/>
        </p:nvSpPr>
        <p:spPr>
          <a:xfrm>
            <a:off x="6453187" y="4865687"/>
            <a:ext cx="23812" cy="2381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l2_g_d2" descr="Editable shape; source id l2_g_d2"/>
          <p:cNvSpPr/>
          <p:nvPr/>
        </p:nvSpPr>
        <p:spPr>
          <a:xfrm>
            <a:off x="6508749" y="4889499"/>
            <a:ext cx="15874" cy="15874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l2_t" descr="Editable text; source id l2_t"/>
          <p:cNvSpPr txBox="1"/>
          <p:nvPr/>
        </p:nvSpPr>
        <p:spPr>
          <a:xfrm>
            <a:off x="6730999" y="4603749"/>
            <a:ext cx="50164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高温溶液法晶体生长</a:t>
            </a:r>
          </a:p>
        </p:txBody>
      </p:sp>
      <p:sp>
        <p:nvSpPr>
          <p:cNvPr id="88" name="l2r_t0" descr="Editable shape; source id l2r_t0"/>
          <p:cNvSpPr/>
          <p:nvPr/>
        </p:nvSpPr>
        <p:spPr>
          <a:xfrm>
            <a:off x="6334124" y="5103812"/>
            <a:ext cx="674687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l2r_t0_t" descr="Editable text; source id l2r_t0_t"/>
          <p:cNvSpPr txBox="1"/>
          <p:nvPr/>
        </p:nvSpPr>
        <p:spPr>
          <a:xfrm>
            <a:off x="6389687" y="5135562"/>
            <a:ext cx="563562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助熔</a:t>
            </a:r>
          </a:p>
        </p:txBody>
      </p:sp>
      <p:sp>
        <p:nvSpPr>
          <p:cNvPr id="90" name="l2r_t1" descr="Editable shape; source id l2r_t1"/>
          <p:cNvSpPr/>
          <p:nvPr/>
        </p:nvSpPr>
        <p:spPr>
          <a:xfrm>
            <a:off x="7199312" y="5103812"/>
            <a:ext cx="674687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2r_t1_t" descr="Editable text; source id l2r_t1_t"/>
          <p:cNvSpPr txBox="1"/>
          <p:nvPr/>
        </p:nvSpPr>
        <p:spPr>
          <a:xfrm>
            <a:off x="7254874" y="5135562"/>
            <a:ext cx="563562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保温</a:t>
            </a:r>
          </a:p>
        </p:txBody>
      </p:sp>
      <p:sp>
        <p:nvSpPr>
          <p:cNvPr id="92" name="l2r_a1" descr="Editable line; source id l2r_a1"/>
          <p:cNvSpPr/>
          <p:nvPr/>
        </p:nvSpPr>
        <p:spPr>
          <a:xfrm>
            <a:off x="7048500" y="5298559"/>
            <a:ext cx="111125" cy="55007"/>
          </a:xfrm>
          <a:custGeom>
            <a:avLst/>
            <a:gdLst/>
            <a:ahLst/>
            <a:cxnLst/>
            <a:rect l="l" t="t" r="r" b="b"/>
            <a:pathLst>
              <a:path w="14000" h="6930">
                <a:moveTo>
                  <a:pt x="0" y="2365"/>
                </a:moveTo>
                <a:lnTo>
                  <a:pt x="6300" y="2365"/>
                </a:lnTo>
                <a:lnTo>
                  <a:pt x="6300" y="0"/>
                </a:lnTo>
                <a:lnTo>
                  <a:pt x="14000" y="3465"/>
                </a:lnTo>
                <a:lnTo>
                  <a:pt x="6300" y="6930"/>
                </a:lnTo>
                <a:lnTo>
                  <a:pt x="6300" y="4565"/>
                </a:lnTo>
                <a:lnTo>
                  <a:pt x="0" y="4565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l2r_t2" descr="Editable shape; source id l2r_t2"/>
          <p:cNvSpPr/>
          <p:nvPr/>
        </p:nvSpPr>
        <p:spPr>
          <a:xfrm>
            <a:off x="8064499" y="5103812"/>
            <a:ext cx="674687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l2r_t2_t" descr="Editable text; source id l2r_t2_t"/>
          <p:cNvSpPr txBox="1"/>
          <p:nvPr/>
        </p:nvSpPr>
        <p:spPr>
          <a:xfrm>
            <a:off x="8120062" y="5135562"/>
            <a:ext cx="563562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缓冷</a:t>
            </a:r>
          </a:p>
        </p:txBody>
      </p:sp>
      <p:sp>
        <p:nvSpPr>
          <p:cNvPr id="95" name="l2r_a2" descr="Editable line; source id l2r_a2"/>
          <p:cNvSpPr/>
          <p:nvPr/>
        </p:nvSpPr>
        <p:spPr>
          <a:xfrm>
            <a:off x="7913687" y="5298559"/>
            <a:ext cx="111125" cy="55007"/>
          </a:xfrm>
          <a:custGeom>
            <a:avLst/>
            <a:gdLst/>
            <a:ahLst/>
            <a:cxnLst/>
            <a:rect l="l" t="t" r="r" b="b"/>
            <a:pathLst>
              <a:path w="14000" h="6930">
                <a:moveTo>
                  <a:pt x="0" y="2365"/>
                </a:moveTo>
                <a:lnTo>
                  <a:pt x="6300" y="2365"/>
                </a:lnTo>
                <a:lnTo>
                  <a:pt x="6300" y="0"/>
                </a:lnTo>
                <a:lnTo>
                  <a:pt x="14000" y="3465"/>
                </a:lnTo>
                <a:lnTo>
                  <a:pt x="6300" y="6930"/>
                </a:lnTo>
                <a:lnTo>
                  <a:pt x="6300" y="4565"/>
                </a:lnTo>
                <a:lnTo>
                  <a:pt x="0" y="4565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l2_o" descr="Editable shape; source id l2_o"/>
          <p:cNvSpPr/>
          <p:nvPr/>
        </p:nvSpPr>
        <p:spPr>
          <a:xfrm>
            <a:off x="8866187" y="5103812"/>
            <a:ext cx="2881312" cy="444499"/>
          </a:xfrm>
          <a:prstGeom prst="roundRect">
            <a:avLst>
              <a:gd name="adj" fmla="val 10714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l2_o_t" descr="Editable text; source id l2_o_t"/>
          <p:cNvSpPr txBox="1"/>
          <p:nvPr/>
        </p:nvSpPr>
        <p:spPr>
          <a:xfrm>
            <a:off x="8921749" y="5135562"/>
            <a:ext cx="2770187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单晶结构与液相选择性</a:t>
            </a:r>
          </a:p>
        </p:txBody>
      </p:sp>
      <p:sp>
        <p:nvSpPr>
          <p:cNvPr id="98" name="zR" descr="Editable shape; source id zR"/>
          <p:cNvSpPr/>
          <p:nvPr/>
        </p:nvSpPr>
        <p:spPr>
          <a:xfrm>
            <a:off x="206374" y="6294437"/>
            <a:ext cx="11779249" cy="1373187"/>
          </a:xfrm>
          <a:prstGeom prst="roundRect">
            <a:avLst>
              <a:gd name="adj" fmla="val 8092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zR_l" descr="Editable text; source id zR_l"/>
          <p:cNvSpPr txBox="1"/>
          <p:nvPr/>
        </p:nvSpPr>
        <p:spPr>
          <a:xfrm>
            <a:off x="349249" y="6373812"/>
            <a:ext cx="1285874" cy="444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0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结果反馈</a:t>
            </a:r>
          </a:p>
        </p:txBody>
      </p:sp>
      <p:sp>
        <p:nvSpPr>
          <p:cNvPr id="100" name="c5" descr="Editable shape; source id c5"/>
          <p:cNvSpPr/>
          <p:nvPr/>
        </p:nvSpPr>
        <p:spPr>
          <a:xfrm>
            <a:off x="1325562" y="6897687"/>
            <a:ext cx="9540874" cy="642937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c5_b" descr="Editable shape; source id c5_b"/>
          <p:cNvSpPr/>
          <p:nvPr/>
        </p:nvSpPr>
        <p:spPr>
          <a:xfrm>
            <a:off x="1325562" y="6897687"/>
            <a:ext cx="47624" cy="642937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5_g_a_0" descr="Editable line; source id c5_g_a_0"/>
          <p:cNvCxnSpPr/>
          <p:nvPr/>
        </p:nvCxnSpPr>
        <p:spPr>
          <a:xfrm>
            <a:off x="1547812" y="7326312"/>
            <a:ext cx="555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5_g_a_1" descr="Editable line; source id c5_g_a_1"/>
          <p:cNvCxnSpPr/>
          <p:nvPr/>
        </p:nvCxnSpPr>
        <p:spPr>
          <a:xfrm flipV="1">
            <a:off x="1603374" y="7167562"/>
            <a:ext cx="15875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5_g_a_2" descr="Editable line; source id c5_g_a_2"/>
          <p:cNvCxnSpPr/>
          <p:nvPr/>
        </p:nvCxnSpPr>
        <p:spPr>
          <a:xfrm>
            <a:off x="1619249" y="7167562"/>
            <a:ext cx="23813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5_g_a_3" descr="Editable line; source id c5_g_a_3"/>
          <p:cNvCxnSpPr/>
          <p:nvPr/>
        </p:nvCxnSpPr>
        <p:spPr>
          <a:xfrm>
            <a:off x="1643062" y="7326312"/>
            <a:ext cx="3968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5_g_a_4" descr="Editable line; source id c5_g_a_4"/>
          <p:cNvCxnSpPr/>
          <p:nvPr/>
        </p:nvCxnSpPr>
        <p:spPr>
          <a:xfrm flipV="1">
            <a:off x="1682749" y="7223124"/>
            <a:ext cx="23813" cy="1031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5_g_a_5" descr="Editable line; source id c5_g_a_5"/>
          <p:cNvCxnSpPr/>
          <p:nvPr/>
        </p:nvCxnSpPr>
        <p:spPr>
          <a:xfrm>
            <a:off x="1706562" y="7223124"/>
            <a:ext cx="15875" cy="1031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5_g_a_6" descr="Editable line; source id c5_g_a_6"/>
          <p:cNvCxnSpPr/>
          <p:nvPr/>
        </p:nvCxnSpPr>
        <p:spPr>
          <a:xfrm>
            <a:off x="1722437" y="7326312"/>
            <a:ext cx="3968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5_g_a_7" descr="Editable line; source id c5_g_a_7"/>
          <p:cNvCxnSpPr/>
          <p:nvPr/>
        </p:nvCxnSpPr>
        <p:spPr>
          <a:xfrm flipV="1">
            <a:off x="1762124" y="7262812"/>
            <a:ext cx="15875" cy="63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5_g_a_8" descr="Editable line; source id c5_g_a_8"/>
          <p:cNvCxnSpPr/>
          <p:nvPr/>
        </p:nvCxnSpPr>
        <p:spPr>
          <a:xfrm>
            <a:off x="1777999" y="7262812"/>
            <a:ext cx="7938" cy="63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5_g_a_9" descr="Editable line; source id c5_g_a_9"/>
          <p:cNvCxnSpPr/>
          <p:nvPr/>
        </p:nvCxnSpPr>
        <p:spPr>
          <a:xfrm>
            <a:off x="1785937" y="7326312"/>
            <a:ext cx="3968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5_g_k_0" descr="Editable line; source id c5_g_k_0"/>
          <p:cNvCxnSpPr/>
          <p:nvPr/>
        </p:nvCxnSpPr>
        <p:spPr>
          <a:xfrm>
            <a:off x="1730374" y="7135812"/>
            <a:ext cx="23813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5_g_k_1" descr="Editable line; source id c5_g_k_1"/>
          <p:cNvCxnSpPr/>
          <p:nvPr/>
        </p:nvCxnSpPr>
        <p:spPr>
          <a:xfrm flipV="1">
            <a:off x="1754187" y="7088187"/>
            <a:ext cx="63500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c5_t" descr="Editable text; source id c5_t"/>
          <p:cNvSpPr txBox="1"/>
          <p:nvPr/>
        </p:nvSpPr>
        <p:spPr>
          <a:xfrm>
            <a:off x="1928812" y="7008812"/>
            <a:ext cx="1135062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表征手段</a:t>
            </a:r>
          </a:p>
        </p:txBody>
      </p:sp>
      <p:sp>
        <p:nvSpPr>
          <p:cNvPr id="115" name="c5r_t0" descr="Editable shape; source id c5r_t0"/>
          <p:cNvSpPr/>
          <p:nvPr/>
        </p:nvSpPr>
        <p:spPr>
          <a:xfrm>
            <a:off x="3222624" y="7000874"/>
            <a:ext cx="2151062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c5r_t0_t" descr="Editable text; source id c5r_t0_t"/>
          <p:cNvSpPr txBox="1"/>
          <p:nvPr/>
        </p:nvSpPr>
        <p:spPr>
          <a:xfrm>
            <a:off x="3278187" y="7032624"/>
            <a:ext cx="2039937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PXRD / Rietveld</a:t>
            </a:r>
          </a:p>
        </p:txBody>
      </p:sp>
      <p:sp>
        <p:nvSpPr>
          <p:cNvPr id="117" name="c5r_t1" descr="Editable shape; source id c5r_t1"/>
          <p:cNvSpPr/>
          <p:nvPr/>
        </p:nvSpPr>
        <p:spPr>
          <a:xfrm>
            <a:off x="5468937" y="7000874"/>
            <a:ext cx="912812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c5r_t1_t" descr="Editable text; source id c5r_t1_t"/>
          <p:cNvSpPr txBox="1"/>
          <p:nvPr/>
        </p:nvSpPr>
        <p:spPr>
          <a:xfrm>
            <a:off x="5524499" y="7032624"/>
            <a:ext cx="801687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SCXRD</a:t>
            </a:r>
          </a:p>
        </p:txBody>
      </p:sp>
      <p:sp>
        <p:nvSpPr>
          <p:cNvPr id="119" name="c5r_t2" descr="Editable shape; source id c5r_t2"/>
          <p:cNvSpPr/>
          <p:nvPr/>
        </p:nvSpPr>
        <p:spPr>
          <a:xfrm>
            <a:off x="6476999" y="7000874"/>
            <a:ext cx="2143124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c5r_t2_t" descr="Editable text; source id c5r_t2_t"/>
          <p:cNvSpPr txBox="1"/>
          <p:nvPr/>
        </p:nvSpPr>
        <p:spPr>
          <a:xfrm>
            <a:off x="6532562" y="7032624"/>
            <a:ext cx="2031999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EDS / EPMA / ICP</a:t>
            </a:r>
          </a:p>
        </p:txBody>
      </p:sp>
      <p:sp>
        <p:nvSpPr>
          <p:cNvPr id="121" name="c5r_t3" descr="Editable shape; source id c5r_t3"/>
          <p:cNvSpPr/>
          <p:nvPr/>
        </p:nvSpPr>
        <p:spPr>
          <a:xfrm>
            <a:off x="8715374" y="7000874"/>
            <a:ext cx="2008187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c5r_t3_t" descr="Editable text; source id c5r_t3_t"/>
          <p:cNvSpPr txBox="1"/>
          <p:nvPr/>
        </p:nvSpPr>
        <p:spPr>
          <a:xfrm>
            <a:off x="8770937" y="7032624"/>
            <a:ext cx="1897062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高温相与冷却产物</a:t>
            </a:r>
          </a:p>
        </p:txBody>
      </p:sp>
      <p:sp>
        <p:nvSpPr>
          <p:cNvPr id="123" name="zQ" descr="Editable shape; source id zQ"/>
          <p:cNvSpPr/>
          <p:nvPr/>
        </p:nvSpPr>
        <p:spPr>
          <a:xfrm>
            <a:off x="206374" y="7889874"/>
            <a:ext cx="11779249" cy="1333499"/>
          </a:xfrm>
          <a:prstGeom prst="roundRect">
            <a:avLst>
              <a:gd name="adj" fmla="val 8333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zQ_l" descr="Editable text; source id zQ_l"/>
          <p:cNvSpPr txBox="1"/>
          <p:nvPr/>
        </p:nvSpPr>
        <p:spPr>
          <a:xfrm>
            <a:off x="349249" y="7969249"/>
            <a:ext cx="1285874" cy="444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062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2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判断提醒</a:t>
            </a:r>
          </a:p>
        </p:txBody>
      </p:sp>
      <p:sp>
        <p:nvSpPr>
          <p:cNvPr id="125" name="q1" descr="Editable shape; source id q1"/>
          <p:cNvSpPr/>
          <p:nvPr/>
        </p:nvSpPr>
        <p:spPr>
          <a:xfrm>
            <a:off x="333374" y="8493124"/>
            <a:ext cx="3730624" cy="603249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q1_b" descr="Editable shape; source id q1_b"/>
          <p:cNvSpPr/>
          <p:nvPr/>
        </p:nvSpPr>
        <p:spPr>
          <a:xfrm>
            <a:off x="333374" y="8493124"/>
            <a:ext cx="47624" cy="603249"/>
          </a:xfrm>
          <a:prstGeom prst="roundRect">
            <a:avLst>
              <a:gd name="adj" fmla="val 500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q1_t" descr="Editable text; source id q1_t"/>
          <p:cNvSpPr txBox="1"/>
          <p:nvPr/>
        </p:nvSpPr>
        <p:spPr>
          <a:xfrm>
            <a:off x="492124" y="8604249"/>
            <a:ext cx="3460749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749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Zn </a:t>
            </a:r>
            <a:r>
              <a:rPr sz="1749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是否进入并与氧计量耦合？</a:t>
            </a:r>
          </a:p>
        </p:txBody>
      </p:sp>
      <p:sp>
        <p:nvSpPr>
          <p:cNvPr id="128" name="q2" descr="Editable shape; source id q2"/>
          <p:cNvSpPr/>
          <p:nvPr/>
        </p:nvSpPr>
        <p:spPr>
          <a:xfrm>
            <a:off x="4222749" y="8493124"/>
            <a:ext cx="3730624" cy="603249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q2_b" descr="Editable shape; source id q2_b"/>
          <p:cNvSpPr/>
          <p:nvPr/>
        </p:nvSpPr>
        <p:spPr>
          <a:xfrm>
            <a:off x="4222749" y="8493124"/>
            <a:ext cx="47624" cy="603249"/>
          </a:xfrm>
          <a:prstGeom prst="roundRect">
            <a:avLst>
              <a:gd name="adj" fmla="val 500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q2_t" descr="Editable text; source id q2_t"/>
          <p:cNvSpPr txBox="1"/>
          <p:nvPr/>
        </p:nvSpPr>
        <p:spPr>
          <a:xfrm>
            <a:off x="4381499" y="8604249"/>
            <a:ext cx="3460749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稳定相区还是液相选择性？</a:t>
            </a:r>
          </a:p>
        </p:txBody>
      </p:sp>
      <p:sp>
        <p:nvSpPr>
          <p:cNvPr id="131" name="q3" descr="Editable shape; source id q3"/>
          <p:cNvSpPr/>
          <p:nvPr/>
        </p:nvSpPr>
        <p:spPr>
          <a:xfrm>
            <a:off x="8112124" y="8493124"/>
            <a:ext cx="3730624" cy="603249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q3_b" descr="Editable shape; source id q3_b"/>
          <p:cNvSpPr/>
          <p:nvPr/>
        </p:nvSpPr>
        <p:spPr>
          <a:xfrm>
            <a:off x="8112124" y="8493124"/>
            <a:ext cx="47624" cy="603249"/>
          </a:xfrm>
          <a:prstGeom prst="roundRect">
            <a:avLst>
              <a:gd name="adj" fmla="val 500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q3_t" descr="Editable text; source id q3_t"/>
          <p:cNvSpPr txBox="1"/>
          <p:nvPr/>
        </p:nvSpPr>
        <p:spPr>
          <a:xfrm>
            <a:off x="8270874" y="8604249"/>
            <a:ext cx="3460749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实际组成与结构信号如何对应？</a:t>
            </a:r>
          </a:p>
        </p:txBody>
      </p:sp>
      <p:cxnSp>
        <p:nvCxnSpPr>
          <p:cNvPr id="134" name="fk0_0" descr="Editable line; source id fk0_0"/>
          <p:cNvCxnSpPr/>
          <p:nvPr/>
        </p:nvCxnSpPr>
        <p:spPr>
          <a:xfrm>
            <a:off x="10032999" y="3047999"/>
            <a:ext cx="0" cy="63500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fkh_0" descr="Editable line; source id fkh_0"/>
          <p:cNvCxnSpPr/>
          <p:nvPr/>
        </p:nvCxnSpPr>
        <p:spPr>
          <a:xfrm>
            <a:off x="3174999" y="3682999"/>
            <a:ext cx="6858000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k1_0" descr="Editable line; source id fk1_0"/>
          <p:cNvSpPr/>
          <p:nvPr/>
        </p:nvSpPr>
        <p:spPr>
          <a:xfrm>
            <a:off x="3127375" y="3683000"/>
            <a:ext cx="95250" cy="222250"/>
          </a:xfrm>
          <a:custGeom>
            <a:avLst/>
            <a:gdLst/>
            <a:ahLst/>
            <a:cxnLst/>
            <a:rect l="l" t="t" r="r" b="b"/>
            <a:pathLst>
              <a:path w="12000" h="28000">
                <a:moveTo>
                  <a:pt x="7250" y="0"/>
                </a:moveTo>
                <a:lnTo>
                  <a:pt x="7250" y="13000"/>
                </a:lnTo>
                <a:lnTo>
                  <a:pt x="12000" y="13000"/>
                </a:lnTo>
                <a:lnTo>
                  <a:pt x="6000" y="28000"/>
                </a:lnTo>
                <a:lnTo>
                  <a:pt x="0" y="13000"/>
                </a:lnTo>
                <a:lnTo>
                  <a:pt x="4750" y="13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k2_0" descr="Editable line; source id fk2_0"/>
          <p:cNvSpPr/>
          <p:nvPr/>
        </p:nvSpPr>
        <p:spPr>
          <a:xfrm>
            <a:off x="8969375" y="3683000"/>
            <a:ext cx="95250" cy="222250"/>
          </a:xfrm>
          <a:custGeom>
            <a:avLst/>
            <a:gdLst/>
            <a:ahLst/>
            <a:cxnLst/>
            <a:rect l="l" t="t" r="r" b="b"/>
            <a:pathLst>
              <a:path w="12000" h="28000">
                <a:moveTo>
                  <a:pt x="7250" y="0"/>
                </a:moveTo>
                <a:lnTo>
                  <a:pt x="7250" y="13000"/>
                </a:lnTo>
                <a:lnTo>
                  <a:pt x="12000" y="13000"/>
                </a:lnTo>
                <a:lnTo>
                  <a:pt x="6000" y="28000"/>
                </a:lnTo>
                <a:lnTo>
                  <a:pt x="0" y="13000"/>
                </a:lnTo>
                <a:lnTo>
                  <a:pt x="4750" y="13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mg1_0" descr="Editable line; source id mg1_0"/>
          <p:cNvCxnSpPr/>
          <p:nvPr/>
        </p:nvCxnSpPr>
        <p:spPr>
          <a:xfrm>
            <a:off x="3174999" y="5699124"/>
            <a:ext cx="0" cy="341313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mg2_0" descr="Editable line; source id mg2_0"/>
          <p:cNvCxnSpPr/>
          <p:nvPr/>
        </p:nvCxnSpPr>
        <p:spPr>
          <a:xfrm>
            <a:off x="9016999" y="5699124"/>
            <a:ext cx="0" cy="341313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mgh_0" descr="Editable line; source id mgh_0"/>
          <p:cNvCxnSpPr/>
          <p:nvPr/>
        </p:nvCxnSpPr>
        <p:spPr>
          <a:xfrm>
            <a:off x="3174999" y="6040437"/>
            <a:ext cx="5842000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mg3_0" descr="Editable line; source id mg3_0"/>
          <p:cNvSpPr/>
          <p:nvPr/>
        </p:nvSpPr>
        <p:spPr>
          <a:xfrm>
            <a:off x="6048375" y="6040437"/>
            <a:ext cx="95250" cy="269875"/>
          </a:xfrm>
          <a:custGeom>
            <a:avLst/>
            <a:gdLst/>
            <a:ahLst/>
            <a:cxnLst/>
            <a:rect l="l" t="t" r="r" b="b"/>
            <a:pathLst>
              <a:path w="12000" h="34000">
                <a:moveTo>
                  <a:pt x="7250" y="0"/>
                </a:moveTo>
                <a:lnTo>
                  <a:pt x="7250" y="19000"/>
                </a:lnTo>
                <a:lnTo>
                  <a:pt x="12000" y="19000"/>
                </a:lnTo>
                <a:lnTo>
                  <a:pt x="6000" y="34000"/>
                </a:lnTo>
                <a:lnTo>
                  <a:pt x="0" y="19000"/>
                </a:lnTo>
                <a:lnTo>
                  <a:pt x="4750" y="19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fb_0" descr="Editable line; source id fb_0"/>
          <p:cNvCxnSpPr/>
          <p:nvPr/>
        </p:nvCxnSpPr>
        <p:spPr>
          <a:xfrm>
            <a:off x="10906124" y="7223124"/>
            <a:ext cx="1016000" cy="0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fb_1" descr="Editable line; source id fb_1"/>
          <p:cNvCxnSpPr/>
          <p:nvPr/>
        </p:nvCxnSpPr>
        <p:spPr>
          <a:xfrm flipV="1">
            <a:off x="11922124" y="3365499"/>
            <a:ext cx="0" cy="3857625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fb_2" descr="Editable line; source id fb_2"/>
          <p:cNvCxnSpPr/>
          <p:nvPr/>
        </p:nvCxnSpPr>
        <p:spPr>
          <a:xfrm flipH="1">
            <a:off x="6095999" y="3365499"/>
            <a:ext cx="5826125" cy="0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fb_3" descr="Editable line; source id fb_3"/>
          <p:cNvCxnSpPr/>
          <p:nvPr/>
        </p:nvCxnSpPr>
        <p:spPr>
          <a:xfrm flipV="1">
            <a:off x="6095999" y="3055937"/>
            <a:ext cx="0" cy="309562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fb_p" descr="Editable shape; source id fb_p"/>
          <p:cNvSpPr/>
          <p:nvPr/>
        </p:nvSpPr>
        <p:spPr>
          <a:xfrm>
            <a:off x="6215062" y="3167062"/>
            <a:ext cx="1730374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b_p_t" descr="Editable text; source id fb_p_t"/>
          <p:cNvSpPr txBox="1"/>
          <p:nvPr/>
        </p:nvSpPr>
        <p:spPr>
          <a:xfrm>
            <a:off x="6294437" y="3198812"/>
            <a:ext cx="1571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更新组成与工艺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