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3 本文的研究路线（super_teaser 第二轮 F03，两级配色 → super_img2ppt 重建；两处连线按论文修正）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" descr="Editable shape; source id c1"/>
          <p:cNvSpPr/>
          <p:nvPr/>
        </p:nvSpPr>
        <p:spPr>
          <a:xfrm>
            <a:off x="214312" y="301624"/>
            <a:ext cx="2492374" cy="1944687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23812">
            <a:solidFill>
              <a:srgbClr val="3B49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1_t" descr="Editable text; source id c1_t"/>
          <p:cNvSpPr txBox="1"/>
          <p:nvPr/>
        </p:nvSpPr>
        <p:spPr>
          <a:xfrm>
            <a:off x="309562" y="412749"/>
            <a:ext cx="2301874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1923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19232C"/>
                </a:solidFill>
                <a:latin typeface="Noto Sans CJK SC"/>
                <a:ea typeface="Noto Sans CJK SC"/>
                <a:cs typeface="Noto Sans CJK SC"/>
              </a:rPr>
              <a:t>文献依据</a:t>
            </a:r>
          </a:p>
        </p:txBody>
      </p:sp>
      <p:sp>
        <p:nvSpPr>
          <p:cNvPr id="4" name="c1_k0" descr="Editable shape; source id c1_k0"/>
          <p:cNvSpPr/>
          <p:nvPr/>
        </p:nvSpPr>
        <p:spPr>
          <a:xfrm>
            <a:off x="341312" y="769937"/>
            <a:ext cx="2246312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1_k0_t" descr="Editable text; source id c1_k0_t"/>
          <p:cNvSpPr txBox="1"/>
          <p:nvPr/>
        </p:nvSpPr>
        <p:spPr>
          <a:xfrm>
            <a:off x="388937" y="793749"/>
            <a:ext cx="21510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defRPr>
            </a:pPr>
            <a:r>
              <a: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rPr>
              <a:t>Ba–Y–Si–O </a:t>
            </a:r>
            <a:r>
              <a: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谱系</a:t>
            </a:r>
          </a:p>
        </p:txBody>
      </p:sp>
      <p:sp>
        <p:nvSpPr>
          <p:cNvPr id="6" name="c1_k1" descr="Editable shape; source id c1_k1"/>
          <p:cNvSpPr/>
          <p:nvPr/>
        </p:nvSpPr>
        <p:spPr>
          <a:xfrm>
            <a:off x="341312" y="1238249"/>
            <a:ext cx="2246312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1_k1_t" descr="Editable text; source id c1_k1_t"/>
          <p:cNvSpPr txBox="1"/>
          <p:nvPr/>
        </p:nvSpPr>
        <p:spPr>
          <a:xfrm>
            <a:off x="388937" y="1254124"/>
            <a:ext cx="21510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defRPr>
            </a:pPr>
            <a:r>
              <a: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rPr>
              <a:t>Ba–Zn–Si–O </a:t>
            </a:r>
            <a:r>
              <a: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结构近邻</a:t>
            </a:r>
          </a:p>
        </p:txBody>
      </p:sp>
      <p:sp>
        <p:nvSpPr>
          <p:cNvPr id="8" name="c1_k2" descr="Editable shape; source id c1_k2"/>
          <p:cNvSpPr/>
          <p:nvPr/>
        </p:nvSpPr>
        <p:spPr>
          <a:xfrm>
            <a:off x="341312" y="1698624"/>
            <a:ext cx="2246312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1_k2_t" descr="Editable text; source id c1_k2_t"/>
          <p:cNvSpPr txBox="1"/>
          <p:nvPr/>
        </p:nvSpPr>
        <p:spPr>
          <a:xfrm>
            <a:off x="388937" y="1722437"/>
            <a:ext cx="21510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defRPr>
            </a:pPr>
            <a:r>
              <a: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rPr>
              <a:t>Y–Si–O </a:t>
            </a:r>
            <a:r>
              <a: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工艺参照</a:t>
            </a:r>
          </a:p>
        </p:txBody>
      </p:sp>
      <p:sp>
        <p:nvSpPr>
          <p:cNvPr id="10" name="c1_c2" descr="Editable line; source id c1_c2"/>
          <p:cNvSpPr/>
          <p:nvPr/>
        </p:nvSpPr>
        <p:spPr>
          <a:xfrm>
            <a:off x="1381125" y="2262187"/>
            <a:ext cx="127000" cy="357187"/>
          </a:xfrm>
          <a:custGeom>
            <a:avLst/>
            <a:gdLst/>
            <a:ahLst/>
            <a:cxnLst/>
            <a:rect l="l" t="t" r="r" b="b"/>
            <a:pathLst>
              <a:path w="16000" h="45000">
                <a:moveTo>
                  <a:pt x="10500" y="0"/>
                </a:moveTo>
                <a:lnTo>
                  <a:pt x="10500" y="27000"/>
                </a:lnTo>
                <a:lnTo>
                  <a:pt x="16000" y="27000"/>
                </a:lnTo>
                <a:lnTo>
                  <a:pt x="8000" y="45000"/>
                </a:lnTo>
                <a:lnTo>
                  <a:pt x="0" y="27000"/>
                </a:lnTo>
                <a:lnTo>
                  <a:pt x="5500" y="27000"/>
                </a:lnTo>
                <a:lnTo>
                  <a:pt x="5500" y="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2" descr="Editable shape; source id c2"/>
          <p:cNvSpPr/>
          <p:nvPr/>
        </p:nvSpPr>
        <p:spPr>
          <a:xfrm>
            <a:off x="222249" y="2635249"/>
            <a:ext cx="2476499" cy="1984374"/>
          </a:xfrm>
          <a:prstGeom prst="roundRect">
            <a:avLst>
              <a:gd name="adj" fmla="val 5600"/>
            </a:avLst>
          </a:prstGeom>
          <a:solidFill>
            <a:srgbClr val="FBF1DC"/>
          </a:solidFill>
          <a:ln w="23812">
            <a:solidFill>
              <a:srgbClr val="B4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2_t" descr="Editable text; source id c2_t"/>
          <p:cNvSpPr txBox="1"/>
          <p:nvPr/>
        </p:nvSpPr>
        <p:spPr>
          <a:xfrm>
            <a:off x="317499" y="2746374"/>
            <a:ext cx="2285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6B4A0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6B4A0F"/>
                </a:solidFill>
                <a:latin typeface="Noto Sans CJK SC"/>
                <a:ea typeface="Noto Sans CJK SC"/>
                <a:cs typeface="Noto Sans CJK SC"/>
              </a:rPr>
              <a:t>结构假设</a:t>
            </a:r>
          </a:p>
        </p:txBody>
      </p:sp>
      <p:sp>
        <p:nvSpPr>
          <p:cNvPr id="13" name="c2_k0" descr="Editable shape; source id c2_k0"/>
          <p:cNvSpPr/>
          <p:nvPr/>
        </p:nvSpPr>
        <p:spPr>
          <a:xfrm>
            <a:off x="349249" y="3127374"/>
            <a:ext cx="2222499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2_k0_t" descr="Editable text; source id c2_k0_t"/>
          <p:cNvSpPr txBox="1"/>
          <p:nvPr/>
        </p:nvSpPr>
        <p:spPr>
          <a:xfrm>
            <a:off x="396874" y="3151187"/>
            <a:ext cx="2127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局部组成网格</a:t>
            </a:r>
          </a:p>
        </p:txBody>
      </p:sp>
      <p:sp>
        <p:nvSpPr>
          <p:cNvPr id="15" name="c2_k1" descr="Editable shape; source id c2_k1"/>
          <p:cNvSpPr/>
          <p:nvPr/>
        </p:nvSpPr>
        <p:spPr>
          <a:xfrm>
            <a:off x="349249" y="3595687"/>
            <a:ext cx="2222499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2_k1_t" descr="Editable text; source id c2_k1_t"/>
          <p:cNvSpPr txBox="1"/>
          <p:nvPr/>
        </p:nvSpPr>
        <p:spPr>
          <a:xfrm>
            <a:off x="396874" y="3619499"/>
            <a:ext cx="2127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defRPr>
            </a:pPr>
            <a:r>
              <a: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rPr>
              <a:t>Zn–Y–</a:t>
            </a:r>
            <a:r>
              <a: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氧计量耦合</a:t>
            </a:r>
          </a:p>
        </p:txBody>
      </p:sp>
      <p:sp>
        <p:nvSpPr>
          <p:cNvPr id="17" name="c2_k2" descr="Editable shape; source id c2_k2"/>
          <p:cNvSpPr/>
          <p:nvPr/>
        </p:nvSpPr>
        <p:spPr>
          <a:xfrm>
            <a:off x="349249" y="4063999"/>
            <a:ext cx="2222499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2_k2_t" descr="Editable text; source id c2_k2_t"/>
          <p:cNvSpPr txBox="1"/>
          <p:nvPr/>
        </p:nvSpPr>
        <p:spPr>
          <a:xfrm>
            <a:off x="396874" y="4087812"/>
            <a:ext cx="2127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竞争相与玻璃区</a:t>
            </a:r>
          </a:p>
        </p:txBody>
      </p:sp>
      <p:sp>
        <p:nvSpPr>
          <p:cNvPr id="19" name="c2_c3" descr="Editable line; source id c2_c3"/>
          <p:cNvSpPr/>
          <p:nvPr/>
        </p:nvSpPr>
        <p:spPr>
          <a:xfrm>
            <a:off x="1381125" y="4635500"/>
            <a:ext cx="127000" cy="333375"/>
          </a:xfrm>
          <a:custGeom>
            <a:avLst/>
            <a:gdLst/>
            <a:ahLst/>
            <a:cxnLst/>
            <a:rect l="l" t="t" r="r" b="b"/>
            <a:pathLst>
              <a:path w="16000" h="42000">
                <a:moveTo>
                  <a:pt x="10500" y="0"/>
                </a:moveTo>
                <a:lnTo>
                  <a:pt x="10500" y="24000"/>
                </a:lnTo>
                <a:lnTo>
                  <a:pt x="16000" y="24000"/>
                </a:lnTo>
                <a:lnTo>
                  <a:pt x="8000" y="42000"/>
                </a:lnTo>
                <a:lnTo>
                  <a:pt x="0" y="24000"/>
                </a:lnTo>
                <a:lnTo>
                  <a:pt x="5500" y="24000"/>
                </a:lnTo>
                <a:lnTo>
                  <a:pt x="5500" y="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3" descr="Editable shape; source id c3"/>
          <p:cNvSpPr/>
          <p:nvPr/>
        </p:nvSpPr>
        <p:spPr>
          <a:xfrm>
            <a:off x="230187" y="4984749"/>
            <a:ext cx="2468562" cy="2095499"/>
          </a:xfrm>
          <a:prstGeom prst="roundRect">
            <a:avLst>
              <a:gd name="adj" fmla="val 5303"/>
            </a:avLst>
          </a:prstGeom>
          <a:solidFill>
            <a:srgbClr val="F2F5F7"/>
          </a:solidFill>
          <a:ln w="23812">
            <a:solidFill>
              <a:srgbClr val="3B49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3_t" descr="Editable text; source id c3_t"/>
          <p:cNvSpPr txBox="1"/>
          <p:nvPr/>
        </p:nvSpPr>
        <p:spPr>
          <a:xfrm>
            <a:off x="325437" y="5095874"/>
            <a:ext cx="2278062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1923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19232C"/>
                </a:solidFill>
                <a:latin typeface="Noto Sans CJK SC"/>
                <a:ea typeface="Noto Sans CJK SC"/>
                <a:cs typeface="Noto Sans CJK SC"/>
              </a:rPr>
              <a:t>模型筛选的前驱体</a:t>
            </a:r>
          </a:p>
        </p:txBody>
      </p:sp>
      <p:sp>
        <p:nvSpPr>
          <p:cNvPr id="22" name="c3_k0" descr="Editable shape; source id c3_k0"/>
          <p:cNvSpPr/>
          <p:nvPr/>
        </p:nvSpPr>
        <p:spPr>
          <a:xfrm>
            <a:off x="357187" y="5516562"/>
            <a:ext cx="2214562" cy="420687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3_k0_t" descr="Editable text; source id c3_k0_t"/>
          <p:cNvSpPr txBox="1"/>
          <p:nvPr/>
        </p:nvSpPr>
        <p:spPr>
          <a:xfrm>
            <a:off x="404812" y="5540374"/>
            <a:ext cx="2119312" cy="373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defRPr>
            </a:pPr>
            <a:r>
              <a: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rPr>
              <a:t>BaCO3 + Y2O3 + SiO2</a:t>
            </a:r>
          </a:p>
        </p:txBody>
      </p:sp>
      <p:sp>
        <p:nvSpPr>
          <p:cNvPr id="24" name="c3_k1" descr="Editable shape; source id c3_k1"/>
          <p:cNvSpPr/>
          <p:nvPr/>
        </p:nvSpPr>
        <p:spPr>
          <a:xfrm>
            <a:off x="357187" y="6000749"/>
            <a:ext cx="2214562" cy="420687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3_k1_t" descr="Editable text; source id c3_k1_t"/>
          <p:cNvSpPr txBox="1"/>
          <p:nvPr/>
        </p:nvSpPr>
        <p:spPr>
          <a:xfrm>
            <a:off x="404812" y="6024562"/>
            <a:ext cx="2119312" cy="373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defRPr>
            </a:pPr>
            <a:r>
              <a: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rPr>
              <a:t>ZnO / MgO / Co3O4</a:t>
            </a:r>
          </a:p>
        </p:txBody>
      </p:sp>
      <p:sp>
        <p:nvSpPr>
          <p:cNvPr id="26" name="c3_tag" descr="Editable shape; source id c3_tag"/>
          <p:cNvSpPr/>
          <p:nvPr/>
        </p:nvSpPr>
        <p:spPr>
          <a:xfrm>
            <a:off x="357187" y="6500812"/>
            <a:ext cx="2214562" cy="428624"/>
          </a:xfrm>
          <a:prstGeom prst="roundRect">
            <a:avLst>
              <a:gd name="adj" fmla="val 14814"/>
            </a:avLst>
          </a:prstGeom>
          <a:solidFill>
            <a:srgbClr val="F6E7C6"/>
          </a:solidFill>
          <a:ln w="11906">
            <a:solidFill>
              <a:srgbClr val="B4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3_tag_t" descr="Editable text; source id c3_tag_t"/>
          <p:cNvSpPr txBox="1"/>
          <p:nvPr/>
        </p:nvSpPr>
        <p:spPr>
          <a:xfrm>
            <a:off x="404812" y="6524624"/>
            <a:ext cx="2119312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0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rPr>
              <a:t>模型排序</a:t>
            </a:r>
            <a:r>
              <a:rPr sz="1437" b="0" i="0" lang="zh-CN" dirty="0">
                <a:solidFill>
                  <a:srgbClr val="8A5A0E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437" b="0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cxnSp>
        <p:nvCxnSpPr>
          <p:cNvPr id="28" name="fk_stub" descr="Editable line; source id fk_stub"/>
          <p:cNvCxnSpPr/>
          <p:nvPr/>
        </p:nvCxnSpPr>
        <p:spPr>
          <a:xfrm>
            <a:off x="2714624" y="6032499"/>
            <a:ext cx="460375" cy="0"/>
          </a:xfrm>
          <a:prstGeom prst="line">
            <a:avLst/>
          </a:prstGeom>
          <a:ln w="39687">
            <a:solidFill>
              <a:srgbClr val="0F7A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fk_v" descr="Editable line; source id fk_v"/>
          <p:cNvCxnSpPr/>
          <p:nvPr/>
        </p:nvCxnSpPr>
        <p:spPr>
          <a:xfrm>
            <a:off x="3174999" y="3579812"/>
            <a:ext cx="0" cy="2452687"/>
          </a:xfrm>
          <a:prstGeom prst="line">
            <a:avLst/>
          </a:prstGeom>
          <a:ln w="39687">
            <a:solidFill>
              <a:srgbClr val="0F7A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k_a" descr="Editable line; source id fk_a"/>
          <p:cNvSpPr/>
          <p:nvPr/>
        </p:nvSpPr>
        <p:spPr>
          <a:xfrm>
            <a:off x="3175000" y="3516312"/>
            <a:ext cx="388937" cy="127000"/>
          </a:xfrm>
          <a:custGeom>
            <a:avLst/>
            <a:gdLst/>
            <a:ahLst/>
            <a:cxnLst/>
            <a:rect l="l" t="t" r="r" b="b"/>
            <a:pathLst>
              <a:path w="49000" h="16000">
                <a:moveTo>
                  <a:pt x="0" y="5500"/>
                </a:moveTo>
                <a:lnTo>
                  <a:pt x="31000" y="5500"/>
                </a:lnTo>
                <a:lnTo>
                  <a:pt x="31000" y="0"/>
                </a:lnTo>
                <a:lnTo>
                  <a:pt x="49000" y="8000"/>
                </a:lnTo>
                <a:lnTo>
                  <a:pt x="31000" y="16000"/>
                </a:lnTo>
                <a:lnTo>
                  <a:pt x="31000" y="10500"/>
                </a:lnTo>
                <a:lnTo>
                  <a:pt x="0" y="1050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k_b" descr="Editable line; source id fk_b"/>
          <p:cNvSpPr/>
          <p:nvPr/>
        </p:nvSpPr>
        <p:spPr>
          <a:xfrm>
            <a:off x="3175000" y="5516562"/>
            <a:ext cx="381000" cy="127000"/>
          </a:xfrm>
          <a:custGeom>
            <a:avLst/>
            <a:gdLst/>
            <a:ahLst/>
            <a:cxnLst/>
            <a:rect l="l" t="t" r="r" b="b"/>
            <a:pathLst>
              <a:path w="48000" h="16000">
                <a:moveTo>
                  <a:pt x="0" y="5500"/>
                </a:moveTo>
                <a:lnTo>
                  <a:pt x="30000" y="5500"/>
                </a:lnTo>
                <a:lnTo>
                  <a:pt x="30000" y="0"/>
                </a:lnTo>
                <a:lnTo>
                  <a:pt x="48000" y="8000"/>
                </a:lnTo>
                <a:lnTo>
                  <a:pt x="30000" y="16000"/>
                </a:lnTo>
                <a:lnTo>
                  <a:pt x="30000" y="10500"/>
                </a:lnTo>
                <a:lnTo>
                  <a:pt x="0" y="1050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1" descr="Editable shape; source id l1"/>
          <p:cNvSpPr/>
          <p:nvPr/>
        </p:nvSpPr>
        <p:spPr>
          <a:xfrm>
            <a:off x="3579812" y="3000374"/>
            <a:ext cx="6016624" cy="1166812"/>
          </a:xfrm>
          <a:prstGeom prst="roundRect">
            <a:avLst>
              <a:gd name="adj" fmla="val 9523"/>
            </a:avLst>
          </a:prstGeom>
          <a:solidFill>
            <a:srgbClr val="E1EFF1"/>
          </a:solidFill>
          <a:ln w="23812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1_t" descr="Editable text; source id l1_t"/>
          <p:cNvSpPr txBox="1"/>
          <p:nvPr/>
        </p:nvSpPr>
        <p:spPr>
          <a:xfrm>
            <a:off x="3738562" y="3063874"/>
            <a:ext cx="2539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14515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145159"/>
                </a:solidFill>
                <a:latin typeface="Noto Sans CJK SC"/>
                <a:ea typeface="Noto Sans CJK SC"/>
                <a:cs typeface="Noto Sans CJK SC"/>
              </a:rPr>
              <a:t>固相成相</a:t>
            </a:r>
          </a:p>
        </p:txBody>
      </p:sp>
      <p:sp>
        <p:nvSpPr>
          <p:cNvPr id="34" name="l1_k0" descr="Editable shape; source id l1_k0"/>
          <p:cNvSpPr/>
          <p:nvPr/>
        </p:nvSpPr>
        <p:spPr>
          <a:xfrm>
            <a:off x="3746499" y="3508374"/>
            <a:ext cx="1198562" cy="484187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1_k0_t" descr="Editable text; source id l1_k0_t"/>
          <p:cNvSpPr txBox="1"/>
          <p:nvPr/>
        </p:nvSpPr>
        <p:spPr>
          <a:xfrm>
            <a:off x="3794124" y="3532187"/>
            <a:ext cx="1103312" cy="436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分段煅烧</a:t>
            </a:r>
          </a:p>
        </p:txBody>
      </p:sp>
      <p:sp>
        <p:nvSpPr>
          <p:cNvPr id="36" name="l1_a0" descr="Editable line; source id l1_a0"/>
          <p:cNvSpPr/>
          <p:nvPr/>
        </p:nvSpPr>
        <p:spPr>
          <a:xfrm>
            <a:off x="4968875" y="3702844"/>
            <a:ext cx="230187" cy="87312"/>
          </a:xfrm>
          <a:custGeom>
            <a:avLst/>
            <a:gdLst/>
            <a:ahLst/>
            <a:cxnLst/>
            <a:rect l="l" t="t" r="r" b="b"/>
            <a:pathLst>
              <a:path w="29000" h="11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500"/>
                </a:lnTo>
                <a:lnTo>
                  <a:pt x="17000" y="11000"/>
                </a:lnTo>
                <a:lnTo>
                  <a:pt x="17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1_k1" descr="Editable shape; source id l1_k1"/>
          <p:cNvSpPr/>
          <p:nvPr/>
        </p:nvSpPr>
        <p:spPr>
          <a:xfrm>
            <a:off x="5222874" y="3508374"/>
            <a:ext cx="984249" cy="484187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1_k1_t" descr="Editable text; source id l1_k1_t"/>
          <p:cNvSpPr txBox="1"/>
          <p:nvPr/>
        </p:nvSpPr>
        <p:spPr>
          <a:xfrm>
            <a:off x="5270499" y="3532187"/>
            <a:ext cx="888999" cy="436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复磨</a:t>
            </a:r>
          </a:p>
        </p:txBody>
      </p:sp>
      <p:sp>
        <p:nvSpPr>
          <p:cNvPr id="39" name="l1_a1" descr="Editable line; source id l1_a1"/>
          <p:cNvSpPr/>
          <p:nvPr/>
        </p:nvSpPr>
        <p:spPr>
          <a:xfrm>
            <a:off x="6230937" y="3702844"/>
            <a:ext cx="230187" cy="87312"/>
          </a:xfrm>
          <a:custGeom>
            <a:avLst/>
            <a:gdLst/>
            <a:ahLst/>
            <a:cxnLst/>
            <a:rect l="l" t="t" r="r" b="b"/>
            <a:pathLst>
              <a:path w="29000" h="11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500"/>
                </a:lnTo>
                <a:lnTo>
                  <a:pt x="17000" y="11000"/>
                </a:lnTo>
                <a:lnTo>
                  <a:pt x="17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1_k2" descr="Editable shape; source id l1_k2"/>
          <p:cNvSpPr/>
          <p:nvPr/>
        </p:nvSpPr>
        <p:spPr>
          <a:xfrm>
            <a:off x="6484937" y="3508374"/>
            <a:ext cx="976312" cy="484187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1_k2_t" descr="Editable text; source id l1_k2_t"/>
          <p:cNvSpPr txBox="1"/>
          <p:nvPr/>
        </p:nvSpPr>
        <p:spPr>
          <a:xfrm>
            <a:off x="6532562" y="3532187"/>
            <a:ext cx="881062" cy="436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42" name="l1_a2" descr="Editable line; source id l1_a2"/>
          <p:cNvSpPr/>
          <p:nvPr/>
        </p:nvSpPr>
        <p:spPr>
          <a:xfrm>
            <a:off x="7485062" y="3702844"/>
            <a:ext cx="222250" cy="87312"/>
          </a:xfrm>
          <a:custGeom>
            <a:avLst/>
            <a:gdLst/>
            <a:ahLst/>
            <a:cxnLst/>
            <a:rect l="l" t="t" r="r" b="b"/>
            <a:pathLst>
              <a:path w="28000" h="11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500"/>
                </a:lnTo>
                <a:lnTo>
                  <a:pt x="16000" y="11000"/>
                </a:lnTo>
                <a:lnTo>
                  <a:pt x="1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1_k3" descr="Editable shape; source id l1_k3"/>
          <p:cNvSpPr/>
          <p:nvPr/>
        </p:nvSpPr>
        <p:spPr>
          <a:xfrm>
            <a:off x="7731124" y="3508374"/>
            <a:ext cx="1706562" cy="484187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1_k3_t" descr="Editable text; source id l1_k3_t"/>
          <p:cNvSpPr txBox="1"/>
          <p:nvPr/>
        </p:nvSpPr>
        <p:spPr>
          <a:xfrm>
            <a:off x="7778749" y="3532187"/>
            <a:ext cx="1611312" cy="436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批量相区与相纯度</a:t>
            </a:r>
          </a:p>
        </p:txBody>
      </p:sp>
      <p:sp>
        <p:nvSpPr>
          <p:cNvPr id="45" name="l2" descr="Editable shape; source id l2"/>
          <p:cNvSpPr/>
          <p:nvPr/>
        </p:nvSpPr>
        <p:spPr>
          <a:xfrm>
            <a:off x="3571874" y="5016499"/>
            <a:ext cx="6024562" cy="1127124"/>
          </a:xfrm>
          <a:prstGeom prst="roundRect">
            <a:avLst>
              <a:gd name="adj" fmla="val 9859"/>
            </a:avLst>
          </a:prstGeom>
          <a:solidFill>
            <a:srgbClr val="E1EFF1"/>
          </a:solidFill>
          <a:ln w="23812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2_t" descr="Editable text; source id l2_t"/>
          <p:cNvSpPr txBox="1"/>
          <p:nvPr/>
        </p:nvSpPr>
        <p:spPr>
          <a:xfrm>
            <a:off x="3730624" y="5079999"/>
            <a:ext cx="2539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14515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145159"/>
                </a:solidFill>
                <a:latin typeface="Noto Sans CJK SC"/>
                <a:ea typeface="Noto Sans CJK SC"/>
                <a:cs typeface="Noto Sans CJK SC"/>
              </a:rPr>
              <a:t>高温溶液长晶</a:t>
            </a:r>
          </a:p>
        </p:txBody>
      </p:sp>
      <p:sp>
        <p:nvSpPr>
          <p:cNvPr id="47" name="l2_k0" descr="Editable shape; source id l2_k0"/>
          <p:cNvSpPr/>
          <p:nvPr/>
        </p:nvSpPr>
        <p:spPr>
          <a:xfrm>
            <a:off x="3746499" y="5516562"/>
            <a:ext cx="1000124" cy="484187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2_k0_t" descr="Editable text; source id l2_k0_t"/>
          <p:cNvSpPr txBox="1"/>
          <p:nvPr/>
        </p:nvSpPr>
        <p:spPr>
          <a:xfrm>
            <a:off x="3794124" y="5540374"/>
            <a:ext cx="904874" cy="436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助熔</a:t>
            </a:r>
          </a:p>
        </p:txBody>
      </p:sp>
      <p:sp>
        <p:nvSpPr>
          <p:cNvPr id="49" name="l2_a0" descr="Editable line; source id l2_a0"/>
          <p:cNvSpPr/>
          <p:nvPr/>
        </p:nvSpPr>
        <p:spPr>
          <a:xfrm>
            <a:off x="4770437" y="5711031"/>
            <a:ext cx="222250" cy="87312"/>
          </a:xfrm>
          <a:custGeom>
            <a:avLst/>
            <a:gdLst/>
            <a:ahLst/>
            <a:cxnLst/>
            <a:rect l="l" t="t" r="r" b="b"/>
            <a:pathLst>
              <a:path w="28000" h="11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500"/>
                </a:lnTo>
                <a:lnTo>
                  <a:pt x="16000" y="11000"/>
                </a:lnTo>
                <a:lnTo>
                  <a:pt x="1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2_k1" descr="Editable shape; source id l2_k1"/>
          <p:cNvSpPr/>
          <p:nvPr/>
        </p:nvSpPr>
        <p:spPr>
          <a:xfrm>
            <a:off x="5016499" y="5516562"/>
            <a:ext cx="960437" cy="484187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2_k1_t" descr="Editable text; source id l2_k1_t"/>
          <p:cNvSpPr txBox="1"/>
          <p:nvPr/>
        </p:nvSpPr>
        <p:spPr>
          <a:xfrm>
            <a:off x="5064124" y="5540374"/>
            <a:ext cx="865187" cy="436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保温</a:t>
            </a:r>
          </a:p>
        </p:txBody>
      </p:sp>
      <p:sp>
        <p:nvSpPr>
          <p:cNvPr id="52" name="l2_a1" descr="Editable line; source id l2_a1"/>
          <p:cNvSpPr/>
          <p:nvPr/>
        </p:nvSpPr>
        <p:spPr>
          <a:xfrm>
            <a:off x="6000750" y="5711031"/>
            <a:ext cx="222250" cy="87312"/>
          </a:xfrm>
          <a:custGeom>
            <a:avLst/>
            <a:gdLst/>
            <a:ahLst/>
            <a:cxnLst/>
            <a:rect l="l" t="t" r="r" b="b"/>
            <a:pathLst>
              <a:path w="28000" h="11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500"/>
                </a:lnTo>
                <a:lnTo>
                  <a:pt x="16000" y="11000"/>
                </a:lnTo>
                <a:lnTo>
                  <a:pt x="1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2_k2" descr="Editable shape; source id l2_k2"/>
          <p:cNvSpPr/>
          <p:nvPr/>
        </p:nvSpPr>
        <p:spPr>
          <a:xfrm>
            <a:off x="6246812" y="5516562"/>
            <a:ext cx="936624" cy="484187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2_k2_t" descr="Editable text; source id l2_k2_t"/>
          <p:cNvSpPr txBox="1"/>
          <p:nvPr/>
        </p:nvSpPr>
        <p:spPr>
          <a:xfrm>
            <a:off x="6294437" y="5540374"/>
            <a:ext cx="841374" cy="436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慢冷</a:t>
            </a:r>
          </a:p>
        </p:txBody>
      </p:sp>
      <p:sp>
        <p:nvSpPr>
          <p:cNvPr id="55" name="l2_a2" descr="Editable line; source id l2_a2"/>
          <p:cNvSpPr/>
          <p:nvPr/>
        </p:nvSpPr>
        <p:spPr>
          <a:xfrm>
            <a:off x="7207250" y="5711031"/>
            <a:ext cx="238125" cy="87312"/>
          </a:xfrm>
          <a:custGeom>
            <a:avLst/>
            <a:gdLst/>
            <a:ahLst/>
            <a:cxnLst/>
            <a:rect l="l" t="t" r="r" b="b"/>
            <a:pathLst>
              <a:path w="30000" h="11000">
                <a:moveTo>
                  <a:pt x="0" y="3500"/>
                </a:moveTo>
                <a:lnTo>
                  <a:pt x="18000" y="3500"/>
                </a:lnTo>
                <a:lnTo>
                  <a:pt x="18000" y="0"/>
                </a:lnTo>
                <a:lnTo>
                  <a:pt x="30000" y="5500"/>
                </a:lnTo>
                <a:lnTo>
                  <a:pt x="18000" y="11000"/>
                </a:lnTo>
                <a:lnTo>
                  <a:pt x="1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2_k3" descr="Editable shape; source id l2_k3"/>
          <p:cNvSpPr/>
          <p:nvPr/>
        </p:nvSpPr>
        <p:spPr>
          <a:xfrm>
            <a:off x="7469187" y="5516562"/>
            <a:ext cx="1992312" cy="484187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2_k3_t" descr="Editable text; source id l2_k3_t"/>
          <p:cNvSpPr txBox="1"/>
          <p:nvPr/>
        </p:nvSpPr>
        <p:spPr>
          <a:xfrm>
            <a:off x="7516812" y="5540374"/>
            <a:ext cx="1897062" cy="436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单晶结构与液相选择性</a:t>
            </a:r>
          </a:p>
        </p:txBody>
      </p:sp>
      <p:cxnSp>
        <p:nvCxnSpPr>
          <p:cNvPr id="58" name="mg_a" descr="Editable line; source id mg_a"/>
          <p:cNvCxnSpPr/>
          <p:nvPr/>
        </p:nvCxnSpPr>
        <p:spPr>
          <a:xfrm>
            <a:off x="9612312" y="3579812"/>
            <a:ext cx="198437" cy="0"/>
          </a:xfrm>
          <a:prstGeom prst="line">
            <a:avLst/>
          </a:prstGeom>
          <a:ln w="39687">
            <a:solidFill>
              <a:srgbClr val="0F7A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mg_b" descr="Editable line; source id mg_b"/>
          <p:cNvCxnSpPr/>
          <p:nvPr/>
        </p:nvCxnSpPr>
        <p:spPr>
          <a:xfrm>
            <a:off x="9612312" y="5580062"/>
            <a:ext cx="198437" cy="0"/>
          </a:xfrm>
          <a:prstGeom prst="line">
            <a:avLst/>
          </a:prstGeom>
          <a:ln w="39687">
            <a:solidFill>
              <a:srgbClr val="0F7A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mg_v" descr="Editable line; source id mg_v"/>
          <p:cNvCxnSpPr/>
          <p:nvPr/>
        </p:nvCxnSpPr>
        <p:spPr>
          <a:xfrm>
            <a:off x="9810749" y="3579812"/>
            <a:ext cx="0" cy="2000250"/>
          </a:xfrm>
          <a:prstGeom prst="line">
            <a:avLst/>
          </a:prstGeom>
          <a:ln w="39687">
            <a:solidFill>
              <a:srgbClr val="0F7A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mg_out" descr="Editable line; source id mg_out"/>
          <p:cNvSpPr/>
          <p:nvPr/>
        </p:nvSpPr>
        <p:spPr>
          <a:xfrm>
            <a:off x="9810750" y="4516437"/>
            <a:ext cx="198437" cy="127000"/>
          </a:xfrm>
          <a:custGeom>
            <a:avLst/>
            <a:gdLst/>
            <a:ahLst/>
            <a:cxnLst/>
            <a:rect l="l" t="t" r="r" b="b"/>
            <a:pathLst>
              <a:path w="25000" h="16000">
                <a:moveTo>
                  <a:pt x="0" y="5500"/>
                </a:moveTo>
                <a:lnTo>
                  <a:pt x="9000" y="5500"/>
                </a:lnTo>
                <a:lnTo>
                  <a:pt x="9000" y="0"/>
                </a:lnTo>
                <a:lnTo>
                  <a:pt x="25000" y="8000"/>
                </a:lnTo>
                <a:lnTo>
                  <a:pt x="9000" y="16000"/>
                </a:lnTo>
                <a:lnTo>
                  <a:pt x="9000" y="10500"/>
                </a:lnTo>
                <a:lnTo>
                  <a:pt x="0" y="10500"/>
                </a:lnTo>
                <a:close/>
              </a:path>
            </a:pathLst>
          </a:custGeom>
          <a:solidFill>
            <a:srgbClr val="0F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5" descr="Editable shape; source id c5"/>
          <p:cNvSpPr/>
          <p:nvPr/>
        </p:nvSpPr>
        <p:spPr>
          <a:xfrm>
            <a:off x="10025062" y="2865437"/>
            <a:ext cx="1944687" cy="2936874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23812">
            <a:solidFill>
              <a:srgbClr val="3B49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5_t" descr="Editable text; source id c5_t"/>
          <p:cNvSpPr txBox="1"/>
          <p:nvPr/>
        </p:nvSpPr>
        <p:spPr>
          <a:xfrm>
            <a:off x="10120312" y="2976562"/>
            <a:ext cx="1754187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1923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19232C"/>
                </a:solidFill>
                <a:latin typeface="Noto Sans CJK SC"/>
                <a:ea typeface="Noto Sans CJK SC"/>
                <a:cs typeface="Noto Sans CJK SC"/>
              </a:rPr>
              <a:t>结果反馈</a:t>
            </a:r>
          </a:p>
        </p:txBody>
      </p:sp>
      <p:sp>
        <p:nvSpPr>
          <p:cNvPr id="64" name="c5_k0" descr="Editable shape; source id c5_k0"/>
          <p:cNvSpPr/>
          <p:nvPr/>
        </p:nvSpPr>
        <p:spPr>
          <a:xfrm>
            <a:off x="10152062" y="3444874"/>
            <a:ext cx="1698624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5_k0_t" descr="Editable text; source id c5_k0_t"/>
          <p:cNvSpPr txBox="1"/>
          <p:nvPr/>
        </p:nvSpPr>
        <p:spPr>
          <a:xfrm>
            <a:off x="10199687" y="3468687"/>
            <a:ext cx="160337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defRPr>
            </a:pPr>
            <a:r>
              <a: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sp>
        <p:nvSpPr>
          <p:cNvPr id="66" name="c5_k1" descr="Editable shape; source id c5_k1"/>
          <p:cNvSpPr/>
          <p:nvPr/>
        </p:nvSpPr>
        <p:spPr>
          <a:xfrm>
            <a:off x="10152062" y="4016374"/>
            <a:ext cx="1698624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5_k1_t" descr="Editable text; source id c5_k1_t"/>
          <p:cNvSpPr txBox="1"/>
          <p:nvPr/>
        </p:nvSpPr>
        <p:spPr>
          <a:xfrm>
            <a:off x="10199687" y="4032249"/>
            <a:ext cx="160337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defRPr>
            </a:pPr>
            <a:r>
              <a: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rPr>
              <a:t>SCXRD</a:t>
            </a:r>
          </a:p>
        </p:txBody>
      </p:sp>
      <p:sp>
        <p:nvSpPr>
          <p:cNvPr id="68" name="c5_k2" descr="Editable shape; source id c5_k2"/>
          <p:cNvSpPr/>
          <p:nvPr/>
        </p:nvSpPr>
        <p:spPr>
          <a:xfrm>
            <a:off x="10152062" y="4579937"/>
            <a:ext cx="1698624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5_k2_t" descr="Editable text; source id c5_k2_t"/>
          <p:cNvSpPr txBox="1"/>
          <p:nvPr/>
        </p:nvSpPr>
        <p:spPr>
          <a:xfrm>
            <a:off x="10199687" y="4603749"/>
            <a:ext cx="160337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defRPr>
            </a:pPr>
            <a:r>
              <a:rPr sz="1437" b="0" i="0" lang="zh-CN" dirty="0">
                <a:solidFill>
                  <a:srgbClr val="2F3840"/>
                </a:solidFill>
                <a:latin typeface="DejaVu Sans"/>
                <a:ea typeface="DejaVu Sans"/>
                <a:cs typeface="DejaVu Sans"/>
              </a:rPr>
              <a:t>EDS / EPMA / ICP</a:t>
            </a:r>
          </a:p>
        </p:txBody>
      </p:sp>
      <p:sp>
        <p:nvSpPr>
          <p:cNvPr id="70" name="c5_k3" descr="Editable shape; source id c5_k3"/>
          <p:cNvSpPr/>
          <p:nvPr/>
        </p:nvSpPr>
        <p:spPr>
          <a:xfrm>
            <a:off x="10152062" y="5143499"/>
            <a:ext cx="1698624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906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5_k3_t" descr="Editable text; source id c5_k3_t"/>
          <p:cNvSpPr txBox="1"/>
          <p:nvPr/>
        </p:nvSpPr>
        <p:spPr>
          <a:xfrm>
            <a:off x="10199687" y="5175249"/>
            <a:ext cx="160337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0" i="0" lang="zh-CN" dirty="0">
                <a:solidFill>
                  <a:srgbClr val="2F3840"/>
                </a:solidFill>
                <a:latin typeface="Noto Sans CJK SC"/>
                <a:ea typeface="Noto Sans CJK SC"/>
                <a:cs typeface="Noto Sans CJK SC"/>
              </a:rPr>
              <a:t>高温相与冷却产物</a:t>
            </a:r>
          </a:p>
        </p:txBody>
      </p:sp>
      <p:cxnSp>
        <p:nvCxnSpPr>
          <p:cNvPr id="72" name="fb1" descr="Editable line; source id fb1"/>
          <p:cNvCxnSpPr/>
          <p:nvPr/>
        </p:nvCxnSpPr>
        <p:spPr>
          <a:xfrm>
            <a:off x="11001374" y="5818187"/>
            <a:ext cx="0" cy="1801812"/>
          </a:xfrm>
          <a:prstGeom prst="line">
            <a:avLst/>
          </a:prstGeom>
          <a:ln w="31749">
            <a:solidFill>
              <a:srgbClr val="0F7A88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fb2" descr="Editable line; source id fb2"/>
          <p:cNvCxnSpPr/>
          <p:nvPr/>
        </p:nvCxnSpPr>
        <p:spPr>
          <a:xfrm flipH="1">
            <a:off x="6349999" y="7619999"/>
            <a:ext cx="4651375" cy="0"/>
          </a:xfrm>
          <a:prstGeom prst="line">
            <a:avLst/>
          </a:prstGeom>
          <a:ln w="31749">
            <a:solidFill>
              <a:srgbClr val="0F7A88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b_p" descr="Editable shape; source id fb_p"/>
          <p:cNvSpPr/>
          <p:nvPr/>
        </p:nvSpPr>
        <p:spPr>
          <a:xfrm>
            <a:off x="4937124" y="7429499"/>
            <a:ext cx="1396999" cy="380999"/>
          </a:xfrm>
          <a:prstGeom prst="roundRect">
            <a:avLst>
              <a:gd name="adj" fmla="val 50000"/>
            </a:avLst>
          </a:prstGeom>
          <a:solidFill>
            <a:srgbClr val="E1EFF1"/>
          </a:solidFill>
          <a:ln w="19843">
            <a:solidFill>
              <a:srgbClr val="0F7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b_pt" descr="Editable text; source id fb_pt"/>
          <p:cNvSpPr txBox="1"/>
          <p:nvPr/>
        </p:nvSpPr>
        <p:spPr>
          <a:xfrm>
            <a:off x="5000624" y="7461249"/>
            <a:ext cx="1269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7A8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0F7A88"/>
                </a:solidFill>
                <a:latin typeface="Noto Sans CJK SC"/>
                <a:ea typeface="Noto Sans CJK SC"/>
                <a:cs typeface="Noto Sans CJK SC"/>
              </a:rPr>
              <a:t>更新组成与工艺</a:t>
            </a:r>
          </a:p>
        </p:txBody>
      </p:sp>
      <p:cxnSp>
        <p:nvCxnSpPr>
          <p:cNvPr id="76" name="fb3" descr="Editable line; source id fb3"/>
          <p:cNvCxnSpPr/>
          <p:nvPr/>
        </p:nvCxnSpPr>
        <p:spPr>
          <a:xfrm flipH="1">
            <a:off x="111124" y="7619999"/>
            <a:ext cx="4810125" cy="0"/>
          </a:xfrm>
          <a:prstGeom prst="line">
            <a:avLst/>
          </a:prstGeom>
          <a:ln w="31749">
            <a:solidFill>
              <a:srgbClr val="0F7A88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fb4" descr="Editable line; source id fb4"/>
          <p:cNvCxnSpPr/>
          <p:nvPr/>
        </p:nvCxnSpPr>
        <p:spPr>
          <a:xfrm flipV="1">
            <a:off x="111124" y="3627437"/>
            <a:ext cx="0" cy="3992562"/>
          </a:xfrm>
          <a:prstGeom prst="line">
            <a:avLst/>
          </a:prstGeom>
          <a:ln w="31749">
            <a:solidFill>
              <a:srgbClr val="0F7A88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fb5" descr="Editable line; source id fb5"/>
          <p:cNvCxnSpPr/>
          <p:nvPr/>
        </p:nvCxnSpPr>
        <p:spPr>
          <a:xfrm>
            <a:off x="111124" y="3627437"/>
            <a:ext cx="95250" cy="0"/>
          </a:xfrm>
          <a:prstGeom prst="line">
            <a:avLst/>
          </a:prstGeom>
          <a:ln w="31749">
            <a:solidFill>
              <a:srgbClr val="0F7A88"/>
            </a:solidFill>
            <a:custDash>
              <a:ds d="400000" sp="25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q1" descr="Editable shape; source id q1"/>
          <p:cNvSpPr/>
          <p:nvPr/>
        </p:nvSpPr>
        <p:spPr>
          <a:xfrm>
            <a:off x="2952749" y="2230437"/>
            <a:ext cx="2746374" cy="396874"/>
          </a:xfrm>
          <a:prstGeom prst="roundRect">
            <a:avLst>
              <a:gd name="adj" fmla="val 20000"/>
            </a:avLst>
          </a:prstGeom>
          <a:solidFill>
            <a:srgbClr val="FFF7E6"/>
          </a:solidFill>
          <a:ln w="19843">
            <a:solidFill>
              <a:srgbClr val="B4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q1_t" descr="Editable text; source id q1_t"/>
          <p:cNvSpPr txBox="1"/>
          <p:nvPr/>
        </p:nvSpPr>
        <p:spPr>
          <a:xfrm>
            <a:off x="3032124" y="2270124"/>
            <a:ext cx="2587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8A5A0E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8A5A0E"/>
                </a:solidFill>
                <a:latin typeface="DejaVu Sans"/>
                <a:ea typeface="DejaVu Sans"/>
                <a:cs typeface="DejaVu Sans"/>
              </a:rPr>
              <a:t>Zn </a:t>
            </a:r>
            <a:r>
              <a:rPr sz="1374" b="1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rPr>
              <a:t>是否进入并与氧计量耦合？</a:t>
            </a:r>
          </a:p>
        </p:txBody>
      </p:sp>
      <p:cxnSp>
        <p:nvCxnSpPr>
          <p:cNvPr id="81" name="q1_l" descr="Editable line; source id q1_l"/>
          <p:cNvCxnSpPr/>
          <p:nvPr/>
        </p:nvCxnSpPr>
        <p:spPr>
          <a:xfrm flipH="1">
            <a:off x="2873374" y="2635249"/>
            <a:ext cx="190500" cy="63500"/>
          </a:xfrm>
          <a:prstGeom prst="line">
            <a:avLst/>
          </a:prstGeom>
          <a:ln w="19843">
            <a:solidFill>
              <a:srgbClr val="B474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q1_d" descr="Editable shape; source id q1_d"/>
          <p:cNvSpPr/>
          <p:nvPr/>
        </p:nvSpPr>
        <p:spPr>
          <a:xfrm>
            <a:off x="2746374" y="2682874"/>
            <a:ext cx="95249" cy="95249"/>
          </a:xfrm>
          <a:prstGeom prst="ellipse">
            <a:avLst/>
          </a:prstGeom>
          <a:solidFill>
            <a:srgbClr val="B4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q2" descr="Editable shape; source id q2"/>
          <p:cNvSpPr/>
          <p:nvPr/>
        </p:nvSpPr>
        <p:spPr>
          <a:xfrm>
            <a:off x="5072062" y="4381499"/>
            <a:ext cx="2659062" cy="412749"/>
          </a:xfrm>
          <a:prstGeom prst="roundRect">
            <a:avLst>
              <a:gd name="adj" fmla="val 19230"/>
            </a:avLst>
          </a:prstGeom>
          <a:solidFill>
            <a:srgbClr val="FFF7E6"/>
          </a:solidFill>
          <a:ln w="19843">
            <a:solidFill>
              <a:srgbClr val="B4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q2_t" descr="Editable text; source id q2_t"/>
          <p:cNvSpPr txBox="1"/>
          <p:nvPr/>
        </p:nvSpPr>
        <p:spPr>
          <a:xfrm>
            <a:off x="5151437" y="4421187"/>
            <a:ext cx="25003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rPr>
              <a:t>稳定相区还是液相选择性？</a:t>
            </a:r>
          </a:p>
        </p:txBody>
      </p:sp>
      <p:cxnSp>
        <p:nvCxnSpPr>
          <p:cNvPr id="85" name="q2_l" descr="Editable line; source id q2_l"/>
          <p:cNvCxnSpPr/>
          <p:nvPr/>
        </p:nvCxnSpPr>
        <p:spPr>
          <a:xfrm flipV="1">
            <a:off x="6397624" y="4278312"/>
            <a:ext cx="0" cy="87312"/>
          </a:xfrm>
          <a:prstGeom prst="line">
            <a:avLst/>
          </a:prstGeom>
          <a:ln w="19843">
            <a:solidFill>
              <a:srgbClr val="B474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q2_d" descr="Editable shape; source id q2_d"/>
          <p:cNvSpPr/>
          <p:nvPr/>
        </p:nvSpPr>
        <p:spPr>
          <a:xfrm>
            <a:off x="6349999" y="4175124"/>
            <a:ext cx="95249" cy="95249"/>
          </a:xfrm>
          <a:prstGeom prst="ellipse">
            <a:avLst/>
          </a:prstGeom>
          <a:solidFill>
            <a:srgbClr val="B4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q2_l2" descr="Editable line; source id q2_l2"/>
          <p:cNvCxnSpPr/>
          <p:nvPr/>
        </p:nvCxnSpPr>
        <p:spPr>
          <a:xfrm>
            <a:off x="6397624" y="4810124"/>
            <a:ext cx="0" cy="79375"/>
          </a:xfrm>
          <a:prstGeom prst="line">
            <a:avLst/>
          </a:prstGeom>
          <a:ln w="19843">
            <a:solidFill>
              <a:srgbClr val="B474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q2_d2" descr="Editable shape; source id q2_d2"/>
          <p:cNvSpPr/>
          <p:nvPr/>
        </p:nvSpPr>
        <p:spPr>
          <a:xfrm>
            <a:off x="6349999" y="4905374"/>
            <a:ext cx="95249" cy="95249"/>
          </a:xfrm>
          <a:prstGeom prst="ellipse">
            <a:avLst/>
          </a:prstGeom>
          <a:solidFill>
            <a:srgbClr val="B4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q3" descr="Editable shape; source id q3"/>
          <p:cNvSpPr/>
          <p:nvPr/>
        </p:nvSpPr>
        <p:spPr>
          <a:xfrm>
            <a:off x="9969499" y="1563687"/>
            <a:ext cx="2047874" cy="793749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 w="19843">
            <a:solidFill>
              <a:srgbClr val="B4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q3_t" descr="Editable text; source id q3_t"/>
          <p:cNvSpPr txBox="1"/>
          <p:nvPr/>
        </p:nvSpPr>
        <p:spPr>
          <a:xfrm>
            <a:off x="10048874" y="1603374"/>
            <a:ext cx="1889124" cy="714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rPr>
              <a:t>实际组成与结构信号</a:t>
            </a:r>
          </a:p>
          <a:p>
            <a:pPr algn="ctr" fontAlgn="base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8A5A0E"/>
                </a:solidFill>
                <a:latin typeface="Noto Sans CJK SC"/>
                <a:ea typeface="Noto Sans CJK SC"/>
                <a:cs typeface="Noto Sans CJK SC"/>
              </a:rPr>
              <a:t>如何对应？</a:t>
            </a:r>
          </a:p>
        </p:txBody>
      </p:sp>
      <p:cxnSp>
        <p:nvCxnSpPr>
          <p:cNvPr id="91" name="q3_l" descr="Editable line; source id q3_l"/>
          <p:cNvCxnSpPr/>
          <p:nvPr/>
        </p:nvCxnSpPr>
        <p:spPr>
          <a:xfrm>
            <a:off x="10993437" y="2373312"/>
            <a:ext cx="230187" cy="365125"/>
          </a:xfrm>
          <a:prstGeom prst="line">
            <a:avLst/>
          </a:prstGeom>
          <a:ln w="19843">
            <a:solidFill>
              <a:srgbClr val="B474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q3_d" descr="Editable shape; source id q3_d"/>
          <p:cNvSpPr/>
          <p:nvPr/>
        </p:nvSpPr>
        <p:spPr>
          <a:xfrm>
            <a:off x="11223624" y="2754312"/>
            <a:ext cx="95249" cy="95249"/>
          </a:xfrm>
          <a:prstGeom prst="ellipse">
            <a:avLst/>
          </a:prstGeom>
          <a:solidFill>
            <a:srgbClr val="B4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