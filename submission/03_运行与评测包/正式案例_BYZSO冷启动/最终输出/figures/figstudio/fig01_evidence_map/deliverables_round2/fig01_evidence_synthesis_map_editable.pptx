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1 不同文献对目标化合物合成研究的适用范围（super_teaser 第二轮 F03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ng0" descr="Editable shape; source id ring0"/>
          <p:cNvSpPr/>
          <p:nvPr/>
        </p:nvSpPr>
        <p:spPr>
          <a:xfrm>
            <a:off x="206374" y="1389062"/>
            <a:ext cx="4397374" cy="4397374"/>
          </a:xfrm>
          <a:prstGeom prst="ellipse">
            <a:avLst/>
          </a:prstGeom>
          <a:solidFill>
            <a:srgbClr val="FFFFFF"/>
          </a:solidFill>
          <a:ln w="19843">
            <a:solidFill>
              <a:srgbClr val="8A9199"/>
            </a:solidFill>
            <a:custDash>
              <a:ds d="560000" sp="36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ng1" descr="Editable shape; source id ring1"/>
          <p:cNvSpPr/>
          <p:nvPr/>
        </p:nvSpPr>
        <p:spPr>
          <a:xfrm>
            <a:off x="714374" y="1897062"/>
            <a:ext cx="3381374" cy="3381374"/>
          </a:xfrm>
          <a:prstGeom prst="ellipse">
            <a:avLst/>
          </a:prstGeom>
          <a:solidFill>
            <a:srgbClr val="F3F5F6"/>
          </a:solidFill>
          <a:ln w="19843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ng2" descr="Editable shape; source id ring2"/>
          <p:cNvSpPr/>
          <p:nvPr/>
        </p:nvSpPr>
        <p:spPr>
          <a:xfrm>
            <a:off x="1182687" y="2365374"/>
            <a:ext cx="2444749" cy="2444749"/>
          </a:xfrm>
          <a:prstGeom prst="ellipse">
            <a:avLst/>
          </a:prstGeom>
          <a:solidFill>
            <a:srgbClr val="FFFFFF"/>
          </a:solidFill>
          <a:ln w="19843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ng3" descr="Editable shape; source id ring3"/>
          <p:cNvSpPr/>
          <p:nvPr/>
        </p:nvSpPr>
        <p:spPr>
          <a:xfrm>
            <a:off x="1579562" y="2762249"/>
            <a:ext cx="1650999" cy="1650999"/>
          </a:xfrm>
          <a:prstGeom prst="ellipse">
            <a:avLst/>
          </a:prstGeom>
          <a:solidFill>
            <a:srgbClr val="F3F5F6"/>
          </a:solidFill>
          <a:ln w="19843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ng4" descr="Editable shape; source id ring4"/>
          <p:cNvSpPr/>
          <p:nvPr/>
        </p:nvSpPr>
        <p:spPr>
          <a:xfrm>
            <a:off x="1984374" y="3167062"/>
            <a:ext cx="841374" cy="841374"/>
          </a:xfrm>
          <a:prstGeom prst="ellipse">
            <a:avLst/>
          </a:prstGeom>
          <a:solidFill>
            <a:srgbClr val="E3E7EA"/>
          </a:solidFill>
          <a:ln w="19843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ng0_t" descr="Editable text; source id ring0_t"/>
          <p:cNvSpPr txBox="1"/>
          <p:nvPr/>
        </p:nvSpPr>
        <p:spPr>
          <a:xfrm>
            <a:off x="1873249" y="1500187"/>
            <a:ext cx="106362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非相关资料</a:t>
            </a:r>
          </a:p>
        </p:txBody>
      </p:sp>
      <p:sp>
        <p:nvSpPr>
          <p:cNvPr id="8" name="ring1_t" descr="Editable text; source id ring1_t"/>
          <p:cNvSpPr txBox="1"/>
          <p:nvPr/>
        </p:nvSpPr>
        <p:spPr>
          <a:xfrm>
            <a:off x="1777999" y="1992312"/>
            <a:ext cx="125412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工艺参照研究</a:t>
            </a:r>
          </a:p>
        </p:txBody>
      </p:sp>
      <p:sp>
        <p:nvSpPr>
          <p:cNvPr id="9" name="ring2_t" descr="Editable text; source id ring2_t"/>
          <p:cNvSpPr txBox="1"/>
          <p:nvPr/>
        </p:nvSpPr>
        <p:spPr>
          <a:xfrm>
            <a:off x="1682749" y="2428874"/>
            <a:ext cx="144462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结构相关化合物</a:t>
            </a:r>
          </a:p>
        </p:txBody>
      </p:sp>
      <p:sp>
        <p:nvSpPr>
          <p:cNvPr id="10" name="disc" descr="Editable shape; source id disc"/>
          <p:cNvSpPr/>
          <p:nvPr/>
        </p:nvSpPr>
        <p:spPr>
          <a:xfrm>
            <a:off x="2190749" y="3373437"/>
            <a:ext cx="428624" cy="428624"/>
          </a:xfrm>
          <a:prstGeom prst="ellipse">
            <a:avLst/>
          </a:prstGeom>
          <a:solidFill>
            <a:srgbClr val="3A4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_direct" descr="Editable text; source id lab_direct"/>
          <p:cNvSpPr txBox="1"/>
          <p:nvPr/>
        </p:nvSpPr>
        <p:spPr>
          <a:xfrm>
            <a:off x="2619374" y="3857624"/>
            <a:ext cx="184149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目标化合物直接报道</a:t>
            </a:r>
          </a:p>
        </p:txBody>
      </p:sp>
      <p:sp>
        <p:nvSpPr>
          <p:cNvPr id="12" name="lab_lineage" descr="Editable text; source id lab_lineage"/>
          <p:cNvSpPr txBox="1"/>
          <p:nvPr/>
        </p:nvSpPr>
        <p:spPr>
          <a:xfrm>
            <a:off x="1309687" y="4619624"/>
            <a:ext cx="21907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同类</a:t>
            </a:r>
            <a:r>
              <a:rPr sz="1499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 Ba–Y </a:t>
            </a:r>
            <a:r>
              <a:rPr sz="149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四方硅酸盐</a:t>
            </a:r>
          </a:p>
        </p:txBody>
      </p:sp>
      <p:sp>
        <p:nvSpPr>
          <p:cNvPr id="13" name="axis" descr="Editable line; source id axis"/>
          <p:cNvSpPr/>
          <p:nvPr/>
        </p:nvSpPr>
        <p:spPr>
          <a:xfrm>
            <a:off x="2573115" y="1905000"/>
            <a:ext cx="1713135" cy="1515562"/>
          </a:xfrm>
          <a:custGeom>
            <a:avLst/>
            <a:gdLst/>
            <a:ahLst/>
            <a:cxnLst/>
            <a:rect l="l" t="t" r="r" b="b"/>
            <a:pathLst>
              <a:path w="215828" h="190937">
                <a:moveTo>
                  <a:pt x="0" y="189063"/>
                </a:moveTo>
                <a:lnTo>
                  <a:pt x="203011" y="9659"/>
                </a:lnTo>
                <a:lnTo>
                  <a:pt x="199534" y="5725"/>
                </a:lnTo>
                <a:lnTo>
                  <a:pt x="215828" y="0"/>
                </a:lnTo>
                <a:lnTo>
                  <a:pt x="208143" y="15466"/>
                </a:lnTo>
                <a:lnTo>
                  <a:pt x="204666" y="11532"/>
                </a:lnTo>
                <a:lnTo>
                  <a:pt x="1656" y="190937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xis_near" descr="Editable text; source id axis_near"/>
          <p:cNvSpPr txBox="1"/>
          <p:nvPr/>
        </p:nvSpPr>
        <p:spPr>
          <a:xfrm>
            <a:off x="2857499" y="3317874"/>
            <a:ext cx="3174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近</a:t>
            </a:r>
          </a:p>
        </p:txBody>
      </p:sp>
      <p:sp>
        <p:nvSpPr>
          <p:cNvPr id="15" name="axis_far" descr="Editable text; source id axis_far"/>
          <p:cNvSpPr txBox="1"/>
          <p:nvPr/>
        </p:nvSpPr>
        <p:spPr>
          <a:xfrm>
            <a:off x="4349749" y="1762124"/>
            <a:ext cx="3174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远</a:t>
            </a:r>
          </a:p>
        </p:txBody>
      </p:sp>
      <p:sp>
        <p:nvSpPr>
          <p:cNvPr id="16" name="axis_lab" descr="Editable text; source id axis_lab"/>
          <p:cNvSpPr txBox="1"/>
          <p:nvPr/>
        </p:nvSpPr>
        <p:spPr>
          <a:xfrm>
            <a:off x="3730624" y="2635249"/>
            <a:ext cx="1127124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与目标相的距离</a:t>
            </a:r>
          </a:p>
        </p:txBody>
      </p:sp>
      <p:cxnSp>
        <p:nvCxnSpPr>
          <p:cNvPr id="17" name="bundle_a" descr="Editable line; source id bundle_a"/>
          <p:cNvCxnSpPr/>
          <p:nvPr/>
        </p:nvCxnSpPr>
        <p:spPr>
          <a:xfrm>
            <a:off x="2651124" y="3587749"/>
            <a:ext cx="1706563" cy="0"/>
          </a:xfrm>
          <a:prstGeom prst="line">
            <a:avLst/>
          </a:prstGeom>
          <a:ln w="47624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ag" descr="Editable shape; source id tag"/>
          <p:cNvSpPr/>
          <p:nvPr/>
        </p:nvSpPr>
        <p:spPr>
          <a:xfrm>
            <a:off x="4381499" y="3301999"/>
            <a:ext cx="1992312" cy="40481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9843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t" descr="Editable text; source id tag_t"/>
          <p:cNvSpPr txBox="1"/>
          <p:nvPr/>
        </p:nvSpPr>
        <p:spPr>
          <a:xfrm>
            <a:off x="4444999" y="3341687"/>
            <a:ext cx="1865312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rPr>
              <a:t>近邻条件</a:t>
            </a:r>
            <a:r>
              <a:rPr sz="1374" b="1" i="0" lang="zh-CN" dirty="0">
                <a:solidFill>
                  <a:srgbClr val="7A5A1C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374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rPr>
              <a:t>已验证配方</a:t>
            </a:r>
          </a:p>
        </p:txBody>
      </p:sp>
      <p:sp>
        <p:nvSpPr>
          <p:cNvPr id="20" name="bundle_b" descr="Editable line; source id bundle_b"/>
          <p:cNvSpPr/>
          <p:nvPr/>
        </p:nvSpPr>
        <p:spPr>
          <a:xfrm>
            <a:off x="6389687" y="3516312"/>
            <a:ext cx="206375" cy="142875"/>
          </a:xfrm>
          <a:custGeom>
            <a:avLst/>
            <a:gdLst/>
            <a:ahLst/>
            <a:cxnLst/>
            <a:rect l="l" t="t" r="r" b="b"/>
            <a:pathLst>
              <a:path w="26000" h="18000">
                <a:moveTo>
                  <a:pt x="0" y="6000"/>
                </a:moveTo>
                <a:lnTo>
                  <a:pt x="6000" y="6000"/>
                </a:lnTo>
                <a:lnTo>
                  <a:pt x="6000" y="0"/>
                </a:lnTo>
                <a:lnTo>
                  <a:pt x="26000" y="9000"/>
                </a:lnTo>
                <a:lnTo>
                  <a:pt x="6000" y="18000"/>
                </a:lnTo>
                <a:lnTo>
                  <a:pt x="6000" y="12000"/>
                </a:lnTo>
                <a:lnTo>
                  <a:pt x="0" y="120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dger" descr="Editable shape; source id ledger"/>
          <p:cNvSpPr/>
          <p:nvPr/>
        </p:nvSpPr>
        <p:spPr>
          <a:xfrm>
            <a:off x="6611937" y="1476374"/>
            <a:ext cx="2555874" cy="4008437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9843">
            <a:solidFill>
              <a:srgbClr val="4A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edger_t" descr="Editable text; source id ledger_t"/>
          <p:cNvSpPr txBox="1"/>
          <p:nvPr/>
        </p:nvSpPr>
        <p:spPr>
          <a:xfrm>
            <a:off x="6707187" y="1587499"/>
            <a:ext cx="2365374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相同实验项目下比较</a:t>
            </a:r>
          </a:p>
        </p:txBody>
      </p:sp>
      <p:sp>
        <p:nvSpPr>
          <p:cNvPr id="23" name="row0" descr="Editable shape; source id row0"/>
          <p:cNvSpPr/>
          <p:nvPr/>
        </p:nvSpPr>
        <p:spPr>
          <a:xfrm>
            <a:off x="6754812" y="2079624"/>
            <a:ext cx="2278062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906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0_t" descr="Editable text; source id row0_t"/>
          <p:cNvSpPr txBox="1"/>
          <p:nvPr/>
        </p:nvSpPr>
        <p:spPr>
          <a:xfrm>
            <a:off x="6818312" y="2158999"/>
            <a:ext cx="215106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原料与配比</a:t>
            </a:r>
          </a:p>
        </p:txBody>
      </p:sp>
      <p:sp>
        <p:nvSpPr>
          <p:cNvPr id="25" name="row1" descr="Editable shape; source id row1"/>
          <p:cNvSpPr/>
          <p:nvPr/>
        </p:nvSpPr>
        <p:spPr>
          <a:xfrm>
            <a:off x="6754812" y="2627312"/>
            <a:ext cx="2278062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906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1_t" descr="Editable text; source id row1_t"/>
          <p:cNvSpPr txBox="1"/>
          <p:nvPr/>
        </p:nvSpPr>
        <p:spPr>
          <a:xfrm>
            <a:off x="6818312" y="2706687"/>
            <a:ext cx="215106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热史</a:t>
            </a:r>
          </a:p>
        </p:txBody>
      </p:sp>
      <p:sp>
        <p:nvSpPr>
          <p:cNvPr id="27" name="row2" descr="Editable shape; source id row2"/>
          <p:cNvSpPr/>
          <p:nvPr/>
        </p:nvSpPr>
        <p:spPr>
          <a:xfrm>
            <a:off x="6754812" y="3174999"/>
            <a:ext cx="2278062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906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2_t" descr="Editable text; source id row2_t"/>
          <p:cNvSpPr txBox="1"/>
          <p:nvPr/>
        </p:nvSpPr>
        <p:spPr>
          <a:xfrm>
            <a:off x="6818312" y="3254374"/>
            <a:ext cx="215106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气氛</a:t>
            </a:r>
          </a:p>
        </p:txBody>
      </p:sp>
      <p:sp>
        <p:nvSpPr>
          <p:cNvPr id="29" name="row3" descr="Editable shape; source id row3"/>
          <p:cNvSpPr/>
          <p:nvPr/>
        </p:nvSpPr>
        <p:spPr>
          <a:xfrm>
            <a:off x="6754812" y="3730624"/>
            <a:ext cx="2278062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906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3_t" descr="Editable text; source id row3_t"/>
          <p:cNvSpPr txBox="1"/>
          <p:nvPr/>
        </p:nvSpPr>
        <p:spPr>
          <a:xfrm>
            <a:off x="6818312" y="3809999"/>
            <a:ext cx="215106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容器与助熔剂</a:t>
            </a:r>
          </a:p>
        </p:txBody>
      </p:sp>
      <p:sp>
        <p:nvSpPr>
          <p:cNvPr id="31" name="row4" descr="Editable shape; source id row4"/>
          <p:cNvSpPr/>
          <p:nvPr/>
        </p:nvSpPr>
        <p:spPr>
          <a:xfrm>
            <a:off x="6754812" y="4286249"/>
            <a:ext cx="2278062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906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4_t" descr="Editable text; source id row4_t"/>
          <p:cNvSpPr txBox="1"/>
          <p:nvPr/>
        </p:nvSpPr>
        <p:spPr>
          <a:xfrm>
            <a:off x="6818312" y="4365624"/>
            <a:ext cx="215106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冷却与分离</a:t>
            </a:r>
          </a:p>
        </p:txBody>
      </p:sp>
      <p:sp>
        <p:nvSpPr>
          <p:cNvPr id="33" name="row5" descr="Editable shape; source id row5"/>
          <p:cNvSpPr/>
          <p:nvPr/>
        </p:nvSpPr>
        <p:spPr>
          <a:xfrm>
            <a:off x="6754812" y="4833937"/>
            <a:ext cx="2278062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906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5_t" descr="Editable text; source id row5_t"/>
          <p:cNvSpPr txBox="1"/>
          <p:nvPr/>
        </p:nvSpPr>
        <p:spPr>
          <a:xfrm>
            <a:off x="6818312" y="4913312"/>
            <a:ext cx="215106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产物表征</a:t>
            </a:r>
          </a:p>
        </p:txBody>
      </p:sp>
      <p:cxnSp>
        <p:nvCxnSpPr>
          <p:cNvPr id="35" name="fan_trunk" descr="Editable line; source id fan_trunk"/>
          <p:cNvCxnSpPr/>
          <p:nvPr/>
        </p:nvCxnSpPr>
        <p:spPr>
          <a:xfrm>
            <a:off x="9183687" y="3587749"/>
            <a:ext cx="460375" cy="0"/>
          </a:xfrm>
          <a:prstGeom prst="line">
            <a:avLst/>
          </a:prstGeom>
          <a:ln w="47624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fan_v" descr="Editable line; source id fan_v"/>
          <p:cNvCxnSpPr/>
          <p:nvPr/>
        </p:nvCxnSpPr>
        <p:spPr>
          <a:xfrm>
            <a:off x="9644062" y="2278062"/>
            <a:ext cx="0" cy="2563812"/>
          </a:xfrm>
          <a:prstGeom prst="line">
            <a:avLst/>
          </a:prstGeom>
          <a:ln w="47624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u1_a" descr="Editable line; source id u1_a"/>
          <p:cNvSpPr/>
          <p:nvPr/>
        </p:nvSpPr>
        <p:spPr>
          <a:xfrm>
            <a:off x="9644062" y="2206625"/>
            <a:ext cx="444500" cy="142875"/>
          </a:xfrm>
          <a:custGeom>
            <a:avLst/>
            <a:gdLst/>
            <a:ahLst/>
            <a:cxnLst/>
            <a:rect l="l" t="t" r="r" b="b"/>
            <a:pathLst>
              <a:path w="56000" h="18000">
                <a:moveTo>
                  <a:pt x="0" y="6000"/>
                </a:moveTo>
                <a:lnTo>
                  <a:pt x="36000" y="6000"/>
                </a:lnTo>
                <a:lnTo>
                  <a:pt x="36000" y="0"/>
                </a:lnTo>
                <a:lnTo>
                  <a:pt x="56000" y="9000"/>
                </a:lnTo>
                <a:lnTo>
                  <a:pt x="36000" y="18000"/>
                </a:lnTo>
                <a:lnTo>
                  <a:pt x="36000" y="12000"/>
                </a:lnTo>
                <a:lnTo>
                  <a:pt x="0" y="120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u1" descr="Editable shape; source id u1"/>
          <p:cNvSpPr/>
          <p:nvPr/>
        </p:nvSpPr>
        <p:spPr>
          <a:xfrm>
            <a:off x="10104437" y="1873249"/>
            <a:ext cx="1881187" cy="809624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9843">
            <a:solidFill>
              <a:srgbClr val="4A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u1_t" descr="Editable text; source id u1_t"/>
          <p:cNvSpPr txBox="1"/>
          <p:nvPr/>
        </p:nvSpPr>
        <p:spPr>
          <a:xfrm>
            <a:off x="10183812" y="1952624"/>
            <a:ext cx="1722437" cy="650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直接条件复现</a:t>
            </a:r>
          </a:p>
        </p:txBody>
      </p:sp>
      <p:sp>
        <p:nvSpPr>
          <p:cNvPr id="40" name="u2_a" descr="Editable line; source id u2_a"/>
          <p:cNvSpPr/>
          <p:nvPr/>
        </p:nvSpPr>
        <p:spPr>
          <a:xfrm>
            <a:off x="9644062" y="3516312"/>
            <a:ext cx="452437" cy="142875"/>
          </a:xfrm>
          <a:custGeom>
            <a:avLst/>
            <a:gdLst/>
            <a:ahLst/>
            <a:cxnLst/>
            <a:rect l="l" t="t" r="r" b="b"/>
            <a:pathLst>
              <a:path w="57000" h="18000">
                <a:moveTo>
                  <a:pt x="0" y="6000"/>
                </a:moveTo>
                <a:lnTo>
                  <a:pt x="37000" y="6000"/>
                </a:lnTo>
                <a:lnTo>
                  <a:pt x="37000" y="0"/>
                </a:lnTo>
                <a:lnTo>
                  <a:pt x="57000" y="9000"/>
                </a:lnTo>
                <a:lnTo>
                  <a:pt x="37000" y="18000"/>
                </a:lnTo>
                <a:lnTo>
                  <a:pt x="37000" y="12000"/>
                </a:lnTo>
                <a:lnTo>
                  <a:pt x="0" y="120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u2" descr="Editable shape; source id u2"/>
          <p:cNvSpPr/>
          <p:nvPr/>
        </p:nvSpPr>
        <p:spPr>
          <a:xfrm>
            <a:off x="10112374" y="3167062"/>
            <a:ext cx="1881187" cy="833437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843">
            <a:solidFill>
              <a:srgbClr val="4A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u2_t" descr="Editable text; source id u2_t"/>
          <p:cNvSpPr txBox="1"/>
          <p:nvPr/>
        </p:nvSpPr>
        <p:spPr>
          <a:xfrm>
            <a:off x="10191749" y="3246437"/>
            <a:ext cx="1722437" cy="674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谱系内相图与</a:t>
            </a:r>
          </a:p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结构比较</a:t>
            </a:r>
          </a:p>
        </p:txBody>
      </p:sp>
      <p:sp>
        <p:nvSpPr>
          <p:cNvPr id="43" name="u3_a" descr="Editable line; source id u3_a"/>
          <p:cNvSpPr/>
          <p:nvPr/>
        </p:nvSpPr>
        <p:spPr>
          <a:xfrm>
            <a:off x="9644062" y="4770437"/>
            <a:ext cx="460375" cy="142875"/>
          </a:xfrm>
          <a:custGeom>
            <a:avLst/>
            <a:gdLst/>
            <a:ahLst/>
            <a:cxnLst/>
            <a:rect l="l" t="t" r="r" b="b"/>
            <a:pathLst>
              <a:path w="58000" h="18000">
                <a:moveTo>
                  <a:pt x="0" y="6000"/>
                </a:moveTo>
                <a:lnTo>
                  <a:pt x="38000" y="6000"/>
                </a:lnTo>
                <a:lnTo>
                  <a:pt x="38000" y="0"/>
                </a:lnTo>
                <a:lnTo>
                  <a:pt x="58000" y="9000"/>
                </a:lnTo>
                <a:lnTo>
                  <a:pt x="38000" y="18000"/>
                </a:lnTo>
                <a:lnTo>
                  <a:pt x="38000" y="12000"/>
                </a:lnTo>
                <a:lnTo>
                  <a:pt x="0" y="120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u3" descr="Editable shape; source id u3"/>
          <p:cNvSpPr/>
          <p:nvPr/>
        </p:nvSpPr>
        <p:spPr>
          <a:xfrm>
            <a:off x="10120312" y="4437062"/>
            <a:ext cx="1865312" cy="809624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9843">
            <a:solidFill>
              <a:srgbClr val="4A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3_t" descr="Editable text; source id u3_t"/>
          <p:cNvSpPr txBox="1"/>
          <p:nvPr/>
        </p:nvSpPr>
        <p:spPr>
          <a:xfrm>
            <a:off x="10199687" y="4516437"/>
            <a:ext cx="1706562" cy="650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方法与变量结构</a:t>
            </a:r>
          </a:p>
        </p:txBody>
      </p:sp>
      <p:cxnSp>
        <p:nvCxnSpPr>
          <p:cNvPr id="46" name="ex1" descr="Editable line; source id ex1"/>
          <p:cNvCxnSpPr/>
          <p:nvPr/>
        </p:nvCxnSpPr>
        <p:spPr>
          <a:xfrm>
            <a:off x="1746249" y="5778499"/>
            <a:ext cx="0" cy="619125"/>
          </a:xfrm>
          <a:prstGeom prst="line">
            <a:avLst/>
          </a:prstGeom>
          <a:ln w="23812">
            <a:solidFill>
              <a:srgbClr val="8A9199"/>
            </a:solidFill>
            <a:custDash>
              <a:ds d="466667" sp="3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x2" descr="Editable line; source id ex2"/>
          <p:cNvCxnSpPr/>
          <p:nvPr/>
        </p:nvCxnSpPr>
        <p:spPr>
          <a:xfrm>
            <a:off x="1746249" y="6397624"/>
            <a:ext cx="5381625" cy="0"/>
          </a:xfrm>
          <a:prstGeom prst="line">
            <a:avLst/>
          </a:prstGeom>
          <a:ln w="23812">
            <a:solidFill>
              <a:srgbClr val="8A9199"/>
            </a:solidFill>
            <a:custDash>
              <a:ds d="466667" sp="3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xpill" descr="Editable shape; source id expill"/>
          <p:cNvSpPr/>
          <p:nvPr/>
        </p:nvSpPr>
        <p:spPr>
          <a:xfrm>
            <a:off x="7143749" y="6199187"/>
            <a:ext cx="976312" cy="3968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pill_t" descr="Editable text; source id expill_t"/>
          <p:cNvSpPr txBox="1"/>
          <p:nvPr/>
        </p:nvSpPr>
        <p:spPr>
          <a:xfrm>
            <a:off x="7207249" y="6246812"/>
            <a:ext cx="849312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排除</a:t>
            </a:r>
          </a:p>
        </p:txBody>
      </p:sp>
      <p:cxnSp>
        <p:nvCxnSpPr>
          <p:cNvPr id="50" name="ex3" descr="Editable line; source id ex3"/>
          <p:cNvCxnSpPr/>
          <p:nvPr/>
        </p:nvCxnSpPr>
        <p:spPr>
          <a:xfrm>
            <a:off x="8135937" y="6397624"/>
            <a:ext cx="1976437" cy="0"/>
          </a:xfrm>
          <a:prstGeom prst="line">
            <a:avLst/>
          </a:prstGeom>
          <a:ln w="23812">
            <a:solidFill>
              <a:srgbClr val="8A9199"/>
            </a:solidFill>
            <a:custDash>
              <a:ds d="466667" sp="3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u4" descr="Editable shape; source id u4"/>
          <p:cNvSpPr/>
          <p:nvPr/>
        </p:nvSpPr>
        <p:spPr>
          <a:xfrm>
            <a:off x="10128249" y="6008687"/>
            <a:ext cx="1857374" cy="809624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9843">
            <a:solidFill>
              <a:srgbClr val="4A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u4_t" descr="Editable text; source id u4_t"/>
          <p:cNvSpPr txBox="1"/>
          <p:nvPr/>
        </p:nvSpPr>
        <p:spPr>
          <a:xfrm>
            <a:off x="10207624" y="6088062"/>
            <a:ext cx="1698624" cy="650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划定研究范围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