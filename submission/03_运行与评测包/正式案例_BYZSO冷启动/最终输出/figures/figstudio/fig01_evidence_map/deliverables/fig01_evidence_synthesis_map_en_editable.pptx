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 · Applicability of different literature classes to the target compound (round 5, F02).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L" descr="Editable shape; source id zL"/>
          <p:cNvSpPr/>
          <p:nvPr/>
        </p:nvSpPr>
        <p:spPr>
          <a:xfrm>
            <a:off x="873124" y="396874"/>
            <a:ext cx="3667124" cy="6397624"/>
          </a:xfrm>
          <a:prstGeom prst="roundRect">
            <a:avLst>
              <a:gd name="adj" fmla="val 3030"/>
            </a:avLst>
          </a:prstGeom>
          <a:solidFill>
            <a:srgbClr val="EEF2F7"/>
          </a:solidFill>
          <a:ln w="12699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L_l" descr="Editable text; source id zL_l"/>
          <p:cNvSpPr txBox="1"/>
          <p:nvPr/>
        </p:nvSpPr>
        <p:spPr>
          <a:xfrm>
            <a:off x="1015999" y="476249"/>
            <a:ext cx="2595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Literature Evidence</a:t>
            </a:r>
          </a:p>
        </p:txBody>
      </p:sp>
      <p:sp>
        <p:nvSpPr>
          <p:cNvPr id="4" name="zE" descr="Editable shape; source id zE"/>
          <p:cNvSpPr/>
          <p:nvPr/>
        </p:nvSpPr>
        <p:spPr>
          <a:xfrm>
            <a:off x="4698999" y="396874"/>
            <a:ext cx="3492499" cy="6397624"/>
          </a:xfrm>
          <a:prstGeom prst="roundRect">
            <a:avLst>
              <a:gd name="adj" fmla="val 3181"/>
            </a:avLst>
          </a:prstGeom>
          <a:solidFill>
            <a:srgbClr val="E6F2F3"/>
          </a:solidFill>
          <a:ln w="12699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E_l" descr="Editable text; source id zE_l"/>
          <p:cNvSpPr txBox="1"/>
          <p:nvPr/>
        </p:nvSpPr>
        <p:spPr>
          <a:xfrm>
            <a:off x="4841874" y="476249"/>
            <a:ext cx="2468562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Experimental Items</a:t>
            </a:r>
          </a:p>
        </p:txBody>
      </p:sp>
      <p:sp>
        <p:nvSpPr>
          <p:cNvPr id="6" name="zQ" descr="Editable shape; source id zQ"/>
          <p:cNvSpPr/>
          <p:nvPr/>
        </p:nvSpPr>
        <p:spPr>
          <a:xfrm>
            <a:off x="8350249" y="396874"/>
            <a:ext cx="3635374" cy="6397624"/>
          </a:xfrm>
          <a:prstGeom prst="roundRect">
            <a:avLst>
              <a:gd name="adj" fmla="val 3056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Q_l" descr="Editable text; source id zQ_l"/>
          <p:cNvSpPr txBox="1"/>
          <p:nvPr/>
        </p:nvSpPr>
        <p:spPr>
          <a:xfrm>
            <a:off x="8493124" y="476249"/>
            <a:ext cx="273049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06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624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Answerable Questions</a:t>
            </a:r>
          </a:p>
        </p:txBody>
      </p:sp>
      <p:sp>
        <p:nvSpPr>
          <p:cNvPr id="8" name="a1" descr="Editable shape; source id a1"/>
          <p:cNvSpPr/>
          <p:nvPr/>
        </p:nvSpPr>
        <p:spPr>
          <a:xfrm>
            <a:off x="1031874" y="1190624"/>
            <a:ext cx="3333749" cy="80962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1_b" descr="Editable shape; source id a1_b"/>
          <p:cNvSpPr/>
          <p:nvPr/>
        </p:nvSpPr>
        <p:spPr>
          <a:xfrm>
            <a:off x="1031874" y="1190624"/>
            <a:ext cx="63499" cy="80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1_g_s0" descr="Editable shape; source id a1_g_s0"/>
          <p:cNvSpPr/>
          <p:nvPr/>
        </p:nvSpPr>
        <p:spPr>
          <a:xfrm>
            <a:off x="1277937" y="1484312"/>
            <a:ext cx="150812" cy="230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a1_g_l1" descr="Editable line; source id a1_g_l1"/>
          <p:cNvCxnSpPr/>
          <p:nvPr/>
        </p:nvCxnSpPr>
        <p:spPr>
          <a:xfrm>
            <a:off x="1317624" y="1563687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a1_g_l2" descr="Editable line; source id a1_g_l2"/>
          <p:cNvCxnSpPr/>
          <p:nvPr/>
        </p:nvCxnSpPr>
        <p:spPr>
          <a:xfrm>
            <a:off x="1317624" y="1611312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a1_g_l3" descr="Editable line; source id a1_g_l3"/>
          <p:cNvCxnSpPr/>
          <p:nvPr/>
        </p:nvCxnSpPr>
        <p:spPr>
          <a:xfrm>
            <a:off x="1317624" y="1650999"/>
            <a:ext cx="7143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1_t" descr="Editable text; source id a1_t"/>
          <p:cNvSpPr txBox="1"/>
          <p:nvPr/>
        </p:nvSpPr>
        <p:spPr>
          <a:xfrm>
            <a:off x="1635124" y="1428749"/>
            <a:ext cx="2603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475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475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Direct Reports on Target</a:t>
            </a:r>
          </a:p>
        </p:txBody>
      </p:sp>
      <p:sp>
        <p:nvSpPr>
          <p:cNvPr id="15" name="a2" descr="Editable shape; source id a2"/>
          <p:cNvSpPr/>
          <p:nvPr/>
        </p:nvSpPr>
        <p:spPr>
          <a:xfrm>
            <a:off x="1031874" y="2079624"/>
            <a:ext cx="3333749" cy="80962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2_b" descr="Editable shape; source id a2_b"/>
          <p:cNvSpPr/>
          <p:nvPr/>
        </p:nvSpPr>
        <p:spPr>
          <a:xfrm>
            <a:off x="1031874" y="2079624"/>
            <a:ext cx="63499" cy="80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a2_g_o_0" descr="Editable line; source id a2_g_o_0"/>
          <p:cNvCxnSpPr/>
          <p:nvPr/>
        </p:nvCxnSpPr>
        <p:spPr>
          <a:xfrm>
            <a:off x="1381124" y="2349499"/>
            <a:ext cx="12700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a2_g_o_1" descr="Editable line; source id a2_g_o_1"/>
          <p:cNvCxnSpPr/>
          <p:nvPr/>
        </p:nvCxnSpPr>
        <p:spPr>
          <a:xfrm flipH="1">
            <a:off x="1452562" y="2436812"/>
            <a:ext cx="55562" cy="166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a2_g_o_2" descr="Editable line; source id a2_g_o_2"/>
          <p:cNvCxnSpPr/>
          <p:nvPr/>
        </p:nvCxnSpPr>
        <p:spPr>
          <a:xfrm flipH="1">
            <a:off x="1309687" y="2603499"/>
            <a:ext cx="142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a2_g_o_3" descr="Editable line; source id a2_g_o_3"/>
          <p:cNvCxnSpPr/>
          <p:nvPr/>
        </p:nvCxnSpPr>
        <p:spPr>
          <a:xfrm flipH="1" flipV="1">
            <a:off x="1254124" y="2436812"/>
            <a:ext cx="55563" cy="16668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a2_g_o_4" descr="Editable line; source id a2_g_o_4"/>
          <p:cNvCxnSpPr/>
          <p:nvPr/>
        </p:nvCxnSpPr>
        <p:spPr>
          <a:xfrm flipV="1">
            <a:off x="1254124" y="2349499"/>
            <a:ext cx="12700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a2_g_a" descr="Editable line; source id a2_g_a"/>
          <p:cNvCxnSpPr/>
          <p:nvPr/>
        </p:nvCxnSpPr>
        <p:spPr>
          <a:xfrm>
            <a:off x="1381124" y="2349499"/>
            <a:ext cx="0" cy="254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a2_g_b" descr="Editable line; source id a2_g_b"/>
          <p:cNvCxnSpPr/>
          <p:nvPr/>
        </p:nvCxnSpPr>
        <p:spPr>
          <a:xfrm>
            <a:off x="1254124" y="2436812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2_t" descr="Editable text; source id a2_t"/>
          <p:cNvSpPr txBox="1"/>
          <p:nvPr/>
        </p:nvSpPr>
        <p:spPr>
          <a:xfrm>
            <a:off x="1635124" y="2317749"/>
            <a:ext cx="2603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374"/>
              </a:lnSpc>
              <a:spcBef>
                <a:spcPts val="0"/>
              </a:spcBef>
              <a:spcAft>
                <a:spcPts val="0"/>
              </a:spcAft>
              <a:defRPr sz="1163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163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Same Ba–Y Tetragonal Silicates</a:t>
            </a:r>
          </a:p>
        </p:txBody>
      </p:sp>
      <p:sp>
        <p:nvSpPr>
          <p:cNvPr id="25" name="a3" descr="Editable shape; source id a3"/>
          <p:cNvSpPr/>
          <p:nvPr/>
        </p:nvSpPr>
        <p:spPr>
          <a:xfrm>
            <a:off x="1031874" y="2968624"/>
            <a:ext cx="3333749" cy="80962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3_b" descr="Editable shape; source id a3_b"/>
          <p:cNvSpPr/>
          <p:nvPr/>
        </p:nvSpPr>
        <p:spPr>
          <a:xfrm>
            <a:off x="1031874" y="2968624"/>
            <a:ext cx="63499" cy="80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a3_g_h0" descr="Editable line; source id a3_g_h0"/>
          <p:cNvCxnSpPr/>
          <p:nvPr/>
        </p:nvCxnSpPr>
        <p:spPr>
          <a:xfrm>
            <a:off x="1277937" y="3270249"/>
            <a:ext cx="206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a3_g_v0" descr="Editable line; source id a3_g_v0"/>
          <p:cNvCxnSpPr/>
          <p:nvPr/>
        </p:nvCxnSpPr>
        <p:spPr>
          <a:xfrm>
            <a:off x="1277937" y="3270249"/>
            <a:ext cx="0" cy="206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a3_g_h1" descr="Editable line; source id a3_g_h1"/>
          <p:cNvCxnSpPr/>
          <p:nvPr/>
        </p:nvCxnSpPr>
        <p:spPr>
          <a:xfrm>
            <a:off x="1277937" y="3373437"/>
            <a:ext cx="206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a3_g_v1" descr="Editable line; source id a3_g_v1"/>
          <p:cNvCxnSpPr/>
          <p:nvPr/>
        </p:nvCxnSpPr>
        <p:spPr>
          <a:xfrm>
            <a:off x="1381124" y="3270249"/>
            <a:ext cx="0" cy="206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a3_g_h2" descr="Editable line; source id a3_g_h2"/>
          <p:cNvCxnSpPr/>
          <p:nvPr/>
        </p:nvCxnSpPr>
        <p:spPr>
          <a:xfrm>
            <a:off x="1277937" y="3476624"/>
            <a:ext cx="2063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a3_g_v2" descr="Editable line; source id a3_g_v2"/>
          <p:cNvCxnSpPr/>
          <p:nvPr/>
        </p:nvCxnSpPr>
        <p:spPr>
          <a:xfrm>
            <a:off x="1484312" y="3270249"/>
            <a:ext cx="0" cy="20637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3_g_d00" descr="Editable shape; source id a3_g_d00"/>
          <p:cNvSpPr/>
          <p:nvPr/>
        </p:nvSpPr>
        <p:spPr>
          <a:xfrm>
            <a:off x="1254124" y="324643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3_g_d01" descr="Editable shape; source id a3_g_d01"/>
          <p:cNvSpPr/>
          <p:nvPr/>
        </p:nvSpPr>
        <p:spPr>
          <a:xfrm>
            <a:off x="1254124" y="3349624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3_g_d02" descr="Editable shape; source id a3_g_d02"/>
          <p:cNvSpPr/>
          <p:nvPr/>
        </p:nvSpPr>
        <p:spPr>
          <a:xfrm>
            <a:off x="1254124" y="3452812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3_g_d10" descr="Editable shape; source id a3_g_d10"/>
          <p:cNvSpPr/>
          <p:nvPr/>
        </p:nvSpPr>
        <p:spPr>
          <a:xfrm>
            <a:off x="1357312" y="324643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3_g_d11" descr="Editable shape; source id a3_g_d11"/>
          <p:cNvSpPr/>
          <p:nvPr/>
        </p:nvSpPr>
        <p:spPr>
          <a:xfrm>
            <a:off x="1357312" y="3349624"/>
            <a:ext cx="47624" cy="47624"/>
          </a:xfrm>
          <a:prstGeom prst="ellipse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3_g_d12" descr="Editable shape; source id a3_g_d12"/>
          <p:cNvSpPr/>
          <p:nvPr/>
        </p:nvSpPr>
        <p:spPr>
          <a:xfrm>
            <a:off x="1357312" y="3452812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a3_g_d20" descr="Editable shape; source id a3_g_d20"/>
          <p:cNvSpPr/>
          <p:nvPr/>
        </p:nvSpPr>
        <p:spPr>
          <a:xfrm>
            <a:off x="1460499" y="3246437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a3_g_d21" descr="Editable shape; source id a3_g_d21"/>
          <p:cNvSpPr/>
          <p:nvPr/>
        </p:nvSpPr>
        <p:spPr>
          <a:xfrm>
            <a:off x="1460499" y="3349624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3_g_d22" descr="Editable shape; source id a3_g_d22"/>
          <p:cNvSpPr/>
          <p:nvPr/>
        </p:nvSpPr>
        <p:spPr>
          <a:xfrm>
            <a:off x="1460499" y="3452812"/>
            <a:ext cx="47624" cy="47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3_t" descr="Editable text; source id a3_t"/>
          <p:cNvSpPr txBox="1"/>
          <p:nvPr/>
        </p:nvSpPr>
        <p:spPr>
          <a:xfrm>
            <a:off x="1635124" y="3206749"/>
            <a:ext cx="2603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531"/>
              </a:lnSpc>
              <a:spcBef>
                <a:spcPts val="0"/>
              </a:spcBef>
              <a:spcAft>
                <a:spcPts val="0"/>
              </a:spcAft>
              <a:defRPr sz="130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309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Crystal-Chemical Neighbors</a:t>
            </a:r>
          </a:p>
        </p:txBody>
      </p:sp>
      <p:sp>
        <p:nvSpPr>
          <p:cNvPr id="43" name="a4" descr="Editable shape; source id a4"/>
          <p:cNvSpPr/>
          <p:nvPr/>
        </p:nvSpPr>
        <p:spPr>
          <a:xfrm>
            <a:off x="1031874" y="3857624"/>
            <a:ext cx="3333749" cy="80962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5081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4_b" descr="Editable shape; source id a4_b"/>
          <p:cNvSpPr/>
          <p:nvPr/>
        </p:nvSpPr>
        <p:spPr>
          <a:xfrm>
            <a:off x="1031874" y="3857624"/>
            <a:ext cx="63499" cy="80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a4_g_b_0" descr="Editable line; source id a4_g_b_0"/>
          <p:cNvCxnSpPr/>
          <p:nvPr/>
        </p:nvCxnSpPr>
        <p:spPr>
          <a:xfrm>
            <a:off x="1293812" y="4198937"/>
            <a:ext cx="3175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a4_g_b_1" descr="Editable line; source id a4_g_b_1"/>
          <p:cNvCxnSpPr/>
          <p:nvPr/>
        </p:nvCxnSpPr>
        <p:spPr>
          <a:xfrm>
            <a:off x="1325562" y="4373562"/>
            <a:ext cx="11112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a4_g_b_2" descr="Editable line; source id a4_g_b_2"/>
          <p:cNvCxnSpPr/>
          <p:nvPr/>
        </p:nvCxnSpPr>
        <p:spPr>
          <a:xfrm flipV="1">
            <a:off x="1436687" y="4198937"/>
            <a:ext cx="31750" cy="174625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a4_g_r" descr="Editable line; source id a4_g_r"/>
          <p:cNvCxnSpPr/>
          <p:nvPr/>
        </p:nvCxnSpPr>
        <p:spPr>
          <a:xfrm>
            <a:off x="1269999" y="4198937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a4_t" descr="Editable text; source id a4_t"/>
          <p:cNvSpPr txBox="1"/>
          <p:nvPr/>
        </p:nvSpPr>
        <p:spPr>
          <a:xfrm>
            <a:off x="1635124" y="4095749"/>
            <a:ext cx="260349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593"/>
              </a:lnSpc>
              <a:spcBef>
                <a:spcPts val="0"/>
              </a:spcBef>
              <a:spcAft>
                <a:spcPts val="0"/>
              </a:spcAft>
              <a:defRPr sz="13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defRPr>
            </a:pPr>
            <a:r>
              <a:rPr sz="1362" b="1" i="0" lang="zh-CN" dirty="0">
                <a:solidFill>
                  <a:srgbClr val="2B3E57"/>
                </a:solidFill>
                <a:latin typeface="DejaVu Sans"/>
                <a:ea typeface="DejaVu Sans"/>
                <a:cs typeface="DejaVu Sans"/>
              </a:rPr>
              <a:t>Process Reference Studies</a:t>
            </a:r>
          </a:p>
        </p:txBody>
      </p:sp>
      <p:sp>
        <p:nvSpPr>
          <p:cNvPr id="50" name="a5" descr="Editable shape; source id a5"/>
          <p:cNvSpPr/>
          <p:nvPr/>
        </p:nvSpPr>
        <p:spPr>
          <a:xfrm>
            <a:off x="1031874" y="5556249"/>
            <a:ext cx="3333749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5081">
            <a:solidFill>
              <a:srgbClr val="9AA3AB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a5_g_s0" descr="Editable shape; source id a5_g_s0"/>
          <p:cNvSpPr/>
          <p:nvPr/>
        </p:nvSpPr>
        <p:spPr>
          <a:xfrm>
            <a:off x="1293812" y="5889624"/>
            <a:ext cx="150812" cy="230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a5_g_l1" descr="Editable line; source id a5_g_l1"/>
          <p:cNvCxnSpPr/>
          <p:nvPr/>
        </p:nvCxnSpPr>
        <p:spPr>
          <a:xfrm>
            <a:off x="1333499" y="5968999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a5_g_l2" descr="Editable line; source id a5_g_l2"/>
          <p:cNvCxnSpPr/>
          <p:nvPr/>
        </p:nvCxnSpPr>
        <p:spPr>
          <a:xfrm>
            <a:off x="1333499" y="6016624"/>
            <a:ext cx="10318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a5_g_l3" descr="Editable line; source id a5_g_l3"/>
          <p:cNvCxnSpPr/>
          <p:nvPr/>
        </p:nvCxnSpPr>
        <p:spPr>
          <a:xfrm>
            <a:off x="1333499" y="6056312"/>
            <a:ext cx="71438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a5_g_x" descr="Editable line; source id a5_g_x"/>
          <p:cNvCxnSpPr/>
          <p:nvPr/>
        </p:nvCxnSpPr>
        <p:spPr>
          <a:xfrm flipV="1">
            <a:off x="1285874" y="5873749"/>
            <a:ext cx="222250" cy="254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a5_t" descr="Editable text; source id a5_t"/>
          <p:cNvSpPr txBox="1"/>
          <p:nvPr/>
        </p:nvSpPr>
        <p:spPr>
          <a:xfrm>
            <a:off x="1650999" y="5841999"/>
            <a:ext cx="2571749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rPr>
              <a:t>Outside Study Scope</a:t>
            </a:r>
          </a:p>
        </p:txBody>
      </p:sp>
      <p:sp>
        <p:nvSpPr>
          <p:cNvPr id="57" name="ax_u" descr="Editable line; source id ax_u"/>
          <p:cNvSpPr/>
          <p:nvPr/>
        </p:nvSpPr>
        <p:spPr>
          <a:xfrm>
            <a:off x="448469" y="1381125"/>
            <a:ext cx="87312" cy="2103437"/>
          </a:xfrm>
          <a:custGeom>
            <a:avLst/>
            <a:gdLst/>
            <a:ahLst/>
            <a:cxnLst/>
            <a:rect l="l" t="t" r="r" b="b"/>
            <a:pathLst>
              <a:path w="11000" h="265000">
                <a:moveTo>
                  <a:pt x="4400" y="265000"/>
                </a:moveTo>
                <a:lnTo>
                  <a:pt x="4400" y="14000"/>
                </a:lnTo>
                <a:lnTo>
                  <a:pt x="0" y="14000"/>
                </a:lnTo>
                <a:lnTo>
                  <a:pt x="5500" y="0"/>
                </a:lnTo>
                <a:lnTo>
                  <a:pt x="11000" y="14000"/>
                </a:lnTo>
                <a:lnTo>
                  <a:pt x="6600" y="14000"/>
                </a:lnTo>
                <a:lnTo>
                  <a:pt x="6600" y="265000"/>
                </a:lnTo>
                <a:close/>
              </a:path>
            </a:pathLst>
          </a:custGeom>
          <a:solidFill>
            <a:srgbClr val="27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ax_d" descr="Editable line; source id ax_d"/>
          <p:cNvSpPr/>
          <p:nvPr/>
        </p:nvSpPr>
        <p:spPr>
          <a:xfrm>
            <a:off x="448469" y="4151312"/>
            <a:ext cx="87312" cy="2103437"/>
          </a:xfrm>
          <a:custGeom>
            <a:avLst/>
            <a:gdLst/>
            <a:ahLst/>
            <a:cxnLst/>
            <a:rect l="l" t="t" r="r" b="b"/>
            <a:pathLst>
              <a:path w="11000" h="265000">
                <a:moveTo>
                  <a:pt x="6600" y="0"/>
                </a:moveTo>
                <a:lnTo>
                  <a:pt x="6600" y="251000"/>
                </a:lnTo>
                <a:lnTo>
                  <a:pt x="11000" y="251000"/>
                </a:lnTo>
                <a:lnTo>
                  <a:pt x="5500" y="265000"/>
                </a:lnTo>
                <a:lnTo>
                  <a:pt x="0" y="251000"/>
                </a:lnTo>
                <a:lnTo>
                  <a:pt x="4400" y="251000"/>
                </a:lnTo>
                <a:lnTo>
                  <a:pt x="4400" y="0"/>
                </a:lnTo>
                <a:close/>
              </a:path>
            </a:pathLst>
          </a:custGeom>
          <a:solidFill>
            <a:srgbClr val="27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ax_n" descr="Editable text; source id ax_n"/>
          <p:cNvSpPr txBox="1"/>
          <p:nvPr/>
        </p:nvSpPr>
        <p:spPr>
          <a:xfrm>
            <a:off x="301624" y="1095374"/>
            <a:ext cx="380999" cy="269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96"/>
              </a:lnSpc>
              <a:spcBef>
                <a:spcPts val="0"/>
              </a:spcBef>
              <a:spcAft>
                <a:spcPts val="0"/>
              </a:spcAft>
              <a:defRPr sz="1106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06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Near</a:t>
            </a:r>
          </a:p>
        </p:txBody>
      </p:sp>
      <p:sp>
        <p:nvSpPr>
          <p:cNvPr id="60" name="ax_f" descr="Editable text; source id ax_f"/>
          <p:cNvSpPr txBox="1"/>
          <p:nvPr/>
        </p:nvSpPr>
        <p:spPr>
          <a:xfrm>
            <a:off x="301624" y="6254749"/>
            <a:ext cx="380999" cy="269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124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Far</a:t>
            </a:r>
          </a:p>
        </p:txBody>
      </p:sp>
      <p:sp>
        <p:nvSpPr>
          <p:cNvPr id="61" name="ax_l" descr="Editable text; source id ax_l"/>
          <p:cNvSpPr txBox="1"/>
          <p:nvPr/>
        </p:nvSpPr>
        <p:spPr>
          <a:xfrm rot="16200000">
            <a:off x="-261937" y="3698874"/>
            <a:ext cx="1190624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937"/>
              </a:lnSpc>
              <a:spcBef>
                <a:spcPts val="0"/>
              </a:spcBef>
              <a:spcAft>
                <a:spcPts val="0"/>
              </a:spcAft>
              <a:defRPr sz="793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793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Distance from target</a:t>
            </a:r>
          </a:p>
        </p:txBody>
      </p:sp>
      <p:sp>
        <p:nvSpPr>
          <p:cNvPr id="62" name="led" descr="Editable shape; source id led"/>
          <p:cNvSpPr/>
          <p:nvPr/>
        </p:nvSpPr>
        <p:spPr>
          <a:xfrm>
            <a:off x="4921249" y="1190624"/>
            <a:ext cx="3032124" cy="4286249"/>
          </a:xfrm>
          <a:prstGeom prst="roundRect">
            <a:avLst>
              <a:gd name="adj" fmla="val 2356"/>
            </a:avLst>
          </a:prstGeom>
          <a:solidFill>
            <a:srgbClr val="FFFFFF"/>
          </a:solidFill>
          <a:ln w="15081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led_b" descr="Editable shape; source id led_b"/>
          <p:cNvSpPr/>
          <p:nvPr/>
        </p:nvSpPr>
        <p:spPr>
          <a:xfrm>
            <a:off x="4921249" y="1190624"/>
            <a:ext cx="87312" cy="4286249"/>
          </a:xfrm>
          <a:prstGeom prst="roundRect">
            <a:avLst>
              <a:gd name="adj" fmla="val 27272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led_g_b" descr="Editable shape; source id led_g_b"/>
          <p:cNvSpPr/>
          <p:nvPr/>
        </p:nvSpPr>
        <p:spPr>
          <a:xfrm>
            <a:off x="5183187" y="1476374"/>
            <a:ext cx="261937" cy="230187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led_g_r1" descr="Editable line; source id led_g_r1"/>
          <p:cNvCxnSpPr/>
          <p:nvPr/>
        </p:nvCxnSpPr>
        <p:spPr>
          <a:xfrm>
            <a:off x="5183187" y="1555749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led_g_r2" descr="Editable line; source id led_g_r2"/>
          <p:cNvCxnSpPr/>
          <p:nvPr/>
        </p:nvCxnSpPr>
        <p:spPr>
          <a:xfrm>
            <a:off x="5183187" y="1627187"/>
            <a:ext cx="269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led_g_c1" descr="Editable line; source id led_g_c1"/>
          <p:cNvCxnSpPr/>
          <p:nvPr/>
        </p:nvCxnSpPr>
        <p:spPr>
          <a:xfrm>
            <a:off x="5270499" y="1476374"/>
            <a:ext cx="0" cy="230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led_g_c2" descr="Editable line; source id led_g_c2"/>
          <p:cNvCxnSpPr/>
          <p:nvPr/>
        </p:nvCxnSpPr>
        <p:spPr>
          <a:xfrm>
            <a:off x="5365749" y="1476374"/>
            <a:ext cx="0" cy="2301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led_t" descr="Editable text; source id led_t"/>
          <p:cNvSpPr txBox="1"/>
          <p:nvPr/>
        </p:nvSpPr>
        <p:spPr>
          <a:xfrm>
            <a:off x="5587999" y="1412874"/>
            <a:ext cx="2238374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359"/>
              </a:lnSpc>
              <a:spcBef>
                <a:spcPts val="0"/>
              </a:spcBef>
              <a:spcAft>
                <a:spcPts val="0"/>
              </a:spcAft>
              <a:defRPr sz="1146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146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Compared on Shared Items</a:t>
            </a:r>
          </a:p>
        </p:txBody>
      </p:sp>
      <p:sp>
        <p:nvSpPr>
          <p:cNvPr id="70" name="ledr_r0" descr="Editable shape; source id ledr_r0"/>
          <p:cNvSpPr/>
          <p:nvPr/>
        </p:nvSpPr>
        <p:spPr>
          <a:xfrm>
            <a:off x="5143499" y="1968499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ledr_c0_b" descr="Editable shape; source id ledr_c0_b"/>
          <p:cNvSpPr/>
          <p:nvPr/>
        </p:nvSpPr>
        <p:spPr>
          <a:xfrm>
            <a:off x="5254624" y="2135187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ledr_c0_k_0" descr="Editable line; source id ledr_c0_k_0"/>
          <p:cNvCxnSpPr/>
          <p:nvPr/>
        </p:nvCxnSpPr>
        <p:spPr>
          <a:xfrm>
            <a:off x="5286374" y="2214562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ledr_c0_k_1" descr="Editable line; source id ledr_c0_k_1"/>
          <p:cNvCxnSpPr/>
          <p:nvPr/>
        </p:nvCxnSpPr>
        <p:spPr>
          <a:xfrm flipV="1">
            <a:off x="5318124" y="2174874"/>
            <a:ext cx="55563" cy="7143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ledr_x0" descr="Editable text; source id ledr_x0"/>
          <p:cNvSpPr txBox="1"/>
          <p:nvPr/>
        </p:nvSpPr>
        <p:spPr>
          <a:xfrm>
            <a:off x="5508624" y="2071687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453"/>
              </a:lnSpc>
              <a:spcBef>
                <a:spcPts val="0"/>
              </a:spcBef>
              <a:spcAft>
                <a:spcPts val="0"/>
              </a:spcAft>
              <a:defRPr sz="123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37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Ratio and raw materials</a:t>
            </a:r>
          </a:p>
        </p:txBody>
      </p:sp>
      <p:sp>
        <p:nvSpPr>
          <p:cNvPr id="75" name="ledr_r1" descr="Editable shape; source id ledr_r1"/>
          <p:cNvSpPr/>
          <p:nvPr/>
        </p:nvSpPr>
        <p:spPr>
          <a:xfrm>
            <a:off x="5143499" y="2532062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ledr_c1_b" descr="Editable shape; source id ledr_c1_b"/>
          <p:cNvSpPr/>
          <p:nvPr/>
        </p:nvSpPr>
        <p:spPr>
          <a:xfrm>
            <a:off x="5254624" y="2698749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ledr_c1_k_0" descr="Editable line; source id ledr_c1_k_0"/>
          <p:cNvCxnSpPr/>
          <p:nvPr/>
        </p:nvCxnSpPr>
        <p:spPr>
          <a:xfrm>
            <a:off x="5286374" y="2770187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ledr_c1_k_1" descr="Editable line; source id ledr_c1_k_1"/>
          <p:cNvCxnSpPr/>
          <p:nvPr/>
        </p:nvCxnSpPr>
        <p:spPr>
          <a:xfrm flipV="1">
            <a:off x="5318124" y="2738437"/>
            <a:ext cx="55563" cy="6350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ledr_x1" descr="Editable text; source id ledr_x1"/>
          <p:cNvSpPr txBox="1"/>
          <p:nvPr/>
        </p:nvSpPr>
        <p:spPr>
          <a:xfrm>
            <a:off x="5508624" y="2627312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Thermal history</a:t>
            </a:r>
          </a:p>
        </p:txBody>
      </p:sp>
      <p:sp>
        <p:nvSpPr>
          <p:cNvPr id="80" name="ledr_r2" descr="Editable shape; source id ledr_r2"/>
          <p:cNvSpPr/>
          <p:nvPr/>
        </p:nvSpPr>
        <p:spPr>
          <a:xfrm>
            <a:off x="5143499" y="3087687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ledr_c2_b" descr="Editable shape; source id ledr_c2_b"/>
          <p:cNvSpPr/>
          <p:nvPr/>
        </p:nvSpPr>
        <p:spPr>
          <a:xfrm>
            <a:off x="5254624" y="3254374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ledr_c2_k_0" descr="Editable line; source id ledr_c2_k_0"/>
          <p:cNvCxnSpPr/>
          <p:nvPr/>
        </p:nvCxnSpPr>
        <p:spPr>
          <a:xfrm>
            <a:off x="5286374" y="3333749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ledr_c2_k_1" descr="Editable line; source id ledr_c2_k_1"/>
          <p:cNvCxnSpPr/>
          <p:nvPr/>
        </p:nvCxnSpPr>
        <p:spPr>
          <a:xfrm flipV="1">
            <a:off x="5318124" y="3294062"/>
            <a:ext cx="55563" cy="71437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ledr_x2" descr="Editable text; source id ledr_x2"/>
          <p:cNvSpPr txBox="1"/>
          <p:nvPr/>
        </p:nvSpPr>
        <p:spPr>
          <a:xfrm>
            <a:off x="5508624" y="3190874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Atmosphere</a:t>
            </a:r>
          </a:p>
        </p:txBody>
      </p:sp>
      <p:sp>
        <p:nvSpPr>
          <p:cNvPr id="85" name="ledr_r3" descr="Editable shape; source id ledr_r3"/>
          <p:cNvSpPr/>
          <p:nvPr/>
        </p:nvSpPr>
        <p:spPr>
          <a:xfrm>
            <a:off x="5143499" y="3651249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ledr_c3_b" descr="Editable shape; source id ledr_c3_b"/>
          <p:cNvSpPr/>
          <p:nvPr/>
        </p:nvSpPr>
        <p:spPr>
          <a:xfrm>
            <a:off x="5254624" y="3817937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ledr_c3_k_0" descr="Editable line; source id ledr_c3_k_0"/>
          <p:cNvCxnSpPr/>
          <p:nvPr/>
        </p:nvCxnSpPr>
        <p:spPr>
          <a:xfrm>
            <a:off x="5286374" y="3897312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ledr_c3_k_1" descr="Editable line; source id ledr_c3_k_1"/>
          <p:cNvCxnSpPr/>
          <p:nvPr/>
        </p:nvCxnSpPr>
        <p:spPr>
          <a:xfrm flipV="1">
            <a:off x="5318124" y="3857624"/>
            <a:ext cx="55563" cy="71438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ledr_x3" descr="Editable text; source id ledr_x3"/>
          <p:cNvSpPr txBox="1"/>
          <p:nvPr/>
        </p:nvSpPr>
        <p:spPr>
          <a:xfrm>
            <a:off x="5508624" y="3754437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Crucible and flux</a:t>
            </a:r>
          </a:p>
        </p:txBody>
      </p:sp>
      <p:sp>
        <p:nvSpPr>
          <p:cNvPr id="90" name="ledr_r4" descr="Editable shape; source id ledr_r4"/>
          <p:cNvSpPr/>
          <p:nvPr/>
        </p:nvSpPr>
        <p:spPr>
          <a:xfrm>
            <a:off x="5143499" y="4214812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edr_c4_b" descr="Editable shape; source id ledr_c4_b"/>
          <p:cNvSpPr/>
          <p:nvPr/>
        </p:nvSpPr>
        <p:spPr>
          <a:xfrm>
            <a:off x="5254624" y="4381499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ledr_c4_k_0" descr="Editable line; source id ledr_c4_k_0"/>
          <p:cNvCxnSpPr/>
          <p:nvPr/>
        </p:nvCxnSpPr>
        <p:spPr>
          <a:xfrm>
            <a:off x="5286374" y="4452937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ledr_c4_k_1" descr="Editable line; source id ledr_c4_k_1"/>
          <p:cNvCxnSpPr/>
          <p:nvPr/>
        </p:nvCxnSpPr>
        <p:spPr>
          <a:xfrm flipV="1">
            <a:off x="5318124" y="4421187"/>
            <a:ext cx="55563" cy="6350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ledr_x4" descr="Editable text; source id ledr_x4"/>
          <p:cNvSpPr txBox="1"/>
          <p:nvPr/>
        </p:nvSpPr>
        <p:spPr>
          <a:xfrm>
            <a:off x="5508624" y="4317999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Cooling and separation</a:t>
            </a:r>
          </a:p>
        </p:txBody>
      </p:sp>
      <p:sp>
        <p:nvSpPr>
          <p:cNvPr id="95" name="ledr_r5" descr="Editable shape; source id ledr_r5"/>
          <p:cNvSpPr/>
          <p:nvPr/>
        </p:nvSpPr>
        <p:spPr>
          <a:xfrm>
            <a:off x="5143499" y="4770437"/>
            <a:ext cx="2619374" cy="484187"/>
          </a:xfrm>
          <a:prstGeom prst="roundRect">
            <a:avLst>
              <a:gd name="adj" fmla="val 9836"/>
            </a:avLst>
          </a:prstGeom>
          <a:solidFill>
            <a:srgbClr val="F4F7FA"/>
          </a:solidFill>
          <a:ln w="12699">
            <a:solidFill>
              <a:srgbClr val="AEBB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edr_c5_b" descr="Editable shape; source id ledr_c5_b"/>
          <p:cNvSpPr/>
          <p:nvPr/>
        </p:nvSpPr>
        <p:spPr>
          <a:xfrm>
            <a:off x="5254624" y="4937124"/>
            <a:ext cx="142874" cy="142874"/>
          </a:xfrm>
          <a:prstGeom prst="rect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ledr_c5_k_0" descr="Editable line; source id ledr_c5_k_0"/>
          <p:cNvCxnSpPr/>
          <p:nvPr/>
        </p:nvCxnSpPr>
        <p:spPr>
          <a:xfrm>
            <a:off x="5286374" y="5016499"/>
            <a:ext cx="31750" cy="31750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ledr_c5_k_1" descr="Editable line; source id ledr_c5_k_1"/>
          <p:cNvCxnSpPr/>
          <p:nvPr/>
        </p:nvCxnSpPr>
        <p:spPr>
          <a:xfrm flipV="1">
            <a:off x="5318124" y="4976812"/>
            <a:ext cx="55563" cy="71437"/>
          </a:xfrm>
          <a:prstGeom prst="line">
            <a:avLst/>
          </a:prstGeom>
          <a:ln w="23681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ledr_x5" descr="Editable text; source id ledr_x5"/>
          <p:cNvSpPr txBox="1"/>
          <p:nvPr/>
        </p:nvSpPr>
        <p:spPr>
          <a:xfrm>
            <a:off x="5508624" y="4873624"/>
            <a:ext cx="2127249" cy="2778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468"/>
              </a:lnSpc>
              <a:spcBef>
                <a:spcPts val="0"/>
              </a:spcBef>
              <a:spcAft>
                <a:spcPts val="0"/>
              </a:spcAft>
              <a:def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249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Characterization</a:t>
            </a:r>
          </a:p>
        </p:txBody>
      </p:sp>
      <p:sp>
        <p:nvSpPr>
          <p:cNvPr id="100" name="u1" descr="Editable shape; source id u1"/>
          <p:cNvSpPr/>
          <p:nvPr/>
        </p:nvSpPr>
        <p:spPr>
          <a:xfrm>
            <a:off x="8540749" y="1190624"/>
            <a:ext cx="3254374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u1_b" descr="Editable shape; source id u1_b"/>
          <p:cNvSpPr/>
          <p:nvPr/>
        </p:nvSpPr>
        <p:spPr>
          <a:xfrm>
            <a:off x="8540749" y="1190624"/>
            <a:ext cx="63499" cy="888999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u1_g_n_0" descr="Editable line; source id u1_g_n_0"/>
          <p:cNvCxnSpPr/>
          <p:nvPr/>
        </p:nvCxnSpPr>
        <p:spPr>
          <a:xfrm>
            <a:off x="8874124" y="1508124"/>
            <a:ext cx="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u1_g_n_1" descr="Editable line; source id u1_g_n_1"/>
          <p:cNvCxnSpPr/>
          <p:nvPr/>
        </p:nvCxnSpPr>
        <p:spPr>
          <a:xfrm flipH="1">
            <a:off x="8794749" y="1595437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u1_g_n_2" descr="Editable line; source id u1_g_n_2"/>
          <p:cNvCxnSpPr/>
          <p:nvPr/>
        </p:nvCxnSpPr>
        <p:spPr>
          <a:xfrm>
            <a:off x="8794749" y="1754187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u1_g_n_3" descr="Editable line; source id u1_g_n_3"/>
          <p:cNvCxnSpPr/>
          <p:nvPr/>
        </p:nvCxnSpPr>
        <p:spPr>
          <a:xfrm flipH="1" flipV="1">
            <a:off x="8937624" y="1595437"/>
            <a:ext cx="79375" cy="15875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u1_g_n_4" descr="Editable line; source id u1_g_n_4"/>
          <p:cNvCxnSpPr/>
          <p:nvPr/>
        </p:nvCxnSpPr>
        <p:spPr>
          <a:xfrm flipV="1">
            <a:off x="8937624" y="1508124"/>
            <a:ext cx="0" cy="8731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u1_g_m" descr="Editable line; source id u1_g_m"/>
          <p:cNvCxnSpPr/>
          <p:nvPr/>
        </p:nvCxnSpPr>
        <p:spPr>
          <a:xfrm>
            <a:off x="8858249" y="1508124"/>
            <a:ext cx="95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u1_g_d1" descr="Editable shape; source id u1_g_d1"/>
          <p:cNvSpPr/>
          <p:nvPr/>
        </p:nvSpPr>
        <p:spPr>
          <a:xfrm>
            <a:off x="8866187" y="1682749"/>
            <a:ext cx="23812" cy="23812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u1_g_d2" descr="Editable shape; source id u1_g_d2"/>
          <p:cNvSpPr/>
          <p:nvPr/>
        </p:nvSpPr>
        <p:spPr>
          <a:xfrm>
            <a:off x="8921749" y="1706562"/>
            <a:ext cx="15874" cy="15874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u1_t" descr="Editable text; source id u1_t"/>
          <p:cNvSpPr txBox="1"/>
          <p:nvPr/>
        </p:nvSpPr>
        <p:spPr>
          <a:xfrm>
            <a:off x="9159874" y="1476374"/>
            <a:ext cx="2492374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Direct Reproduction</a:t>
            </a:r>
          </a:p>
        </p:txBody>
      </p:sp>
      <p:sp>
        <p:nvSpPr>
          <p:cNvPr id="111" name="u2" descr="Editable shape; source id u2"/>
          <p:cNvSpPr/>
          <p:nvPr/>
        </p:nvSpPr>
        <p:spPr>
          <a:xfrm>
            <a:off x="8540749" y="2238374"/>
            <a:ext cx="3254374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u2_b" descr="Editable shape; source id u2_b"/>
          <p:cNvSpPr/>
          <p:nvPr/>
        </p:nvSpPr>
        <p:spPr>
          <a:xfrm>
            <a:off x="8540749" y="2238374"/>
            <a:ext cx="63499" cy="888999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" name="u2_g_o_0" descr="Editable line; source id u2_g_o_0"/>
          <p:cNvCxnSpPr/>
          <p:nvPr/>
        </p:nvCxnSpPr>
        <p:spPr>
          <a:xfrm>
            <a:off x="8905874" y="2547937"/>
            <a:ext cx="127000" cy="8731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u2_g_o_1" descr="Editable line; source id u2_g_o_1"/>
          <p:cNvCxnSpPr/>
          <p:nvPr/>
        </p:nvCxnSpPr>
        <p:spPr>
          <a:xfrm flipH="1">
            <a:off x="8977312" y="2635249"/>
            <a:ext cx="55562" cy="1666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u2_g_o_2" descr="Editable line; source id u2_g_o_2"/>
          <p:cNvCxnSpPr/>
          <p:nvPr/>
        </p:nvCxnSpPr>
        <p:spPr>
          <a:xfrm flipH="1">
            <a:off x="8834437" y="2801937"/>
            <a:ext cx="142875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u2_g_o_3" descr="Editable line; source id u2_g_o_3"/>
          <p:cNvCxnSpPr/>
          <p:nvPr/>
        </p:nvCxnSpPr>
        <p:spPr>
          <a:xfrm flipH="1" flipV="1">
            <a:off x="8778874" y="2635249"/>
            <a:ext cx="55563" cy="16668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u2_g_o_4" descr="Editable line; source id u2_g_o_4"/>
          <p:cNvCxnSpPr/>
          <p:nvPr/>
        </p:nvCxnSpPr>
        <p:spPr>
          <a:xfrm flipV="1">
            <a:off x="8778874" y="2547937"/>
            <a:ext cx="127000" cy="8731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u2_g_a" descr="Editable line; source id u2_g_a"/>
          <p:cNvCxnSpPr/>
          <p:nvPr/>
        </p:nvCxnSpPr>
        <p:spPr>
          <a:xfrm>
            <a:off x="8905874" y="2547937"/>
            <a:ext cx="0" cy="25400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u2_g_b" descr="Editable line; source id u2_g_b"/>
          <p:cNvCxnSpPr/>
          <p:nvPr/>
        </p:nvCxnSpPr>
        <p:spPr>
          <a:xfrm>
            <a:off x="8778874" y="2635249"/>
            <a:ext cx="254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u2_t" descr="Editable text; source id u2_t"/>
          <p:cNvSpPr txBox="1"/>
          <p:nvPr/>
        </p:nvSpPr>
        <p:spPr>
          <a:xfrm>
            <a:off x="9159874" y="2524124"/>
            <a:ext cx="2492374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593"/>
              </a:lnSpc>
              <a:spcBef>
                <a:spcPts val="0"/>
              </a:spcBef>
              <a:spcAft>
                <a:spcPts val="0"/>
              </a:spcAft>
              <a:defRPr sz="1355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55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Family Phase Comparison</a:t>
            </a:r>
          </a:p>
        </p:txBody>
      </p:sp>
      <p:sp>
        <p:nvSpPr>
          <p:cNvPr id="121" name="u3" descr="Editable shape; source id u3"/>
          <p:cNvSpPr/>
          <p:nvPr/>
        </p:nvSpPr>
        <p:spPr>
          <a:xfrm>
            <a:off x="8540749" y="3286124"/>
            <a:ext cx="3254374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508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u3_b" descr="Editable shape; source id u3_b"/>
          <p:cNvSpPr/>
          <p:nvPr/>
        </p:nvSpPr>
        <p:spPr>
          <a:xfrm>
            <a:off x="8540749" y="3286124"/>
            <a:ext cx="63499" cy="888999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" name="u3_g_p" descr="Editable line; source id u3_g_p"/>
          <p:cNvCxnSpPr/>
          <p:nvPr/>
        </p:nvCxnSpPr>
        <p:spPr>
          <a:xfrm>
            <a:off x="8905874" y="3619499"/>
            <a:ext cx="0" cy="198438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u3_g_b" descr="Editable line; source id u3_g_b"/>
          <p:cNvCxnSpPr/>
          <p:nvPr/>
        </p:nvCxnSpPr>
        <p:spPr>
          <a:xfrm>
            <a:off x="8794749" y="3659187"/>
            <a:ext cx="22225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u3_g_l_0" descr="Editable line; source id u3_g_l_0"/>
          <p:cNvCxnSpPr/>
          <p:nvPr/>
        </p:nvCxnSpPr>
        <p:spPr>
          <a:xfrm flipH="1">
            <a:off x="8762999" y="3659187"/>
            <a:ext cx="31750" cy="71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u3_g_l_1" descr="Editable line; source id u3_g_l_1"/>
          <p:cNvCxnSpPr/>
          <p:nvPr/>
        </p:nvCxnSpPr>
        <p:spPr>
          <a:xfrm>
            <a:off x="8762999" y="3730624"/>
            <a:ext cx="635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u3_g_l_2" descr="Editable line; source id u3_g_l_2"/>
          <p:cNvCxnSpPr/>
          <p:nvPr/>
        </p:nvCxnSpPr>
        <p:spPr>
          <a:xfrm flipH="1" flipV="1">
            <a:off x="8794749" y="3659187"/>
            <a:ext cx="31750" cy="71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u3_g_r_0" descr="Editable line; source id u3_g_r_0"/>
          <p:cNvCxnSpPr/>
          <p:nvPr/>
        </p:nvCxnSpPr>
        <p:spPr>
          <a:xfrm flipH="1">
            <a:off x="8985249" y="3659187"/>
            <a:ext cx="31750" cy="71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u3_g_r_1" descr="Editable line; source id u3_g_r_1"/>
          <p:cNvCxnSpPr/>
          <p:nvPr/>
        </p:nvCxnSpPr>
        <p:spPr>
          <a:xfrm>
            <a:off x="8985249" y="3730624"/>
            <a:ext cx="635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u3_g_r_2" descr="Editable line; source id u3_g_r_2"/>
          <p:cNvCxnSpPr/>
          <p:nvPr/>
        </p:nvCxnSpPr>
        <p:spPr>
          <a:xfrm flipH="1" flipV="1">
            <a:off x="9016999" y="3659187"/>
            <a:ext cx="31750" cy="71437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u3_g_f" descr="Editable line; source id u3_g_f"/>
          <p:cNvCxnSpPr/>
          <p:nvPr/>
        </p:nvCxnSpPr>
        <p:spPr>
          <a:xfrm>
            <a:off x="8842374" y="3841749"/>
            <a:ext cx="127000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u3_t" descr="Editable text; source id u3_t"/>
          <p:cNvSpPr txBox="1"/>
          <p:nvPr/>
        </p:nvSpPr>
        <p:spPr>
          <a:xfrm>
            <a:off x="9159874" y="3571874"/>
            <a:ext cx="2492374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Methods and Variables</a:t>
            </a:r>
          </a:p>
        </p:txBody>
      </p:sp>
      <p:sp>
        <p:nvSpPr>
          <p:cNvPr id="133" name="cav" descr="Editable shape; source id cav"/>
          <p:cNvSpPr/>
          <p:nvPr/>
        </p:nvSpPr>
        <p:spPr>
          <a:xfrm>
            <a:off x="8493124" y="4603749"/>
            <a:ext cx="3357562" cy="317499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12699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cav_t" descr="Editable text; source id cav_t"/>
          <p:cNvSpPr txBox="1"/>
          <p:nvPr/>
        </p:nvSpPr>
        <p:spPr>
          <a:xfrm>
            <a:off x="8572499" y="4635499"/>
            <a:ext cx="3198812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187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Neighbor conditions ≠ proven recipe</a:t>
            </a:r>
          </a:p>
        </p:txBody>
      </p:sp>
      <p:sp>
        <p:nvSpPr>
          <p:cNvPr id="135" name="u4" descr="Editable shape; source id u4"/>
          <p:cNvSpPr/>
          <p:nvPr/>
        </p:nvSpPr>
        <p:spPr>
          <a:xfrm>
            <a:off x="8540749" y="5556249"/>
            <a:ext cx="3254374" cy="888999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5081">
            <a:solidFill>
              <a:srgbClr val="9AA3AB"/>
            </a:solidFill>
            <a:custDash>
              <a:ds d="631579" sp="421053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u4_g_o" descr="Editable shape; source id u4_g_o"/>
          <p:cNvSpPr/>
          <p:nvPr/>
        </p:nvSpPr>
        <p:spPr>
          <a:xfrm>
            <a:off x="8810624" y="5905499"/>
            <a:ext cx="190499" cy="19049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u4_g_i" descr="Editable shape; source id u4_g_i"/>
          <p:cNvSpPr/>
          <p:nvPr/>
        </p:nvSpPr>
        <p:spPr>
          <a:xfrm>
            <a:off x="8874124" y="5968999"/>
            <a:ext cx="63499" cy="63499"/>
          </a:xfrm>
          <a:prstGeom prst="ellipse">
            <a:avLst/>
          </a:prstGeom>
          <a:noFill/>
          <a:ln w="18216">
            <a:solidFill>
              <a:srgbClr val="111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u4_g_t506" descr="Editable line; source id u4_g_t506"/>
          <p:cNvCxnSpPr/>
          <p:nvPr/>
        </p:nvCxnSpPr>
        <p:spPr>
          <a:xfrm>
            <a:off x="8905874" y="5857874"/>
            <a:ext cx="0" cy="55563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u4_g_t5078" descr="Editable line; source id u4_g_t5078"/>
          <p:cNvCxnSpPr/>
          <p:nvPr/>
        </p:nvCxnSpPr>
        <p:spPr>
          <a:xfrm>
            <a:off x="8905874" y="6088062"/>
            <a:ext cx="0" cy="55562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u4_g_t650" descr="Editable line; source id u4_g_t650"/>
          <p:cNvCxnSpPr/>
          <p:nvPr/>
        </p:nvCxnSpPr>
        <p:spPr>
          <a:xfrm>
            <a:off x="8762999" y="6000749"/>
            <a:ext cx="55563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u4_g_t7850" descr="Editable line; source id u4_g_t7850"/>
          <p:cNvCxnSpPr/>
          <p:nvPr/>
        </p:nvCxnSpPr>
        <p:spPr>
          <a:xfrm>
            <a:off x="8993187" y="6000749"/>
            <a:ext cx="55562" cy="0"/>
          </a:xfrm>
          <a:prstGeom prst="line">
            <a:avLst/>
          </a:prstGeom>
          <a:ln w="18216">
            <a:solidFill>
              <a:srgbClr val="111A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u4_t" descr="Editable text; source id u4_t"/>
          <p:cNvSpPr txBox="1"/>
          <p:nvPr/>
        </p:nvSpPr>
        <p:spPr>
          <a:xfrm>
            <a:off x="9159874" y="5841999"/>
            <a:ext cx="2492374" cy="3254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765"/>
              </a:lnSpc>
              <a:spcBef>
                <a:spcPts val="0"/>
              </a:spcBef>
              <a:spcAft>
                <a:spcPts val="0"/>
              </a:spcAft>
              <a:def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defRPr>
            </a:pPr>
            <a:r>
              <a:rPr sz="1499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rPr>
              <a:t>Study Boundary Only</a:t>
            </a:r>
          </a:p>
        </p:txBody>
      </p:sp>
      <p:cxnSp>
        <p:nvCxnSpPr>
          <p:cNvPr id="143" name="br_a1_0" descr="Editable line; source id br_a1_0"/>
          <p:cNvCxnSpPr/>
          <p:nvPr/>
        </p:nvCxnSpPr>
        <p:spPr>
          <a:xfrm>
            <a:off x="4397374" y="1595437"/>
            <a:ext cx="238125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br_a2_0" descr="Editable line; source id br_a2_0"/>
          <p:cNvCxnSpPr/>
          <p:nvPr/>
        </p:nvCxnSpPr>
        <p:spPr>
          <a:xfrm>
            <a:off x="4397374" y="2484437"/>
            <a:ext cx="238125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br_a3_0" descr="Editable line; source id br_a3_0"/>
          <p:cNvCxnSpPr/>
          <p:nvPr/>
        </p:nvCxnSpPr>
        <p:spPr>
          <a:xfrm>
            <a:off x="4397374" y="3373437"/>
            <a:ext cx="238125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br_a4_0" descr="Editable line; source id br_a4_0"/>
          <p:cNvCxnSpPr/>
          <p:nvPr/>
        </p:nvCxnSpPr>
        <p:spPr>
          <a:xfrm>
            <a:off x="4397374" y="4262437"/>
            <a:ext cx="238125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brv_0" descr="Editable line; source id brv_0"/>
          <p:cNvCxnSpPr/>
          <p:nvPr/>
        </p:nvCxnSpPr>
        <p:spPr>
          <a:xfrm>
            <a:off x="4635499" y="1595437"/>
            <a:ext cx="0" cy="266700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brh_0" descr="Editable line; source id brh_0"/>
          <p:cNvSpPr/>
          <p:nvPr/>
        </p:nvSpPr>
        <p:spPr>
          <a:xfrm>
            <a:off x="4635500" y="2881312"/>
            <a:ext cx="254000" cy="95250"/>
          </a:xfrm>
          <a:custGeom>
            <a:avLst/>
            <a:gdLst/>
            <a:ahLst/>
            <a:cxnLst/>
            <a:rect l="l" t="t" r="r" b="b"/>
            <a:pathLst>
              <a:path w="32000" h="12000">
                <a:moveTo>
                  <a:pt x="0" y="4750"/>
                </a:moveTo>
                <a:lnTo>
                  <a:pt x="17000" y="4750"/>
                </a:lnTo>
                <a:lnTo>
                  <a:pt x="17000" y="0"/>
                </a:lnTo>
                <a:lnTo>
                  <a:pt x="32000" y="6000"/>
                </a:lnTo>
                <a:lnTo>
                  <a:pt x="17000" y="12000"/>
                </a:lnTo>
                <a:lnTo>
                  <a:pt x="1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9" name="fan0_0" descr="Editable line; source id fan0_0"/>
          <p:cNvCxnSpPr/>
          <p:nvPr/>
        </p:nvCxnSpPr>
        <p:spPr>
          <a:xfrm>
            <a:off x="7985124" y="3333749"/>
            <a:ext cx="190500" cy="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fanv_0" descr="Editable line; source id fanv_0"/>
          <p:cNvCxnSpPr/>
          <p:nvPr/>
        </p:nvCxnSpPr>
        <p:spPr>
          <a:xfrm>
            <a:off x="8175624" y="1635124"/>
            <a:ext cx="0" cy="2095500"/>
          </a:xfrm>
          <a:prstGeom prst="line">
            <a:avLst/>
          </a:prstGeom>
          <a:ln w="19843">
            <a:solidFill>
              <a:srgbClr val="3C47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fan1_0" descr="Editable line; source id fan1_0"/>
          <p:cNvSpPr/>
          <p:nvPr/>
        </p:nvSpPr>
        <p:spPr>
          <a:xfrm>
            <a:off x="8175625" y="1587500"/>
            <a:ext cx="333375" cy="95250"/>
          </a:xfrm>
          <a:custGeom>
            <a:avLst/>
            <a:gdLst/>
            <a:ahLst/>
            <a:cxnLst/>
            <a:rect l="l" t="t" r="r" b="b"/>
            <a:pathLst>
              <a:path w="42000" h="12000">
                <a:moveTo>
                  <a:pt x="0" y="4750"/>
                </a:moveTo>
                <a:lnTo>
                  <a:pt x="27000" y="4750"/>
                </a:lnTo>
                <a:lnTo>
                  <a:pt x="27000" y="0"/>
                </a:lnTo>
                <a:lnTo>
                  <a:pt x="42000" y="6000"/>
                </a:lnTo>
                <a:lnTo>
                  <a:pt x="27000" y="12000"/>
                </a:lnTo>
                <a:lnTo>
                  <a:pt x="2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an2_0" descr="Editable line; source id fan2_0"/>
          <p:cNvSpPr/>
          <p:nvPr/>
        </p:nvSpPr>
        <p:spPr>
          <a:xfrm>
            <a:off x="8175625" y="2635250"/>
            <a:ext cx="333375" cy="95250"/>
          </a:xfrm>
          <a:custGeom>
            <a:avLst/>
            <a:gdLst/>
            <a:ahLst/>
            <a:cxnLst/>
            <a:rect l="l" t="t" r="r" b="b"/>
            <a:pathLst>
              <a:path w="42000" h="12000">
                <a:moveTo>
                  <a:pt x="0" y="4750"/>
                </a:moveTo>
                <a:lnTo>
                  <a:pt x="27000" y="4750"/>
                </a:lnTo>
                <a:lnTo>
                  <a:pt x="27000" y="0"/>
                </a:lnTo>
                <a:lnTo>
                  <a:pt x="42000" y="6000"/>
                </a:lnTo>
                <a:lnTo>
                  <a:pt x="27000" y="12000"/>
                </a:lnTo>
                <a:lnTo>
                  <a:pt x="2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an3_0" descr="Editable line; source id fan3_0"/>
          <p:cNvSpPr/>
          <p:nvPr/>
        </p:nvSpPr>
        <p:spPr>
          <a:xfrm>
            <a:off x="8175625" y="3683000"/>
            <a:ext cx="333375" cy="95250"/>
          </a:xfrm>
          <a:custGeom>
            <a:avLst/>
            <a:gdLst/>
            <a:ahLst/>
            <a:cxnLst/>
            <a:rect l="l" t="t" r="r" b="b"/>
            <a:pathLst>
              <a:path w="42000" h="12000">
                <a:moveTo>
                  <a:pt x="0" y="4750"/>
                </a:moveTo>
                <a:lnTo>
                  <a:pt x="27000" y="4750"/>
                </a:lnTo>
                <a:lnTo>
                  <a:pt x="27000" y="0"/>
                </a:lnTo>
                <a:lnTo>
                  <a:pt x="42000" y="6000"/>
                </a:lnTo>
                <a:lnTo>
                  <a:pt x="27000" y="12000"/>
                </a:lnTo>
                <a:lnTo>
                  <a:pt x="27000" y="7250"/>
                </a:lnTo>
                <a:lnTo>
                  <a:pt x="0" y="7250"/>
                </a:lnTo>
                <a:close/>
              </a:path>
            </a:pathLst>
          </a:custGeom>
          <a:solidFill>
            <a:srgbClr val="3C4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ex_0" descr="Editable line; source id ex_0"/>
          <p:cNvCxnSpPr/>
          <p:nvPr/>
        </p:nvCxnSpPr>
        <p:spPr>
          <a:xfrm>
            <a:off x="4397374" y="6000749"/>
            <a:ext cx="4111625" cy="0"/>
          </a:xfrm>
          <a:prstGeom prst="line">
            <a:avLst/>
          </a:prstGeom>
          <a:ln w="19843">
            <a:solidFill>
              <a:srgbClr val="3C4753"/>
            </a:solidFill>
            <a:custDash>
              <a:ds d="440000" sp="280000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ex_p" descr="Editable shape; source id ex_p"/>
          <p:cNvSpPr/>
          <p:nvPr/>
        </p:nvSpPr>
        <p:spPr>
          <a:xfrm>
            <a:off x="5976937" y="5841999"/>
            <a:ext cx="952499" cy="3174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699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ex_p_t" descr="Editable text; source id ex_p_t"/>
          <p:cNvSpPr txBox="1"/>
          <p:nvPr/>
        </p:nvSpPr>
        <p:spPr>
          <a:xfrm>
            <a:off x="6056312" y="5873749"/>
            <a:ext cx="793749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265"/>
              </a:lnSpc>
              <a:spcBef>
                <a:spcPts val="0"/>
              </a:spcBef>
              <a:spcAft>
                <a:spcPts val="0"/>
              </a:spcAft>
              <a:defRPr sz="1062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defRPr>
            </a:pPr>
            <a:r>
              <a:rPr sz="1062" b="1" i="0" lang="zh-CN" dirty="0">
                <a:solidFill>
                  <a:srgbClr val="27303A"/>
                </a:solidFill>
                <a:latin typeface="DejaVu Sans"/>
                <a:ea typeface="DejaVu Sans"/>
                <a:cs typeface="DejaVu Sans"/>
              </a:rPr>
              <a:t>Excluded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