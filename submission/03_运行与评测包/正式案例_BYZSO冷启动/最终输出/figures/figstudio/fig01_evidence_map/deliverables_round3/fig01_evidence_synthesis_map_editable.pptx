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09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1 不同文献对目标化合物合成研究的适用范围（super_teaser 第三轮 R01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A" descr="Editable shape; source id zA"/>
          <p:cNvSpPr/>
          <p:nvPr/>
        </p:nvSpPr>
        <p:spPr>
          <a:xfrm>
            <a:off x="192432" y="247413"/>
            <a:ext cx="4618389" cy="5601172"/>
          </a:xfrm>
          <a:prstGeom prst="roundRect">
            <a:avLst>
              <a:gd name="adj" fmla="val 2380"/>
            </a:avLst>
          </a:prstGeom>
          <a:solidFill>
            <a:srgbClr val="EEF2F7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A_l" descr="Editable text; source id zA_l"/>
          <p:cNvSpPr txBox="1"/>
          <p:nvPr/>
        </p:nvSpPr>
        <p:spPr>
          <a:xfrm>
            <a:off x="316139" y="329884"/>
            <a:ext cx="687260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45"/>
              </a:lnSpc>
              <a:spcBef>
                <a:spcPts val="0"/>
              </a:spcBef>
              <a:spcAft>
                <a:spcPts val="0"/>
              </a:spcAft>
              <a:defRPr sz="1190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90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4" name="zB" descr="Editable shape; source id zB"/>
          <p:cNvSpPr/>
          <p:nvPr/>
        </p:nvSpPr>
        <p:spPr>
          <a:xfrm>
            <a:off x="4948274" y="247413"/>
            <a:ext cx="3230123" cy="5601172"/>
          </a:xfrm>
          <a:prstGeom prst="roundRect">
            <a:avLst>
              <a:gd name="adj" fmla="val 3404"/>
            </a:avLst>
          </a:prstGeom>
          <a:solidFill>
            <a:srgbClr val="E6F2F3"/>
          </a:solidFill>
          <a:ln w="10308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B_l" descr="Editable text; source id zB_l"/>
          <p:cNvSpPr txBox="1"/>
          <p:nvPr/>
        </p:nvSpPr>
        <p:spPr>
          <a:xfrm>
            <a:off x="5071981" y="329884"/>
            <a:ext cx="687260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45"/>
              </a:lnSpc>
              <a:spcBef>
                <a:spcPts val="0"/>
              </a:spcBef>
              <a:spcAft>
                <a:spcPts val="0"/>
              </a:spcAft>
              <a:defRPr sz="1190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90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6" name="zC" descr="Editable shape; source id zC"/>
          <p:cNvSpPr/>
          <p:nvPr/>
        </p:nvSpPr>
        <p:spPr>
          <a:xfrm>
            <a:off x="8522029" y="247413"/>
            <a:ext cx="3477537" cy="5601172"/>
          </a:xfrm>
          <a:prstGeom prst="roundRect">
            <a:avLst>
              <a:gd name="adj" fmla="val 3162"/>
            </a:avLst>
          </a:prstGeom>
          <a:solidFill>
            <a:srgbClr val="EEF2F7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1" descr="Editable shape; source id a1"/>
          <p:cNvSpPr/>
          <p:nvPr/>
        </p:nvSpPr>
        <p:spPr>
          <a:xfrm>
            <a:off x="687260" y="810967"/>
            <a:ext cx="2542863" cy="75598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1_s" descr="Editable shape; source id a1_s"/>
          <p:cNvSpPr/>
          <p:nvPr/>
        </p:nvSpPr>
        <p:spPr>
          <a:xfrm>
            <a:off x="687260" y="810967"/>
            <a:ext cx="2542863" cy="54980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a1_i" descr="exact crop of the generated raster (line motif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60" y="1030890"/>
            <a:ext cx="240970" cy="302394"/>
          </a:xfrm>
          <a:prstGeom prst="rect">
            <a:avLst/>
          </a:prstGeom>
          <a:effectLst/>
        </p:spPr>
      </p:pic>
      <p:sp>
        <p:nvSpPr>
          <p:cNvPr id="10" name="a1_t" descr="Editable text; source id a1_t"/>
          <p:cNvSpPr txBox="1"/>
          <p:nvPr/>
        </p:nvSpPr>
        <p:spPr>
          <a:xfrm>
            <a:off x="1250813" y="1044635"/>
            <a:ext cx="1800622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2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目标化合物直接报道</a:t>
            </a:r>
          </a:p>
        </p:txBody>
      </p:sp>
      <p:sp>
        <p:nvSpPr>
          <p:cNvPr id="11" name="a2" descr="Editable shape; source id a2"/>
          <p:cNvSpPr/>
          <p:nvPr/>
        </p:nvSpPr>
        <p:spPr>
          <a:xfrm>
            <a:off x="687260" y="1690660"/>
            <a:ext cx="2542863" cy="75598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2_s" descr="Editable shape; source id a2_s"/>
          <p:cNvSpPr/>
          <p:nvPr/>
        </p:nvSpPr>
        <p:spPr>
          <a:xfrm>
            <a:off x="687260" y="1690660"/>
            <a:ext cx="2542863" cy="54980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a2_i" descr="exact crop of the generated raster (line motif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47" y="1910583"/>
            <a:ext cx="251995" cy="302394"/>
          </a:xfrm>
          <a:prstGeom prst="rect">
            <a:avLst/>
          </a:prstGeom>
          <a:effectLst/>
        </p:spPr>
      </p:pic>
      <p:sp>
        <p:nvSpPr>
          <p:cNvPr id="14" name="a2_t" descr="Editable text; source id a2_t"/>
          <p:cNvSpPr txBox="1"/>
          <p:nvPr/>
        </p:nvSpPr>
        <p:spPr>
          <a:xfrm>
            <a:off x="1250813" y="1924329"/>
            <a:ext cx="1800622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2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同类</a:t>
            </a:r>
            <a:r>
              <a:rPr sz="1366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 Ba–Y </a:t>
            </a:r>
            <a:r>
              <a: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四方硅酸盐</a:t>
            </a:r>
          </a:p>
        </p:txBody>
      </p:sp>
      <p:sp>
        <p:nvSpPr>
          <p:cNvPr id="15" name="a3" descr="Editable shape; source id a3"/>
          <p:cNvSpPr/>
          <p:nvPr/>
        </p:nvSpPr>
        <p:spPr>
          <a:xfrm>
            <a:off x="687260" y="2570353"/>
            <a:ext cx="2542863" cy="75598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3_s" descr="Editable shape; source id a3_s"/>
          <p:cNvSpPr/>
          <p:nvPr/>
        </p:nvSpPr>
        <p:spPr>
          <a:xfrm>
            <a:off x="687260" y="2570353"/>
            <a:ext cx="2542863" cy="54980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a3_i" descr="exact crop of the generated raster (line motif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07" y="2790277"/>
            <a:ext cx="249475" cy="302394"/>
          </a:xfrm>
          <a:prstGeom prst="rect">
            <a:avLst/>
          </a:prstGeom>
          <a:effectLst/>
        </p:spPr>
      </p:pic>
      <p:sp>
        <p:nvSpPr>
          <p:cNvPr id="18" name="a3_t" descr="Editable text; source id a3_t"/>
          <p:cNvSpPr txBox="1"/>
          <p:nvPr/>
        </p:nvSpPr>
        <p:spPr>
          <a:xfrm>
            <a:off x="1250813" y="2804022"/>
            <a:ext cx="1800622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2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结构相关化合物</a:t>
            </a:r>
          </a:p>
        </p:txBody>
      </p:sp>
      <p:sp>
        <p:nvSpPr>
          <p:cNvPr id="19" name="a4" descr="Editable shape; source id a4"/>
          <p:cNvSpPr/>
          <p:nvPr/>
        </p:nvSpPr>
        <p:spPr>
          <a:xfrm>
            <a:off x="687260" y="3450047"/>
            <a:ext cx="2542863" cy="75598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4_s" descr="Editable shape; source id a4_s"/>
          <p:cNvSpPr/>
          <p:nvPr/>
        </p:nvSpPr>
        <p:spPr>
          <a:xfrm>
            <a:off x="687260" y="3450047"/>
            <a:ext cx="2542863" cy="54980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a4_i" descr="exact crop of the generated raster (line motif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77" y="3669970"/>
            <a:ext cx="290135" cy="302394"/>
          </a:xfrm>
          <a:prstGeom prst="rect">
            <a:avLst/>
          </a:prstGeom>
          <a:effectLst/>
        </p:spPr>
      </p:pic>
      <p:sp>
        <p:nvSpPr>
          <p:cNvPr id="22" name="a4_t" descr="Editable text; source id a4_t"/>
          <p:cNvSpPr txBox="1"/>
          <p:nvPr/>
        </p:nvSpPr>
        <p:spPr>
          <a:xfrm>
            <a:off x="1250813" y="3683715"/>
            <a:ext cx="1800622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2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工艺参照研究</a:t>
            </a:r>
          </a:p>
        </p:txBody>
      </p:sp>
      <p:sp>
        <p:nvSpPr>
          <p:cNvPr id="23" name="a5" descr="Editable shape; source id a5"/>
          <p:cNvSpPr/>
          <p:nvPr/>
        </p:nvSpPr>
        <p:spPr>
          <a:xfrm>
            <a:off x="687260" y="4535918"/>
            <a:ext cx="2542863" cy="75598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308">
            <a:solidFill>
              <a:srgbClr val="9AA3AB"/>
            </a:solidFill>
            <a:custDash>
              <a:ds d="866667" sp="5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a5_i" descr="exact crop of the generated raster (line motif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79" y="4700861"/>
            <a:ext cx="291331" cy="302394"/>
          </a:xfrm>
          <a:prstGeom prst="rect">
            <a:avLst/>
          </a:prstGeom>
          <a:effectLst/>
        </p:spPr>
      </p:pic>
      <p:sp>
        <p:nvSpPr>
          <p:cNvPr id="25" name="a5_t" descr="Editable text; source id a5_t"/>
          <p:cNvSpPr txBox="1"/>
          <p:nvPr/>
        </p:nvSpPr>
        <p:spPr>
          <a:xfrm>
            <a:off x="1250813" y="4714606"/>
            <a:ext cx="1800622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2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非相关资料</a:t>
            </a:r>
          </a:p>
        </p:txBody>
      </p:sp>
      <p:sp>
        <p:nvSpPr>
          <p:cNvPr id="26" name="ax_u" descr="Editable line; source id ax_u"/>
          <p:cNvSpPr/>
          <p:nvPr/>
        </p:nvSpPr>
        <p:spPr>
          <a:xfrm>
            <a:off x="487955" y="989655"/>
            <a:ext cx="68726" cy="1759387"/>
          </a:xfrm>
          <a:custGeom>
            <a:avLst/>
            <a:gdLst/>
            <a:ahLst/>
            <a:cxnLst/>
            <a:rect l="l" t="t" r="r" b="b"/>
            <a:pathLst>
              <a:path w="10000" h="256000">
                <a:moveTo>
                  <a:pt x="4000" y="256000"/>
                </a:moveTo>
                <a:lnTo>
                  <a:pt x="4000" y="12000"/>
                </a:lnTo>
                <a:lnTo>
                  <a:pt x="0" y="12000"/>
                </a:lnTo>
                <a:lnTo>
                  <a:pt x="5000" y="0"/>
                </a:lnTo>
                <a:lnTo>
                  <a:pt x="10000" y="12000"/>
                </a:lnTo>
                <a:lnTo>
                  <a:pt x="6000" y="12000"/>
                </a:lnTo>
                <a:lnTo>
                  <a:pt x="6000" y="256000"/>
                </a:lnTo>
                <a:close/>
              </a:path>
            </a:pathLst>
          </a:custGeom>
          <a:solidFill>
            <a:srgbClr val="3F4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x_d" descr="Editable line; source id ax_d"/>
          <p:cNvSpPr/>
          <p:nvPr/>
        </p:nvSpPr>
        <p:spPr>
          <a:xfrm>
            <a:off x="487955" y="3353831"/>
            <a:ext cx="68726" cy="1759387"/>
          </a:xfrm>
          <a:custGeom>
            <a:avLst/>
            <a:gdLst/>
            <a:ahLst/>
            <a:cxnLst/>
            <a:rect l="l" t="t" r="r" b="b"/>
            <a:pathLst>
              <a:path w="10000" h="256000">
                <a:moveTo>
                  <a:pt x="6000" y="0"/>
                </a:moveTo>
                <a:lnTo>
                  <a:pt x="6000" y="244000"/>
                </a:lnTo>
                <a:lnTo>
                  <a:pt x="10000" y="244000"/>
                </a:lnTo>
                <a:lnTo>
                  <a:pt x="5000" y="256000"/>
                </a:lnTo>
                <a:lnTo>
                  <a:pt x="0" y="244000"/>
                </a:lnTo>
                <a:lnTo>
                  <a:pt x="4000" y="244000"/>
                </a:lnTo>
                <a:lnTo>
                  <a:pt x="4000" y="0"/>
                </a:lnTo>
                <a:close/>
              </a:path>
            </a:pathLst>
          </a:custGeom>
          <a:solidFill>
            <a:srgbClr val="3F4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x_n" descr="Editable text; source id ax_n"/>
          <p:cNvSpPr txBox="1"/>
          <p:nvPr/>
        </p:nvSpPr>
        <p:spPr>
          <a:xfrm>
            <a:off x="357375" y="769731"/>
            <a:ext cx="329884" cy="20617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82"/>
              </a:lnSpc>
              <a:spcBef>
                <a:spcPts val="0"/>
              </a:spcBef>
              <a:spcAft>
                <a:spcPts val="0"/>
              </a:spcAft>
              <a:defRPr sz="1082" b="1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2" b="1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近</a:t>
            </a:r>
          </a:p>
        </p:txBody>
      </p:sp>
      <p:sp>
        <p:nvSpPr>
          <p:cNvPr id="29" name="ax_f" descr="Editable text; source id ax_f"/>
          <p:cNvSpPr txBox="1"/>
          <p:nvPr/>
        </p:nvSpPr>
        <p:spPr>
          <a:xfrm>
            <a:off x="357375" y="5126962"/>
            <a:ext cx="329884" cy="20617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82"/>
              </a:lnSpc>
              <a:spcBef>
                <a:spcPts val="0"/>
              </a:spcBef>
              <a:spcAft>
                <a:spcPts val="0"/>
              </a:spcAft>
              <a:defRPr sz="1082" b="1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2" b="1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远</a:t>
            </a:r>
          </a:p>
        </p:txBody>
      </p:sp>
      <p:sp>
        <p:nvSpPr>
          <p:cNvPr id="30" name="ax_l" descr="Editable text; source id ax_l"/>
          <p:cNvSpPr txBox="1"/>
          <p:nvPr/>
        </p:nvSpPr>
        <p:spPr>
          <a:xfrm rot="16200000">
            <a:off x="-233668" y="2948347"/>
            <a:ext cx="1072126" cy="20617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82"/>
              </a:lnSpc>
              <a:spcBef>
                <a:spcPts val="0"/>
              </a:spcBef>
              <a:spcAft>
                <a:spcPts val="0"/>
              </a:spcAft>
              <a:defRPr sz="108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与目标相的距离</a:t>
            </a:r>
          </a:p>
        </p:txBody>
      </p:sp>
      <p:sp>
        <p:nvSpPr>
          <p:cNvPr id="31" name="led" descr="Editable shape; source id led"/>
          <p:cNvSpPr/>
          <p:nvPr/>
        </p:nvSpPr>
        <p:spPr>
          <a:xfrm>
            <a:off x="5498083" y="1030890"/>
            <a:ext cx="2529118" cy="3848658"/>
          </a:xfrm>
          <a:prstGeom prst="roundRect">
            <a:avLst>
              <a:gd name="adj" fmla="val 2717"/>
            </a:avLst>
          </a:prstGeom>
          <a:solidFill>
            <a:srgbClr val="FFFFFF"/>
          </a:solidFill>
          <a:ln w="10308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ed_s" descr="Editable shape; source id led_s"/>
          <p:cNvSpPr/>
          <p:nvPr/>
        </p:nvSpPr>
        <p:spPr>
          <a:xfrm>
            <a:off x="5498083" y="1030890"/>
            <a:ext cx="2529118" cy="54980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led_i" descr="exact crop of the generated raster (line motif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9917" y="1216450"/>
            <a:ext cx="293629" cy="302394"/>
          </a:xfrm>
          <a:prstGeom prst="rect">
            <a:avLst/>
          </a:prstGeom>
          <a:effectLst/>
        </p:spPr>
      </p:pic>
      <p:sp>
        <p:nvSpPr>
          <p:cNvPr id="34" name="led_t" descr="Editable text; source id led_t"/>
          <p:cNvSpPr txBox="1"/>
          <p:nvPr/>
        </p:nvSpPr>
        <p:spPr>
          <a:xfrm>
            <a:off x="6020401" y="1223323"/>
            <a:ext cx="1869348" cy="2886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151"/>
              </a:lnSpc>
              <a:spcBef>
                <a:spcPts val="0"/>
              </a:spcBef>
              <a:spcAft>
                <a:spcPts val="0"/>
              </a:spcAft>
              <a:defRPr sz="147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7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相同实验项目下比较</a:t>
            </a:r>
          </a:p>
        </p:txBody>
      </p:sp>
      <p:sp>
        <p:nvSpPr>
          <p:cNvPr id="35" name="led_k0" descr="Editable text; source id led_k0"/>
          <p:cNvSpPr txBox="1"/>
          <p:nvPr/>
        </p:nvSpPr>
        <p:spPr>
          <a:xfrm>
            <a:off x="5635535" y="1566953"/>
            <a:ext cx="2254214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45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原料与配比</a:t>
            </a:r>
          </a:p>
        </p:txBody>
      </p:sp>
      <p:cxnSp>
        <p:nvCxnSpPr>
          <p:cNvPr id="36" name="led_r1" descr="Editable line; source id led_r1"/>
          <p:cNvCxnSpPr/>
          <p:nvPr/>
        </p:nvCxnSpPr>
        <p:spPr>
          <a:xfrm>
            <a:off x="5635535" y="2048036"/>
            <a:ext cx="2254214" cy="0"/>
          </a:xfrm>
          <a:prstGeom prst="line">
            <a:avLst/>
          </a:prstGeom>
          <a:ln w="6872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ed_k1" descr="Editable text; source id led_k1"/>
          <p:cNvSpPr txBox="1"/>
          <p:nvPr/>
        </p:nvSpPr>
        <p:spPr>
          <a:xfrm>
            <a:off x="5635535" y="2075526"/>
            <a:ext cx="2254214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45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热史</a:t>
            </a:r>
          </a:p>
        </p:txBody>
      </p:sp>
      <p:cxnSp>
        <p:nvCxnSpPr>
          <p:cNvPr id="38" name="led_r2" descr="Editable line; source id led_r2"/>
          <p:cNvCxnSpPr/>
          <p:nvPr/>
        </p:nvCxnSpPr>
        <p:spPr>
          <a:xfrm>
            <a:off x="5635535" y="2556608"/>
            <a:ext cx="2254214" cy="0"/>
          </a:xfrm>
          <a:prstGeom prst="line">
            <a:avLst/>
          </a:prstGeom>
          <a:ln w="6872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led_k2" descr="Editable text; source id led_k2"/>
          <p:cNvSpPr txBox="1"/>
          <p:nvPr/>
        </p:nvSpPr>
        <p:spPr>
          <a:xfrm>
            <a:off x="5635535" y="2584099"/>
            <a:ext cx="2254214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45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气氛</a:t>
            </a:r>
          </a:p>
        </p:txBody>
      </p:sp>
      <p:cxnSp>
        <p:nvCxnSpPr>
          <p:cNvPr id="40" name="led_r3" descr="Editable line; source id led_r3"/>
          <p:cNvCxnSpPr/>
          <p:nvPr/>
        </p:nvCxnSpPr>
        <p:spPr>
          <a:xfrm>
            <a:off x="5635535" y="3065181"/>
            <a:ext cx="2254214" cy="0"/>
          </a:xfrm>
          <a:prstGeom prst="line">
            <a:avLst/>
          </a:prstGeom>
          <a:ln w="6872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led_k3" descr="Editable text; source id led_k3"/>
          <p:cNvSpPr txBox="1"/>
          <p:nvPr/>
        </p:nvSpPr>
        <p:spPr>
          <a:xfrm>
            <a:off x="5635535" y="3092671"/>
            <a:ext cx="2254214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45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容器与助熔剂</a:t>
            </a:r>
          </a:p>
        </p:txBody>
      </p:sp>
      <p:cxnSp>
        <p:nvCxnSpPr>
          <p:cNvPr id="42" name="led_r4" descr="Editable line; source id led_r4"/>
          <p:cNvCxnSpPr/>
          <p:nvPr/>
        </p:nvCxnSpPr>
        <p:spPr>
          <a:xfrm>
            <a:off x="5635535" y="3573754"/>
            <a:ext cx="2254214" cy="0"/>
          </a:xfrm>
          <a:prstGeom prst="line">
            <a:avLst/>
          </a:prstGeom>
          <a:ln w="6872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led_k4" descr="Editable text; source id led_k4"/>
          <p:cNvSpPr txBox="1"/>
          <p:nvPr/>
        </p:nvSpPr>
        <p:spPr>
          <a:xfrm>
            <a:off x="5635535" y="3601244"/>
            <a:ext cx="2254214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45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冷却与分离</a:t>
            </a:r>
          </a:p>
        </p:txBody>
      </p:sp>
      <p:cxnSp>
        <p:nvCxnSpPr>
          <p:cNvPr id="44" name="led_r5" descr="Editable line; source id led_r5"/>
          <p:cNvCxnSpPr/>
          <p:nvPr/>
        </p:nvCxnSpPr>
        <p:spPr>
          <a:xfrm>
            <a:off x="5635535" y="4082326"/>
            <a:ext cx="2254214" cy="0"/>
          </a:xfrm>
          <a:prstGeom prst="line">
            <a:avLst/>
          </a:prstGeom>
          <a:ln w="6872">
            <a:solidFill>
              <a:srgbClr val="DCE2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led_k5" descr="Editable text; source id led_k5"/>
          <p:cNvSpPr txBox="1"/>
          <p:nvPr/>
        </p:nvSpPr>
        <p:spPr>
          <a:xfrm>
            <a:off x="5635535" y="4109817"/>
            <a:ext cx="2254214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45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90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产物表征</a:t>
            </a:r>
          </a:p>
        </p:txBody>
      </p:sp>
      <p:cxnSp>
        <p:nvCxnSpPr>
          <p:cNvPr id="46" name="br0_0" descr="Editable line; source id br0_0"/>
          <p:cNvCxnSpPr/>
          <p:nvPr/>
        </p:nvCxnSpPr>
        <p:spPr>
          <a:xfrm>
            <a:off x="3230123" y="1188960"/>
            <a:ext cx="288650" cy="0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br1_0" descr="Editable line; source id br1_0"/>
          <p:cNvCxnSpPr/>
          <p:nvPr/>
        </p:nvCxnSpPr>
        <p:spPr>
          <a:xfrm>
            <a:off x="3230123" y="2068653"/>
            <a:ext cx="288650" cy="0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br2_0" descr="Editable line; source id br2_0"/>
          <p:cNvCxnSpPr/>
          <p:nvPr/>
        </p:nvCxnSpPr>
        <p:spPr>
          <a:xfrm>
            <a:off x="3230123" y="2948347"/>
            <a:ext cx="288650" cy="0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br3_0" descr="Editable line; source id br3_0"/>
          <p:cNvCxnSpPr/>
          <p:nvPr/>
        </p:nvCxnSpPr>
        <p:spPr>
          <a:xfrm>
            <a:off x="3230123" y="3828040"/>
            <a:ext cx="288650" cy="0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brv_0" descr="Editable line; source id brv_0"/>
          <p:cNvCxnSpPr/>
          <p:nvPr/>
        </p:nvCxnSpPr>
        <p:spPr>
          <a:xfrm>
            <a:off x="3518773" y="1188960"/>
            <a:ext cx="0" cy="2639080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brh_p" descr="Editable shape; source id brh_p"/>
          <p:cNvSpPr/>
          <p:nvPr/>
        </p:nvSpPr>
        <p:spPr>
          <a:xfrm>
            <a:off x="3738696" y="2364175"/>
            <a:ext cx="1532590" cy="281776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8247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rh_p_t" descr="Editable text; source id brh_p_t"/>
          <p:cNvSpPr txBox="1"/>
          <p:nvPr/>
        </p:nvSpPr>
        <p:spPr>
          <a:xfrm>
            <a:off x="3821167" y="2405411"/>
            <a:ext cx="1367648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20"/>
              </a:lnSpc>
              <a:spcBef>
                <a:spcPts val="0"/>
              </a:spcBef>
              <a:spcAft>
                <a:spcPts val="0"/>
              </a:spcAft>
              <a:defRPr sz="974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4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近邻条件</a:t>
            </a:r>
            <a:r>
              <a:rPr sz="974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974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已验证配方</a:t>
            </a:r>
          </a:p>
        </p:txBody>
      </p:sp>
      <p:cxnSp>
        <p:nvCxnSpPr>
          <p:cNvPr id="53" name="brh_0" descr="Editable line; source id brh_0"/>
          <p:cNvCxnSpPr/>
          <p:nvPr/>
        </p:nvCxnSpPr>
        <p:spPr>
          <a:xfrm>
            <a:off x="3518773" y="2508500"/>
            <a:ext cx="192433" cy="0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brh_1" descr="Editable line; source id brh_1"/>
          <p:cNvSpPr/>
          <p:nvPr/>
        </p:nvSpPr>
        <p:spPr>
          <a:xfrm>
            <a:off x="5305650" y="2470701"/>
            <a:ext cx="178688" cy="75599"/>
          </a:xfrm>
          <a:custGeom>
            <a:avLst/>
            <a:gdLst/>
            <a:ahLst/>
            <a:cxnLst/>
            <a:rect l="l" t="t" r="r" b="b"/>
            <a:pathLst>
              <a:path w="26000" h="11000">
                <a:moveTo>
                  <a:pt x="0" y="4500"/>
                </a:moveTo>
                <a:lnTo>
                  <a:pt x="13000" y="4500"/>
                </a:lnTo>
                <a:lnTo>
                  <a:pt x="13000" y="0"/>
                </a:lnTo>
                <a:lnTo>
                  <a:pt x="26000" y="5500"/>
                </a:lnTo>
                <a:lnTo>
                  <a:pt x="13000" y="11000"/>
                </a:lnTo>
                <a:lnTo>
                  <a:pt x="1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u1" descr="Editable shape; source id u1"/>
          <p:cNvSpPr/>
          <p:nvPr/>
        </p:nvSpPr>
        <p:spPr>
          <a:xfrm>
            <a:off x="8934385" y="810967"/>
            <a:ext cx="2859003" cy="75598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u1_s" descr="Editable shape; source id u1_s"/>
          <p:cNvSpPr/>
          <p:nvPr/>
        </p:nvSpPr>
        <p:spPr>
          <a:xfrm>
            <a:off x="8934385" y="810967"/>
            <a:ext cx="2859003" cy="54980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u1_i" descr="exact crop of the generated raster (line motif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6290" y="1030890"/>
            <a:ext cx="295960" cy="302394"/>
          </a:xfrm>
          <a:prstGeom prst="rect">
            <a:avLst/>
          </a:prstGeom>
          <a:effectLst/>
        </p:spPr>
      </p:pic>
      <p:sp>
        <p:nvSpPr>
          <p:cNvPr id="58" name="u1_t" descr="Editable text; source id u1_t"/>
          <p:cNvSpPr txBox="1"/>
          <p:nvPr/>
        </p:nvSpPr>
        <p:spPr>
          <a:xfrm>
            <a:off x="9497938" y="1044635"/>
            <a:ext cx="2116762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2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直接条件复现</a:t>
            </a:r>
          </a:p>
        </p:txBody>
      </p:sp>
      <p:sp>
        <p:nvSpPr>
          <p:cNvPr id="59" name="u2" descr="Editable shape; source id u2"/>
          <p:cNvSpPr/>
          <p:nvPr/>
        </p:nvSpPr>
        <p:spPr>
          <a:xfrm>
            <a:off x="8934385" y="2130507"/>
            <a:ext cx="2859003" cy="75598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u2_s" descr="Editable shape; source id u2_s"/>
          <p:cNvSpPr/>
          <p:nvPr/>
        </p:nvSpPr>
        <p:spPr>
          <a:xfrm>
            <a:off x="8934385" y="2130507"/>
            <a:ext cx="2859003" cy="54980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u2_i" descr="exact crop of the generated raster (line motif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3073" y="2365400"/>
            <a:ext cx="302394" cy="272454"/>
          </a:xfrm>
          <a:prstGeom prst="rect">
            <a:avLst/>
          </a:prstGeom>
          <a:effectLst/>
        </p:spPr>
      </p:pic>
      <p:sp>
        <p:nvSpPr>
          <p:cNvPr id="62" name="u2_t" descr="Editable text; source id u2_t"/>
          <p:cNvSpPr txBox="1"/>
          <p:nvPr/>
        </p:nvSpPr>
        <p:spPr>
          <a:xfrm>
            <a:off x="9497938" y="2364175"/>
            <a:ext cx="2116762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2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谱系内相图与结构比较</a:t>
            </a:r>
          </a:p>
        </p:txBody>
      </p:sp>
      <p:sp>
        <p:nvSpPr>
          <p:cNvPr id="63" name="u3" descr="Editable shape; source id u3"/>
          <p:cNvSpPr/>
          <p:nvPr/>
        </p:nvSpPr>
        <p:spPr>
          <a:xfrm>
            <a:off x="8934385" y="3450047"/>
            <a:ext cx="2859003" cy="75598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308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u3_s" descr="Editable shape; source id u3_s"/>
          <p:cNvSpPr/>
          <p:nvPr/>
        </p:nvSpPr>
        <p:spPr>
          <a:xfrm>
            <a:off x="8934385" y="3450047"/>
            <a:ext cx="2859003" cy="54980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u3_i" descr="exact crop of the generated raster (line motif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3073" y="3674796"/>
            <a:ext cx="302394" cy="292743"/>
          </a:xfrm>
          <a:prstGeom prst="rect">
            <a:avLst/>
          </a:prstGeom>
          <a:effectLst/>
        </p:spPr>
      </p:pic>
      <p:sp>
        <p:nvSpPr>
          <p:cNvPr id="66" name="u3_t" descr="Editable text; source id u3_t"/>
          <p:cNvSpPr txBox="1"/>
          <p:nvPr/>
        </p:nvSpPr>
        <p:spPr>
          <a:xfrm>
            <a:off x="9497938" y="3683715"/>
            <a:ext cx="2116762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2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方法与变量结构</a:t>
            </a:r>
          </a:p>
        </p:txBody>
      </p:sp>
      <p:sp>
        <p:nvSpPr>
          <p:cNvPr id="67" name="u4" descr="Editable shape; source id u4"/>
          <p:cNvSpPr/>
          <p:nvPr/>
        </p:nvSpPr>
        <p:spPr>
          <a:xfrm>
            <a:off x="8934385" y="4535918"/>
            <a:ext cx="2859003" cy="755986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0308">
            <a:solidFill>
              <a:srgbClr val="9AA3AB"/>
            </a:solidFill>
            <a:custDash>
              <a:ds d="866667" sp="53333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u4_i" descr="exact crop of the generated raster (line motif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13073" y="4714008"/>
            <a:ext cx="302394" cy="276099"/>
          </a:xfrm>
          <a:prstGeom prst="rect">
            <a:avLst/>
          </a:prstGeom>
          <a:effectLst/>
        </p:spPr>
      </p:pic>
      <p:sp>
        <p:nvSpPr>
          <p:cNvPr id="69" name="u4_t" descr="Editable text; source id u4_t"/>
          <p:cNvSpPr txBox="1"/>
          <p:nvPr/>
        </p:nvSpPr>
        <p:spPr>
          <a:xfrm>
            <a:off x="9497938" y="4714606"/>
            <a:ext cx="2116762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02"/>
              </a:lnSpc>
              <a:spcBef>
                <a:spcPts val="0"/>
              </a:spcBef>
              <a:spcAft>
                <a:spcPts val="0"/>
              </a:spcAft>
              <a:defRPr sz="1366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66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划定研究范围</a:t>
            </a:r>
          </a:p>
        </p:txBody>
      </p:sp>
      <p:cxnSp>
        <p:nvCxnSpPr>
          <p:cNvPr id="70" name="fan0_0" descr="Editable line; source id fan0_0"/>
          <p:cNvCxnSpPr/>
          <p:nvPr/>
        </p:nvCxnSpPr>
        <p:spPr>
          <a:xfrm>
            <a:off x="8027201" y="2508500"/>
            <a:ext cx="323012" cy="0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fanv_0" descr="Editable line; source id fanv_0"/>
          <p:cNvCxnSpPr/>
          <p:nvPr/>
        </p:nvCxnSpPr>
        <p:spPr>
          <a:xfrm>
            <a:off x="8350213" y="1188960"/>
            <a:ext cx="0" cy="2639080"/>
          </a:xfrm>
          <a:prstGeom prst="line">
            <a:avLst/>
          </a:prstGeom>
          <a:ln w="13745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an1_0" descr="Editable line; source id fan1_0"/>
          <p:cNvSpPr/>
          <p:nvPr/>
        </p:nvSpPr>
        <p:spPr>
          <a:xfrm>
            <a:off x="8350214" y="1151161"/>
            <a:ext cx="570426" cy="75599"/>
          </a:xfrm>
          <a:custGeom>
            <a:avLst/>
            <a:gdLst/>
            <a:ahLst/>
            <a:cxnLst/>
            <a:rect l="l" t="t" r="r" b="b"/>
            <a:pathLst>
              <a:path w="83000" h="11000">
                <a:moveTo>
                  <a:pt x="0" y="4500"/>
                </a:moveTo>
                <a:lnTo>
                  <a:pt x="70000" y="4500"/>
                </a:lnTo>
                <a:lnTo>
                  <a:pt x="70000" y="0"/>
                </a:lnTo>
                <a:lnTo>
                  <a:pt x="83000" y="5500"/>
                </a:lnTo>
                <a:lnTo>
                  <a:pt x="70000" y="11000"/>
                </a:lnTo>
                <a:lnTo>
                  <a:pt x="7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an2_0" descr="Editable line; source id fan2_0"/>
          <p:cNvSpPr/>
          <p:nvPr/>
        </p:nvSpPr>
        <p:spPr>
          <a:xfrm>
            <a:off x="8350214" y="2470701"/>
            <a:ext cx="570426" cy="75599"/>
          </a:xfrm>
          <a:custGeom>
            <a:avLst/>
            <a:gdLst/>
            <a:ahLst/>
            <a:cxnLst/>
            <a:rect l="l" t="t" r="r" b="b"/>
            <a:pathLst>
              <a:path w="83000" h="11000">
                <a:moveTo>
                  <a:pt x="0" y="4500"/>
                </a:moveTo>
                <a:lnTo>
                  <a:pt x="70000" y="4500"/>
                </a:lnTo>
                <a:lnTo>
                  <a:pt x="70000" y="0"/>
                </a:lnTo>
                <a:lnTo>
                  <a:pt x="83000" y="5500"/>
                </a:lnTo>
                <a:lnTo>
                  <a:pt x="70000" y="11000"/>
                </a:lnTo>
                <a:lnTo>
                  <a:pt x="7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an3_0" descr="Editable line; source id fan3_0"/>
          <p:cNvSpPr/>
          <p:nvPr/>
        </p:nvSpPr>
        <p:spPr>
          <a:xfrm>
            <a:off x="8350214" y="3790241"/>
            <a:ext cx="570426" cy="75599"/>
          </a:xfrm>
          <a:custGeom>
            <a:avLst/>
            <a:gdLst/>
            <a:ahLst/>
            <a:cxnLst/>
            <a:rect l="l" t="t" r="r" b="b"/>
            <a:pathLst>
              <a:path w="83000" h="11000">
                <a:moveTo>
                  <a:pt x="0" y="4500"/>
                </a:moveTo>
                <a:lnTo>
                  <a:pt x="70000" y="4500"/>
                </a:lnTo>
                <a:lnTo>
                  <a:pt x="70000" y="0"/>
                </a:lnTo>
                <a:lnTo>
                  <a:pt x="83000" y="5500"/>
                </a:lnTo>
                <a:lnTo>
                  <a:pt x="70000" y="11000"/>
                </a:lnTo>
                <a:lnTo>
                  <a:pt x="70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x_p" descr="Editable shape; source id ex_p"/>
          <p:cNvSpPr/>
          <p:nvPr/>
        </p:nvSpPr>
        <p:spPr>
          <a:xfrm>
            <a:off x="5772987" y="5388121"/>
            <a:ext cx="549808" cy="3023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247">
            <a:solidFill>
              <a:srgbClr val="C6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x_p_t" descr="Editable text; source id ex_p_t"/>
          <p:cNvSpPr txBox="1"/>
          <p:nvPr/>
        </p:nvSpPr>
        <p:spPr>
          <a:xfrm>
            <a:off x="5855458" y="5422484"/>
            <a:ext cx="384865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82"/>
              </a:lnSpc>
              <a:spcBef>
                <a:spcPts val="0"/>
              </a:spcBef>
              <a:spcAft>
                <a:spcPts val="0"/>
              </a:spcAft>
              <a:defRPr sz="108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8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排除</a:t>
            </a:r>
          </a:p>
        </p:txBody>
      </p:sp>
      <p:cxnSp>
        <p:nvCxnSpPr>
          <p:cNvPr id="77" name="ex_0" descr="Editable line; source id ex_0"/>
          <p:cNvCxnSpPr/>
          <p:nvPr/>
        </p:nvCxnSpPr>
        <p:spPr>
          <a:xfrm>
            <a:off x="3230123" y="4913911"/>
            <a:ext cx="481083" cy="0"/>
          </a:xfrm>
          <a:prstGeom prst="line">
            <a:avLst/>
          </a:prstGeom>
          <a:ln w="13745">
            <a:solidFill>
              <a:srgbClr val="4B5563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x_1" descr="Editable line; source id ex_1"/>
          <p:cNvCxnSpPr/>
          <p:nvPr/>
        </p:nvCxnSpPr>
        <p:spPr>
          <a:xfrm>
            <a:off x="3711206" y="4913911"/>
            <a:ext cx="0" cy="625407"/>
          </a:xfrm>
          <a:prstGeom prst="line">
            <a:avLst/>
          </a:prstGeom>
          <a:ln w="13745">
            <a:solidFill>
              <a:srgbClr val="4B5563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x_2" descr="Editable line; source id ex_2"/>
          <p:cNvCxnSpPr/>
          <p:nvPr/>
        </p:nvCxnSpPr>
        <p:spPr>
          <a:xfrm>
            <a:off x="3711206" y="5539318"/>
            <a:ext cx="2034291" cy="0"/>
          </a:xfrm>
          <a:prstGeom prst="line">
            <a:avLst/>
          </a:prstGeom>
          <a:ln w="13745">
            <a:solidFill>
              <a:srgbClr val="4B5563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x_3" descr="Editable line; source id ex_3"/>
          <p:cNvCxnSpPr/>
          <p:nvPr/>
        </p:nvCxnSpPr>
        <p:spPr>
          <a:xfrm>
            <a:off x="6350286" y="5539318"/>
            <a:ext cx="2350430" cy="0"/>
          </a:xfrm>
          <a:prstGeom prst="line">
            <a:avLst/>
          </a:prstGeom>
          <a:ln w="13745">
            <a:solidFill>
              <a:srgbClr val="4B5563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x_4" descr="Editable line; source id ex_4"/>
          <p:cNvCxnSpPr/>
          <p:nvPr/>
        </p:nvCxnSpPr>
        <p:spPr>
          <a:xfrm flipV="1">
            <a:off x="8700716" y="4913911"/>
            <a:ext cx="0" cy="625407"/>
          </a:xfrm>
          <a:prstGeom prst="line">
            <a:avLst/>
          </a:prstGeom>
          <a:ln w="13745">
            <a:solidFill>
              <a:srgbClr val="4B5563"/>
            </a:solidFill>
            <a:custDash>
              <a:ds d="600000" sp="40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x_5" descr="Editable line; source id ex_5"/>
          <p:cNvCxnSpPr/>
          <p:nvPr/>
        </p:nvCxnSpPr>
        <p:spPr>
          <a:xfrm>
            <a:off x="8700716" y="4913911"/>
            <a:ext cx="219924" cy="0"/>
          </a:xfrm>
          <a:prstGeom prst="line">
            <a:avLst/>
          </a:prstGeom>
          <a:ln w="13745">
            <a:solidFill>
              <a:srgbClr val="4B5563"/>
            </a:solidFill>
            <a:custDash>
              <a:ds d="600000" sp="40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