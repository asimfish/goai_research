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1 不同文献对目标化合物合成研究的适用范围（super_teaser S5 F01 → super_img2ppt 重建；文字按论文原文校对）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xis_up" descr="Editable line; source id axis_up"/>
          <p:cNvSpPr/>
          <p:nvPr/>
        </p:nvSpPr>
        <p:spPr>
          <a:xfrm>
            <a:off x="357187" y="1095375"/>
            <a:ext cx="111125" cy="2698750"/>
          </a:xfrm>
          <a:custGeom>
            <a:avLst/>
            <a:gdLst/>
            <a:ahLst/>
            <a:cxnLst/>
            <a:rect l="l" t="t" r="r" b="b"/>
            <a:pathLst>
              <a:path w="14000" h="340000">
                <a:moveTo>
                  <a:pt x="5500" y="340000"/>
                </a:moveTo>
                <a:lnTo>
                  <a:pt x="5500" y="18000"/>
                </a:lnTo>
                <a:lnTo>
                  <a:pt x="0" y="18000"/>
                </a:lnTo>
                <a:lnTo>
                  <a:pt x="7000" y="0"/>
                </a:lnTo>
                <a:lnTo>
                  <a:pt x="14000" y="18000"/>
                </a:lnTo>
                <a:lnTo>
                  <a:pt x="8500" y="18000"/>
                </a:lnTo>
                <a:lnTo>
                  <a:pt x="8500" y="34000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xis_dn" descr="Editable line; source id axis_dn"/>
          <p:cNvSpPr/>
          <p:nvPr/>
        </p:nvSpPr>
        <p:spPr>
          <a:xfrm>
            <a:off x="357187" y="3810000"/>
            <a:ext cx="111125" cy="2690812"/>
          </a:xfrm>
          <a:custGeom>
            <a:avLst/>
            <a:gdLst/>
            <a:ahLst/>
            <a:cxnLst/>
            <a:rect l="l" t="t" r="r" b="b"/>
            <a:pathLst>
              <a:path w="14000" h="339000">
                <a:moveTo>
                  <a:pt x="8500" y="0"/>
                </a:moveTo>
                <a:lnTo>
                  <a:pt x="8500" y="321000"/>
                </a:lnTo>
                <a:lnTo>
                  <a:pt x="14000" y="321000"/>
                </a:lnTo>
                <a:lnTo>
                  <a:pt x="7000" y="339000"/>
                </a:lnTo>
                <a:lnTo>
                  <a:pt x="0" y="321000"/>
                </a:lnTo>
                <a:lnTo>
                  <a:pt x="5500" y="321000"/>
                </a:lnTo>
                <a:lnTo>
                  <a:pt x="5500" y="0"/>
                </a:lnTo>
                <a:close/>
              </a:path>
            </a:pathLst>
          </a:custGeom>
          <a:solidFill>
            <a:srgbClr val="2B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xis_near" descr="Editable text; source id axis_near"/>
          <p:cNvSpPr txBox="1"/>
          <p:nvPr/>
        </p:nvSpPr>
        <p:spPr>
          <a:xfrm>
            <a:off x="158749" y="634999"/>
            <a:ext cx="507999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734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近</a:t>
            </a:r>
          </a:p>
        </p:txBody>
      </p:sp>
      <p:sp>
        <p:nvSpPr>
          <p:cNvPr id="5" name="axis_far" descr="Editable text; source id axis_far"/>
          <p:cNvSpPr txBox="1"/>
          <p:nvPr/>
        </p:nvSpPr>
        <p:spPr>
          <a:xfrm>
            <a:off x="158749" y="6540499"/>
            <a:ext cx="507999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734"/>
              </a:lnSpc>
              <a:spcBef>
                <a:spcPts val="0"/>
              </a:spcBef>
              <a:spcAft>
                <a:spcPts val="0"/>
              </a:spcAft>
              <a:defRPr sz="187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远</a:t>
            </a:r>
          </a:p>
        </p:txBody>
      </p:sp>
      <p:sp>
        <p:nvSpPr>
          <p:cNvPr id="6" name="axis_lab" descr="Editable text; source id axis_lab"/>
          <p:cNvSpPr txBox="1"/>
          <p:nvPr/>
        </p:nvSpPr>
        <p:spPr>
          <a:xfrm>
            <a:off x="47624" y="2539999"/>
            <a:ext cx="333374" cy="2539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与</a:t>
            </a:r>
          </a:p>
          <a:p>
            <a:pPr algn="ctr" fontAlgn="base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目</a:t>
            </a:r>
          </a:p>
          <a:p>
            <a:pPr algn="ctr" fontAlgn="base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标</a:t>
            </a:r>
          </a:p>
          <a:p>
            <a:pPr algn="ctr" fontAlgn="base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相</a:t>
            </a:r>
          </a:p>
          <a:p>
            <a:pPr algn="ctr" fontAlgn="base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的</a:t>
            </a:r>
          </a:p>
          <a:p>
            <a:pPr algn="ctr" fontAlgn="base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距</a:t>
            </a:r>
          </a:p>
          <a:p>
            <a:pPr algn="ctr" fontAlgn="base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离</a:t>
            </a:r>
          </a:p>
        </p:txBody>
      </p:sp>
      <p:sp>
        <p:nvSpPr>
          <p:cNvPr id="7" name="c1" descr="Editable shape; source id c1"/>
          <p:cNvSpPr/>
          <p:nvPr/>
        </p:nvSpPr>
        <p:spPr>
          <a:xfrm>
            <a:off x="714374" y="888999"/>
            <a:ext cx="3174999" cy="984249"/>
          </a:xfrm>
          <a:prstGeom prst="roundRect">
            <a:avLst>
              <a:gd name="adj" fmla="val 11290"/>
            </a:avLst>
          </a:prstGeom>
          <a:solidFill>
            <a:srgbClr val="E4F0F1"/>
          </a:solidFill>
          <a:ln w="23812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1_doc_0" descr="Editable shape; source id c1_doc_0"/>
          <p:cNvSpPr/>
          <p:nvPr/>
        </p:nvSpPr>
        <p:spPr>
          <a:xfrm>
            <a:off x="873124" y="1158874"/>
            <a:ext cx="349249" cy="444499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3812">
            <a:solidFill>
              <a:srgbClr val="2B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1_doc_0_l1" descr="Editable line; source id c1_doc_0_l1"/>
          <p:cNvCxnSpPr/>
          <p:nvPr/>
        </p:nvCxnSpPr>
        <p:spPr>
          <a:xfrm>
            <a:off x="968374" y="1349374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1_doc_0_l2" descr="Editable line; source id c1_doc_0_l2"/>
          <p:cNvCxnSpPr/>
          <p:nvPr/>
        </p:nvCxnSpPr>
        <p:spPr>
          <a:xfrm>
            <a:off x="968374" y="1436687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1_t" descr="Editable text; source id c1_t"/>
          <p:cNvSpPr txBox="1"/>
          <p:nvPr/>
        </p:nvSpPr>
        <p:spPr>
          <a:xfrm>
            <a:off x="1285874" y="1015999"/>
            <a:ext cx="2508249" cy="730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目标化合物直接报道</a:t>
            </a:r>
          </a:p>
        </p:txBody>
      </p:sp>
      <p:sp>
        <p:nvSpPr>
          <p:cNvPr id="12" name="c2" descr="Editable shape; source id c2"/>
          <p:cNvSpPr/>
          <p:nvPr/>
        </p:nvSpPr>
        <p:spPr>
          <a:xfrm>
            <a:off x="730249" y="2055812"/>
            <a:ext cx="3159124" cy="1031874"/>
          </a:xfrm>
          <a:prstGeom prst="roundRect">
            <a:avLst>
              <a:gd name="adj" fmla="val 10769"/>
            </a:avLst>
          </a:prstGeom>
          <a:solidFill>
            <a:srgbClr val="F3F5F6"/>
          </a:solidFill>
          <a:ln w="23812">
            <a:solidFill>
              <a:srgbClr val="7A8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2_doc_0" descr="Editable shape; source id c2_doc_0"/>
          <p:cNvSpPr/>
          <p:nvPr/>
        </p:nvSpPr>
        <p:spPr>
          <a:xfrm>
            <a:off x="1111249" y="2460624"/>
            <a:ext cx="349249" cy="444499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3812">
            <a:solidFill>
              <a:srgbClr val="2B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2_doc_0_l1" descr="Editable line; source id c2_doc_0_l1"/>
          <p:cNvCxnSpPr/>
          <p:nvPr/>
        </p:nvCxnSpPr>
        <p:spPr>
          <a:xfrm>
            <a:off x="1206499" y="2651124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2_doc_0_l2" descr="Editable line; source id c2_doc_0_l2"/>
          <p:cNvCxnSpPr/>
          <p:nvPr/>
        </p:nvCxnSpPr>
        <p:spPr>
          <a:xfrm>
            <a:off x="1206499" y="2738437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2_doc_1" descr="Editable shape; source id c2_doc_1"/>
          <p:cNvSpPr/>
          <p:nvPr/>
        </p:nvSpPr>
        <p:spPr>
          <a:xfrm>
            <a:off x="1000124" y="2349499"/>
            <a:ext cx="349249" cy="444499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3812">
            <a:solidFill>
              <a:srgbClr val="2B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2_doc_1_l1" descr="Editable line; source id c2_doc_1_l1"/>
          <p:cNvCxnSpPr/>
          <p:nvPr/>
        </p:nvCxnSpPr>
        <p:spPr>
          <a:xfrm>
            <a:off x="1095374" y="2539999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2_doc_1_l2" descr="Editable line; source id c2_doc_1_l2"/>
          <p:cNvCxnSpPr/>
          <p:nvPr/>
        </p:nvCxnSpPr>
        <p:spPr>
          <a:xfrm>
            <a:off x="1095374" y="2627312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2_doc_2" descr="Editable shape; source id c2_doc_2"/>
          <p:cNvSpPr/>
          <p:nvPr/>
        </p:nvSpPr>
        <p:spPr>
          <a:xfrm>
            <a:off x="888999" y="2238374"/>
            <a:ext cx="349249" cy="444499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3812">
            <a:solidFill>
              <a:srgbClr val="2B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2_doc_2_l1" descr="Editable line; source id c2_doc_2_l1"/>
          <p:cNvCxnSpPr/>
          <p:nvPr/>
        </p:nvCxnSpPr>
        <p:spPr>
          <a:xfrm>
            <a:off x="984249" y="2428874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2_doc_2_l2" descr="Editable line; source id c2_doc_2_l2"/>
          <p:cNvCxnSpPr/>
          <p:nvPr/>
        </p:nvCxnSpPr>
        <p:spPr>
          <a:xfrm>
            <a:off x="984249" y="2516187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2_t" descr="Editable text; source id c2_t"/>
          <p:cNvSpPr txBox="1"/>
          <p:nvPr/>
        </p:nvSpPr>
        <p:spPr>
          <a:xfrm>
            <a:off x="1523999" y="2182812"/>
            <a:ext cx="2270124" cy="777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同类</a:t>
            </a:r>
            <a:r>
              <a:rPr sz="1624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 Ba–Y </a:t>
            </a:r>
            <a:r>
              <a: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四方硅酸盐</a:t>
            </a:r>
          </a:p>
        </p:txBody>
      </p:sp>
      <p:sp>
        <p:nvSpPr>
          <p:cNvPr id="23" name="c3" descr="Editable shape; source id c3"/>
          <p:cNvSpPr/>
          <p:nvPr/>
        </p:nvSpPr>
        <p:spPr>
          <a:xfrm>
            <a:off x="730249" y="3254374"/>
            <a:ext cx="3159124" cy="1015999"/>
          </a:xfrm>
          <a:prstGeom prst="roundRect">
            <a:avLst>
              <a:gd name="adj" fmla="val 10937"/>
            </a:avLst>
          </a:prstGeom>
          <a:solidFill>
            <a:srgbClr val="F3F5F6"/>
          </a:solidFill>
          <a:ln w="19843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3_doc_0" descr="Editable shape; source id c3_doc_0"/>
          <p:cNvSpPr/>
          <p:nvPr/>
        </p:nvSpPr>
        <p:spPr>
          <a:xfrm>
            <a:off x="1111249" y="3651249"/>
            <a:ext cx="349249" cy="444499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3812">
            <a:solidFill>
              <a:srgbClr val="2B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3_doc_0_l1" descr="Editable line; source id c3_doc_0_l1"/>
          <p:cNvCxnSpPr/>
          <p:nvPr/>
        </p:nvCxnSpPr>
        <p:spPr>
          <a:xfrm>
            <a:off x="1206499" y="3841749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3_doc_0_l2" descr="Editable line; source id c3_doc_0_l2"/>
          <p:cNvCxnSpPr/>
          <p:nvPr/>
        </p:nvCxnSpPr>
        <p:spPr>
          <a:xfrm>
            <a:off x="1206499" y="3929062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3_doc_1" descr="Editable shape; source id c3_doc_1"/>
          <p:cNvSpPr/>
          <p:nvPr/>
        </p:nvSpPr>
        <p:spPr>
          <a:xfrm>
            <a:off x="1000124" y="3540124"/>
            <a:ext cx="349249" cy="444499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3812">
            <a:solidFill>
              <a:srgbClr val="2B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3_doc_1_l1" descr="Editable line; source id c3_doc_1_l1"/>
          <p:cNvCxnSpPr/>
          <p:nvPr/>
        </p:nvCxnSpPr>
        <p:spPr>
          <a:xfrm>
            <a:off x="1095374" y="3730624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3_doc_1_l2" descr="Editable line; source id c3_doc_1_l2"/>
          <p:cNvCxnSpPr/>
          <p:nvPr/>
        </p:nvCxnSpPr>
        <p:spPr>
          <a:xfrm>
            <a:off x="1095374" y="3817937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3_doc_2" descr="Editable shape; source id c3_doc_2"/>
          <p:cNvSpPr/>
          <p:nvPr/>
        </p:nvSpPr>
        <p:spPr>
          <a:xfrm>
            <a:off x="888999" y="3428999"/>
            <a:ext cx="349249" cy="444499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3812">
            <a:solidFill>
              <a:srgbClr val="2B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3_doc_2_l1" descr="Editable line; source id c3_doc_2_l1"/>
          <p:cNvCxnSpPr/>
          <p:nvPr/>
        </p:nvCxnSpPr>
        <p:spPr>
          <a:xfrm>
            <a:off x="984249" y="3619499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3_doc_2_l2" descr="Editable line; source id c3_doc_2_l2"/>
          <p:cNvCxnSpPr/>
          <p:nvPr/>
        </p:nvCxnSpPr>
        <p:spPr>
          <a:xfrm>
            <a:off x="984249" y="3706812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3_t" descr="Editable text; source id c3_t"/>
          <p:cNvSpPr txBox="1"/>
          <p:nvPr/>
        </p:nvSpPr>
        <p:spPr>
          <a:xfrm>
            <a:off x="1523999" y="3381374"/>
            <a:ext cx="2270124" cy="761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结构相关化合物</a:t>
            </a:r>
          </a:p>
        </p:txBody>
      </p:sp>
      <p:sp>
        <p:nvSpPr>
          <p:cNvPr id="34" name="c4" descr="Editable shape; source id c4"/>
          <p:cNvSpPr/>
          <p:nvPr/>
        </p:nvSpPr>
        <p:spPr>
          <a:xfrm>
            <a:off x="730249" y="4452937"/>
            <a:ext cx="3159124" cy="1095374"/>
          </a:xfrm>
          <a:prstGeom prst="roundRect">
            <a:avLst>
              <a:gd name="adj" fmla="val 10144"/>
            </a:avLst>
          </a:prstGeom>
          <a:solidFill>
            <a:srgbClr val="F3F5F6"/>
          </a:solidFill>
          <a:ln w="19843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4_doc_0" descr="Editable shape; source id c4_doc_0"/>
          <p:cNvSpPr/>
          <p:nvPr/>
        </p:nvSpPr>
        <p:spPr>
          <a:xfrm>
            <a:off x="1111249" y="4889499"/>
            <a:ext cx="349249" cy="444499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3812">
            <a:solidFill>
              <a:srgbClr val="2B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4_doc_0_l1" descr="Editable line; source id c4_doc_0_l1"/>
          <p:cNvCxnSpPr/>
          <p:nvPr/>
        </p:nvCxnSpPr>
        <p:spPr>
          <a:xfrm>
            <a:off x="1206499" y="5079999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4_doc_0_l2" descr="Editable line; source id c4_doc_0_l2"/>
          <p:cNvCxnSpPr/>
          <p:nvPr/>
        </p:nvCxnSpPr>
        <p:spPr>
          <a:xfrm>
            <a:off x="1206499" y="5167312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4_doc_1" descr="Editable shape; source id c4_doc_1"/>
          <p:cNvSpPr/>
          <p:nvPr/>
        </p:nvSpPr>
        <p:spPr>
          <a:xfrm>
            <a:off x="1000124" y="4778374"/>
            <a:ext cx="349249" cy="444499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3812">
            <a:solidFill>
              <a:srgbClr val="2B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4_doc_1_l1" descr="Editable line; source id c4_doc_1_l1"/>
          <p:cNvCxnSpPr/>
          <p:nvPr/>
        </p:nvCxnSpPr>
        <p:spPr>
          <a:xfrm>
            <a:off x="1095374" y="4968874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4_doc_1_l2" descr="Editable line; source id c4_doc_1_l2"/>
          <p:cNvCxnSpPr/>
          <p:nvPr/>
        </p:nvCxnSpPr>
        <p:spPr>
          <a:xfrm>
            <a:off x="1095374" y="5056187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4_doc_2" descr="Editable shape; source id c4_doc_2"/>
          <p:cNvSpPr/>
          <p:nvPr/>
        </p:nvSpPr>
        <p:spPr>
          <a:xfrm>
            <a:off x="888999" y="4667249"/>
            <a:ext cx="349249" cy="444499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3812">
            <a:solidFill>
              <a:srgbClr val="2B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4_doc_2_l1" descr="Editable line; source id c4_doc_2_l1"/>
          <p:cNvCxnSpPr/>
          <p:nvPr/>
        </p:nvCxnSpPr>
        <p:spPr>
          <a:xfrm>
            <a:off x="984249" y="4857749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4_doc_2_l2" descr="Editable line; source id c4_doc_2_l2"/>
          <p:cNvCxnSpPr/>
          <p:nvPr/>
        </p:nvCxnSpPr>
        <p:spPr>
          <a:xfrm>
            <a:off x="984249" y="4945062"/>
            <a:ext cx="158750" cy="0"/>
          </a:xfrm>
          <a:prstGeom prst="line">
            <a:avLst/>
          </a:prstGeom>
          <a:ln w="23812">
            <a:solidFill>
              <a:srgbClr val="2B2F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4_t" descr="Editable text; source id c4_t"/>
          <p:cNvSpPr txBox="1"/>
          <p:nvPr/>
        </p:nvSpPr>
        <p:spPr>
          <a:xfrm>
            <a:off x="1523999" y="4579937"/>
            <a:ext cx="2270124" cy="841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工艺参照研究</a:t>
            </a:r>
          </a:p>
        </p:txBody>
      </p:sp>
      <p:sp>
        <p:nvSpPr>
          <p:cNvPr id="45" name="c5" descr="Editable shape; source id c5"/>
          <p:cNvSpPr/>
          <p:nvPr/>
        </p:nvSpPr>
        <p:spPr>
          <a:xfrm>
            <a:off x="730249" y="5770562"/>
            <a:ext cx="3159124" cy="1095374"/>
          </a:xfrm>
          <a:prstGeom prst="roundRect">
            <a:avLst>
              <a:gd name="adj" fmla="val 10144"/>
            </a:avLst>
          </a:prstGeom>
          <a:solidFill>
            <a:srgbClr val="F3F5F6"/>
          </a:solidFill>
          <a:ln w="19843">
            <a:solidFill>
              <a:srgbClr val="8A9199"/>
            </a:solidFill>
            <a:custDash>
              <a:ds d="480000" sp="32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5_doc_0" descr="Editable shape; source id c5_doc_0"/>
          <p:cNvSpPr/>
          <p:nvPr/>
        </p:nvSpPr>
        <p:spPr>
          <a:xfrm>
            <a:off x="1111249" y="6207124"/>
            <a:ext cx="349249" cy="444499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3812">
            <a:solidFill>
              <a:srgbClr val="8A9199"/>
            </a:solidFill>
            <a:custDash>
              <a:ds d="266667" sp="2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5_doc_0_l1" descr="Editable line; source id c5_doc_0_l1"/>
          <p:cNvCxnSpPr/>
          <p:nvPr/>
        </p:nvCxnSpPr>
        <p:spPr>
          <a:xfrm>
            <a:off x="1206499" y="6397624"/>
            <a:ext cx="158750" cy="0"/>
          </a:xfrm>
          <a:prstGeom prst="line">
            <a:avLst/>
          </a:prstGeom>
          <a:ln w="23812">
            <a:solidFill>
              <a:srgbClr val="8A9199"/>
            </a:solidFill>
            <a:custDash>
              <a:ds d="266667" sp="2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5_doc_0_l2" descr="Editable line; source id c5_doc_0_l2"/>
          <p:cNvCxnSpPr/>
          <p:nvPr/>
        </p:nvCxnSpPr>
        <p:spPr>
          <a:xfrm>
            <a:off x="1206499" y="6484937"/>
            <a:ext cx="158750" cy="0"/>
          </a:xfrm>
          <a:prstGeom prst="line">
            <a:avLst/>
          </a:prstGeom>
          <a:ln w="23812">
            <a:solidFill>
              <a:srgbClr val="8A9199"/>
            </a:solidFill>
            <a:custDash>
              <a:ds d="266667" sp="2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5_doc_1" descr="Editable shape; source id c5_doc_1"/>
          <p:cNvSpPr/>
          <p:nvPr/>
        </p:nvSpPr>
        <p:spPr>
          <a:xfrm>
            <a:off x="1000124" y="6095999"/>
            <a:ext cx="349249" cy="444499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3812">
            <a:solidFill>
              <a:srgbClr val="8A9199"/>
            </a:solidFill>
            <a:custDash>
              <a:ds d="266667" sp="2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5_doc_1_l1" descr="Editable line; source id c5_doc_1_l1"/>
          <p:cNvCxnSpPr/>
          <p:nvPr/>
        </p:nvCxnSpPr>
        <p:spPr>
          <a:xfrm>
            <a:off x="1095374" y="6286499"/>
            <a:ext cx="158750" cy="0"/>
          </a:xfrm>
          <a:prstGeom prst="line">
            <a:avLst/>
          </a:prstGeom>
          <a:ln w="23812">
            <a:solidFill>
              <a:srgbClr val="8A9199"/>
            </a:solidFill>
            <a:custDash>
              <a:ds d="266667" sp="2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5_doc_1_l2" descr="Editable line; source id c5_doc_1_l2"/>
          <p:cNvCxnSpPr/>
          <p:nvPr/>
        </p:nvCxnSpPr>
        <p:spPr>
          <a:xfrm>
            <a:off x="1095374" y="6373812"/>
            <a:ext cx="158750" cy="0"/>
          </a:xfrm>
          <a:prstGeom prst="line">
            <a:avLst/>
          </a:prstGeom>
          <a:ln w="23812">
            <a:solidFill>
              <a:srgbClr val="8A9199"/>
            </a:solidFill>
            <a:custDash>
              <a:ds d="266667" sp="2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5_doc_2" descr="Editable shape; source id c5_doc_2"/>
          <p:cNvSpPr/>
          <p:nvPr/>
        </p:nvSpPr>
        <p:spPr>
          <a:xfrm>
            <a:off x="888999" y="5984874"/>
            <a:ext cx="349249" cy="444499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3812">
            <a:solidFill>
              <a:srgbClr val="8A9199"/>
            </a:solidFill>
            <a:custDash>
              <a:ds d="266667" sp="2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5_doc_2_l1" descr="Editable line; source id c5_doc_2_l1"/>
          <p:cNvCxnSpPr/>
          <p:nvPr/>
        </p:nvCxnSpPr>
        <p:spPr>
          <a:xfrm>
            <a:off x="984249" y="6175374"/>
            <a:ext cx="158750" cy="0"/>
          </a:xfrm>
          <a:prstGeom prst="line">
            <a:avLst/>
          </a:prstGeom>
          <a:ln w="23812">
            <a:solidFill>
              <a:srgbClr val="8A9199"/>
            </a:solidFill>
            <a:custDash>
              <a:ds d="266667" sp="2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5_doc_2_l2" descr="Editable line; source id c5_doc_2_l2"/>
          <p:cNvCxnSpPr/>
          <p:nvPr/>
        </p:nvCxnSpPr>
        <p:spPr>
          <a:xfrm>
            <a:off x="984249" y="6262687"/>
            <a:ext cx="158750" cy="0"/>
          </a:xfrm>
          <a:prstGeom prst="line">
            <a:avLst/>
          </a:prstGeom>
          <a:ln w="23812">
            <a:solidFill>
              <a:srgbClr val="8A9199"/>
            </a:solidFill>
            <a:custDash>
              <a:ds d="266667" sp="2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5_t" descr="Editable text; source id c5_t"/>
          <p:cNvSpPr txBox="1"/>
          <p:nvPr/>
        </p:nvSpPr>
        <p:spPr>
          <a:xfrm>
            <a:off x="1523999" y="5897562"/>
            <a:ext cx="2270124" cy="841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8A919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8A9199"/>
                </a:solidFill>
                <a:latin typeface="Noto Sans CJK SC"/>
                <a:ea typeface="Noto Sans CJK SC"/>
                <a:cs typeface="Noto Sans CJK SC"/>
              </a:rPr>
              <a:t>非相关资料</a:t>
            </a:r>
          </a:p>
        </p:txBody>
      </p:sp>
      <p:cxnSp>
        <p:nvCxnSpPr>
          <p:cNvPr id="56" name="br_v" descr="Editable line; source id br_v"/>
          <p:cNvCxnSpPr/>
          <p:nvPr/>
        </p:nvCxnSpPr>
        <p:spPr>
          <a:xfrm>
            <a:off x="4032249" y="1190624"/>
            <a:ext cx="0" cy="4048125"/>
          </a:xfrm>
          <a:prstGeom prst="line">
            <a:avLst/>
          </a:prstGeom>
          <a:ln w="31749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br_t" descr="Editable line; source id br_t"/>
          <p:cNvCxnSpPr/>
          <p:nvPr/>
        </p:nvCxnSpPr>
        <p:spPr>
          <a:xfrm>
            <a:off x="3921124" y="1190624"/>
            <a:ext cx="111125" cy="0"/>
          </a:xfrm>
          <a:prstGeom prst="line">
            <a:avLst/>
          </a:prstGeom>
          <a:ln w="31749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br_b" descr="Editable line; source id br_b"/>
          <p:cNvCxnSpPr/>
          <p:nvPr/>
        </p:nvCxnSpPr>
        <p:spPr>
          <a:xfrm>
            <a:off x="3921124" y="5238749"/>
            <a:ext cx="111125" cy="0"/>
          </a:xfrm>
          <a:prstGeom prst="line">
            <a:avLst/>
          </a:prstGeom>
          <a:ln w="31749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br_arrow" descr="Editable line; source id br_arrow"/>
          <p:cNvSpPr/>
          <p:nvPr/>
        </p:nvSpPr>
        <p:spPr>
          <a:xfrm>
            <a:off x="4032250" y="3460750"/>
            <a:ext cx="1293812" cy="142875"/>
          </a:xfrm>
          <a:custGeom>
            <a:avLst/>
            <a:gdLst/>
            <a:ahLst/>
            <a:cxnLst/>
            <a:rect l="l" t="t" r="r" b="b"/>
            <a:pathLst>
              <a:path w="163000" h="18000">
                <a:moveTo>
                  <a:pt x="0" y="6500"/>
                </a:moveTo>
                <a:lnTo>
                  <a:pt x="141000" y="6500"/>
                </a:lnTo>
                <a:lnTo>
                  <a:pt x="141000" y="0"/>
                </a:lnTo>
                <a:lnTo>
                  <a:pt x="163000" y="9000"/>
                </a:lnTo>
                <a:lnTo>
                  <a:pt x="141000" y="18000"/>
                </a:lnTo>
                <a:lnTo>
                  <a:pt x="1410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ag" descr="Editable shape; source id tag"/>
          <p:cNvSpPr/>
          <p:nvPr/>
        </p:nvSpPr>
        <p:spPr>
          <a:xfrm>
            <a:off x="4206874" y="2770187"/>
            <a:ext cx="1095374" cy="666749"/>
          </a:xfrm>
          <a:prstGeom prst="roundRect">
            <a:avLst>
              <a:gd name="adj" fmla="val 9523"/>
            </a:avLst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ag_t" descr="Editable text; source id tag_t"/>
          <p:cNvSpPr txBox="1"/>
          <p:nvPr/>
        </p:nvSpPr>
        <p:spPr>
          <a:xfrm>
            <a:off x="4270374" y="2817812"/>
            <a:ext cx="968374" cy="571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近邻条件</a:t>
            </a:r>
            <a:r>
              <a:rPr sz="131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≠</a:t>
            </a:r>
          </a:p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已验证配方</a:t>
            </a:r>
          </a:p>
        </p:txBody>
      </p:sp>
      <p:sp>
        <p:nvSpPr>
          <p:cNvPr id="62" name="ledger" descr="Editable shape; source id ledger"/>
          <p:cNvSpPr/>
          <p:nvPr/>
        </p:nvSpPr>
        <p:spPr>
          <a:xfrm>
            <a:off x="5341937" y="952499"/>
            <a:ext cx="3286124" cy="4659312"/>
          </a:xfrm>
          <a:prstGeom prst="roundRect">
            <a:avLst>
              <a:gd name="adj" fmla="val 3381"/>
            </a:avLst>
          </a:prstGeom>
          <a:solidFill>
            <a:srgbClr val="FFFFFF"/>
          </a:solidFill>
          <a:ln w="23812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dger_head" descr="Editable shape; source id ledger_head"/>
          <p:cNvSpPr/>
          <p:nvPr/>
        </p:nvSpPr>
        <p:spPr>
          <a:xfrm>
            <a:off x="5341937" y="952499"/>
            <a:ext cx="3286124" cy="690562"/>
          </a:xfrm>
          <a:prstGeom prst="roundRect">
            <a:avLst>
              <a:gd name="adj" fmla="val 16091"/>
            </a:avLst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dger_title" descr="Editable text; source id ledger_title"/>
          <p:cNvSpPr txBox="1"/>
          <p:nvPr/>
        </p:nvSpPr>
        <p:spPr>
          <a:xfrm>
            <a:off x="5476874" y="1047749"/>
            <a:ext cx="3016249" cy="500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093"/>
              </a:lnSpc>
              <a:spcBef>
                <a:spcPts val="0"/>
              </a:spcBef>
              <a:spcAft>
                <a:spcPts val="0"/>
              </a:spcAft>
              <a:defRPr sz="212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2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相同实验项目下比较</a:t>
            </a:r>
          </a:p>
        </p:txBody>
      </p:sp>
      <p:cxnSp>
        <p:nvCxnSpPr>
          <p:cNvPr id="65" name="rule0" descr="Editable line; source id rule0"/>
          <p:cNvCxnSpPr/>
          <p:nvPr/>
        </p:nvCxnSpPr>
        <p:spPr>
          <a:xfrm>
            <a:off x="5476874" y="2325687"/>
            <a:ext cx="3016250" cy="0"/>
          </a:xfrm>
          <a:prstGeom prst="line">
            <a:avLst/>
          </a:prstGeom>
          <a:ln w="15874">
            <a:solidFill>
              <a:srgbClr val="D5DA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rule1" descr="Editable line; source id rule1"/>
          <p:cNvCxnSpPr/>
          <p:nvPr/>
        </p:nvCxnSpPr>
        <p:spPr>
          <a:xfrm>
            <a:off x="5476874" y="2936874"/>
            <a:ext cx="3016250" cy="0"/>
          </a:xfrm>
          <a:prstGeom prst="line">
            <a:avLst/>
          </a:prstGeom>
          <a:ln w="15874">
            <a:solidFill>
              <a:srgbClr val="D5DA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rule2" descr="Editable line; source id rule2"/>
          <p:cNvCxnSpPr/>
          <p:nvPr/>
        </p:nvCxnSpPr>
        <p:spPr>
          <a:xfrm>
            <a:off x="5476874" y="3595687"/>
            <a:ext cx="3016250" cy="0"/>
          </a:xfrm>
          <a:prstGeom prst="line">
            <a:avLst/>
          </a:prstGeom>
          <a:ln w="15874">
            <a:solidFill>
              <a:srgbClr val="D5DA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rule3" descr="Editable line; source id rule3"/>
          <p:cNvCxnSpPr/>
          <p:nvPr/>
        </p:nvCxnSpPr>
        <p:spPr>
          <a:xfrm>
            <a:off x="5476874" y="4238624"/>
            <a:ext cx="3016250" cy="0"/>
          </a:xfrm>
          <a:prstGeom prst="line">
            <a:avLst/>
          </a:prstGeom>
          <a:ln w="15874">
            <a:solidFill>
              <a:srgbClr val="D5DA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rule4" descr="Editable line; source id rule4"/>
          <p:cNvCxnSpPr/>
          <p:nvPr/>
        </p:nvCxnSpPr>
        <p:spPr>
          <a:xfrm>
            <a:off x="5476874" y="4889499"/>
            <a:ext cx="3016250" cy="0"/>
          </a:xfrm>
          <a:prstGeom prst="line">
            <a:avLst/>
          </a:prstGeom>
          <a:ln w="15874">
            <a:solidFill>
              <a:srgbClr val="D5DA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w0" descr="Editable text; source id row0"/>
          <p:cNvSpPr txBox="1"/>
          <p:nvPr/>
        </p:nvSpPr>
        <p:spPr>
          <a:xfrm>
            <a:off x="5556249" y="1738312"/>
            <a:ext cx="2857499" cy="492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原料与配比</a:t>
            </a:r>
          </a:p>
        </p:txBody>
      </p:sp>
      <p:sp>
        <p:nvSpPr>
          <p:cNvPr id="71" name="row1" descr="Editable text; source id row1"/>
          <p:cNvSpPr txBox="1"/>
          <p:nvPr/>
        </p:nvSpPr>
        <p:spPr>
          <a:xfrm>
            <a:off x="5556249" y="2420937"/>
            <a:ext cx="2857499" cy="420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热史</a:t>
            </a:r>
          </a:p>
        </p:txBody>
      </p:sp>
      <p:sp>
        <p:nvSpPr>
          <p:cNvPr id="72" name="row2" descr="Editable text; source id row2"/>
          <p:cNvSpPr txBox="1"/>
          <p:nvPr/>
        </p:nvSpPr>
        <p:spPr>
          <a:xfrm>
            <a:off x="5556249" y="3032124"/>
            <a:ext cx="2857499" cy="468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气氛</a:t>
            </a:r>
          </a:p>
        </p:txBody>
      </p:sp>
      <p:sp>
        <p:nvSpPr>
          <p:cNvPr id="73" name="row3" descr="Editable text; source id row3"/>
          <p:cNvSpPr txBox="1"/>
          <p:nvPr/>
        </p:nvSpPr>
        <p:spPr>
          <a:xfrm>
            <a:off x="5556249" y="3690937"/>
            <a:ext cx="2857499" cy="452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容器与助熔剂</a:t>
            </a:r>
          </a:p>
        </p:txBody>
      </p:sp>
      <p:sp>
        <p:nvSpPr>
          <p:cNvPr id="74" name="row4" descr="Editable text; source id row4"/>
          <p:cNvSpPr txBox="1"/>
          <p:nvPr/>
        </p:nvSpPr>
        <p:spPr>
          <a:xfrm>
            <a:off x="5556249" y="4333874"/>
            <a:ext cx="2857499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冷却与分离</a:t>
            </a:r>
          </a:p>
        </p:txBody>
      </p:sp>
      <p:sp>
        <p:nvSpPr>
          <p:cNvPr id="75" name="row5" descr="Editable text; source id row5"/>
          <p:cNvSpPr txBox="1"/>
          <p:nvPr/>
        </p:nvSpPr>
        <p:spPr>
          <a:xfrm>
            <a:off x="5556249" y="4984749"/>
            <a:ext cx="2857499" cy="531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产物表征</a:t>
            </a:r>
          </a:p>
        </p:txBody>
      </p:sp>
      <p:cxnSp>
        <p:nvCxnSpPr>
          <p:cNvPr id="76" name="fan_trunk" descr="Editable line; source id fan_trunk"/>
          <p:cNvCxnSpPr/>
          <p:nvPr/>
        </p:nvCxnSpPr>
        <p:spPr>
          <a:xfrm>
            <a:off x="8643937" y="3532187"/>
            <a:ext cx="404812" cy="0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fan_v" descr="Editable line; source id fan_v"/>
          <p:cNvCxnSpPr/>
          <p:nvPr/>
        </p:nvCxnSpPr>
        <p:spPr>
          <a:xfrm>
            <a:off x="9048749" y="1809749"/>
            <a:ext cx="0" cy="3151188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u1_a" descr="Editable line; source id u1_a"/>
          <p:cNvSpPr/>
          <p:nvPr/>
        </p:nvSpPr>
        <p:spPr>
          <a:xfrm>
            <a:off x="9048750" y="1738312"/>
            <a:ext cx="452437" cy="142875"/>
          </a:xfrm>
          <a:custGeom>
            <a:avLst/>
            <a:gdLst/>
            <a:ahLst/>
            <a:cxnLst/>
            <a:rect l="l" t="t" r="r" b="b"/>
            <a:pathLst>
              <a:path w="57000" h="18000">
                <a:moveTo>
                  <a:pt x="0" y="6500"/>
                </a:moveTo>
                <a:lnTo>
                  <a:pt x="35000" y="6500"/>
                </a:lnTo>
                <a:lnTo>
                  <a:pt x="35000" y="0"/>
                </a:lnTo>
                <a:lnTo>
                  <a:pt x="57000" y="9000"/>
                </a:lnTo>
                <a:lnTo>
                  <a:pt x="35000" y="18000"/>
                </a:lnTo>
                <a:lnTo>
                  <a:pt x="350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u1" descr="Editable shape; source id u1"/>
          <p:cNvSpPr/>
          <p:nvPr/>
        </p:nvSpPr>
        <p:spPr>
          <a:xfrm>
            <a:off x="9517062" y="1309687"/>
            <a:ext cx="2428874" cy="1008062"/>
          </a:xfrm>
          <a:prstGeom prst="roundRect">
            <a:avLst>
              <a:gd name="adj" fmla="val 11023"/>
            </a:avLst>
          </a:prstGeom>
          <a:solidFill>
            <a:srgbClr val="F3F5F6"/>
          </a:solidFill>
          <a:ln w="19843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u1_t" descr="Editable text; source id u1_t"/>
          <p:cNvSpPr txBox="1"/>
          <p:nvPr/>
        </p:nvSpPr>
        <p:spPr>
          <a:xfrm>
            <a:off x="9628187" y="1452562"/>
            <a:ext cx="2206624" cy="722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直接条件复现</a:t>
            </a:r>
          </a:p>
        </p:txBody>
      </p:sp>
      <p:sp>
        <p:nvSpPr>
          <p:cNvPr id="81" name="u2_a" descr="Editable line; source id u2_a"/>
          <p:cNvSpPr/>
          <p:nvPr/>
        </p:nvSpPr>
        <p:spPr>
          <a:xfrm>
            <a:off x="9048750" y="3325812"/>
            <a:ext cx="460375" cy="142875"/>
          </a:xfrm>
          <a:custGeom>
            <a:avLst/>
            <a:gdLst/>
            <a:ahLst/>
            <a:cxnLst/>
            <a:rect l="l" t="t" r="r" b="b"/>
            <a:pathLst>
              <a:path w="58000" h="18000">
                <a:moveTo>
                  <a:pt x="0" y="6500"/>
                </a:moveTo>
                <a:lnTo>
                  <a:pt x="36000" y="6500"/>
                </a:lnTo>
                <a:lnTo>
                  <a:pt x="36000" y="0"/>
                </a:lnTo>
                <a:lnTo>
                  <a:pt x="58000" y="9000"/>
                </a:lnTo>
                <a:lnTo>
                  <a:pt x="36000" y="18000"/>
                </a:lnTo>
                <a:lnTo>
                  <a:pt x="360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u2" descr="Editable shape; source id u2"/>
          <p:cNvSpPr/>
          <p:nvPr/>
        </p:nvSpPr>
        <p:spPr>
          <a:xfrm>
            <a:off x="9524999" y="2889249"/>
            <a:ext cx="2436812" cy="1015999"/>
          </a:xfrm>
          <a:prstGeom prst="roundRect">
            <a:avLst>
              <a:gd name="adj" fmla="val 10937"/>
            </a:avLst>
          </a:prstGeom>
          <a:solidFill>
            <a:srgbClr val="F3F5F6"/>
          </a:solidFill>
          <a:ln w="19843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u2_t" descr="Editable text; source id u2_t"/>
          <p:cNvSpPr txBox="1"/>
          <p:nvPr/>
        </p:nvSpPr>
        <p:spPr>
          <a:xfrm>
            <a:off x="9636124" y="3032124"/>
            <a:ext cx="2214562" cy="730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谱系内相图与结构比较</a:t>
            </a:r>
          </a:p>
        </p:txBody>
      </p:sp>
      <p:sp>
        <p:nvSpPr>
          <p:cNvPr id="84" name="u3_a" descr="Editable line; source id u3_a"/>
          <p:cNvSpPr/>
          <p:nvPr/>
        </p:nvSpPr>
        <p:spPr>
          <a:xfrm>
            <a:off x="9048750" y="4889500"/>
            <a:ext cx="460375" cy="142875"/>
          </a:xfrm>
          <a:custGeom>
            <a:avLst/>
            <a:gdLst/>
            <a:ahLst/>
            <a:cxnLst/>
            <a:rect l="l" t="t" r="r" b="b"/>
            <a:pathLst>
              <a:path w="58000" h="18000">
                <a:moveTo>
                  <a:pt x="0" y="6500"/>
                </a:moveTo>
                <a:lnTo>
                  <a:pt x="36000" y="6500"/>
                </a:lnTo>
                <a:lnTo>
                  <a:pt x="36000" y="0"/>
                </a:lnTo>
                <a:lnTo>
                  <a:pt x="58000" y="9000"/>
                </a:lnTo>
                <a:lnTo>
                  <a:pt x="36000" y="18000"/>
                </a:lnTo>
                <a:lnTo>
                  <a:pt x="360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u3" descr="Editable shape; source id u3"/>
          <p:cNvSpPr/>
          <p:nvPr/>
        </p:nvSpPr>
        <p:spPr>
          <a:xfrm>
            <a:off x="9524999" y="4452937"/>
            <a:ext cx="2428874" cy="1023937"/>
          </a:xfrm>
          <a:prstGeom prst="roundRect">
            <a:avLst>
              <a:gd name="adj" fmla="val 10852"/>
            </a:avLst>
          </a:prstGeom>
          <a:solidFill>
            <a:srgbClr val="F3F5F6"/>
          </a:solidFill>
          <a:ln w="19843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u3_t" descr="Editable text; source id u3_t"/>
          <p:cNvSpPr txBox="1"/>
          <p:nvPr/>
        </p:nvSpPr>
        <p:spPr>
          <a:xfrm>
            <a:off x="9636124" y="4595812"/>
            <a:ext cx="2206624" cy="738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方法与变量结构</a:t>
            </a:r>
          </a:p>
        </p:txBody>
      </p:sp>
      <p:cxnSp>
        <p:nvCxnSpPr>
          <p:cNvPr id="87" name="ex1" descr="Editable line; source id ex1"/>
          <p:cNvCxnSpPr/>
          <p:nvPr/>
        </p:nvCxnSpPr>
        <p:spPr>
          <a:xfrm>
            <a:off x="3905249" y="6286499"/>
            <a:ext cx="2357438" cy="0"/>
          </a:xfrm>
          <a:prstGeom prst="line">
            <a:avLst/>
          </a:prstGeom>
          <a:ln w="23812">
            <a:solidFill>
              <a:srgbClr val="8A9199"/>
            </a:solidFill>
            <a:custDash>
              <a:ds d="466667" sp="3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expill" descr="Editable shape; source id expill"/>
          <p:cNvSpPr/>
          <p:nvPr/>
        </p:nvSpPr>
        <p:spPr>
          <a:xfrm>
            <a:off x="6278562" y="6103937"/>
            <a:ext cx="888999" cy="404812"/>
          </a:xfrm>
          <a:prstGeom prst="roundRect">
            <a:avLst>
              <a:gd name="adj" fmla="val 49019"/>
            </a:avLst>
          </a:prstGeom>
          <a:solidFill>
            <a:srgbClr val="E9ECEF"/>
          </a:solidFill>
          <a:ln w="11906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xpill_t" descr="Editable text; source id expill_t"/>
          <p:cNvSpPr txBox="1"/>
          <p:nvPr/>
        </p:nvSpPr>
        <p:spPr>
          <a:xfrm>
            <a:off x="6342062" y="6151562"/>
            <a:ext cx="761999" cy="309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排除</a:t>
            </a:r>
          </a:p>
        </p:txBody>
      </p:sp>
      <p:cxnSp>
        <p:nvCxnSpPr>
          <p:cNvPr id="90" name="ex2" descr="Editable line; source id ex2"/>
          <p:cNvCxnSpPr/>
          <p:nvPr/>
        </p:nvCxnSpPr>
        <p:spPr>
          <a:xfrm>
            <a:off x="7183437" y="6286499"/>
            <a:ext cx="2024062" cy="0"/>
          </a:xfrm>
          <a:prstGeom prst="line">
            <a:avLst/>
          </a:prstGeom>
          <a:ln w="23812">
            <a:solidFill>
              <a:srgbClr val="8A9199"/>
            </a:solidFill>
            <a:custDash>
              <a:ds d="466667" sp="3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u4" descr="Editable shape; source id u4"/>
          <p:cNvSpPr/>
          <p:nvPr/>
        </p:nvSpPr>
        <p:spPr>
          <a:xfrm>
            <a:off x="9223374" y="5818187"/>
            <a:ext cx="2722562" cy="976312"/>
          </a:xfrm>
          <a:prstGeom prst="roundRect">
            <a:avLst>
              <a:gd name="adj" fmla="val 11382"/>
            </a:avLst>
          </a:prstGeom>
          <a:solidFill>
            <a:srgbClr val="E3E7EA"/>
          </a:solidFill>
          <a:ln w="19843">
            <a:solidFill>
              <a:srgbClr val="8A9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u4_t" descr="Editable text; source id u4_t"/>
          <p:cNvSpPr txBox="1"/>
          <p:nvPr/>
        </p:nvSpPr>
        <p:spPr>
          <a:xfrm>
            <a:off x="9334499" y="5961062"/>
            <a:ext cx="2500312" cy="690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划定研究范围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