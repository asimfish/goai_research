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226343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2 不同合成方法的条件比较与产物表征（第六轮：印刷字号 + 内容定尺寸） [paper=byzso] [print_width_pt=451.4]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T" descr="Editable shape; source id zT"/>
          <p:cNvSpPr/>
          <p:nvPr/>
        </p:nvSpPr>
        <p:spPr>
          <a:xfrm>
            <a:off x="206374" y="206374"/>
            <a:ext cx="11779249" cy="4595812"/>
          </a:xfrm>
          <a:prstGeom prst="roundRect">
            <a:avLst>
              <a:gd name="adj" fmla="val 2417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T_l" descr="Editable text; source id zT_l"/>
          <p:cNvSpPr txBox="1"/>
          <p:nvPr/>
        </p:nvSpPr>
        <p:spPr>
          <a:xfrm>
            <a:off x="349249" y="285749"/>
            <a:ext cx="2643187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7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Experimental Items</a:t>
            </a:r>
          </a:p>
        </p:txBody>
      </p:sp>
      <p:sp>
        <p:nvSpPr>
          <p:cNvPr id="4" name="leg" descr="Editable shape; source id leg"/>
          <p:cNvSpPr/>
          <p:nvPr/>
        </p:nvSpPr>
        <p:spPr>
          <a:xfrm>
            <a:off x="8683624" y="285749"/>
            <a:ext cx="3167062" cy="380999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 w="12699">
            <a:solidFill>
              <a:srgbClr val="9AA3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g_t" descr="Editable text; source id leg_t"/>
          <p:cNvSpPr txBox="1"/>
          <p:nvPr/>
        </p:nvSpPr>
        <p:spPr>
          <a:xfrm>
            <a:off x="8762999" y="317499"/>
            <a:ext cx="3008312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Dashed = process reference</a:t>
            </a:r>
          </a:p>
        </p:txBody>
      </p:sp>
      <p:sp>
        <p:nvSpPr>
          <p:cNvPr id="6" name="r1" descr="Editable shape; source id r1"/>
          <p:cNvSpPr/>
          <p:nvPr/>
        </p:nvSpPr>
        <p:spPr>
          <a:xfrm>
            <a:off x="333374" y="746124"/>
            <a:ext cx="2238374" cy="392906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1_b" descr="Editable shape; source id r1_b"/>
          <p:cNvSpPr/>
          <p:nvPr/>
        </p:nvSpPr>
        <p:spPr>
          <a:xfrm>
            <a:off x="333374" y="746124"/>
            <a:ext cx="47624" cy="3929062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1_t" descr="Editable text; source id r1_t"/>
          <p:cNvSpPr txBox="1"/>
          <p:nvPr/>
        </p:nvSpPr>
        <p:spPr>
          <a:xfrm>
            <a:off x="460374" y="841374"/>
            <a:ext cx="2031999" cy="746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External Flux</a:t>
            </a:r>
          </a:p>
        </p:txBody>
      </p:sp>
      <p:cxnSp>
        <p:nvCxnSpPr>
          <p:cNvPr id="9" name="r1_g_b_0" descr="Editable line; source id r1_g_b_0"/>
          <p:cNvCxnSpPr/>
          <p:nvPr/>
        </p:nvCxnSpPr>
        <p:spPr>
          <a:xfrm>
            <a:off x="1381124" y="1682749"/>
            <a:ext cx="0" cy="2698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1_g_b_1" descr="Editable line; source id r1_g_b_1"/>
          <p:cNvCxnSpPr/>
          <p:nvPr/>
        </p:nvCxnSpPr>
        <p:spPr>
          <a:xfrm>
            <a:off x="1381124" y="1952624"/>
            <a:ext cx="39688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1_g_b_2" descr="Editable line; source id r1_g_b_2"/>
          <p:cNvCxnSpPr/>
          <p:nvPr/>
        </p:nvCxnSpPr>
        <p:spPr>
          <a:xfrm>
            <a:off x="1420812" y="1984374"/>
            <a:ext cx="1111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1_g_b_3" descr="Editable line; source id r1_g_b_3"/>
          <p:cNvCxnSpPr/>
          <p:nvPr/>
        </p:nvCxnSpPr>
        <p:spPr>
          <a:xfrm flipV="1">
            <a:off x="1531937" y="1952624"/>
            <a:ext cx="39687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1_g_b_4" descr="Editable line; source id r1_g_b_4"/>
          <p:cNvCxnSpPr/>
          <p:nvPr/>
        </p:nvCxnSpPr>
        <p:spPr>
          <a:xfrm flipV="1">
            <a:off x="1571624" y="1682749"/>
            <a:ext cx="0" cy="2698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1_g_t" descr="Editable line; source id r1_g_t"/>
          <p:cNvCxnSpPr/>
          <p:nvPr/>
        </p:nvCxnSpPr>
        <p:spPr>
          <a:xfrm>
            <a:off x="1357312" y="1682749"/>
            <a:ext cx="2381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1_g_d1" descr="Editable shape; source id r1_g_d1"/>
          <p:cNvSpPr/>
          <p:nvPr/>
        </p:nvSpPr>
        <p:spPr>
          <a:xfrm>
            <a:off x="1428749" y="1849437"/>
            <a:ext cx="31749" cy="31749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1_g_d2" descr="Editable shape; source id r1_g_d2"/>
          <p:cNvSpPr/>
          <p:nvPr/>
        </p:nvSpPr>
        <p:spPr>
          <a:xfrm>
            <a:off x="1492249" y="1889124"/>
            <a:ext cx="23812" cy="2381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1c_t0" descr="Editable shape; source id r1c_t0"/>
          <p:cNvSpPr/>
          <p:nvPr/>
        </p:nvSpPr>
        <p:spPr>
          <a:xfrm>
            <a:off x="460374" y="2111374"/>
            <a:ext cx="20319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1c_t0_t" descr="Editable text; source id r1c_t0_t"/>
          <p:cNvSpPr txBox="1"/>
          <p:nvPr/>
        </p:nvSpPr>
        <p:spPr>
          <a:xfrm>
            <a:off x="515937" y="2143124"/>
            <a:ext cx="19208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Dissolve</a:t>
            </a:r>
          </a:p>
        </p:txBody>
      </p:sp>
      <p:sp>
        <p:nvSpPr>
          <p:cNvPr id="19" name="r1c_t1" descr="Editable shape; source id r1c_t1"/>
          <p:cNvSpPr/>
          <p:nvPr/>
        </p:nvSpPr>
        <p:spPr>
          <a:xfrm>
            <a:off x="460374" y="2976562"/>
            <a:ext cx="20319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1c_t1_t" descr="Editable text; source id r1c_t1_t"/>
          <p:cNvSpPr txBox="1"/>
          <p:nvPr/>
        </p:nvSpPr>
        <p:spPr>
          <a:xfrm>
            <a:off x="515937" y="3008312"/>
            <a:ext cx="19208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Dwell</a:t>
            </a:r>
          </a:p>
        </p:txBody>
      </p:sp>
      <p:sp>
        <p:nvSpPr>
          <p:cNvPr id="21" name="r1c_a1" descr="Editable line; source id r1c_a1"/>
          <p:cNvSpPr/>
          <p:nvPr/>
        </p:nvSpPr>
        <p:spPr>
          <a:xfrm>
            <a:off x="1452801" y="2857500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1c_t2" descr="Editable shape; source id r1c_t2"/>
          <p:cNvSpPr/>
          <p:nvPr/>
        </p:nvSpPr>
        <p:spPr>
          <a:xfrm>
            <a:off x="460374" y="3841749"/>
            <a:ext cx="20319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1c_t2_t" descr="Editable text; source id r1c_t2_t"/>
          <p:cNvSpPr txBox="1"/>
          <p:nvPr/>
        </p:nvSpPr>
        <p:spPr>
          <a:xfrm>
            <a:off x="515937" y="3873499"/>
            <a:ext cx="19208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Slow cool, separate</a:t>
            </a:r>
          </a:p>
        </p:txBody>
      </p:sp>
      <p:sp>
        <p:nvSpPr>
          <p:cNvPr id="24" name="r1c_a2" descr="Editable line; source id r1c_a2"/>
          <p:cNvSpPr/>
          <p:nvPr/>
        </p:nvSpPr>
        <p:spPr>
          <a:xfrm>
            <a:off x="1452801" y="3722687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2" descr="Editable shape; source id r2"/>
          <p:cNvSpPr/>
          <p:nvPr/>
        </p:nvSpPr>
        <p:spPr>
          <a:xfrm>
            <a:off x="2651124" y="746124"/>
            <a:ext cx="2238374" cy="392906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2_b" descr="Editable shape; source id r2_b"/>
          <p:cNvSpPr/>
          <p:nvPr/>
        </p:nvSpPr>
        <p:spPr>
          <a:xfrm>
            <a:off x="2651124" y="746124"/>
            <a:ext cx="47624" cy="3929062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2_t" descr="Editable text; source id r2_t"/>
          <p:cNvSpPr txBox="1"/>
          <p:nvPr/>
        </p:nvSpPr>
        <p:spPr>
          <a:xfrm>
            <a:off x="2778124" y="841374"/>
            <a:ext cx="2031999" cy="746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Self-Flux / Melt</a:t>
            </a:r>
          </a:p>
        </p:txBody>
      </p:sp>
      <p:cxnSp>
        <p:nvCxnSpPr>
          <p:cNvPr id="28" name="r2_g_b_0" descr="Editable line; source id r2_g_b_0"/>
          <p:cNvCxnSpPr/>
          <p:nvPr/>
        </p:nvCxnSpPr>
        <p:spPr>
          <a:xfrm>
            <a:off x="3651249" y="1730374"/>
            <a:ext cx="47625" cy="2381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r2_g_b_1" descr="Editable line; source id r2_g_b_1"/>
          <p:cNvCxnSpPr/>
          <p:nvPr/>
        </p:nvCxnSpPr>
        <p:spPr>
          <a:xfrm>
            <a:off x="3698874" y="1968499"/>
            <a:ext cx="190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2_g_b_2" descr="Editable line; source id r2_g_b_2"/>
          <p:cNvCxnSpPr/>
          <p:nvPr/>
        </p:nvCxnSpPr>
        <p:spPr>
          <a:xfrm flipV="1">
            <a:off x="3889374" y="1730374"/>
            <a:ext cx="47625" cy="2381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2_g_r" descr="Editable line; source id r2_g_r"/>
          <p:cNvCxnSpPr/>
          <p:nvPr/>
        </p:nvCxnSpPr>
        <p:spPr>
          <a:xfrm>
            <a:off x="3627437" y="1730374"/>
            <a:ext cx="333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2_g_w_0" descr="Editable line; source id r2_g_w_0"/>
          <p:cNvCxnSpPr/>
          <p:nvPr/>
        </p:nvCxnSpPr>
        <p:spPr>
          <a:xfrm flipV="1">
            <a:off x="3682999" y="1785937"/>
            <a:ext cx="47625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2_g_w_1" descr="Editable line; source id r2_g_w_1"/>
          <p:cNvCxnSpPr/>
          <p:nvPr/>
        </p:nvCxnSpPr>
        <p:spPr>
          <a:xfrm>
            <a:off x="3730624" y="1785937"/>
            <a:ext cx="63500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2_g_w_2" descr="Editable line; source id r2_g_w_2"/>
          <p:cNvCxnSpPr/>
          <p:nvPr/>
        </p:nvCxnSpPr>
        <p:spPr>
          <a:xfrm flipV="1">
            <a:off x="3794124" y="1785937"/>
            <a:ext cx="63500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2_g_w_3" descr="Editable line; source id r2_g_w_3"/>
          <p:cNvCxnSpPr/>
          <p:nvPr/>
        </p:nvCxnSpPr>
        <p:spPr>
          <a:xfrm>
            <a:off x="3857624" y="1785937"/>
            <a:ext cx="47625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2c_t0" descr="Editable shape; source id r2c_t0"/>
          <p:cNvSpPr/>
          <p:nvPr/>
        </p:nvSpPr>
        <p:spPr>
          <a:xfrm>
            <a:off x="2778124" y="2111374"/>
            <a:ext cx="20319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2c_t0_t" descr="Editable text; source id r2c_t0_t"/>
          <p:cNvSpPr txBox="1"/>
          <p:nvPr/>
        </p:nvSpPr>
        <p:spPr>
          <a:xfrm>
            <a:off x="2833687" y="2143124"/>
            <a:ext cx="19208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Homogenize</a:t>
            </a:r>
          </a:p>
        </p:txBody>
      </p:sp>
      <p:sp>
        <p:nvSpPr>
          <p:cNvPr id="38" name="r2c_t1" descr="Editable shape; source id r2c_t1"/>
          <p:cNvSpPr/>
          <p:nvPr/>
        </p:nvSpPr>
        <p:spPr>
          <a:xfrm>
            <a:off x="2778124" y="2976562"/>
            <a:ext cx="20319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2c_t1_t" descr="Editable text; source id r2c_t1_t"/>
          <p:cNvSpPr txBox="1"/>
          <p:nvPr/>
        </p:nvSpPr>
        <p:spPr>
          <a:xfrm>
            <a:off x="2833687" y="3008312"/>
            <a:ext cx="19208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Nucleate</a:t>
            </a:r>
          </a:p>
        </p:txBody>
      </p:sp>
      <p:sp>
        <p:nvSpPr>
          <p:cNvPr id="40" name="r2c_a1" descr="Editable line; source id r2c_a1"/>
          <p:cNvSpPr/>
          <p:nvPr/>
        </p:nvSpPr>
        <p:spPr>
          <a:xfrm>
            <a:off x="3770551" y="2857500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2c_t2" descr="Editable shape; source id r2c_t2"/>
          <p:cNvSpPr/>
          <p:nvPr/>
        </p:nvSpPr>
        <p:spPr>
          <a:xfrm>
            <a:off x="2778124" y="3841749"/>
            <a:ext cx="20319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2c_t2_t" descr="Editable text; source id r2c_t2_t"/>
          <p:cNvSpPr txBox="1"/>
          <p:nvPr/>
        </p:nvSpPr>
        <p:spPr>
          <a:xfrm>
            <a:off x="2833687" y="3873499"/>
            <a:ext cx="19208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Controlled cooling</a:t>
            </a:r>
          </a:p>
        </p:txBody>
      </p:sp>
      <p:sp>
        <p:nvSpPr>
          <p:cNvPr id="43" name="r2c_a2" descr="Editable line; source id r2c_a2"/>
          <p:cNvSpPr/>
          <p:nvPr/>
        </p:nvSpPr>
        <p:spPr>
          <a:xfrm>
            <a:off x="3770551" y="3722687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3" descr="Editable shape; source id r3"/>
          <p:cNvSpPr/>
          <p:nvPr/>
        </p:nvSpPr>
        <p:spPr>
          <a:xfrm>
            <a:off x="4968874" y="746124"/>
            <a:ext cx="2238374" cy="392906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3_b" descr="Editable shape; source id r3_b"/>
          <p:cNvSpPr/>
          <p:nvPr/>
        </p:nvSpPr>
        <p:spPr>
          <a:xfrm>
            <a:off x="4968874" y="746124"/>
            <a:ext cx="47624" cy="3929062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3_t" descr="Editable text; source id r3_t"/>
          <p:cNvSpPr txBox="1"/>
          <p:nvPr/>
        </p:nvSpPr>
        <p:spPr>
          <a:xfrm>
            <a:off x="5095874" y="841374"/>
            <a:ext cx="2031999" cy="746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Solid-State </a:t>
            </a:r>
          </a:p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Ceramic</a:t>
            </a:r>
          </a:p>
        </p:txBody>
      </p:sp>
      <p:sp>
        <p:nvSpPr>
          <p:cNvPr id="47" name="r3_g_e1" descr="Editable shape; source id r3_g_e1"/>
          <p:cNvSpPr/>
          <p:nvPr/>
        </p:nvSpPr>
        <p:spPr>
          <a:xfrm>
            <a:off x="5984874" y="1730374"/>
            <a:ext cx="261937" cy="79374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r3_g_s1" descr="Editable line; source id r3_g_s1"/>
          <p:cNvCxnSpPr/>
          <p:nvPr/>
        </p:nvCxnSpPr>
        <p:spPr>
          <a:xfrm>
            <a:off x="5984874" y="1770062"/>
            <a:ext cx="0" cy="1111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r3_g_s2" descr="Editable line; source id r3_g_s2"/>
          <p:cNvCxnSpPr/>
          <p:nvPr/>
        </p:nvCxnSpPr>
        <p:spPr>
          <a:xfrm>
            <a:off x="6238874" y="1770062"/>
            <a:ext cx="0" cy="1111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3_g_e2" descr="Editable shape; source id r3_g_e2"/>
          <p:cNvSpPr/>
          <p:nvPr/>
        </p:nvSpPr>
        <p:spPr>
          <a:xfrm>
            <a:off x="5984874" y="1841499"/>
            <a:ext cx="261937" cy="79374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3c_t0" descr="Editable shape; source id r3c_t0"/>
          <p:cNvSpPr/>
          <p:nvPr/>
        </p:nvSpPr>
        <p:spPr>
          <a:xfrm>
            <a:off x="5095874" y="2111374"/>
            <a:ext cx="20319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3c_t0_t" descr="Editable text; source id r3c_t0_t"/>
          <p:cNvSpPr txBox="1"/>
          <p:nvPr/>
        </p:nvSpPr>
        <p:spPr>
          <a:xfrm>
            <a:off x="5151437" y="2143124"/>
            <a:ext cx="19208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Mix and press</a:t>
            </a:r>
          </a:p>
        </p:txBody>
      </p:sp>
      <p:sp>
        <p:nvSpPr>
          <p:cNvPr id="53" name="r3c_t1" descr="Editable shape; source id r3c_t1"/>
          <p:cNvSpPr/>
          <p:nvPr/>
        </p:nvSpPr>
        <p:spPr>
          <a:xfrm>
            <a:off x="5095874" y="2976562"/>
            <a:ext cx="20319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3c_t1_t" descr="Editable text; source id r3c_t1_t"/>
          <p:cNvSpPr txBox="1"/>
          <p:nvPr/>
        </p:nvSpPr>
        <p:spPr>
          <a:xfrm>
            <a:off x="5151437" y="3008312"/>
            <a:ext cx="19208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Calcine, regrind</a:t>
            </a:r>
          </a:p>
        </p:txBody>
      </p:sp>
      <p:sp>
        <p:nvSpPr>
          <p:cNvPr id="55" name="r3c_a1" descr="Editable line; source id r3c_a1"/>
          <p:cNvSpPr/>
          <p:nvPr/>
        </p:nvSpPr>
        <p:spPr>
          <a:xfrm>
            <a:off x="6088300" y="2857500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3c_t2" descr="Editable shape; source id r3c_t2"/>
          <p:cNvSpPr/>
          <p:nvPr/>
        </p:nvSpPr>
        <p:spPr>
          <a:xfrm>
            <a:off x="5095874" y="3841749"/>
            <a:ext cx="20319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3c_t2_t" descr="Editable text; source id r3c_t2_t"/>
          <p:cNvSpPr txBox="1"/>
          <p:nvPr/>
        </p:nvSpPr>
        <p:spPr>
          <a:xfrm>
            <a:off x="5151437" y="3873499"/>
            <a:ext cx="19208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Sinter</a:t>
            </a:r>
          </a:p>
        </p:txBody>
      </p:sp>
      <p:sp>
        <p:nvSpPr>
          <p:cNvPr id="58" name="r3c_a2" descr="Editable line; source id r3c_a2"/>
          <p:cNvSpPr/>
          <p:nvPr/>
        </p:nvSpPr>
        <p:spPr>
          <a:xfrm>
            <a:off x="6088300" y="3722687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4" descr="Editable shape; source id r4"/>
          <p:cNvSpPr/>
          <p:nvPr/>
        </p:nvSpPr>
        <p:spPr>
          <a:xfrm>
            <a:off x="7286624" y="746124"/>
            <a:ext cx="2238374" cy="392906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4_b" descr="Editable shape; source id r4_b"/>
          <p:cNvSpPr/>
          <p:nvPr/>
        </p:nvSpPr>
        <p:spPr>
          <a:xfrm>
            <a:off x="7286624" y="746124"/>
            <a:ext cx="47624" cy="3929062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4_t" descr="Editable text; source id r4_t"/>
          <p:cNvSpPr txBox="1"/>
          <p:nvPr/>
        </p:nvSpPr>
        <p:spPr>
          <a:xfrm>
            <a:off x="7413624" y="841374"/>
            <a:ext cx="2031999" cy="746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Mechanical </a:t>
            </a:r>
          </a:p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Activation</a:t>
            </a:r>
          </a:p>
        </p:txBody>
      </p:sp>
      <p:sp>
        <p:nvSpPr>
          <p:cNvPr id="62" name="r4_g_j" descr="Editable shape; source id r4_g_j"/>
          <p:cNvSpPr/>
          <p:nvPr/>
        </p:nvSpPr>
        <p:spPr>
          <a:xfrm>
            <a:off x="8318499" y="1722437"/>
            <a:ext cx="230187" cy="246062"/>
          </a:xfrm>
          <a:prstGeom prst="roundRect">
            <a:avLst>
              <a:gd name="adj" fmla="val 16551"/>
            </a:avLst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r4_g_c" descr="Editable line; source id r4_g_c"/>
          <p:cNvCxnSpPr/>
          <p:nvPr/>
        </p:nvCxnSpPr>
        <p:spPr>
          <a:xfrm>
            <a:off x="8318499" y="1762124"/>
            <a:ext cx="222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4_g_b0" descr="Editable shape; source id r4_g_b0"/>
          <p:cNvSpPr/>
          <p:nvPr/>
        </p:nvSpPr>
        <p:spPr>
          <a:xfrm>
            <a:off x="8342312" y="1817687"/>
            <a:ext cx="63499" cy="63499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4_g_b1" descr="Editable shape; source id r4_g_b1"/>
          <p:cNvSpPr/>
          <p:nvPr/>
        </p:nvSpPr>
        <p:spPr>
          <a:xfrm>
            <a:off x="8429624" y="1793874"/>
            <a:ext cx="63499" cy="63499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4_g_b2" descr="Editable shape; source id r4_g_b2"/>
          <p:cNvSpPr/>
          <p:nvPr/>
        </p:nvSpPr>
        <p:spPr>
          <a:xfrm>
            <a:off x="8397874" y="1881187"/>
            <a:ext cx="63499" cy="63499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4c_t0" descr="Editable shape; source id r4c_t0"/>
          <p:cNvSpPr/>
          <p:nvPr/>
        </p:nvSpPr>
        <p:spPr>
          <a:xfrm>
            <a:off x="7413624" y="2111374"/>
            <a:ext cx="20319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4c_t0_t" descr="Editable text; source id r4c_t0_t"/>
          <p:cNvSpPr txBox="1"/>
          <p:nvPr/>
        </p:nvSpPr>
        <p:spPr>
          <a:xfrm>
            <a:off x="7469187" y="2143124"/>
            <a:ext cx="19208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High-energy mill</a:t>
            </a:r>
          </a:p>
        </p:txBody>
      </p:sp>
      <p:sp>
        <p:nvSpPr>
          <p:cNvPr id="69" name="r4c_t1" descr="Editable shape; source id r4c_t1"/>
          <p:cNvSpPr/>
          <p:nvPr/>
        </p:nvSpPr>
        <p:spPr>
          <a:xfrm>
            <a:off x="7413624" y="2976562"/>
            <a:ext cx="20319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4c_t1_t" descr="Editable text; source id r4c_t1_t"/>
          <p:cNvSpPr txBox="1"/>
          <p:nvPr/>
        </p:nvSpPr>
        <p:spPr>
          <a:xfrm>
            <a:off x="7469187" y="3008312"/>
            <a:ext cx="19208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Activate</a:t>
            </a:r>
          </a:p>
        </p:txBody>
      </p:sp>
      <p:sp>
        <p:nvSpPr>
          <p:cNvPr id="71" name="r4c_a1" descr="Editable line; source id r4c_a1"/>
          <p:cNvSpPr/>
          <p:nvPr/>
        </p:nvSpPr>
        <p:spPr>
          <a:xfrm>
            <a:off x="8406050" y="2857500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4c_t2" descr="Editable shape; source id r4c_t2"/>
          <p:cNvSpPr/>
          <p:nvPr/>
        </p:nvSpPr>
        <p:spPr>
          <a:xfrm>
            <a:off x="7413624" y="3841749"/>
            <a:ext cx="20319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4c_t2_t" descr="Editable text; source id r4c_t2_t"/>
          <p:cNvSpPr txBox="1"/>
          <p:nvPr/>
        </p:nvSpPr>
        <p:spPr>
          <a:xfrm>
            <a:off x="7469187" y="3873499"/>
            <a:ext cx="19208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Phase formation</a:t>
            </a:r>
          </a:p>
        </p:txBody>
      </p:sp>
      <p:sp>
        <p:nvSpPr>
          <p:cNvPr id="74" name="r4c_a2" descr="Editable line; source id r4c_a2"/>
          <p:cNvSpPr/>
          <p:nvPr/>
        </p:nvSpPr>
        <p:spPr>
          <a:xfrm>
            <a:off x="8406050" y="3722687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5" descr="Editable shape; source id r5"/>
          <p:cNvSpPr/>
          <p:nvPr/>
        </p:nvSpPr>
        <p:spPr>
          <a:xfrm>
            <a:off x="9604374" y="746124"/>
            <a:ext cx="2238374" cy="392906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5081">
            <a:solidFill>
              <a:srgbClr val="9AA3AB"/>
            </a:solidFill>
            <a:custDash>
              <a:ds d="631579" sp="42105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5_t" descr="Editable text; source id r5_t"/>
          <p:cNvSpPr txBox="1"/>
          <p:nvPr/>
        </p:nvSpPr>
        <p:spPr>
          <a:xfrm>
            <a:off x="9731374" y="841374"/>
            <a:ext cx="2031999" cy="746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Czochralski</a:t>
            </a:r>
          </a:p>
        </p:txBody>
      </p:sp>
      <p:cxnSp>
        <p:nvCxnSpPr>
          <p:cNvPr id="77" name="r5_g_r" descr="Editable line; source id r5_g_r"/>
          <p:cNvCxnSpPr/>
          <p:nvPr/>
        </p:nvCxnSpPr>
        <p:spPr>
          <a:xfrm>
            <a:off x="10747374" y="1658937"/>
            <a:ext cx="0" cy="1031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r5_g_c_0" descr="Editable line; source id r5_g_c_0"/>
          <p:cNvCxnSpPr/>
          <p:nvPr/>
        </p:nvCxnSpPr>
        <p:spPr>
          <a:xfrm>
            <a:off x="10747374" y="1762124"/>
            <a:ext cx="55563" cy="71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r5_g_c_1" descr="Editable line; source id r5_g_c_1"/>
          <p:cNvCxnSpPr/>
          <p:nvPr/>
        </p:nvCxnSpPr>
        <p:spPr>
          <a:xfrm flipH="1">
            <a:off x="10747374" y="1833562"/>
            <a:ext cx="55563" cy="714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r5_g_c_2" descr="Editable line; source id r5_g_c_2"/>
          <p:cNvCxnSpPr/>
          <p:nvPr/>
        </p:nvCxnSpPr>
        <p:spPr>
          <a:xfrm flipH="1" flipV="1">
            <a:off x="10691812" y="1833562"/>
            <a:ext cx="55562" cy="714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r5_g_c_3" descr="Editable line; source id r5_g_c_3"/>
          <p:cNvCxnSpPr/>
          <p:nvPr/>
        </p:nvCxnSpPr>
        <p:spPr>
          <a:xfrm flipV="1">
            <a:off x="10691812" y="1762124"/>
            <a:ext cx="55562" cy="71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r5_g_m_0" descr="Editable line; source id r5_g_m_0"/>
          <p:cNvCxnSpPr/>
          <p:nvPr/>
        </p:nvCxnSpPr>
        <p:spPr>
          <a:xfrm>
            <a:off x="10652124" y="1920874"/>
            <a:ext cx="15875" cy="635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r5_g_m_1" descr="Editable line; source id r5_g_m_1"/>
          <p:cNvCxnSpPr/>
          <p:nvPr/>
        </p:nvCxnSpPr>
        <p:spPr>
          <a:xfrm>
            <a:off x="10667999" y="1984374"/>
            <a:ext cx="1587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r5_g_m_2" descr="Editable line; source id r5_g_m_2"/>
          <p:cNvCxnSpPr/>
          <p:nvPr/>
        </p:nvCxnSpPr>
        <p:spPr>
          <a:xfrm flipV="1">
            <a:off x="10826749" y="1920874"/>
            <a:ext cx="15875" cy="635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r5_g_t" descr="Editable line; source id r5_g_t"/>
          <p:cNvCxnSpPr/>
          <p:nvPr/>
        </p:nvCxnSpPr>
        <p:spPr>
          <a:xfrm>
            <a:off x="10628312" y="1920874"/>
            <a:ext cx="2381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5c_t0" descr="Editable shape; source id r5c_t0"/>
          <p:cNvSpPr/>
          <p:nvPr/>
        </p:nvSpPr>
        <p:spPr>
          <a:xfrm>
            <a:off x="9731374" y="2111374"/>
            <a:ext cx="20319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5c_t0_t" descr="Editable text; source id r5c_t0_t"/>
          <p:cNvSpPr txBox="1"/>
          <p:nvPr/>
        </p:nvSpPr>
        <p:spPr>
          <a:xfrm>
            <a:off x="9786937" y="2143124"/>
            <a:ext cx="19208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Pre-melt</a:t>
            </a:r>
          </a:p>
        </p:txBody>
      </p:sp>
      <p:sp>
        <p:nvSpPr>
          <p:cNvPr id="88" name="r5c_t1" descr="Editable shape; source id r5c_t1"/>
          <p:cNvSpPr/>
          <p:nvPr/>
        </p:nvSpPr>
        <p:spPr>
          <a:xfrm>
            <a:off x="9731374" y="2976562"/>
            <a:ext cx="20319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5c_t1_t" descr="Editable text; source id r5c_t1_t"/>
          <p:cNvSpPr txBox="1"/>
          <p:nvPr/>
        </p:nvSpPr>
        <p:spPr>
          <a:xfrm>
            <a:off x="9786937" y="3008312"/>
            <a:ext cx="19208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Seed pull</a:t>
            </a:r>
          </a:p>
        </p:txBody>
      </p:sp>
      <p:sp>
        <p:nvSpPr>
          <p:cNvPr id="90" name="r5c_a1" descr="Editable line; source id r5c_a1"/>
          <p:cNvSpPr/>
          <p:nvPr/>
        </p:nvSpPr>
        <p:spPr>
          <a:xfrm>
            <a:off x="10723800" y="2857500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5c_t2" descr="Editable shape; source id r5c_t2"/>
          <p:cNvSpPr/>
          <p:nvPr/>
        </p:nvSpPr>
        <p:spPr>
          <a:xfrm>
            <a:off x="9731374" y="3841749"/>
            <a:ext cx="20319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5c_t2_t" descr="Editable text; source id r5c_t2_t"/>
          <p:cNvSpPr txBox="1"/>
          <p:nvPr/>
        </p:nvSpPr>
        <p:spPr>
          <a:xfrm>
            <a:off x="9786937" y="3873499"/>
            <a:ext cx="19208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Anneal</a:t>
            </a:r>
          </a:p>
        </p:txBody>
      </p:sp>
      <p:sp>
        <p:nvSpPr>
          <p:cNvPr id="93" name="r5c_a2" descr="Editable line; source id r5c_a2"/>
          <p:cNvSpPr/>
          <p:nvPr/>
        </p:nvSpPr>
        <p:spPr>
          <a:xfrm>
            <a:off x="10723800" y="3722687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4070" y="0"/>
                </a:moveTo>
                <a:lnTo>
                  <a:pt x="40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1870" y="5400"/>
                </a:lnTo>
                <a:lnTo>
                  <a:pt x="187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zM" descr="Editable shape; source id zM"/>
          <p:cNvSpPr/>
          <p:nvPr/>
        </p:nvSpPr>
        <p:spPr>
          <a:xfrm>
            <a:off x="206374" y="5992812"/>
            <a:ext cx="11779249" cy="2452687"/>
          </a:xfrm>
          <a:prstGeom prst="roundRect">
            <a:avLst>
              <a:gd name="adj" fmla="val 4530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zM_l" descr="Editable text; source id zM_l"/>
          <p:cNvSpPr txBox="1"/>
          <p:nvPr/>
        </p:nvSpPr>
        <p:spPr>
          <a:xfrm>
            <a:off x="349249" y="6072187"/>
            <a:ext cx="2778124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7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Literature Evidence</a:t>
            </a:r>
          </a:p>
        </p:txBody>
      </p:sp>
      <p:sp>
        <p:nvSpPr>
          <p:cNvPr id="96" name="led" descr="Editable shape; source id led"/>
          <p:cNvSpPr/>
          <p:nvPr/>
        </p:nvSpPr>
        <p:spPr>
          <a:xfrm>
            <a:off x="333374" y="6532562"/>
            <a:ext cx="11525249" cy="17859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led_b" descr="Editable shape; source id led_b"/>
          <p:cNvSpPr/>
          <p:nvPr/>
        </p:nvSpPr>
        <p:spPr>
          <a:xfrm>
            <a:off x="333374" y="6532562"/>
            <a:ext cx="47624" cy="178593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led_t" descr="Editable text; source id led_t"/>
          <p:cNvSpPr txBox="1"/>
          <p:nvPr/>
        </p:nvSpPr>
        <p:spPr>
          <a:xfrm>
            <a:off x="492124" y="6643687"/>
            <a:ext cx="3444874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Unified Experiment Record</a:t>
            </a:r>
          </a:p>
        </p:txBody>
      </p:sp>
      <p:sp>
        <p:nvSpPr>
          <p:cNvPr id="99" name="cav" descr="Editable shape; source id cav"/>
          <p:cNvSpPr/>
          <p:nvPr/>
        </p:nvSpPr>
        <p:spPr>
          <a:xfrm>
            <a:off x="9445624" y="6635749"/>
            <a:ext cx="2285999" cy="380999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12699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cav_t" descr="Editable text; source id cav_t"/>
          <p:cNvSpPr txBox="1"/>
          <p:nvPr/>
        </p:nvSpPr>
        <p:spPr>
          <a:xfrm>
            <a:off x="9524999" y="6667499"/>
            <a:ext cx="212724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Framework ≠ recipe</a:t>
            </a:r>
          </a:p>
        </p:txBody>
      </p:sp>
      <p:sp>
        <p:nvSpPr>
          <p:cNvPr id="101" name="cl0_g_s0" descr="Editable shape; source id cl0_g_s0"/>
          <p:cNvSpPr/>
          <p:nvPr/>
        </p:nvSpPr>
        <p:spPr>
          <a:xfrm>
            <a:off x="1484312" y="7135812"/>
            <a:ext cx="174624" cy="26193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l0_g_l1" descr="Editable line; source id cl0_g_l1"/>
          <p:cNvCxnSpPr/>
          <p:nvPr/>
        </p:nvCxnSpPr>
        <p:spPr>
          <a:xfrm>
            <a:off x="1523999" y="7231062"/>
            <a:ext cx="1190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l0_g_l2" descr="Editable line; source id cl0_g_l2"/>
          <p:cNvCxnSpPr/>
          <p:nvPr/>
        </p:nvCxnSpPr>
        <p:spPr>
          <a:xfrm>
            <a:off x="1523999" y="7286624"/>
            <a:ext cx="1190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l0_g_l3" descr="Editable line; source id cl0_g_l3"/>
          <p:cNvCxnSpPr/>
          <p:nvPr/>
        </p:nvCxnSpPr>
        <p:spPr>
          <a:xfrm>
            <a:off x="1523999" y="7334249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l0_k_c" descr="Editable shape; source id cl0_k_c"/>
          <p:cNvSpPr/>
          <p:nvPr/>
        </p:nvSpPr>
        <p:spPr>
          <a:xfrm>
            <a:off x="1928812" y="7159624"/>
            <a:ext cx="230187" cy="230187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l0_k_k_0" descr="Editable line; source id cl0_k_k_0"/>
          <p:cNvCxnSpPr/>
          <p:nvPr/>
        </p:nvCxnSpPr>
        <p:spPr>
          <a:xfrm>
            <a:off x="1984374" y="7278687"/>
            <a:ext cx="39688" cy="39687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l0_k_k_1" descr="Editable line; source id cl0_k_k_1"/>
          <p:cNvCxnSpPr/>
          <p:nvPr/>
        </p:nvCxnSpPr>
        <p:spPr>
          <a:xfrm flipV="1">
            <a:off x="2024062" y="7223124"/>
            <a:ext cx="79375" cy="952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l0_t" descr="Editable text; source id cl0_t"/>
          <p:cNvSpPr txBox="1"/>
          <p:nvPr/>
        </p:nvSpPr>
        <p:spPr>
          <a:xfrm>
            <a:off x="492124" y="7532687"/>
            <a:ext cx="2666999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Ratio and raw materials</a:t>
            </a:r>
          </a:p>
        </p:txBody>
      </p:sp>
      <p:sp>
        <p:nvSpPr>
          <p:cNvPr id="109" name="cl1_g_t" descr="Editable shape; source id cl1_g_t"/>
          <p:cNvSpPr/>
          <p:nvPr/>
        </p:nvSpPr>
        <p:spPr>
          <a:xfrm>
            <a:off x="4421187" y="7119937"/>
            <a:ext cx="71437" cy="214312"/>
          </a:xfrm>
          <a:prstGeom prst="roundRect">
            <a:avLst>
              <a:gd name="adj" fmla="val 50000"/>
            </a:avLst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cl1_g_b" descr="Editable shape; source id cl1_g_b"/>
          <p:cNvSpPr/>
          <p:nvPr/>
        </p:nvSpPr>
        <p:spPr>
          <a:xfrm>
            <a:off x="4397374" y="7318374"/>
            <a:ext cx="119062" cy="11906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l1_g_m0" descr="Editable line; source id cl1_g_m0"/>
          <p:cNvCxnSpPr/>
          <p:nvPr/>
        </p:nvCxnSpPr>
        <p:spPr>
          <a:xfrm>
            <a:off x="4500562" y="7175499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l1_g_m1" descr="Editable line; source id cl1_g_m1"/>
          <p:cNvCxnSpPr/>
          <p:nvPr/>
        </p:nvCxnSpPr>
        <p:spPr>
          <a:xfrm>
            <a:off x="4500562" y="7223124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l1_g_m2" descr="Editable line; source id cl1_g_m2"/>
          <p:cNvCxnSpPr/>
          <p:nvPr/>
        </p:nvCxnSpPr>
        <p:spPr>
          <a:xfrm>
            <a:off x="4500562" y="7262812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cl1_k_c" descr="Editable shape; source id cl1_k_c"/>
          <p:cNvSpPr/>
          <p:nvPr/>
        </p:nvSpPr>
        <p:spPr>
          <a:xfrm>
            <a:off x="4786312" y="7159624"/>
            <a:ext cx="230187" cy="230187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l1_k_k_0" descr="Editable line; source id cl1_k_k_0"/>
          <p:cNvCxnSpPr/>
          <p:nvPr/>
        </p:nvCxnSpPr>
        <p:spPr>
          <a:xfrm>
            <a:off x="4841874" y="7278687"/>
            <a:ext cx="47625" cy="39687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l1_k_k_1" descr="Editable line; source id cl1_k_k_1"/>
          <p:cNvCxnSpPr/>
          <p:nvPr/>
        </p:nvCxnSpPr>
        <p:spPr>
          <a:xfrm flipV="1">
            <a:off x="4889499" y="7223124"/>
            <a:ext cx="79375" cy="952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cl1_t" descr="Editable text; source id cl1_t"/>
          <p:cNvSpPr txBox="1"/>
          <p:nvPr/>
        </p:nvSpPr>
        <p:spPr>
          <a:xfrm>
            <a:off x="3349624" y="7532687"/>
            <a:ext cx="2666999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Temperature–time, </a:t>
            </a:r>
          </a:p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atmosphere</a:t>
            </a:r>
          </a:p>
        </p:txBody>
      </p:sp>
      <p:cxnSp>
        <p:nvCxnSpPr>
          <p:cNvPr id="118" name="cl1_s" descr="Editable line; source id cl1_s"/>
          <p:cNvCxnSpPr/>
          <p:nvPr/>
        </p:nvCxnSpPr>
        <p:spPr>
          <a:xfrm>
            <a:off x="3254374" y="7072312"/>
            <a:ext cx="0" cy="1119187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l2_g_b_0" descr="Editable line; source id cl2_g_b_0"/>
          <p:cNvCxnSpPr/>
          <p:nvPr/>
        </p:nvCxnSpPr>
        <p:spPr>
          <a:xfrm>
            <a:off x="7215187" y="7199312"/>
            <a:ext cx="39687" cy="1984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l2_g_b_1" descr="Editable line; source id cl2_g_b_1"/>
          <p:cNvCxnSpPr/>
          <p:nvPr/>
        </p:nvCxnSpPr>
        <p:spPr>
          <a:xfrm>
            <a:off x="7254874" y="7397749"/>
            <a:ext cx="13493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l2_g_b_2" descr="Editable line; source id cl2_g_b_2"/>
          <p:cNvCxnSpPr/>
          <p:nvPr/>
        </p:nvCxnSpPr>
        <p:spPr>
          <a:xfrm flipV="1">
            <a:off x="7389812" y="7199312"/>
            <a:ext cx="31750" cy="1984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l2_g_r" descr="Editable line; source id cl2_g_r"/>
          <p:cNvCxnSpPr/>
          <p:nvPr/>
        </p:nvCxnSpPr>
        <p:spPr>
          <a:xfrm>
            <a:off x="7199312" y="7199312"/>
            <a:ext cx="24606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cl2_k_c" descr="Editable shape; source id cl2_k_c"/>
          <p:cNvSpPr/>
          <p:nvPr/>
        </p:nvSpPr>
        <p:spPr>
          <a:xfrm>
            <a:off x="7651749" y="7159624"/>
            <a:ext cx="230187" cy="230187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l2_k_k_0" descr="Editable line; source id cl2_k_k_0"/>
          <p:cNvCxnSpPr/>
          <p:nvPr/>
        </p:nvCxnSpPr>
        <p:spPr>
          <a:xfrm>
            <a:off x="7707312" y="7278687"/>
            <a:ext cx="39687" cy="39687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l2_k_k_1" descr="Editable line; source id cl2_k_k_1"/>
          <p:cNvCxnSpPr/>
          <p:nvPr/>
        </p:nvCxnSpPr>
        <p:spPr>
          <a:xfrm flipV="1">
            <a:off x="7746999" y="7223124"/>
            <a:ext cx="79375" cy="952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cl2_t" descr="Editable text; source id cl2_t"/>
          <p:cNvSpPr txBox="1"/>
          <p:nvPr/>
        </p:nvSpPr>
        <p:spPr>
          <a:xfrm>
            <a:off x="6215062" y="7532687"/>
            <a:ext cx="2666999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Crucible, flux</a:t>
            </a:r>
          </a:p>
        </p:txBody>
      </p:sp>
      <p:cxnSp>
        <p:nvCxnSpPr>
          <p:cNvPr id="127" name="cl2_s" descr="Editable line; source id cl2_s"/>
          <p:cNvCxnSpPr/>
          <p:nvPr/>
        </p:nvCxnSpPr>
        <p:spPr>
          <a:xfrm>
            <a:off x="6119812" y="7072312"/>
            <a:ext cx="0" cy="1119187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l3_g_d_0" descr="Editable line; source id cl3_g_d_0"/>
          <p:cNvCxnSpPr/>
          <p:nvPr/>
        </p:nvCxnSpPr>
        <p:spPr>
          <a:xfrm>
            <a:off x="10183812" y="7127874"/>
            <a:ext cx="87312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l3_g_d_1" descr="Editable line; source id cl3_g_d_1"/>
          <p:cNvCxnSpPr/>
          <p:nvPr/>
        </p:nvCxnSpPr>
        <p:spPr>
          <a:xfrm flipH="1">
            <a:off x="10223499" y="7254874"/>
            <a:ext cx="47625" cy="79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l3_g_d_2" descr="Editable line; source id cl3_g_d_2"/>
          <p:cNvCxnSpPr/>
          <p:nvPr/>
        </p:nvCxnSpPr>
        <p:spPr>
          <a:xfrm flipH="1">
            <a:off x="10136187" y="7334249"/>
            <a:ext cx="8731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l3_g_d_3" descr="Editable line; source id cl3_g_d_3"/>
          <p:cNvCxnSpPr/>
          <p:nvPr/>
        </p:nvCxnSpPr>
        <p:spPr>
          <a:xfrm flipH="1" flipV="1">
            <a:off x="10096499" y="7254874"/>
            <a:ext cx="39688" cy="79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l3_g_d_4" descr="Editable line; source id cl3_g_d_4"/>
          <p:cNvCxnSpPr/>
          <p:nvPr/>
        </p:nvCxnSpPr>
        <p:spPr>
          <a:xfrm flipV="1">
            <a:off x="10096499" y="7127874"/>
            <a:ext cx="87313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cl3_g_n0" descr="Editable shape; source id cl3_g_n0"/>
          <p:cNvSpPr/>
          <p:nvPr/>
        </p:nvSpPr>
        <p:spPr>
          <a:xfrm>
            <a:off x="10112374" y="7373937"/>
            <a:ext cx="47624" cy="47624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cl3_g_n1" descr="Editable shape; source id cl3_g_n1"/>
          <p:cNvSpPr/>
          <p:nvPr/>
        </p:nvSpPr>
        <p:spPr>
          <a:xfrm>
            <a:off x="10175874" y="7389812"/>
            <a:ext cx="47624" cy="47624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cl3_g_n2" descr="Editable shape; source id cl3_g_n2"/>
          <p:cNvSpPr/>
          <p:nvPr/>
        </p:nvSpPr>
        <p:spPr>
          <a:xfrm>
            <a:off x="10231437" y="7358062"/>
            <a:ext cx="47624" cy="47624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cl3_k_c" descr="Editable shape; source id cl3_k_c"/>
          <p:cNvSpPr/>
          <p:nvPr/>
        </p:nvSpPr>
        <p:spPr>
          <a:xfrm>
            <a:off x="10509249" y="7159624"/>
            <a:ext cx="230187" cy="230187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l3_k_k_0" descr="Editable line; source id cl3_k_k_0"/>
          <p:cNvCxnSpPr/>
          <p:nvPr/>
        </p:nvCxnSpPr>
        <p:spPr>
          <a:xfrm>
            <a:off x="10564812" y="7278687"/>
            <a:ext cx="47625" cy="39687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l3_k_k_1" descr="Editable line; source id cl3_k_k_1"/>
          <p:cNvCxnSpPr/>
          <p:nvPr/>
        </p:nvCxnSpPr>
        <p:spPr>
          <a:xfrm flipV="1">
            <a:off x="10612437" y="7223124"/>
            <a:ext cx="79375" cy="952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cl3_t" descr="Editable text; source id cl3_t"/>
          <p:cNvSpPr txBox="1"/>
          <p:nvPr/>
        </p:nvSpPr>
        <p:spPr>
          <a:xfrm>
            <a:off x="9080499" y="7532687"/>
            <a:ext cx="2666999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Cooling, growth, separation</a:t>
            </a:r>
          </a:p>
        </p:txBody>
      </p:sp>
      <p:cxnSp>
        <p:nvCxnSpPr>
          <p:cNvPr id="140" name="cl3_s" descr="Editable line; source id cl3_s"/>
          <p:cNvCxnSpPr/>
          <p:nvPr/>
        </p:nvCxnSpPr>
        <p:spPr>
          <a:xfrm>
            <a:off x="8985249" y="7072312"/>
            <a:ext cx="0" cy="1119187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zB" descr="Editable shape; source id zB"/>
          <p:cNvSpPr/>
          <p:nvPr/>
        </p:nvSpPr>
        <p:spPr>
          <a:xfrm>
            <a:off x="206374" y="9207499"/>
            <a:ext cx="11779249" cy="2849562"/>
          </a:xfrm>
          <a:prstGeom prst="roundRect">
            <a:avLst>
              <a:gd name="adj" fmla="val 3899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zB_l" descr="Editable text; source id zB_l"/>
          <p:cNvSpPr txBox="1"/>
          <p:nvPr/>
        </p:nvSpPr>
        <p:spPr>
          <a:xfrm>
            <a:off x="349249" y="9286874"/>
            <a:ext cx="2436812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7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Characterization</a:t>
            </a:r>
          </a:p>
        </p:txBody>
      </p:sp>
      <p:sp>
        <p:nvSpPr>
          <p:cNvPr id="143" name="k1" descr="Editable shape; source id k1"/>
          <p:cNvSpPr/>
          <p:nvPr/>
        </p:nvSpPr>
        <p:spPr>
          <a:xfrm>
            <a:off x="333374" y="9747249"/>
            <a:ext cx="2809874" cy="2182812"/>
          </a:xfrm>
          <a:prstGeom prst="roundRect">
            <a:avLst>
              <a:gd name="adj" fmla="val 3272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k1_b" descr="Editable shape; source id k1_b"/>
          <p:cNvSpPr/>
          <p:nvPr/>
        </p:nvSpPr>
        <p:spPr>
          <a:xfrm>
            <a:off x="333374" y="9747249"/>
            <a:ext cx="47624" cy="2182812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k1_t" descr="Editable text; source id k1_t"/>
          <p:cNvSpPr txBox="1"/>
          <p:nvPr/>
        </p:nvSpPr>
        <p:spPr>
          <a:xfrm>
            <a:off x="460374" y="9842499"/>
            <a:ext cx="2603499" cy="746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Single-Crystal </a:t>
            </a:r>
          </a:p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Structure</a:t>
            </a:r>
          </a:p>
        </p:txBody>
      </p:sp>
      <p:cxnSp>
        <p:nvCxnSpPr>
          <p:cNvPr id="146" name="k1_g_h0" descr="Editable line; source id k1_g_h0"/>
          <p:cNvCxnSpPr/>
          <p:nvPr/>
        </p:nvCxnSpPr>
        <p:spPr>
          <a:xfrm>
            <a:off x="1643062" y="10707687"/>
            <a:ext cx="2381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k1_g_v0" descr="Editable line; source id k1_g_v0"/>
          <p:cNvCxnSpPr/>
          <p:nvPr/>
        </p:nvCxnSpPr>
        <p:spPr>
          <a:xfrm>
            <a:off x="1643062" y="10707687"/>
            <a:ext cx="0" cy="2381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k1_g_h1" descr="Editable line; source id k1_g_h1"/>
          <p:cNvCxnSpPr/>
          <p:nvPr/>
        </p:nvCxnSpPr>
        <p:spPr>
          <a:xfrm>
            <a:off x="1643062" y="10826749"/>
            <a:ext cx="2381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k1_g_v1" descr="Editable line; source id k1_g_v1"/>
          <p:cNvCxnSpPr/>
          <p:nvPr/>
        </p:nvCxnSpPr>
        <p:spPr>
          <a:xfrm>
            <a:off x="1762124" y="10707687"/>
            <a:ext cx="0" cy="2381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k1_g_h2" descr="Editable line; source id k1_g_h2"/>
          <p:cNvCxnSpPr/>
          <p:nvPr/>
        </p:nvCxnSpPr>
        <p:spPr>
          <a:xfrm>
            <a:off x="1643062" y="10945812"/>
            <a:ext cx="2381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k1_g_v2" descr="Editable line; source id k1_g_v2"/>
          <p:cNvCxnSpPr/>
          <p:nvPr/>
        </p:nvCxnSpPr>
        <p:spPr>
          <a:xfrm>
            <a:off x="1881187" y="10707687"/>
            <a:ext cx="0" cy="2381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k1_g_d00" descr="Editable shape; source id k1_g_d00"/>
          <p:cNvSpPr/>
          <p:nvPr/>
        </p:nvSpPr>
        <p:spPr>
          <a:xfrm>
            <a:off x="1611312" y="10675937"/>
            <a:ext cx="55562" cy="555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k1_g_d01" descr="Editable shape; source id k1_g_d01"/>
          <p:cNvSpPr/>
          <p:nvPr/>
        </p:nvSpPr>
        <p:spPr>
          <a:xfrm>
            <a:off x="1611312" y="10802937"/>
            <a:ext cx="55562" cy="555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k1_g_d02" descr="Editable shape; source id k1_g_d02"/>
          <p:cNvSpPr/>
          <p:nvPr/>
        </p:nvSpPr>
        <p:spPr>
          <a:xfrm>
            <a:off x="1611312" y="10921999"/>
            <a:ext cx="55562" cy="555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k1_g_d10" descr="Editable shape; source id k1_g_d10"/>
          <p:cNvSpPr/>
          <p:nvPr/>
        </p:nvSpPr>
        <p:spPr>
          <a:xfrm>
            <a:off x="1738312" y="10675937"/>
            <a:ext cx="55562" cy="555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k1_g_d11" descr="Editable shape; source id k1_g_d11"/>
          <p:cNvSpPr/>
          <p:nvPr/>
        </p:nvSpPr>
        <p:spPr>
          <a:xfrm>
            <a:off x="1738312" y="10802937"/>
            <a:ext cx="55562" cy="55562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k1_g_d12" descr="Editable shape; source id k1_g_d12"/>
          <p:cNvSpPr/>
          <p:nvPr/>
        </p:nvSpPr>
        <p:spPr>
          <a:xfrm>
            <a:off x="1738312" y="10921999"/>
            <a:ext cx="55562" cy="555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k1_g_d20" descr="Editable shape; source id k1_g_d20"/>
          <p:cNvSpPr/>
          <p:nvPr/>
        </p:nvSpPr>
        <p:spPr>
          <a:xfrm>
            <a:off x="1857374" y="10675937"/>
            <a:ext cx="55562" cy="555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k1_g_d21" descr="Editable shape; source id k1_g_d21"/>
          <p:cNvSpPr/>
          <p:nvPr/>
        </p:nvSpPr>
        <p:spPr>
          <a:xfrm>
            <a:off x="1857374" y="10802937"/>
            <a:ext cx="55562" cy="555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k1_g_d22" descr="Editable shape; source id k1_g_d22"/>
          <p:cNvSpPr/>
          <p:nvPr/>
        </p:nvSpPr>
        <p:spPr>
          <a:xfrm>
            <a:off x="1857374" y="10921999"/>
            <a:ext cx="55562" cy="555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k1_s" descr="Editable shape; source id k1_s"/>
          <p:cNvSpPr/>
          <p:nvPr/>
        </p:nvSpPr>
        <p:spPr>
          <a:xfrm>
            <a:off x="460374" y="11096624"/>
            <a:ext cx="26034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k1_s_t" descr="Editable text; source id k1_s_t"/>
          <p:cNvSpPr txBox="1"/>
          <p:nvPr/>
        </p:nvSpPr>
        <p:spPr>
          <a:xfrm>
            <a:off x="515937" y="11128374"/>
            <a:ext cx="24923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Structural identity and </a:t>
            </a:r>
          </a:p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site occupancy</a:t>
            </a:r>
          </a:p>
        </p:txBody>
      </p:sp>
      <p:sp>
        <p:nvSpPr>
          <p:cNvPr id="163" name="k2" descr="Editable shape; source id k2"/>
          <p:cNvSpPr/>
          <p:nvPr/>
        </p:nvSpPr>
        <p:spPr>
          <a:xfrm>
            <a:off x="3238499" y="9747249"/>
            <a:ext cx="2809874" cy="2182812"/>
          </a:xfrm>
          <a:prstGeom prst="roundRect">
            <a:avLst>
              <a:gd name="adj" fmla="val 3272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k2_b" descr="Editable shape; source id k2_b"/>
          <p:cNvSpPr/>
          <p:nvPr/>
        </p:nvSpPr>
        <p:spPr>
          <a:xfrm>
            <a:off x="3238499" y="9747249"/>
            <a:ext cx="47624" cy="2182812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k2_t" descr="Editable text; source id k2_t"/>
          <p:cNvSpPr txBox="1"/>
          <p:nvPr/>
        </p:nvSpPr>
        <p:spPr>
          <a:xfrm>
            <a:off x="3365499" y="9842499"/>
            <a:ext cx="2603499" cy="746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PXRD / Rietveld</a:t>
            </a:r>
          </a:p>
        </p:txBody>
      </p:sp>
      <p:cxnSp>
        <p:nvCxnSpPr>
          <p:cNvPr id="166" name="k2_g_a_0" descr="Editable line; source id k2_g_a_0"/>
          <p:cNvCxnSpPr/>
          <p:nvPr/>
        </p:nvCxnSpPr>
        <p:spPr>
          <a:xfrm>
            <a:off x="4516437" y="10945812"/>
            <a:ext cx="5556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k2_g_a_1" descr="Editable line; source id k2_g_a_1"/>
          <p:cNvCxnSpPr/>
          <p:nvPr/>
        </p:nvCxnSpPr>
        <p:spPr>
          <a:xfrm flipV="1">
            <a:off x="4571999" y="10763249"/>
            <a:ext cx="23813" cy="18256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k2_g_a_2" descr="Editable line; source id k2_g_a_2"/>
          <p:cNvCxnSpPr/>
          <p:nvPr/>
        </p:nvCxnSpPr>
        <p:spPr>
          <a:xfrm>
            <a:off x="4595812" y="10763249"/>
            <a:ext cx="23812" cy="18256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k2_g_a_3" descr="Editable line; source id k2_g_a_3"/>
          <p:cNvCxnSpPr/>
          <p:nvPr/>
        </p:nvCxnSpPr>
        <p:spPr>
          <a:xfrm>
            <a:off x="4619624" y="10945812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k2_g_a_4" descr="Editable line; source id k2_g_a_4"/>
          <p:cNvCxnSpPr/>
          <p:nvPr/>
        </p:nvCxnSpPr>
        <p:spPr>
          <a:xfrm flipV="1">
            <a:off x="4667249" y="10826749"/>
            <a:ext cx="23813" cy="11906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k2_g_a_5" descr="Editable line; source id k2_g_a_5"/>
          <p:cNvCxnSpPr/>
          <p:nvPr/>
        </p:nvCxnSpPr>
        <p:spPr>
          <a:xfrm>
            <a:off x="4691062" y="10826749"/>
            <a:ext cx="23812" cy="11906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k2_g_a_6" descr="Editable line; source id k2_g_a_6"/>
          <p:cNvCxnSpPr/>
          <p:nvPr/>
        </p:nvCxnSpPr>
        <p:spPr>
          <a:xfrm>
            <a:off x="4714874" y="10945812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k2_g_a_7" descr="Editable line; source id k2_g_a_7"/>
          <p:cNvCxnSpPr/>
          <p:nvPr/>
        </p:nvCxnSpPr>
        <p:spPr>
          <a:xfrm flipV="1">
            <a:off x="4762499" y="10874374"/>
            <a:ext cx="7938" cy="71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k2_g_a_8" descr="Editable line; source id k2_g_a_8"/>
          <p:cNvCxnSpPr/>
          <p:nvPr/>
        </p:nvCxnSpPr>
        <p:spPr>
          <a:xfrm>
            <a:off x="4770437" y="10874374"/>
            <a:ext cx="15875" cy="71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k2_g_a_9" descr="Editable line; source id k2_g_a_9"/>
          <p:cNvCxnSpPr/>
          <p:nvPr/>
        </p:nvCxnSpPr>
        <p:spPr>
          <a:xfrm>
            <a:off x="4786312" y="10945812"/>
            <a:ext cx="3968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k2_s" descr="Editable shape; source id k2_s"/>
          <p:cNvSpPr/>
          <p:nvPr/>
        </p:nvSpPr>
        <p:spPr>
          <a:xfrm>
            <a:off x="3365499" y="11096624"/>
            <a:ext cx="26034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k2_s_t" descr="Editable text; source id k2_s_t"/>
          <p:cNvSpPr txBox="1"/>
          <p:nvPr/>
        </p:nvSpPr>
        <p:spPr>
          <a:xfrm>
            <a:off x="3421062" y="11128374"/>
            <a:ext cx="24923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Bulk phase purity and </a:t>
            </a:r>
          </a:p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impurities</a:t>
            </a:r>
          </a:p>
        </p:txBody>
      </p:sp>
      <p:sp>
        <p:nvSpPr>
          <p:cNvPr id="178" name="k3" descr="Editable shape; source id k3"/>
          <p:cNvSpPr/>
          <p:nvPr/>
        </p:nvSpPr>
        <p:spPr>
          <a:xfrm>
            <a:off x="6143624" y="9747249"/>
            <a:ext cx="2809874" cy="2182812"/>
          </a:xfrm>
          <a:prstGeom prst="roundRect">
            <a:avLst>
              <a:gd name="adj" fmla="val 3272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k3_b" descr="Editable shape; source id k3_b"/>
          <p:cNvSpPr/>
          <p:nvPr/>
        </p:nvSpPr>
        <p:spPr>
          <a:xfrm>
            <a:off x="6143624" y="9747249"/>
            <a:ext cx="47624" cy="2182812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k3_t" descr="Editable text; source id k3_t"/>
          <p:cNvSpPr txBox="1"/>
          <p:nvPr/>
        </p:nvSpPr>
        <p:spPr>
          <a:xfrm>
            <a:off x="6270624" y="9842499"/>
            <a:ext cx="2603499" cy="746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Composition and </a:t>
            </a:r>
          </a:p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Contamination</a:t>
            </a:r>
          </a:p>
        </p:txBody>
      </p:sp>
      <p:sp>
        <p:nvSpPr>
          <p:cNvPr id="181" name="k3_g_d0" descr="Editable shape; source id k3_g_d0"/>
          <p:cNvSpPr/>
          <p:nvPr/>
        </p:nvSpPr>
        <p:spPr>
          <a:xfrm>
            <a:off x="7421562" y="10771187"/>
            <a:ext cx="103187" cy="103187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k3_g_d1" descr="Editable shape; source id k3_g_d1"/>
          <p:cNvSpPr/>
          <p:nvPr/>
        </p:nvSpPr>
        <p:spPr>
          <a:xfrm>
            <a:off x="7532687" y="10787062"/>
            <a:ext cx="79374" cy="79374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k3_g_d2" descr="Editable shape; source id k3_g_d2"/>
          <p:cNvSpPr/>
          <p:nvPr/>
        </p:nvSpPr>
        <p:spPr>
          <a:xfrm>
            <a:off x="7643812" y="10802937"/>
            <a:ext cx="55562" cy="55562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k3_s" descr="Editable shape; source id k3_s"/>
          <p:cNvSpPr/>
          <p:nvPr/>
        </p:nvSpPr>
        <p:spPr>
          <a:xfrm>
            <a:off x="6270624" y="11096624"/>
            <a:ext cx="26034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k3_s_t" descr="Editable text; source id k3_s_t"/>
          <p:cNvSpPr txBox="1"/>
          <p:nvPr/>
        </p:nvSpPr>
        <p:spPr>
          <a:xfrm>
            <a:off x="6326187" y="11128374"/>
            <a:ext cx="24923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Nominal–local–bulk mean</a:t>
            </a:r>
          </a:p>
        </p:txBody>
      </p:sp>
      <p:sp>
        <p:nvSpPr>
          <p:cNvPr id="186" name="k4" descr="Editable shape; source id k4"/>
          <p:cNvSpPr/>
          <p:nvPr/>
        </p:nvSpPr>
        <p:spPr>
          <a:xfrm>
            <a:off x="9048749" y="9747249"/>
            <a:ext cx="2809874" cy="2182812"/>
          </a:xfrm>
          <a:prstGeom prst="roundRect">
            <a:avLst>
              <a:gd name="adj" fmla="val 3272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k4_b" descr="Editable shape; source id k4_b"/>
          <p:cNvSpPr/>
          <p:nvPr/>
        </p:nvSpPr>
        <p:spPr>
          <a:xfrm>
            <a:off x="9048749" y="9747249"/>
            <a:ext cx="47624" cy="2182812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k4_t" descr="Editable text; source id k4_t"/>
          <p:cNvSpPr txBox="1"/>
          <p:nvPr/>
        </p:nvSpPr>
        <p:spPr>
          <a:xfrm>
            <a:off x="9175749" y="9842499"/>
            <a:ext cx="2603499" cy="746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High-Temperature </a:t>
            </a:r>
          </a:p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Stability</a:t>
            </a:r>
          </a:p>
        </p:txBody>
      </p:sp>
      <p:sp>
        <p:nvSpPr>
          <p:cNvPr id="189" name="k4_g_t" descr="Editable shape; source id k4_g_t"/>
          <p:cNvSpPr/>
          <p:nvPr/>
        </p:nvSpPr>
        <p:spPr>
          <a:xfrm>
            <a:off x="10437812" y="10667999"/>
            <a:ext cx="79374" cy="222249"/>
          </a:xfrm>
          <a:prstGeom prst="roundRect">
            <a:avLst>
              <a:gd name="adj" fmla="val 48000"/>
            </a:avLst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k4_g_b" descr="Editable shape; source id k4_g_b"/>
          <p:cNvSpPr/>
          <p:nvPr/>
        </p:nvSpPr>
        <p:spPr>
          <a:xfrm>
            <a:off x="10413999" y="10882312"/>
            <a:ext cx="119062" cy="11906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k4_g_m0" descr="Editable line; source id k4_g_m0"/>
          <p:cNvCxnSpPr/>
          <p:nvPr/>
        </p:nvCxnSpPr>
        <p:spPr>
          <a:xfrm>
            <a:off x="10525124" y="10731499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k4_g_m1" descr="Editable line; source id k4_g_m1"/>
          <p:cNvCxnSpPr/>
          <p:nvPr/>
        </p:nvCxnSpPr>
        <p:spPr>
          <a:xfrm>
            <a:off x="10525124" y="10771187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k4_g_m2" descr="Editable line; source id k4_g_m2"/>
          <p:cNvCxnSpPr/>
          <p:nvPr/>
        </p:nvCxnSpPr>
        <p:spPr>
          <a:xfrm>
            <a:off x="10525124" y="10818812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k4_s" descr="Editable shape; source id k4_s"/>
          <p:cNvSpPr/>
          <p:nvPr/>
        </p:nvSpPr>
        <p:spPr>
          <a:xfrm>
            <a:off x="9175749" y="11096624"/>
            <a:ext cx="2603499" cy="722312"/>
          </a:xfrm>
          <a:prstGeom prst="roundRect">
            <a:avLst>
              <a:gd name="adj" fmla="val 6593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k4_s_t" descr="Editable text; source id k4_s_t"/>
          <p:cNvSpPr txBox="1"/>
          <p:nvPr/>
        </p:nvSpPr>
        <p:spPr>
          <a:xfrm>
            <a:off x="9231312" y="11128374"/>
            <a:ext cx="2492374" cy="658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In situ HT ≠ cooled </a:t>
            </a:r>
          </a:p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product</a:t>
            </a:r>
          </a:p>
        </p:txBody>
      </p:sp>
      <p:sp>
        <p:nvSpPr>
          <p:cNvPr id="196" name="d0_0" descr="Editable line; source id d0_0"/>
          <p:cNvSpPr/>
          <p:nvPr/>
        </p:nvSpPr>
        <p:spPr>
          <a:xfrm>
            <a:off x="1404937" y="4714875"/>
            <a:ext cx="95250" cy="1293812"/>
          </a:xfrm>
          <a:custGeom>
            <a:avLst/>
            <a:gdLst/>
            <a:ahLst/>
            <a:cxnLst/>
            <a:rect l="l" t="t" r="r" b="b"/>
            <a:pathLst>
              <a:path w="12000" h="163000">
                <a:moveTo>
                  <a:pt x="7250" y="0"/>
                </a:moveTo>
                <a:lnTo>
                  <a:pt x="7250" y="148000"/>
                </a:lnTo>
                <a:lnTo>
                  <a:pt x="12000" y="148000"/>
                </a:lnTo>
                <a:lnTo>
                  <a:pt x="6000" y="163000"/>
                </a:lnTo>
                <a:lnTo>
                  <a:pt x="0" y="148000"/>
                </a:lnTo>
                <a:lnTo>
                  <a:pt x="4750" y="148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d0_p" descr="Editable shape; source id d0_p"/>
          <p:cNvSpPr/>
          <p:nvPr/>
        </p:nvSpPr>
        <p:spPr>
          <a:xfrm>
            <a:off x="634999" y="5056187"/>
            <a:ext cx="1643062" cy="682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d0_p_t" descr="Editable text; source id d0_p_t"/>
          <p:cNvSpPr txBox="1"/>
          <p:nvPr/>
        </p:nvSpPr>
        <p:spPr>
          <a:xfrm>
            <a:off x="714374" y="5087937"/>
            <a:ext cx="1484312" cy="619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Ratio · </a:t>
            </a:r>
          </a:p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temperature</a:t>
            </a:r>
          </a:p>
        </p:txBody>
      </p:sp>
      <p:sp>
        <p:nvSpPr>
          <p:cNvPr id="199" name="d1_0" descr="Editable line; source id d1_0"/>
          <p:cNvSpPr/>
          <p:nvPr/>
        </p:nvSpPr>
        <p:spPr>
          <a:xfrm>
            <a:off x="3722687" y="4714875"/>
            <a:ext cx="95250" cy="1293812"/>
          </a:xfrm>
          <a:custGeom>
            <a:avLst/>
            <a:gdLst/>
            <a:ahLst/>
            <a:cxnLst/>
            <a:rect l="l" t="t" r="r" b="b"/>
            <a:pathLst>
              <a:path w="12000" h="163000">
                <a:moveTo>
                  <a:pt x="7250" y="0"/>
                </a:moveTo>
                <a:lnTo>
                  <a:pt x="7250" y="148000"/>
                </a:lnTo>
                <a:lnTo>
                  <a:pt x="12000" y="148000"/>
                </a:lnTo>
                <a:lnTo>
                  <a:pt x="6000" y="163000"/>
                </a:lnTo>
                <a:lnTo>
                  <a:pt x="0" y="148000"/>
                </a:lnTo>
                <a:lnTo>
                  <a:pt x="4750" y="148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d1_p" descr="Editable shape; source id d1_p"/>
          <p:cNvSpPr/>
          <p:nvPr/>
        </p:nvSpPr>
        <p:spPr>
          <a:xfrm>
            <a:off x="2809874" y="5056187"/>
            <a:ext cx="1928812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d1_p_t" descr="Editable text; source id d1_p_t"/>
          <p:cNvSpPr txBox="1"/>
          <p:nvPr/>
        </p:nvSpPr>
        <p:spPr>
          <a:xfrm>
            <a:off x="2889249" y="5087937"/>
            <a:ext cx="1770062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Melt · crucible</a:t>
            </a:r>
          </a:p>
        </p:txBody>
      </p:sp>
      <p:sp>
        <p:nvSpPr>
          <p:cNvPr id="202" name="d2_0" descr="Editable line; source id d2_0"/>
          <p:cNvSpPr/>
          <p:nvPr/>
        </p:nvSpPr>
        <p:spPr>
          <a:xfrm>
            <a:off x="6040437" y="4714875"/>
            <a:ext cx="95250" cy="1293812"/>
          </a:xfrm>
          <a:custGeom>
            <a:avLst/>
            <a:gdLst/>
            <a:ahLst/>
            <a:cxnLst/>
            <a:rect l="l" t="t" r="r" b="b"/>
            <a:pathLst>
              <a:path w="12000" h="163000">
                <a:moveTo>
                  <a:pt x="7250" y="0"/>
                </a:moveTo>
                <a:lnTo>
                  <a:pt x="7250" y="148000"/>
                </a:lnTo>
                <a:lnTo>
                  <a:pt x="12000" y="148000"/>
                </a:lnTo>
                <a:lnTo>
                  <a:pt x="6000" y="163000"/>
                </a:lnTo>
                <a:lnTo>
                  <a:pt x="0" y="148000"/>
                </a:lnTo>
                <a:lnTo>
                  <a:pt x="4750" y="148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d2_p" descr="Editable shape; source id d2_p"/>
          <p:cNvSpPr/>
          <p:nvPr/>
        </p:nvSpPr>
        <p:spPr>
          <a:xfrm>
            <a:off x="5270499" y="5056187"/>
            <a:ext cx="1643062" cy="682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d2_p_t" descr="Editable text; source id d2_p_t"/>
          <p:cNvSpPr txBox="1"/>
          <p:nvPr/>
        </p:nvSpPr>
        <p:spPr>
          <a:xfrm>
            <a:off x="5349874" y="5087937"/>
            <a:ext cx="1484312" cy="619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Mixing · </a:t>
            </a:r>
          </a:p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calcination</a:t>
            </a:r>
          </a:p>
        </p:txBody>
      </p:sp>
      <p:sp>
        <p:nvSpPr>
          <p:cNvPr id="205" name="d3_0" descr="Editable line; source id d3_0"/>
          <p:cNvSpPr/>
          <p:nvPr/>
        </p:nvSpPr>
        <p:spPr>
          <a:xfrm>
            <a:off x="8358187" y="4714875"/>
            <a:ext cx="95250" cy="1293812"/>
          </a:xfrm>
          <a:custGeom>
            <a:avLst/>
            <a:gdLst/>
            <a:ahLst/>
            <a:cxnLst/>
            <a:rect l="l" t="t" r="r" b="b"/>
            <a:pathLst>
              <a:path w="12000" h="163000">
                <a:moveTo>
                  <a:pt x="7250" y="0"/>
                </a:moveTo>
                <a:lnTo>
                  <a:pt x="7250" y="148000"/>
                </a:lnTo>
                <a:lnTo>
                  <a:pt x="12000" y="148000"/>
                </a:lnTo>
                <a:lnTo>
                  <a:pt x="6000" y="163000"/>
                </a:lnTo>
                <a:lnTo>
                  <a:pt x="0" y="148000"/>
                </a:lnTo>
                <a:lnTo>
                  <a:pt x="4750" y="148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d3_p" descr="Editable shape; source id d3_p"/>
          <p:cNvSpPr/>
          <p:nvPr/>
        </p:nvSpPr>
        <p:spPr>
          <a:xfrm>
            <a:off x="7461249" y="5056187"/>
            <a:ext cx="1881187" cy="682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d3_p_t" descr="Editable text; source id d3_p_t"/>
          <p:cNvSpPr txBox="1"/>
          <p:nvPr/>
        </p:nvSpPr>
        <p:spPr>
          <a:xfrm>
            <a:off x="7540624" y="5087937"/>
            <a:ext cx="1722437" cy="619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Milling · </a:t>
            </a:r>
          </a:p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contamination</a:t>
            </a:r>
          </a:p>
        </p:txBody>
      </p:sp>
      <p:cxnSp>
        <p:nvCxnSpPr>
          <p:cNvPr id="208" name="d4_0" descr="Editable line; source id d4_0"/>
          <p:cNvCxnSpPr/>
          <p:nvPr/>
        </p:nvCxnSpPr>
        <p:spPr>
          <a:xfrm>
            <a:off x="10723562" y="4714874"/>
            <a:ext cx="0" cy="1293813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d4_p" descr="Editable shape; source id d4_p"/>
          <p:cNvSpPr/>
          <p:nvPr/>
        </p:nvSpPr>
        <p:spPr>
          <a:xfrm>
            <a:off x="10017124" y="5056187"/>
            <a:ext cx="1404937" cy="682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d4_p_t" descr="Editable text; source id d4_p_t"/>
          <p:cNvSpPr txBox="1"/>
          <p:nvPr/>
        </p:nvSpPr>
        <p:spPr>
          <a:xfrm>
            <a:off x="10096499" y="5087937"/>
            <a:ext cx="1246187" cy="619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Seeding · </a:t>
            </a:r>
          </a:p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annealing</a:t>
            </a:r>
          </a:p>
        </p:txBody>
      </p:sp>
      <p:sp>
        <p:nvSpPr>
          <p:cNvPr id="211" name="c0_0" descr="Editable line; source id c0_0"/>
          <p:cNvSpPr/>
          <p:nvPr/>
        </p:nvSpPr>
        <p:spPr>
          <a:xfrm>
            <a:off x="1690687" y="8358187"/>
            <a:ext cx="95250" cy="865187"/>
          </a:xfrm>
          <a:custGeom>
            <a:avLst/>
            <a:gdLst/>
            <a:ahLst/>
            <a:cxnLst/>
            <a:rect l="l" t="t" r="r" b="b"/>
            <a:pathLst>
              <a:path w="12000" h="109000">
                <a:moveTo>
                  <a:pt x="7250" y="0"/>
                </a:moveTo>
                <a:lnTo>
                  <a:pt x="7250" y="94000"/>
                </a:lnTo>
                <a:lnTo>
                  <a:pt x="12000" y="94000"/>
                </a:lnTo>
                <a:lnTo>
                  <a:pt x="6000" y="109000"/>
                </a:lnTo>
                <a:lnTo>
                  <a:pt x="0" y="94000"/>
                </a:lnTo>
                <a:lnTo>
                  <a:pt x="4750" y="94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c0_p" descr="Editable shape; source id c0_p"/>
          <p:cNvSpPr/>
          <p:nvPr/>
        </p:nvSpPr>
        <p:spPr>
          <a:xfrm>
            <a:off x="1063624" y="8635999"/>
            <a:ext cx="1341437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c0_p_t" descr="Editable text; source id c0_p_t"/>
          <p:cNvSpPr txBox="1"/>
          <p:nvPr/>
        </p:nvSpPr>
        <p:spPr>
          <a:xfrm>
            <a:off x="1142999" y="8667749"/>
            <a:ext cx="1182687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Structure</a:t>
            </a:r>
          </a:p>
        </p:txBody>
      </p:sp>
      <p:sp>
        <p:nvSpPr>
          <p:cNvPr id="214" name="c1_0" descr="Editable line; source id c1_0"/>
          <p:cNvSpPr/>
          <p:nvPr/>
        </p:nvSpPr>
        <p:spPr>
          <a:xfrm>
            <a:off x="4595812" y="8358187"/>
            <a:ext cx="95250" cy="865187"/>
          </a:xfrm>
          <a:custGeom>
            <a:avLst/>
            <a:gdLst/>
            <a:ahLst/>
            <a:cxnLst/>
            <a:rect l="l" t="t" r="r" b="b"/>
            <a:pathLst>
              <a:path w="12000" h="109000">
                <a:moveTo>
                  <a:pt x="7250" y="0"/>
                </a:moveTo>
                <a:lnTo>
                  <a:pt x="7250" y="94000"/>
                </a:lnTo>
                <a:lnTo>
                  <a:pt x="12000" y="94000"/>
                </a:lnTo>
                <a:lnTo>
                  <a:pt x="6000" y="109000"/>
                </a:lnTo>
                <a:lnTo>
                  <a:pt x="0" y="94000"/>
                </a:lnTo>
                <a:lnTo>
                  <a:pt x="4750" y="94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c1_p" descr="Editable shape; source id c1_p"/>
          <p:cNvSpPr/>
          <p:nvPr/>
        </p:nvSpPr>
        <p:spPr>
          <a:xfrm>
            <a:off x="3524249" y="8635999"/>
            <a:ext cx="2230437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c1_p_t" descr="Editable text; source id c1_p_t"/>
          <p:cNvSpPr txBox="1"/>
          <p:nvPr/>
        </p:nvSpPr>
        <p:spPr>
          <a:xfrm>
            <a:off x="3603624" y="8667749"/>
            <a:ext cx="2071687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Phase composition</a:t>
            </a:r>
          </a:p>
        </p:txBody>
      </p:sp>
      <p:sp>
        <p:nvSpPr>
          <p:cNvPr id="217" name="c2_0" descr="Editable line; source id c2_0"/>
          <p:cNvSpPr/>
          <p:nvPr/>
        </p:nvSpPr>
        <p:spPr>
          <a:xfrm>
            <a:off x="7500937" y="8358187"/>
            <a:ext cx="95250" cy="865187"/>
          </a:xfrm>
          <a:custGeom>
            <a:avLst/>
            <a:gdLst/>
            <a:ahLst/>
            <a:cxnLst/>
            <a:rect l="l" t="t" r="r" b="b"/>
            <a:pathLst>
              <a:path w="12000" h="109000">
                <a:moveTo>
                  <a:pt x="7250" y="0"/>
                </a:moveTo>
                <a:lnTo>
                  <a:pt x="7250" y="94000"/>
                </a:lnTo>
                <a:lnTo>
                  <a:pt x="12000" y="94000"/>
                </a:lnTo>
                <a:lnTo>
                  <a:pt x="6000" y="109000"/>
                </a:lnTo>
                <a:lnTo>
                  <a:pt x="0" y="94000"/>
                </a:lnTo>
                <a:lnTo>
                  <a:pt x="4750" y="94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c2_p" descr="Editable shape; source id c2_p"/>
          <p:cNvSpPr/>
          <p:nvPr/>
        </p:nvSpPr>
        <p:spPr>
          <a:xfrm>
            <a:off x="6762749" y="8635999"/>
            <a:ext cx="1579562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c2_p_t" descr="Editable text; source id c2_p_t"/>
          <p:cNvSpPr txBox="1"/>
          <p:nvPr/>
        </p:nvSpPr>
        <p:spPr>
          <a:xfrm>
            <a:off x="6842124" y="8667749"/>
            <a:ext cx="1420812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Composition</a:t>
            </a:r>
          </a:p>
        </p:txBody>
      </p:sp>
      <p:sp>
        <p:nvSpPr>
          <p:cNvPr id="220" name="c3_0" descr="Editable line; source id c3_0"/>
          <p:cNvSpPr/>
          <p:nvPr/>
        </p:nvSpPr>
        <p:spPr>
          <a:xfrm>
            <a:off x="10406062" y="8358187"/>
            <a:ext cx="95250" cy="865187"/>
          </a:xfrm>
          <a:custGeom>
            <a:avLst/>
            <a:gdLst/>
            <a:ahLst/>
            <a:cxnLst/>
            <a:rect l="l" t="t" r="r" b="b"/>
            <a:pathLst>
              <a:path w="12000" h="109000">
                <a:moveTo>
                  <a:pt x="7250" y="0"/>
                </a:moveTo>
                <a:lnTo>
                  <a:pt x="7250" y="94000"/>
                </a:lnTo>
                <a:lnTo>
                  <a:pt x="12000" y="94000"/>
                </a:lnTo>
                <a:lnTo>
                  <a:pt x="6000" y="109000"/>
                </a:lnTo>
                <a:lnTo>
                  <a:pt x="0" y="94000"/>
                </a:lnTo>
                <a:lnTo>
                  <a:pt x="4750" y="94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c3_p" descr="Editable shape; source id c3_p"/>
          <p:cNvSpPr/>
          <p:nvPr/>
        </p:nvSpPr>
        <p:spPr>
          <a:xfrm>
            <a:off x="9397999" y="8635999"/>
            <a:ext cx="2111374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c3_p_t" descr="Editable text; source id c3_p_t"/>
          <p:cNvSpPr txBox="1"/>
          <p:nvPr/>
        </p:nvSpPr>
        <p:spPr>
          <a:xfrm>
            <a:off x="9477374" y="8667749"/>
            <a:ext cx="1952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High temperature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