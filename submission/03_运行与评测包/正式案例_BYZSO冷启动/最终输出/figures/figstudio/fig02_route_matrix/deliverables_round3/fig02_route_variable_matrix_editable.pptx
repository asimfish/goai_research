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2 不同合成方法的条件比较与产物表征（super_teaser 第三轮 R01 → super_img2ppt 重建）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T" descr="Editable shape; source id zT"/>
          <p:cNvSpPr/>
          <p:nvPr/>
        </p:nvSpPr>
        <p:spPr>
          <a:xfrm>
            <a:off x="253999" y="380999"/>
            <a:ext cx="11683999" cy="2698749"/>
          </a:xfrm>
          <a:prstGeom prst="roundRect">
            <a:avLst>
              <a:gd name="adj" fmla="val 4705"/>
            </a:avLst>
          </a:prstGeom>
          <a:solidFill>
            <a:srgbClr val="E6F2F3"/>
          </a:solidFill>
          <a:ln w="11906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T_l" descr="Editable text; source id zT_l"/>
          <p:cNvSpPr txBox="1"/>
          <p:nvPr/>
        </p:nvSpPr>
        <p:spPr>
          <a:xfrm>
            <a:off x="396874" y="476249"/>
            <a:ext cx="793749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实验方法</a:t>
            </a:r>
          </a:p>
        </p:txBody>
      </p:sp>
      <p:sp>
        <p:nvSpPr>
          <p:cNvPr id="4" name="zM" descr="Editable shape; source id zM"/>
          <p:cNvSpPr/>
          <p:nvPr/>
        </p:nvSpPr>
        <p:spPr>
          <a:xfrm>
            <a:off x="253999" y="3667124"/>
            <a:ext cx="11683999" cy="2000249"/>
          </a:xfrm>
          <a:prstGeom prst="roundRect">
            <a:avLst>
              <a:gd name="adj" fmla="val 6349"/>
            </a:avLst>
          </a:prstGeom>
          <a:solidFill>
            <a:srgbClr val="EEF2F7"/>
          </a:solidFill>
          <a:ln w="11906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M_l" descr="Editable text; source id zM_l"/>
          <p:cNvSpPr txBox="1"/>
          <p:nvPr/>
        </p:nvSpPr>
        <p:spPr>
          <a:xfrm>
            <a:off x="396874" y="3762374"/>
            <a:ext cx="793749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文献证据</a:t>
            </a:r>
          </a:p>
        </p:txBody>
      </p:sp>
      <p:sp>
        <p:nvSpPr>
          <p:cNvPr id="6" name="zB" descr="Editable shape; source id zB"/>
          <p:cNvSpPr/>
          <p:nvPr/>
        </p:nvSpPr>
        <p:spPr>
          <a:xfrm>
            <a:off x="253999" y="6191249"/>
            <a:ext cx="11683999" cy="1682749"/>
          </a:xfrm>
          <a:prstGeom prst="roundRect">
            <a:avLst>
              <a:gd name="adj" fmla="val 7547"/>
            </a:avLst>
          </a:prstGeom>
          <a:solidFill>
            <a:srgbClr val="E6F2F3"/>
          </a:solidFill>
          <a:ln w="11906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1" descr="Editable shape; source id r1"/>
          <p:cNvSpPr/>
          <p:nvPr/>
        </p:nvSpPr>
        <p:spPr>
          <a:xfrm>
            <a:off x="412749" y="857249"/>
            <a:ext cx="2174874" cy="2000249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1906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1_s" descr="Editable shape; source id r1_s"/>
          <p:cNvSpPr/>
          <p:nvPr/>
        </p:nvSpPr>
        <p:spPr>
          <a:xfrm>
            <a:off x="412749" y="857249"/>
            <a:ext cx="2174874" cy="63499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r1_i" descr="exact crop of the generated raster (line motif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4" y="1018189"/>
            <a:ext cx="349249" cy="313120"/>
          </a:xfrm>
          <a:prstGeom prst="rect">
            <a:avLst/>
          </a:prstGeom>
          <a:effectLst/>
        </p:spPr>
      </p:pic>
      <p:sp>
        <p:nvSpPr>
          <p:cNvPr id="10" name="r1_t" descr="Editable text; source id r1_t"/>
          <p:cNvSpPr txBox="1"/>
          <p:nvPr/>
        </p:nvSpPr>
        <p:spPr>
          <a:xfrm>
            <a:off x="968374" y="1031874"/>
            <a:ext cx="150812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55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55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外加助熔</a:t>
            </a:r>
          </a:p>
        </p:txBody>
      </p:sp>
      <p:sp>
        <p:nvSpPr>
          <p:cNvPr id="11" name="r1_k0" descr="Editable text; source id r1_k0"/>
          <p:cNvSpPr txBox="1"/>
          <p:nvPr/>
        </p:nvSpPr>
        <p:spPr>
          <a:xfrm>
            <a:off x="523874" y="1389062"/>
            <a:ext cx="1952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溶解</a:t>
            </a:r>
          </a:p>
        </p:txBody>
      </p:sp>
      <p:cxnSp>
        <p:nvCxnSpPr>
          <p:cNvPr id="12" name="r1_r1" descr="Editable line; source id r1_r1"/>
          <p:cNvCxnSpPr/>
          <p:nvPr/>
        </p:nvCxnSpPr>
        <p:spPr>
          <a:xfrm>
            <a:off x="523874" y="1682749"/>
            <a:ext cx="1952625" cy="0"/>
          </a:xfrm>
          <a:prstGeom prst="line">
            <a:avLst/>
          </a:prstGeom>
          <a:ln w="7937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1_k1" descr="Editable text; source id r1_k1"/>
          <p:cNvSpPr txBox="1"/>
          <p:nvPr/>
        </p:nvSpPr>
        <p:spPr>
          <a:xfrm>
            <a:off x="523874" y="1714499"/>
            <a:ext cx="1952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保温</a:t>
            </a:r>
          </a:p>
        </p:txBody>
      </p:sp>
      <p:cxnSp>
        <p:nvCxnSpPr>
          <p:cNvPr id="14" name="r1_r2" descr="Editable line; source id r1_r2"/>
          <p:cNvCxnSpPr/>
          <p:nvPr/>
        </p:nvCxnSpPr>
        <p:spPr>
          <a:xfrm>
            <a:off x="523874" y="2008187"/>
            <a:ext cx="1952625" cy="0"/>
          </a:xfrm>
          <a:prstGeom prst="line">
            <a:avLst/>
          </a:prstGeom>
          <a:ln w="7937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1_k2" descr="Editable text; source id r1_k2"/>
          <p:cNvSpPr txBox="1"/>
          <p:nvPr/>
        </p:nvSpPr>
        <p:spPr>
          <a:xfrm>
            <a:off x="523874" y="2039937"/>
            <a:ext cx="1952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慢冷分离</a:t>
            </a:r>
          </a:p>
        </p:txBody>
      </p:sp>
      <p:sp>
        <p:nvSpPr>
          <p:cNvPr id="16" name="r2" descr="Editable shape; source id r2"/>
          <p:cNvSpPr/>
          <p:nvPr/>
        </p:nvSpPr>
        <p:spPr>
          <a:xfrm>
            <a:off x="2698749" y="857249"/>
            <a:ext cx="2174874" cy="2000249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1906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2_s" descr="Editable shape; source id r2_s"/>
          <p:cNvSpPr/>
          <p:nvPr/>
        </p:nvSpPr>
        <p:spPr>
          <a:xfrm>
            <a:off x="2698749" y="857249"/>
            <a:ext cx="2174874" cy="63499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r2_i" descr="exact crop of the generated raster (line motif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233" y="1000124"/>
            <a:ext cx="266532" cy="349249"/>
          </a:xfrm>
          <a:prstGeom prst="rect">
            <a:avLst/>
          </a:prstGeom>
          <a:effectLst/>
        </p:spPr>
      </p:pic>
      <p:sp>
        <p:nvSpPr>
          <p:cNvPr id="19" name="r2_t" descr="Editable text; source id r2_t"/>
          <p:cNvSpPr txBox="1"/>
          <p:nvPr/>
        </p:nvSpPr>
        <p:spPr>
          <a:xfrm>
            <a:off x="3254374" y="1031874"/>
            <a:ext cx="150812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55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55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自熔</a:t>
            </a:r>
            <a:r>
              <a:rPr sz="1555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/</a:t>
            </a:r>
            <a:r>
              <a:rPr sz="1555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熔体</a:t>
            </a:r>
          </a:p>
        </p:txBody>
      </p:sp>
      <p:sp>
        <p:nvSpPr>
          <p:cNvPr id="20" name="r2_k0" descr="Editable text; source id r2_k0"/>
          <p:cNvSpPr txBox="1"/>
          <p:nvPr/>
        </p:nvSpPr>
        <p:spPr>
          <a:xfrm>
            <a:off x="2809874" y="1389062"/>
            <a:ext cx="1952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均化</a:t>
            </a:r>
          </a:p>
        </p:txBody>
      </p:sp>
      <p:cxnSp>
        <p:nvCxnSpPr>
          <p:cNvPr id="21" name="r2_r1" descr="Editable line; source id r2_r1"/>
          <p:cNvCxnSpPr/>
          <p:nvPr/>
        </p:nvCxnSpPr>
        <p:spPr>
          <a:xfrm>
            <a:off x="2809874" y="1682749"/>
            <a:ext cx="1952625" cy="0"/>
          </a:xfrm>
          <a:prstGeom prst="line">
            <a:avLst/>
          </a:prstGeom>
          <a:ln w="7937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2_k1" descr="Editable text; source id r2_k1"/>
          <p:cNvSpPr txBox="1"/>
          <p:nvPr/>
        </p:nvSpPr>
        <p:spPr>
          <a:xfrm>
            <a:off x="2809874" y="1714499"/>
            <a:ext cx="1952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自发成核</a:t>
            </a:r>
          </a:p>
        </p:txBody>
      </p:sp>
      <p:cxnSp>
        <p:nvCxnSpPr>
          <p:cNvPr id="23" name="r2_r2" descr="Editable line; source id r2_r2"/>
          <p:cNvCxnSpPr/>
          <p:nvPr/>
        </p:nvCxnSpPr>
        <p:spPr>
          <a:xfrm>
            <a:off x="2809874" y="2008187"/>
            <a:ext cx="1952625" cy="0"/>
          </a:xfrm>
          <a:prstGeom prst="line">
            <a:avLst/>
          </a:prstGeom>
          <a:ln w="7937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2_k2" descr="Editable text; source id r2_k2"/>
          <p:cNvSpPr txBox="1"/>
          <p:nvPr/>
        </p:nvSpPr>
        <p:spPr>
          <a:xfrm>
            <a:off x="2809874" y="2039937"/>
            <a:ext cx="1952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受控冷却</a:t>
            </a:r>
          </a:p>
        </p:txBody>
      </p:sp>
      <p:sp>
        <p:nvSpPr>
          <p:cNvPr id="25" name="r3" descr="Editable shape; source id r3"/>
          <p:cNvSpPr/>
          <p:nvPr/>
        </p:nvSpPr>
        <p:spPr>
          <a:xfrm>
            <a:off x="4984749" y="857249"/>
            <a:ext cx="2174874" cy="2000249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1906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3_s" descr="Editable shape; source id r3_s"/>
          <p:cNvSpPr/>
          <p:nvPr/>
        </p:nvSpPr>
        <p:spPr>
          <a:xfrm>
            <a:off x="4984749" y="857249"/>
            <a:ext cx="2174874" cy="63499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r3_i" descr="exact crop of the generated raster (line motif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141" y="1000124"/>
            <a:ext cx="326717" cy="349249"/>
          </a:xfrm>
          <a:prstGeom prst="rect">
            <a:avLst/>
          </a:prstGeom>
          <a:effectLst/>
        </p:spPr>
      </p:pic>
      <p:sp>
        <p:nvSpPr>
          <p:cNvPr id="28" name="r3_t" descr="Editable text; source id r3_t"/>
          <p:cNvSpPr txBox="1"/>
          <p:nvPr/>
        </p:nvSpPr>
        <p:spPr>
          <a:xfrm>
            <a:off x="5540374" y="1031874"/>
            <a:ext cx="150812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55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55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固相陶瓷</a:t>
            </a:r>
          </a:p>
        </p:txBody>
      </p:sp>
      <p:sp>
        <p:nvSpPr>
          <p:cNvPr id="29" name="r3_k0" descr="Editable text; source id r3_k0"/>
          <p:cNvSpPr txBox="1"/>
          <p:nvPr/>
        </p:nvSpPr>
        <p:spPr>
          <a:xfrm>
            <a:off x="5095874" y="1389062"/>
            <a:ext cx="1952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混合压片</a:t>
            </a:r>
          </a:p>
        </p:txBody>
      </p:sp>
      <p:cxnSp>
        <p:nvCxnSpPr>
          <p:cNvPr id="30" name="r3_r1" descr="Editable line; source id r3_r1"/>
          <p:cNvCxnSpPr/>
          <p:nvPr/>
        </p:nvCxnSpPr>
        <p:spPr>
          <a:xfrm>
            <a:off x="5095874" y="1682749"/>
            <a:ext cx="1952625" cy="0"/>
          </a:xfrm>
          <a:prstGeom prst="line">
            <a:avLst/>
          </a:prstGeom>
          <a:ln w="7937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3_k1" descr="Editable text; source id r3_k1"/>
          <p:cNvSpPr txBox="1"/>
          <p:nvPr/>
        </p:nvSpPr>
        <p:spPr>
          <a:xfrm>
            <a:off x="5095874" y="1714499"/>
            <a:ext cx="1952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煅烧复磨</a:t>
            </a:r>
          </a:p>
        </p:txBody>
      </p:sp>
      <p:cxnSp>
        <p:nvCxnSpPr>
          <p:cNvPr id="32" name="r3_r2" descr="Editable line; source id r3_r2"/>
          <p:cNvCxnSpPr/>
          <p:nvPr/>
        </p:nvCxnSpPr>
        <p:spPr>
          <a:xfrm>
            <a:off x="5095874" y="2008187"/>
            <a:ext cx="1952625" cy="0"/>
          </a:xfrm>
          <a:prstGeom prst="line">
            <a:avLst/>
          </a:prstGeom>
          <a:ln w="7937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3_k2" descr="Editable text; source id r3_k2"/>
          <p:cNvSpPr txBox="1"/>
          <p:nvPr/>
        </p:nvSpPr>
        <p:spPr>
          <a:xfrm>
            <a:off x="5095874" y="2039937"/>
            <a:ext cx="1952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烧结</a:t>
            </a:r>
          </a:p>
        </p:txBody>
      </p:sp>
      <p:sp>
        <p:nvSpPr>
          <p:cNvPr id="34" name="r4" descr="Editable shape; source id r4"/>
          <p:cNvSpPr/>
          <p:nvPr/>
        </p:nvSpPr>
        <p:spPr>
          <a:xfrm>
            <a:off x="7270749" y="857249"/>
            <a:ext cx="2174874" cy="2000249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1906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4_s" descr="Editable shape; source id r4_s"/>
          <p:cNvSpPr/>
          <p:nvPr/>
        </p:nvSpPr>
        <p:spPr>
          <a:xfrm>
            <a:off x="7270749" y="857249"/>
            <a:ext cx="2174874" cy="63499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r4_i" descr="exact crop of the generated raster (line motif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3624" y="1000124"/>
            <a:ext cx="285749" cy="349249"/>
          </a:xfrm>
          <a:prstGeom prst="rect">
            <a:avLst/>
          </a:prstGeom>
          <a:effectLst/>
        </p:spPr>
      </p:pic>
      <p:sp>
        <p:nvSpPr>
          <p:cNvPr id="37" name="r4_t" descr="Editable text; source id r4_t"/>
          <p:cNvSpPr txBox="1"/>
          <p:nvPr/>
        </p:nvSpPr>
        <p:spPr>
          <a:xfrm>
            <a:off x="7826374" y="1031874"/>
            <a:ext cx="150812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55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55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机械化学预活化</a:t>
            </a:r>
          </a:p>
        </p:txBody>
      </p:sp>
      <p:sp>
        <p:nvSpPr>
          <p:cNvPr id="38" name="r4_k0" descr="Editable text; source id r4_k0"/>
          <p:cNvSpPr txBox="1"/>
          <p:nvPr/>
        </p:nvSpPr>
        <p:spPr>
          <a:xfrm>
            <a:off x="7381874" y="1389062"/>
            <a:ext cx="1952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高能研磨</a:t>
            </a:r>
          </a:p>
        </p:txBody>
      </p:sp>
      <p:cxnSp>
        <p:nvCxnSpPr>
          <p:cNvPr id="39" name="r4_r1" descr="Editable line; source id r4_r1"/>
          <p:cNvCxnSpPr/>
          <p:nvPr/>
        </p:nvCxnSpPr>
        <p:spPr>
          <a:xfrm>
            <a:off x="7381874" y="1682749"/>
            <a:ext cx="1952625" cy="0"/>
          </a:xfrm>
          <a:prstGeom prst="line">
            <a:avLst/>
          </a:prstGeom>
          <a:ln w="7937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4_k1" descr="Editable text; source id r4_k1"/>
          <p:cNvSpPr txBox="1"/>
          <p:nvPr/>
        </p:nvSpPr>
        <p:spPr>
          <a:xfrm>
            <a:off x="7381874" y="1714499"/>
            <a:ext cx="1952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活化</a:t>
            </a:r>
          </a:p>
        </p:txBody>
      </p:sp>
      <p:cxnSp>
        <p:nvCxnSpPr>
          <p:cNvPr id="41" name="r4_r2" descr="Editable line; source id r4_r2"/>
          <p:cNvCxnSpPr/>
          <p:nvPr/>
        </p:nvCxnSpPr>
        <p:spPr>
          <a:xfrm>
            <a:off x="7381874" y="2008187"/>
            <a:ext cx="1952625" cy="0"/>
          </a:xfrm>
          <a:prstGeom prst="line">
            <a:avLst/>
          </a:prstGeom>
          <a:ln w="7937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4_k2" descr="Editable text; source id r4_k2"/>
          <p:cNvSpPr txBox="1"/>
          <p:nvPr/>
        </p:nvSpPr>
        <p:spPr>
          <a:xfrm>
            <a:off x="7381874" y="2039937"/>
            <a:ext cx="1952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后续成相</a:t>
            </a:r>
          </a:p>
        </p:txBody>
      </p:sp>
      <p:sp>
        <p:nvSpPr>
          <p:cNvPr id="43" name="r5" descr="Editable shape; source id r5"/>
          <p:cNvSpPr/>
          <p:nvPr/>
        </p:nvSpPr>
        <p:spPr>
          <a:xfrm>
            <a:off x="9556749" y="857249"/>
            <a:ext cx="2174874" cy="2000249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1906">
            <a:solidFill>
              <a:srgbClr val="9AA3AB"/>
            </a:solidFill>
            <a:custDash>
              <a:ds d="866667" sp="5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r5_i" descr="exact crop of the generated raster (line motif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3019" y="936624"/>
            <a:ext cx="238960" cy="349249"/>
          </a:xfrm>
          <a:prstGeom prst="rect">
            <a:avLst/>
          </a:prstGeom>
          <a:effectLst/>
        </p:spPr>
      </p:pic>
      <p:sp>
        <p:nvSpPr>
          <p:cNvPr id="45" name="r5_t" descr="Editable text; source id r5_t"/>
          <p:cNvSpPr txBox="1"/>
          <p:nvPr/>
        </p:nvSpPr>
        <p:spPr>
          <a:xfrm>
            <a:off x="10112374" y="968374"/>
            <a:ext cx="150812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555" b="1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defRPr>
            </a:pPr>
            <a:r>
              <a:rPr sz="1555" b="1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rPr>
              <a:t>Czochralski</a:t>
            </a:r>
          </a:p>
        </p:txBody>
      </p:sp>
      <p:sp>
        <p:nvSpPr>
          <p:cNvPr id="46" name="r5_k0" descr="Editable text; source id r5_k0"/>
          <p:cNvSpPr txBox="1"/>
          <p:nvPr/>
        </p:nvSpPr>
        <p:spPr>
          <a:xfrm>
            <a:off x="9667874" y="1325562"/>
            <a:ext cx="1952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预烧熔化</a:t>
            </a:r>
          </a:p>
        </p:txBody>
      </p:sp>
      <p:cxnSp>
        <p:nvCxnSpPr>
          <p:cNvPr id="47" name="r5_r1" descr="Editable line; source id r5_r1"/>
          <p:cNvCxnSpPr/>
          <p:nvPr/>
        </p:nvCxnSpPr>
        <p:spPr>
          <a:xfrm>
            <a:off x="9667874" y="1619249"/>
            <a:ext cx="1952625" cy="0"/>
          </a:xfrm>
          <a:prstGeom prst="line">
            <a:avLst/>
          </a:prstGeom>
          <a:ln w="7937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5_k1" descr="Editable text; source id r5_k1"/>
          <p:cNvSpPr txBox="1"/>
          <p:nvPr/>
        </p:nvSpPr>
        <p:spPr>
          <a:xfrm>
            <a:off x="9667874" y="1650999"/>
            <a:ext cx="1952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籽晶提拉</a:t>
            </a:r>
          </a:p>
        </p:txBody>
      </p:sp>
      <p:cxnSp>
        <p:nvCxnSpPr>
          <p:cNvPr id="49" name="r5_r2" descr="Editable line; source id r5_r2"/>
          <p:cNvCxnSpPr/>
          <p:nvPr/>
        </p:nvCxnSpPr>
        <p:spPr>
          <a:xfrm>
            <a:off x="9667874" y="1944687"/>
            <a:ext cx="1952625" cy="0"/>
          </a:xfrm>
          <a:prstGeom prst="line">
            <a:avLst/>
          </a:prstGeom>
          <a:ln w="7937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5_k2" descr="Editable text; source id r5_k2"/>
          <p:cNvSpPr txBox="1"/>
          <p:nvPr/>
        </p:nvSpPr>
        <p:spPr>
          <a:xfrm>
            <a:off x="9667874" y="1976437"/>
            <a:ext cx="1952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退火</a:t>
            </a:r>
          </a:p>
        </p:txBody>
      </p:sp>
      <p:sp>
        <p:nvSpPr>
          <p:cNvPr id="51" name="r5_tg" descr="Editable shape; source id r5_tg"/>
          <p:cNvSpPr/>
          <p:nvPr/>
        </p:nvSpPr>
        <p:spPr>
          <a:xfrm>
            <a:off x="10747374" y="2428874"/>
            <a:ext cx="873124" cy="333374"/>
          </a:xfrm>
          <a:prstGeom prst="roundRect">
            <a:avLst>
              <a:gd name="adj" fmla="val 50000"/>
            </a:avLst>
          </a:prstGeom>
          <a:solidFill>
            <a:srgbClr val="FFF6E3"/>
          </a:solidFill>
          <a:ln w="11906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5_tgt" descr="Editable text; source id r5_tgt"/>
          <p:cNvSpPr txBox="1"/>
          <p:nvPr/>
        </p:nvSpPr>
        <p:spPr>
          <a:xfrm>
            <a:off x="10810874" y="2460624"/>
            <a:ext cx="746124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工艺参照</a:t>
            </a:r>
          </a:p>
        </p:txBody>
      </p:sp>
      <p:sp>
        <p:nvSpPr>
          <p:cNvPr id="53" name="led" descr="Editable shape; source id led"/>
          <p:cNvSpPr/>
          <p:nvPr/>
        </p:nvSpPr>
        <p:spPr>
          <a:xfrm>
            <a:off x="412749" y="4127499"/>
            <a:ext cx="11366499" cy="1365249"/>
          </a:xfrm>
          <a:prstGeom prst="roundRect">
            <a:avLst>
              <a:gd name="adj" fmla="val 5813"/>
            </a:avLst>
          </a:prstGeom>
          <a:solidFill>
            <a:srgbClr val="FFFFFF"/>
          </a:solidFill>
          <a:ln w="11906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ed_s" descr="Editable shape; source id led_s"/>
          <p:cNvSpPr/>
          <p:nvPr/>
        </p:nvSpPr>
        <p:spPr>
          <a:xfrm>
            <a:off x="412749" y="4127499"/>
            <a:ext cx="11366499" cy="63499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led_i" descr="exact crop of the generated raster (line motif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749" y="4351709"/>
            <a:ext cx="349249" cy="250080"/>
          </a:xfrm>
          <a:prstGeom prst="rect">
            <a:avLst/>
          </a:prstGeom>
          <a:effectLst/>
        </p:spPr>
      </p:pic>
      <p:sp>
        <p:nvSpPr>
          <p:cNvPr id="56" name="led_t" descr="Editable text; source id led_t"/>
          <p:cNvSpPr txBox="1"/>
          <p:nvPr/>
        </p:nvSpPr>
        <p:spPr>
          <a:xfrm>
            <a:off x="984249" y="4317999"/>
            <a:ext cx="10667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defRPr sz="1680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0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统一实验记录</a:t>
            </a:r>
          </a:p>
        </p:txBody>
      </p:sp>
      <p:sp>
        <p:nvSpPr>
          <p:cNvPr id="57" name="led_tg" descr="Editable shape; source id led_tg"/>
          <p:cNvSpPr/>
          <p:nvPr/>
        </p:nvSpPr>
        <p:spPr>
          <a:xfrm>
            <a:off x="9993312" y="4310062"/>
            <a:ext cx="1658937" cy="333374"/>
          </a:xfrm>
          <a:prstGeom prst="roundRect">
            <a:avLst>
              <a:gd name="adj" fmla="val 50000"/>
            </a:avLst>
          </a:prstGeom>
          <a:solidFill>
            <a:srgbClr val="FFF6E3"/>
          </a:solidFill>
          <a:ln w="11906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led_tgt" descr="Editable text; source id led_tgt"/>
          <p:cNvSpPr txBox="1"/>
          <p:nvPr/>
        </p:nvSpPr>
        <p:spPr>
          <a:xfrm>
            <a:off x="10056812" y="4341812"/>
            <a:ext cx="1531937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抽取框架</a:t>
            </a:r>
            <a:r>
              <a:rPr sz="1187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 ≠ </a:t>
            </a:r>
            <a:r>
              <a:rPr sz="1187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实验处方</a:t>
            </a:r>
          </a:p>
        </p:txBody>
      </p:sp>
      <p:sp>
        <p:nvSpPr>
          <p:cNvPr id="59" name="cell0" descr="Editable shape; source id cell0"/>
          <p:cNvSpPr/>
          <p:nvPr/>
        </p:nvSpPr>
        <p:spPr>
          <a:xfrm>
            <a:off x="587374" y="4794249"/>
            <a:ext cx="2619374" cy="49212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1906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ell0_t" descr="Editable text; source id cell0_t"/>
          <p:cNvSpPr txBox="1"/>
          <p:nvPr/>
        </p:nvSpPr>
        <p:spPr>
          <a:xfrm>
            <a:off x="730249" y="4937124"/>
            <a:ext cx="2333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30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0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配比与原料</a:t>
            </a:r>
          </a:p>
        </p:txBody>
      </p:sp>
      <p:sp>
        <p:nvSpPr>
          <p:cNvPr id="61" name="cell1" descr="Editable shape; source id cell1"/>
          <p:cNvSpPr/>
          <p:nvPr/>
        </p:nvSpPr>
        <p:spPr>
          <a:xfrm>
            <a:off x="3317874" y="4794249"/>
            <a:ext cx="2619374" cy="49212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1906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ell1_t" descr="Editable text; source id cell1_t"/>
          <p:cNvSpPr txBox="1"/>
          <p:nvPr/>
        </p:nvSpPr>
        <p:spPr>
          <a:xfrm>
            <a:off x="3460749" y="4937124"/>
            <a:ext cx="2333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30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0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温度</a:t>
            </a:r>
            <a:r>
              <a:rPr sz="1306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30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时间与气氛</a:t>
            </a:r>
          </a:p>
        </p:txBody>
      </p:sp>
      <p:sp>
        <p:nvSpPr>
          <p:cNvPr id="63" name="cell2" descr="Editable shape; source id cell2"/>
          <p:cNvSpPr/>
          <p:nvPr/>
        </p:nvSpPr>
        <p:spPr>
          <a:xfrm>
            <a:off x="6048374" y="4794249"/>
            <a:ext cx="2619374" cy="49212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1906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ell2_t" descr="Editable text; source id cell2_t"/>
          <p:cNvSpPr txBox="1"/>
          <p:nvPr/>
        </p:nvSpPr>
        <p:spPr>
          <a:xfrm>
            <a:off x="6191249" y="4937124"/>
            <a:ext cx="2333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30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0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坩埚与助熔剂</a:t>
            </a:r>
          </a:p>
        </p:txBody>
      </p:sp>
      <p:sp>
        <p:nvSpPr>
          <p:cNvPr id="65" name="cell3" descr="Editable shape; source id cell3"/>
          <p:cNvSpPr/>
          <p:nvPr/>
        </p:nvSpPr>
        <p:spPr>
          <a:xfrm>
            <a:off x="8778874" y="4794249"/>
            <a:ext cx="2619374" cy="49212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1906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ell3_t" descr="Editable text; source id cell3_t"/>
          <p:cNvSpPr txBox="1"/>
          <p:nvPr/>
        </p:nvSpPr>
        <p:spPr>
          <a:xfrm>
            <a:off x="8921749" y="4937124"/>
            <a:ext cx="2333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30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0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冷却、生长与分离</a:t>
            </a:r>
          </a:p>
        </p:txBody>
      </p:sp>
      <p:sp>
        <p:nvSpPr>
          <p:cNvPr id="67" name="k1" descr="Editable shape; source id k1"/>
          <p:cNvSpPr/>
          <p:nvPr/>
        </p:nvSpPr>
        <p:spPr>
          <a:xfrm>
            <a:off x="412749" y="6635749"/>
            <a:ext cx="2746374" cy="1111249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1906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k1_s" descr="Editable shape; source id k1_s"/>
          <p:cNvSpPr/>
          <p:nvPr/>
        </p:nvSpPr>
        <p:spPr>
          <a:xfrm>
            <a:off x="412749" y="6635749"/>
            <a:ext cx="2746374" cy="63499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k1_i" descr="exact crop of the generated raster (line motif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979" y="6778624"/>
            <a:ext cx="291041" cy="349249"/>
          </a:xfrm>
          <a:prstGeom prst="rect">
            <a:avLst/>
          </a:prstGeom>
          <a:effectLst/>
        </p:spPr>
      </p:pic>
      <p:sp>
        <p:nvSpPr>
          <p:cNvPr id="70" name="k1_t" descr="Editable text; source id k1_t"/>
          <p:cNvSpPr txBox="1"/>
          <p:nvPr/>
        </p:nvSpPr>
        <p:spPr>
          <a:xfrm>
            <a:off x="968374" y="6810374"/>
            <a:ext cx="207962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71"/>
              </a:lnSpc>
              <a:spcBef>
                <a:spcPts val="0"/>
              </a:spcBef>
              <a:spcAft>
                <a:spcPts val="0"/>
              </a:spcAft>
              <a:defRPr sz="1493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3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单晶结构</a:t>
            </a:r>
          </a:p>
        </p:txBody>
      </p:sp>
      <p:sp>
        <p:nvSpPr>
          <p:cNvPr id="71" name="k1_k0" descr="Editable text; source id k1_k0"/>
          <p:cNvSpPr txBox="1"/>
          <p:nvPr/>
        </p:nvSpPr>
        <p:spPr>
          <a:xfrm>
            <a:off x="523874" y="7159624"/>
            <a:ext cx="25241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结构身份与位点占据</a:t>
            </a:r>
          </a:p>
        </p:txBody>
      </p:sp>
      <p:sp>
        <p:nvSpPr>
          <p:cNvPr id="72" name="k2" descr="Editable shape; source id k2"/>
          <p:cNvSpPr/>
          <p:nvPr/>
        </p:nvSpPr>
        <p:spPr>
          <a:xfrm>
            <a:off x="3278187" y="6635749"/>
            <a:ext cx="2746374" cy="1111249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1906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k2_s" descr="Editable shape; source id k2_s"/>
          <p:cNvSpPr/>
          <p:nvPr/>
        </p:nvSpPr>
        <p:spPr>
          <a:xfrm>
            <a:off x="3278187" y="6635749"/>
            <a:ext cx="2746374" cy="63499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k2_i" descr="exact crop of the generated raster (line motif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9312" y="6850752"/>
            <a:ext cx="349249" cy="204994"/>
          </a:xfrm>
          <a:prstGeom prst="rect">
            <a:avLst/>
          </a:prstGeom>
          <a:effectLst/>
        </p:spPr>
      </p:pic>
      <p:sp>
        <p:nvSpPr>
          <p:cNvPr id="75" name="k2_t" descr="Editable text; source id k2_t"/>
          <p:cNvSpPr txBox="1"/>
          <p:nvPr/>
        </p:nvSpPr>
        <p:spPr>
          <a:xfrm>
            <a:off x="3833812" y="6810374"/>
            <a:ext cx="207962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49"/>
              </a:lnSpc>
              <a:spcBef>
                <a:spcPts val="0"/>
              </a:spcBef>
              <a:spcAft>
                <a:spcPts val="0"/>
              </a:spcAft>
              <a:defRPr sz="1493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493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PXRD / Rietveld</a:t>
            </a:r>
          </a:p>
        </p:txBody>
      </p:sp>
      <p:sp>
        <p:nvSpPr>
          <p:cNvPr id="76" name="k2_k0" descr="Editable text; source id k2_k0"/>
          <p:cNvSpPr txBox="1"/>
          <p:nvPr/>
        </p:nvSpPr>
        <p:spPr>
          <a:xfrm>
            <a:off x="3389312" y="7159624"/>
            <a:ext cx="25241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批量相纯与杂相</a:t>
            </a:r>
          </a:p>
        </p:txBody>
      </p:sp>
      <p:sp>
        <p:nvSpPr>
          <p:cNvPr id="77" name="k3" descr="Editable shape; source id k3"/>
          <p:cNvSpPr/>
          <p:nvPr/>
        </p:nvSpPr>
        <p:spPr>
          <a:xfrm>
            <a:off x="6143624" y="6635749"/>
            <a:ext cx="2746374" cy="1111249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1906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k3_s" descr="Editable shape; source id k3_s"/>
          <p:cNvSpPr/>
          <p:nvPr/>
        </p:nvSpPr>
        <p:spPr>
          <a:xfrm>
            <a:off x="6143624" y="6635749"/>
            <a:ext cx="2746374" cy="63499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k3_i" descr="exact crop of the generated raster (line motif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4749" y="6865937"/>
            <a:ext cx="349249" cy="174624"/>
          </a:xfrm>
          <a:prstGeom prst="rect">
            <a:avLst/>
          </a:prstGeom>
          <a:effectLst/>
        </p:spPr>
      </p:pic>
      <p:sp>
        <p:nvSpPr>
          <p:cNvPr id="80" name="k3_t" descr="Editable text; source id k3_t"/>
          <p:cNvSpPr txBox="1"/>
          <p:nvPr/>
        </p:nvSpPr>
        <p:spPr>
          <a:xfrm>
            <a:off x="6699249" y="6810374"/>
            <a:ext cx="207962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71"/>
              </a:lnSpc>
              <a:spcBef>
                <a:spcPts val="0"/>
              </a:spcBef>
              <a:spcAft>
                <a:spcPts val="0"/>
              </a:spcAft>
              <a:defRPr sz="1493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3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成分与污染</a:t>
            </a:r>
          </a:p>
        </p:txBody>
      </p:sp>
      <p:sp>
        <p:nvSpPr>
          <p:cNvPr id="81" name="k3_k0" descr="Editable text; source id k3_k0"/>
          <p:cNvSpPr txBox="1"/>
          <p:nvPr/>
        </p:nvSpPr>
        <p:spPr>
          <a:xfrm>
            <a:off x="6254749" y="7159624"/>
            <a:ext cx="25241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名义</a:t>
            </a: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局域</a:t>
            </a: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体平均</a:t>
            </a:r>
          </a:p>
        </p:txBody>
      </p:sp>
      <p:sp>
        <p:nvSpPr>
          <p:cNvPr id="82" name="k4" descr="Editable shape; source id k4"/>
          <p:cNvSpPr/>
          <p:nvPr/>
        </p:nvSpPr>
        <p:spPr>
          <a:xfrm>
            <a:off x="9009062" y="6635749"/>
            <a:ext cx="2746374" cy="1111249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1906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k4_s" descr="Editable shape; source id k4_s"/>
          <p:cNvSpPr/>
          <p:nvPr/>
        </p:nvSpPr>
        <p:spPr>
          <a:xfrm>
            <a:off x="9009062" y="6635749"/>
            <a:ext cx="2746374" cy="63499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k4_i" descr="exact crop of the generated raster (line motif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20187" y="6832355"/>
            <a:ext cx="349249" cy="241788"/>
          </a:xfrm>
          <a:prstGeom prst="rect">
            <a:avLst/>
          </a:prstGeom>
          <a:effectLst/>
        </p:spPr>
      </p:pic>
      <p:sp>
        <p:nvSpPr>
          <p:cNvPr id="85" name="k4_t" descr="Editable text; source id k4_t"/>
          <p:cNvSpPr txBox="1"/>
          <p:nvPr/>
        </p:nvSpPr>
        <p:spPr>
          <a:xfrm>
            <a:off x="9564687" y="6810374"/>
            <a:ext cx="207962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71"/>
              </a:lnSpc>
              <a:spcBef>
                <a:spcPts val="0"/>
              </a:spcBef>
              <a:spcAft>
                <a:spcPts val="0"/>
              </a:spcAft>
              <a:defRPr sz="1493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3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高温稳定性</a:t>
            </a:r>
          </a:p>
        </p:txBody>
      </p:sp>
      <p:sp>
        <p:nvSpPr>
          <p:cNvPr id="86" name="k4_k0" descr="Editable text; source id k4_k0"/>
          <p:cNvSpPr txBox="1"/>
          <p:nvPr/>
        </p:nvSpPr>
        <p:spPr>
          <a:xfrm>
            <a:off x="9120187" y="7159624"/>
            <a:ext cx="25241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原位高温</a:t>
            </a: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≠ </a:t>
            </a: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冷却回收</a:t>
            </a:r>
          </a:p>
        </p:txBody>
      </p:sp>
      <p:sp>
        <p:nvSpPr>
          <p:cNvPr id="87" name="d0_p" descr="Editable shape; source id d0_p"/>
          <p:cNvSpPr/>
          <p:nvPr/>
        </p:nvSpPr>
        <p:spPr>
          <a:xfrm>
            <a:off x="1000124" y="3325812"/>
            <a:ext cx="1008062" cy="3333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4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0_p_t" descr="Editable text; source id d0_p_t"/>
          <p:cNvSpPr txBox="1"/>
          <p:nvPr/>
        </p:nvSpPr>
        <p:spPr>
          <a:xfrm>
            <a:off x="1095374" y="3365499"/>
            <a:ext cx="817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配比</a:t>
            </a: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·</a:t>
            </a: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温度</a:t>
            </a:r>
          </a:p>
        </p:txBody>
      </p:sp>
      <p:cxnSp>
        <p:nvCxnSpPr>
          <p:cNvPr id="89" name="d0_0" descr="Editable line; source id d0_0"/>
          <p:cNvCxnSpPr/>
          <p:nvPr/>
        </p:nvCxnSpPr>
        <p:spPr>
          <a:xfrm>
            <a:off x="1500187" y="2873374"/>
            <a:ext cx="0" cy="420688"/>
          </a:xfrm>
          <a:prstGeom prst="line">
            <a:avLst/>
          </a:prstGeom>
          <a:ln w="15874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d0_1" descr="Editable line; source id d0_1"/>
          <p:cNvSpPr/>
          <p:nvPr/>
        </p:nvSpPr>
        <p:spPr>
          <a:xfrm>
            <a:off x="1456531" y="3690937"/>
            <a:ext cx="87312" cy="420687"/>
          </a:xfrm>
          <a:custGeom>
            <a:avLst/>
            <a:gdLst/>
            <a:ahLst/>
            <a:cxnLst/>
            <a:rect l="l" t="t" r="r" b="b"/>
            <a:pathLst>
              <a:path w="11000" h="53000">
                <a:moveTo>
                  <a:pt x="6500" y="0"/>
                </a:moveTo>
                <a:lnTo>
                  <a:pt x="6500" y="40000"/>
                </a:lnTo>
                <a:lnTo>
                  <a:pt x="11000" y="40000"/>
                </a:lnTo>
                <a:lnTo>
                  <a:pt x="5500" y="53000"/>
                </a:lnTo>
                <a:lnTo>
                  <a:pt x="0" y="40000"/>
                </a:lnTo>
                <a:lnTo>
                  <a:pt x="4500" y="40000"/>
                </a:lnTo>
                <a:lnTo>
                  <a:pt x="45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1_p" descr="Editable shape; source id d1_p"/>
          <p:cNvSpPr/>
          <p:nvPr/>
        </p:nvSpPr>
        <p:spPr>
          <a:xfrm>
            <a:off x="3286124" y="3325812"/>
            <a:ext cx="1008062" cy="3333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4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1_p_t" descr="Editable text; source id d1_p_t"/>
          <p:cNvSpPr txBox="1"/>
          <p:nvPr/>
        </p:nvSpPr>
        <p:spPr>
          <a:xfrm>
            <a:off x="3381374" y="3365499"/>
            <a:ext cx="817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熔体</a:t>
            </a: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·</a:t>
            </a: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容器</a:t>
            </a:r>
          </a:p>
        </p:txBody>
      </p:sp>
      <p:cxnSp>
        <p:nvCxnSpPr>
          <p:cNvPr id="93" name="d1_0" descr="Editable line; source id d1_0"/>
          <p:cNvCxnSpPr/>
          <p:nvPr/>
        </p:nvCxnSpPr>
        <p:spPr>
          <a:xfrm>
            <a:off x="3786187" y="2873374"/>
            <a:ext cx="0" cy="420688"/>
          </a:xfrm>
          <a:prstGeom prst="line">
            <a:avLst/>
          </a:prstGeom>
          <a:ln w="15874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d1_1" descr="Editable line; source id d1_1"/>
          <p:cNvSpPr/>
          <p:nvPr/>
        </p:nvSpPr>
        <p:spPr>
          <a:xfrm>
            <a:off x="3742531" y="3690937"/>
            <a:ext cx="87312" cy="420687"/>
          </a:xfrm>
          <a:custGeom>
            <a:avLst/>
            <a:gdLst/>
            <a:ahLst/>
            <a:cxnLst/>
            <a:rect l="l" t="t" r="r" b="b"/>
            <a:pathLst>
              <a:path w="11000" h="53000">
                <a:moveTo>
                  <a:pt x="6500" y="0"/>
                </a:moveTo>
                <a:lnTo>
                  <a:pt x="6500" y="40000"/>
                </a:lnTo>
                <a:lnTo>
                  <a:pt x="11000" y="40000"/>
                </a:lnTo>
                <a:lnTo>
                  <a:pt x="5500" y="53000"/>
                </a:lnTo>
                <a:lnTo>
                  <a:pt x="0" y="40000"/>
                </a:lnTo>
                <a:lnTo>
                  <a:pt x="4500" y="40000"/>
                </a:lnTo>
                <a:lnTo>
                  <a:pt x="45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2_p" descr="Editable shape; source id d2_p"/>
          <p:cNvSpPr/>
          <p:nvPr/>
        </p:nvSpPr>
        <p:spPr>
          <a:xfrm>
            <a:off x="5572124" y="3325812"/>
            <a:ext cx="1008062" cy="3333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4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2_p_t" descr="Editable text; source id d2_p_t"/>
          <p:cNvSpPr txBox="1"/>
          <p:nvPr/>
        </p:nvSpPr>
        <p:spPr>
          <a:xfrm>
            <a:off x="5667374" y="3365499"/>
            <a:ext cx="817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混合</a:t>
            </a: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·</a:t>
            </a: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煅烧</a:t>
            </a:r>
          </a:p>
        </p:txBody>
      </p:sp>
      <p:cxnSp>
        <p:nvCxnSpPr>
          <p:cNvPr id="97" name="d2_0" descr="Editable line; source id d2_0"/>
          <p:cNvCxnSpPr/>
          <p:nvPr/>
        </p:nvCxnSpPr>
        <p:spPr>
          <a:xfrm>
            <a:off x="6072187" y="2873374"/>
            <a:ext cx="0" cy="420688"/>
          </a:xfrm>
          <a:prstGeom prst="line">
            <a:avLst/>
          </a:prstGeom>
          <a:ln w="15874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d2_1" descr="Editable line; source id d2_1"/>
          <p:cNvSpPr/>
          <p:nvPr/>
        </p:nvSpPr>
        <p:spPr>
          <a:xfrm>
            <a:off x="6028531" y="3690937"/>
            <a:ext cx="87312" cy="420687"/>
          </a:xfrm>
          <a:custGeom>
            <a:avLst/>
            <a:gdLst/>
            <a:ahLst/>
            <a:cxnLst/>
            <a:rect l="l" t="t" r="r" b="b"/>
            <a:pathLst>
              <a:path w="11000" h="53000">
                <a:moveTo>
                  <a:pt x="6500" y="0"/>
                </a:moveTo>
                <a:lnTo>
                  <a:pt x="6500" y="40000"/>
                </a:lnTo>
                <a:lnTo>
                  <a:pt x="11000" y="40000"/>
                </a:lnTo>
                <a:lnTo>
                  <a:pt x="5500" y="53000"/>
                </a:lnTo>
                <a:lnTo>
                  <a:pt x="0" y="40000"/>
                </a:lnTo>
                <a:lnTo>
                  <a:pt x="4500" y="40000"/>
                </a:lnTo>
                <a:lnTo>
                  <a:pt x="45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3_p" descr="Editable shape; source id d3_p"/>
          <p:cNvSpPr/>
          <p:nvPr/>
        </p:nvSpPr>
        <p:spPr>
          <a:xfrm>
            <a:off x="7858124" y="3325812"/>
            <a:ext cx="1008062" cy="3333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4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3_p_t" descr="Editable text; source id d3_p_t"/>
          <p:cNvSpPr txBox="1"/>
          <p:nvPr/>
        </p:nvSpPr>
        <p:spPr>
          <a:xfrm>
            <a:off x="7953374" y="3365499"/>
            <a:ext cx="817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研磨</a:t>
            </a: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·</a:t>
            </a: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污染</a:t>
            </a:r>
          </a:p>
        </p:txBody>
      </p:sp>
      <p:cxnSp>
        <p:nvCxnSpPr>
          <p:cNvPr id="101" name="d3_0" descr="Editable line; source id d3_0"/>
          <p:cNvCxnSpPr/>
          <p:nvPr/>
        </p:nvCxnSpPr>
        <p:spPr>
          <a:xfrm>
            <a:off x="8358187" y="2873374"/>
            <a:ext cx="0" cy="420688"/>
          </a:xfrm>
          <a:prstGeom prst="line">
            <a:avLst/>
          </a:prstGeom>
          <a:ln w="15874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d3_1" descr="Editable line; source id d3_1"/>
          <p:cNvSpPr/>
          <p:nvPr/>
        </p:nvSpPr>
        <p:spPr>
          <a:xfrm>
            <a:off x="8314531" y="3690937"/>
            <a:ext cx="87312" cy="420687"/>
          </a:xfrm>
          <a:custGeom>
            <a:avLst/>
            <a:gdLst/>
            <a:ahLst/>
            <a:cxnLst/>
            <a:rect l="l" t="t" r="r" b="b"/>
            <a:pathLst>
              <a:path w="11000" h="53000">
                <a:moveTo>
                  <a:pt x="6500" y="0"/>
                </a:moveTo>
                <a:lnTo>
                  <a:pt x="6500" y="40000"/>
                </a:lnTo>
                <a:lnTo>
                  <a:pt x="11000" y="40000"/>
                </a:lnTo>
                <a:lnTo>
                  <a:pt x="5500" y="53000"/>
                </a:lnTo>
                <a:lnTo>
                  <a:pt x="0" y="40000"/>
                </a:lnTo>
                <a:lnTo>
                  <a:pt x="4500" y="40000"/>
                </a:lnTo>
                <a:lnTo>
                  <a:pt x="45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4_p" descr="Editable shape; source id d4_p"/>
          <p:cNvSpPr/>
          <p:nvPr/>
        </p:nvSpPr>
        <p:spPr>
          <a:xfrm>
            <a:off x="10144124" y="3325812"/>
            <a:ext cx="1008062" cy="3333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4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d4_p_t" descr="Editable text; source id d4_p_t"/>
          <p:cNvSpPr txBox="1"/>
          <p:nvPr/>
        </p:nvSpPr>
        <p:spPr>
          <a:xfrm>
            <a:off x="10239374" y="3365499"/>
            <a:ext cx="8175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籽晶</a:t>
            </a: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·</a:t>
            </a: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退火</a:t>
            </a:r>
          </a:p>
        </p:txBody>
      </p:sp>
      <p:cxnSp>
        <p:nvCxnSpPr>
          <p:cNvPr id="105" name="d4_0" descr="Editable line; source id d4_0"/>
          <p:cNvCxnSpPr/>
          <p:nvPr/>
        </p:nvCxnSpPr>
        <p:spPr>
          <a:xfrm>
            <a:off x="10644187" y="2873374"/>
            <a:ext cx="0" cy="420688"/>
          </a:xfrm>
          <a:prstGeom prst="line">
            <a:avLst/>
          </a:prstGeom>
          <a:ln w="15874">
            <a:solidFill>
              <a:srgbClr val="4B5563"/>
            </a:solidFill>
            <a:custDash>
              <a:ds d="600000" sp="40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d4_1" descr="Editable line; source id d4_1"/>
          <p:cNvCxnSpPr/>
          <p:nvPr/>
        </p:nvCxnSpPr>
        <p:spPr>
          <a:xfrm>
            <a:off x="10644187" y="3690937"/>
            <a:ext cx="0" cy="420687"/>
          </a:xfrm>
          <a:prstGeom prst="line">
            <a:avLst/>
          </a:prstGeom>
          <a:ln w="15874">
            <a:solidFill>
              <a:srgbClr val="4B5563"/>
            </a:solidFill>
            <a:custDash>
              <a:ds d="600000" sp="400000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0_p" descr="Editable shape; source id c0_p"/>
          <p:cNvSpPr/>
          <p:nvPr/>
        </p:nvSpPr>
        <p:spPr>
          <a:xfrm>
            <a:off x="1476374" y="5897562"/>
            <a:ext cx="619124" cy="3333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4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c0_p_t" descr="Editable text; source id c0_p_t"/>
          <p:cNvSpPr txBox="1"/>
          <p:nvPr/>
        </p:nvSpPr>
        <p:spPr>
          <a:xfrm>
            <a:off x="1571624" y="5937249"/>
            <a:ext cx="4286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结构</a:t>
            </a:r>
          </a:p>
        </p:txBody>
      </p:sp>
      <p:cxnSp>
        <p:nvCxnSpPr>
          <p:cNvPr id="109" name="c0_0" descr="Editable line; source id c0_0"/>
          <p:cNvCxnSpPr/>
          <p:nvPr/>
        </p:nvCxnSpPr>
        <p:spPr>
          <a:xfrm>
            <a:off x="1785937" y="5508624"/>
            <a:ext cx="0" cy="357188"/>
          </a:xfrm>
          <a:prstGeom prst="line">
            <a:avLst/>
          </a:prstGeom>
          <a:ln w="15874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c0_1" descr="Editable line; source id c0_1"/>
          <p:cNvSpPr/>
          <p:nvPr/>
        </p:nvSpPr>
        <p:spPr>
          <a:xfrm>
            <a:off x="1742281" y="6262687"/>
            <a:ext cx="87312" cy="357187"/>
          </a:xfrm>
          <a:custGeom>
            <a:avLst/>
            <a:gdLst/>
            <a:ahLst/>
            <a:cxnLst/>
            <a:rect l="l" t="t" r="r" b="b"/>
            <a:pathLst>
              <a:path w="11000" h="45000">
                <a:moveTo>
                  <a:pt x="6500" y="0"/>
                </a:moveTo>
                <a:lnTo>
                  <a:pt x="6500" y="32000"/>
                </a:lnTo>
                <a:lnTo>
                  <a:pt x="11000" y="32000"/>
                </a:lnTo>
                <a:lnTo>
                  <a:pt x="5500" y="45000"/>
                </a:lnTo>
                <a:lnTo>
                  <a:pt x="0" y="32000"/>
                </a:lnTo>
                <a:lnTo>
                  <a:pt x="4500" y="32000"/>
                </a:lnTo>
                <a:lnTo>
                  <a:pt x="45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c1_p" descr="Editable shape; source id c1_p"/>
          <p:cNvSpPr/>
          <p:nvPr/>
        </p:nvSpPr>
        <p:spPr>
          <a:xfrm>
            <a:off x="4270374" y="5897562"/>
            <a:ext cx="769937" cy="3333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4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c1_p_t" descr="Editable text; source id c1_p_t"/>
          <p:cNvSpPr txBox="1"/>
          <p:nvPr/>
        </p:nvSpPr>
        <p:spPr>
          <a:xfrm>
            <a:off x="4365624" y="5937249"/>
            <a:ext cx="579437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相组成</a:t>
            </a:r>
          </a:p>
        </p:txBody>
      </p:sp>
      <p:cxnSp>
        <p:nvCxnSpPr>
          <p:cNvPr id="113" name="c1_0" descr="Editable line; source id c1_0"/>
          <p:cNvCxnSpPr/>
          <p:nvPr/>
        </p:nvCxnSpPr>
        <p:spPr>
          <a:xfrm>
            <a:off x="4651374" y="5508624"/>
            <a:ext cx="0" cy="357188"/>
          </a:xfrm>
          <a:prstGeom prst="line">
            <a:avLst/>
          </a:prstGeom>
          <a:ln w="15874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c1_1" descr="Editable line; source id c1_1"/>
          <p:cNvSpPr/>
          <p:nvPr/>
        </p:nvSpPr>
        <p:spPr>
          <a:xfrm>
            <a:off x="4607719" y="6262687"/>
            <a:ext cx="87312" cy="357187"/>
          </a:xfrm>
          <a:custGeom>
            <a:avLst/>
            <a:gdLst/>
            <a:ahLst/>
            <a:cxnLst/>
            <a:rect l="l" t="t" r="r" b="b"/>
            <a:pathLst>
              <a:path w="11000" h="45000">
                <a:moveTo>
                  <a:pt x="6500" y="0"/>
                </a:moveTo>
                <a:lnTo>
                  <a:pt x="6500" y="32000"/>
                </a:lnTo>
                <a:lnTo>
                  <a:pt x="11000" y="32000"/>
                </a:lnTo>
                <a:lnTo>
                  <a:pt x="5500" y="45000"/>
                </a:lnTo>
                <a:lnTo>
                  <a:pt x="0" y="32000"/>
                </a:lnTo>
                <a:lnTo>
                  <a:pt x="4500" y="32000"/>
                </a:lnTo>
                <a:lnTo>
                  <a:pt x="45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c2_p" descr="Editable shape; source id c2_p"/>
          <p:cNvSpPr/>
          <p:nvPr/>
        </p:nvSpPr>
        <p:spPr>
          <a:xfrm>
            <a:off x="7207249" y="5897562"/>
            <a:ext cx="619124" cy="3333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4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c2_p_t" descr="Editable text; source id c2_p_t"/>
          <p:cNvSpPr txBox="1"/>
          <p:nvPr/>
        </p:nvSpPr>
        <p:spPr>
          <a:xfrm>
            <a:off x="7302499" y="5937249"/>
            <a:ext cx="4286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成分</a:t>
            </a:r>
          </a:p>
        </p:txBody>
      </p:sp>
      <p:cxnSp>
        <p:nvCxnSpPr>
          <p:cNvPr id="117" name="c2_0" descr="Editable line; source id c2_0"/>
          <p:cNvCxnSpPr/>
          <p:nvPr/>
        </p:nvCxnSpPr>
        <p:spPr>
          <a:xfrm>
            <a:off x="7516812" y="5508624"/>
            <a:ext cx="0" cy="357188"/>
          </a:xfrm>
          <a:prstGeom prst="line">
            <a:avLst/>
          </a:prstGeom>
          <a:ln w="15874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c2_1" descr="Editable line; source id c2_1"/>
          <p:cNvSpPr/>
          <p:nvPr/>
        </p:nvSpPr>
        <p:spPr>
          <a:xfrm>
            <a:off x="7473156" y="6262687"/>
            <a:ext cx="87312" cy="357187"/>
          </a:xfrm>
          <a:custGeom>
            <a:avLst/>
            <a:gdLst/>
            <a:ahLst/>
            <a:cxnLst/>
            <a:rect l="l" t="t" r="r" b="b"/>
            <a:pathLst>
              <a:path w="11000" h="45000">
                <a:moveTo>
                  <a:pt x="6500" y="0"/>
                </a:moveTo>
                <a:lnTo>
                  <a:pt x="6500" y="32000"/>
                </a:lnTo>
                <a:lnTo>
                  <a:pt x="11000" y="32000"/>
                </a:lnTo>
                <a:lnTo>
                  <a:pt x="5500" y="45000"/>
                </a:lnTo>
                <a:lnTo>
                  <a:pt x="0" y="32000"/>
                </a:lnTo>
                <a:lnTo>
                  <a:pt x="4500" y="32000"/>
                </a:lnTo>
                <a:lnTo>
                  <a:pt x="45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c3_p" descr="Editable shape; source id c3_p"/>
          <p:cNvSpPr/>
          <p:nvPr/>
        </p:nvSpPr>
        <p:spPr>
          <a:xfrm>
            <a:off x="10072687" y="5897562"/>
            <a:ext cx="619124" cy="3333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4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c3_p_t" descr="Editable text; source id c3_p_t"/>
          <p:cNvSpPr txBox="1"/>
          <p:nvPr/>
        </p:nvSpPr>
        <p:spPr>
          <a:xfrm>
            <a:off x="10167937" y="5937249"/>
            <a:ext cx="4286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高温</a:t>
            </a:r>
          </a:p>
        </p:txBody>
      </p:sp>
      <p:cxnSp>
        <p:nvCxnSpPr>
          <p:cNvPr id="121" name="c3_0" descr="Editable line; source id c3_0"/>
          <p:cNvCxnSpPr/>
          <p:nvPr/>
        </p:nvCxnSpPr>
        <p:spPr>
          <a:xfrm>
            <a:off x="10382249" y="5508624"/>
            <a:ext cx="0" cy="357188"/>
          </a:xfrm>
          <a:prstGeom prst="line">
            <a:avLst/>
          </a:prstGeom>
          <a:ln w="15874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c3_1" descr="Editable line; source id c3_1"/>
          <p:cNvSpPr/>
          <p:nvPr/>
        </p:nvSpPr>
        <p:spPr>
          <a:xfrm>
            <a:off x="10338593" y="6262687"/>
            <a:ext cx="87312" cy="357187"/>
          </a:xfrm>
          <a:custGeom>
            <a:avLst/>
            <a:gdLst/>
            <a:ahLst/>
            <a:cxnLst/>
            <a:rect l="l" t="t" r="r" b="b"/>
            <a:pathLst>
              <a:path w="11000" h="45000">
                <a:moveTo>
                  <a:pt x="6500" y="0"/>
                </a:moveTo>
                <a:lnTo>
                  <a:pt x="6500" y="32000"/>
                </a:lnTo>
                <a:lnTo>
                  <a:pt x="11000" y="32000"/>
                </a:lnTo>
                <a:lnTo>
                  <a:pt x="5500" y="45000"/>
                </a:lnTo>
                <a:lnTo>
                  <a:pt x="0" y="32000"/>
                </a:lnTo>
                <a:lnTo>
                  <a:pt x="4500" y="32000"/>
                </a:lnTo>
                <a:lnTo>
                  <a:pt x="45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