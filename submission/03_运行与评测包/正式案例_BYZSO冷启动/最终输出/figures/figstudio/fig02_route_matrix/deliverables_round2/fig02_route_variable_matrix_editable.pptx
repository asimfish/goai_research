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不同合成方法的条件比较与产物表征（super_teaser S5 F01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 descr="Editable shape; source id r1"/>
          <p:cNvSpPr/>
          <p:nvPr/>
        </p:nvSpPr>
        <p:spPr>
          <a:xfrm>
            <a:off x="388937" y="222249"/>
            <a:ext cx="2198687" cy="2222499"/>
          </a:xfrm>
          <a:prstGeom prst="roundRect">
            <a:avLst>
              <a:gd name="adj" fmla="val 5776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_h" descr="Editable shape; source id r1_h"/>
          <p:cNvSpPr/>
          <p:nvPr/>
        </p:nvSpPr>
        <p:spPr>
          <a:xfrm>
            <a:off x="388937" y="222249"/>
            <a:ext cx="2198687" cy="460374"/>
          </a:xfrm>
          <a:prstGeom prst="roundRect">
            <a:avLst>
              <a:gd name="adj" fmla="val 27586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1_ht" descr="Editable text; source id r1_ht"/>
          <p:cNvSpPr txBox="1"/>
          <p:nvPr/>
        </p:nvSpPr>
        <p:spPr>
          <a:xfrm>
            <a:off x="468312" y="269874"/>
            <a:ext cx="2039937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外加助熔</a:t>
            </a:r>
          </a:p>
        </p:txBody>
      </p:sp>
      <p:sp>
        <p:nvSpPr>
          <p:cNvPr id="5" name="r1_t0" descr="Editable shape; source id r1_t0"/>
          <p:cNvSpPr/>
          <p:nvPr/>
        </p:nvSpPr>
        <p:spPr>
          <a:xfrm>
            <a:off x="634999" y="825499"/>
            <a:ext cx="17224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1_t0_t" descr="Editable text; source id r1_t0_t"/>
          <p:cNvSpPr txBox="1"/>
          <p:nvPr/>
        </p:nvSpPr>
        <p:spPr>
          <a:xfrm>
            <a:off x="682624" y="849312"/>
            <a:ext cx="16271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溶解</a:t>
            </a:r>
          </a:p>
        </p:txBody>
      </p:sp>
      <p:sp>
        <p:nvSpPr>
          <p:cNvPr id="7" name="r1_a0" descr="Editable line; source id r1_a0"/>
          <p:cNvSpPr/>
          <p:nvPr/>
        </p:nvSpPr>
        <p:spPr>
          <a:xfrm>
            <a:off x="1452562" y="1174750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1_t1" descr="Editable shape; source id r1_t1"/>
          <p:cNvSpPr/>
          <p:nvPr/>
        </p:nvSpPr>
        <p:spPr>
          <a:xfrm>
            <a:off x="634999" y="1444624"/>
            <a:ext cx="17224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1_t1_t" descr="Editable text; source id r1_t1_t"/>
          <p:cNvSpPr txBox="1"/>
          <p:nvPr/>
        </p:nvSpPr>
        <p:spPr>
          <a:xfrm>
            <a:off x="682624" y="1468437"/>
            <a:ext cx="16271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10" name="r1_a1" descr="Editable line; source id r1_a1"/>
          <p:cNvSpPr/>
          <p:nvPr/>
        </p:nvSpPr>
        <p:spPr>
          <a:xfrm>
            <a:off x="1452562" y="1793875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1_t2" descr="Editable shape; source id r1_t2"/>
          <p:cNvSpPr/>
          <p:nvPr/>
        </p:nvSpPr>
        <p:spPr>
          <a:xfrm>
            <a:off x="634999" y="2063749"/>
            <a:ext cx="17224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_t2_t" descr="Editable text; source id r1_t2_t"/>
          <p:cNvSpPr txBox="1"/>
          <p:nvPr/>
        </p:nvSpPr>
        <p:spPr>
          <a:xfrm>
            <a:off x="682624" y="2087562"/>
            <a:ext cx="16271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慢冷分离</a:t>
            </a:r>
          </a:p>
        </p:txBody>
      </p:sp>
      <p:sp>
        <p:nvSpPr>
          <p:cNvPr id="13" name="r1_d1" descr="Editable line; source id r1_d1"/>
          <p:cNvSpPr/>
          <p:nvPr/>
        </p:nvSpPr>
        <p:spPr>
          <a:xfrm>
            <a:off x="1440656" y="2460625"/>
            <a:ext cx="103187" cy="515937"/>
          </a:xfrm>
          <a:custGeom>
            <a:avLst/>
            <a:gdLst/>
            <a:ahLst/>
            <a:cxnLst/>
            <a:rect l="l" t="t" r="r" b="b"/>
            <a:pathLst>
              <a:path w="13000" h="65000">
                <a:moveTo>
                  <a:pt x="8000" y="0"/>
                </a:moveTo>
                <a:lnTo>
                  <a:pt x="8000" y="49000"/>
                </a:lnTo>
                <a:lnTo>
                  <a:pt x="13000" y="49000"/>
                </a:lnTo>
                <a:lnTo>
                  <a:pt x="6500" y="65000"/>
                </a:lnTo>
                <a:lnTo>
                  <a:pt x="0" y="49000"/>
                </a:lnTo>
                <a:lnTo>
                  <a:pt x="5000" y="49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_p" descr="Editable shape; source id r1_p"/>
          <p:cNvSpPr/>
          <p:nvPr/>
        </p:nvSpPr>
        <p:spPr>
          <a:xfrm>
            <a:off x="865187" y="2992437"/>
            <a:ext cx="1254124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1_pt" descr="Editable text; source id r1_pt"/>
          <p:cNvSpPr txBox="1"/>
          <p:nvPr/>
        </p:nvSpPr>
        <p:spPr>
          <a:xfrm>
            <a:off x="928687" y="3016249"/>
            <a:ext cx="11271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配比</a:t>
            </a:r>
            <a:r>
              <a:rPr sz="1437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温度</a:t>
            </a:r>
          </a:p>
        </p:txBody>
      </p:sp>
      <p:sp>
        <p:nvSpPr>
          <p:cNvPr id="16" name="r1_d2" descr="Editable line; source id r1_d2"/>
          <p:cNvSpPr/>
          <p:nvPr/>
        </p:nvSpPr>
        <p:spPr>
          <a:xfrm>
            <a:off x="1440656" y="3341687"/>
            <a:ext cx="103187" cy="341312"/>
          </a:xfrm>
          <a:custGeom>
            <a:avLst/>
            <a:gdLst/>
            <a:ahLst/>
            <a:cxnLst/>
            <a:rect l="l" t="t" r="r" b="b"/>
            <a:pathLst>
              <a:path w="13000" h="43000">
                <a:moveTo>
                  <a:pt x="8000" y="0"/>
                </a:moveTo>
                <a:lnTo>
                  <a:pt x="8000" y="27000"/>
                </a:lnTo>
                <a:lnTo>
                  <a:pt x="13000" y="27000"/>
                </a:lnTo>
                <a:lnTo>
                  <a:pt x="6500" y="43000"/>
                </a:lnTo>
                <a:lnTo>
                  <a:pt x="0" y="27000"/>
                </a:lnTo>
                <a:lnTo>
                  <a:pt x="5000" y="2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2" descr="Editable shape; source id r2"/>
          <p:cNvSpPr/>
          <p:nvPr/>
        </p:nvSpPr>
        <p:spPr>
          <a:xfrm>
            <a:off x="2762249" y="222249"/>
            <a:ext cx="2135187" cy="2222499"/>
          </a:xfrm>
          <a:prstGeom prst="roundRect">
            <a:avLst>
              <a:gd name="adj" fmla="val 594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2_h" descr="Editable shape; source id r2_h"/>
          <p:cNvSpPr/>
          <p:nvPr/>
        </p:nvSpPr>
        <p:spPr>
          <a:xfrm>
            <a:off x="2762249" y="222249"/>
            <a:ext cx="2135187" cy="460374"/>
          </a:xfrm>
          <a:prstGeom prst="roundRect">
            <a:avLst>
              <a:gd name="adj" fmla="val 27586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2_ht" descr="Editable text; source id r2_ht"/>
          <p:cNvSpPr txBox="1"/>
          <p:nvPr/>
        </p:nvSpPr>
        <p:spPr>
          <a:xfrm>
            <a:off x="2841624" y="269874"/>
            <a:ext cx="1976437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自熔</a:t>
            </a:r>
            <a:r>
              <a: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熔体</a:t>
            </a:r>
          </a:p>
        </p:txBody>
      </p:sp>
      <p:sp>
        <p:nvSpPr>
          <p:cNvPr id="20" name="r2_t0" descr="Editable shape; source id r2_t0"/>
          <p:cNvSpPr/>
          <p:nvPr/>
        </p:nvSpPr>
        <p:spPr>
          <a:xfrm>
            <a:off x="3008312" y="825499"/>
            <a:ext cx="16589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2_t0_t" descr="Editable text; source id r2_t0_t"/>
          <p:cNvSpPr txBox="1"/>
          <p:nvPr/>
        </p:nvSpPr>
        <p:spPr>
          <a:xfrm>
            <a:off x="3055937" y="849312"/>
            <a:ext cx="15636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均化</a:t>
            </a:r>
          </a:p>
        </p:txBody>
      </p:sp>
      <p:sp>
        <p:nvSpPr>
          <p:cNvPr id="22" name="r2_a0" descr="Editable line; source id r2_a0"/>
          <p:cNvSpPr/>
          <p:nvPr/>
        </p:nvSpPr>
        <p:spPr>
          <a:xfrm>
            <a:off x="3786187" y="1174750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2_t1" descr="Editable shape; source id r2_t1"/>
          <p:cNvSpPr/>
          <p:nvPr/>
        </p:nvSpPr>
        <p:spPr>
          <a:xfrm>
            <a:off x="3008312" y="1444624"/>
            <a:ext cx="16589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2_t1_t" descr="Editable text; source id r2_t1_t"/>
          <p:cNvSpPr txBox="1"/>
          <p:nvPr/>
        </p:nvSpPr>
        <p:spPr>
          <a:xfrm>
            <a:off x="3055937" y="1468437"/>
            <a:ext cx="15636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自发成核</a:t>
            </a:r>
          </a:p>
        </p:txBody>
      </p:sp>
      <p:sp>
        <p:nvSpPr>
          <p:cNvPr id="25" name="r2_a1" descr="Editable line; source id r2_a1"/>
          <p:cNvSpPr/>
          <p:nvPr/>
        </p:nvSpPr>
        <p:spPr>
          <a:xfrm>
            <a:off x="3786187" y="1793875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2_t2" descr="Editable shape; source id r2_t2"/>
          <p:cNvSpPr/>
          <p:nvPr/>
        </p:nvSpPr>
        <p:spPr>
          <a:xfrm>
            <a:off x="3008312" y="2063749"/>
            <a:ext cx="16589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2_t2_t" descr="Editable text; source id r2_t2_t"/>
          <p:cNvSpPr txBox="1"/>
          <p:nvPr/>
        </p:nvSpPr>
        <p:spPr>
          <a:xfrm>
            <a:off x="3055937" y="2087562"/>
            <a:ext cx="15636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受控冷却</a:t>
            </a:r>
          </a:p>
        </p:txBody>
      </p:sp>
      <p:sp>
        <p:nvSpPr>
          <p:cNvPr id="28" name="r2_d1" descr="Editable line; source id r2_d1"/>
          <p:cNvSpPr/>
          <p:nvPr/>
        </p:nvSpPr>
        <p:spPr>
          <a:xfrm>
            <a:off x="3774281" y="2460625"/>
            <a:ext cx="103187" cy="515937"/>
          </a:xfrm>
          <a:custGeom>
            <a:avLst/>
            <a:gdLst/>
            <a:ahLst/>
            <a:cxnLst/>
            <a:rect l="l" t="t" r="r" b="b"/>
            <a:pathLst>
              <a:path w="13000" h="65000">
                <a:moveTo>
                  <a:pt x="8000" y="0"/>
                </a:moveTo>
                <a:lnTo>
                  <a:pt x="8000" y="49000"/>
                </a:lnTo>
                <a:lnTo>
                  <a:pt x="13000" y="49000"/>
                </a:lnTo>
                <a:lnTo>
                  <a:pt x="6500" y="65000"/>
                </a:lnTo>
                <a:lnTo>
                  <a:pt x="0" y="49000"/>
                </a:lnTo>
                <a:lnTo>
                  <a:pt x="5000" y="49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2_p" descr="Editable shape; source id r2_p"/>
          <p:cNvSpPr/>
          <p:nvPr/>
        </p:nvSpPr>
        <p:spPr>
          <a:xfrm>
            <a:off x="3198812" y="2992437"/>
            <a:ext cx="1277937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2_pt" descr="Editable text; source id r2_pt"/>
          <p:cNvSpPr txBox="1"/>
          <p:nvPr/>
        </p:nvSpPr>
        <p:spPr>
          <a:xfrm>
            <a:off x="3262312" y="3016249"/>
            <a:ext cx="1150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熔体</a:t>
            </a:r>
            <a:r>
              <a:rPr sz="1437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容器</a:t>
            </a:r>
          </a:p>
        </p:txBody>
      </p:sp>
      <p:sp>
        <p:nvSpPr>
          <p:cNvPr id="31" name="r2_d2" descr="Editable line; source id r2_d2"/>
          <p:cNvSpPr/>
          <p:nvPr/>
        </p:nvSpPr>
        <p:spPr>
          <a:xfrm>
            <a:off x="3774281" y="3341687"/>
            <a:ext cx="103187" cy="341312"/>
          </a:xfrm>
          <a:custGeom>
            <a:avLst/>
            <a:gdLst/>
            <a:ahLst/>
            <a:cxnLst/>
            <a:rect l="l" t="t" r="r" b="b"/>
            <a:pathLst>
              <a:path w="13000" h="43000">
                <a:moveTo>
                  <a:pt x="8000" y="0"/>
                </a:moveTo>
                <a:lnTo>
                  <a:pt x="8000" y="27000"/>
                </a:lnTo>
                <a:lnTo>
                  <a:pt x="13000" y="27000"/>
                </a:lnTo>
                <a:lnTo>
                  <a:pt x="6500" y="43000"/>
                </a:lnTo>
                <a:lnTo>
                  <a:pt x="0" y="27000"/>
                </a:lnTo>
                <a:lnTo>
                  <a:pt x="5000" y="2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3" descr="Editable shape; source id r3"/>
          <p:cNvSpPr/>
          <p:nvPr/>
        </p:nvSpPr>
        <p:spPr>
          <a:xfrm>
            <a:off x="5079999" y="222249"/>
            <a:ext cx="2055812" cy="2222499"/>
          </a:xfrm>
          <a:prstGeom prst="roundRect">
            <a:avLst>
              <a:gd name="adj" fmla="val 617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3_h" descr="Editable shape; source id r3_h"/>
          <p:cNvSpPr/>
          <p:nvPr/>
        </p:nvSpPr>
        <p:spPr>
          <a:xfrm>
            <a:off x="5079999" y="222249"/>
            <a:ext cx="2055812" cy="460374"/>
          </a:xfrm>
          <a:prstGeom prst="roundRect">
            <a:avLst>
              <a:gd name="adj" fmla="val 27586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3_ht" descr="Editable text; source id r3_ht"/>
          <p:cNvSpPr txBox="1"/>
          <p:nvPr/>
        </p:nvSpPr>
        <p:spPr>
          <a:xfrm>
            <a:off x="5159374" y="269874"/>
            <a:ext cx="1897062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固相陶瓷</a:t>
            </a:r>
          </a:p>
        </p:txBody>
      </p:sp>
      <p:sp>
        <p:nvSpPr>
          <p:cNvPr id="35" name="r3_t0" descr="Editable shape; source id r3_t0"/>
          <p:cNvSpPr/>
          <p:nvPr/>
        </p:nvSpPr>
        <p:spPr>
          <a:xfrm>
            <a:off x="5326062" y="825499"/>
            <a:ext cx="1579562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3_t0_t" descr="Editable text; source id r3_t0_t"/>
          <p:cNvSpPr txBox="1"/>
          <p:nvPr/>
        </p:nvSpPr>
        <p:spPr>
          <a:xfrm>
            <a:off x="5373687" y="849312"/>
            <a:ext cx="1484312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混合压片</a:t>
            </a:r>
          </a:p>
        </p:txBody>
      </p:sp>
      <p:sp>
        <p:nvSpPr>
          <p:cNvPr id="37" name="r3_a0" descr="Editable line; source id r3_a0"/>
          <p:cNvSpPr/>
          <p:nvPr/>
        </p:nvSpPr>
        <p:spPr>
          <a:xfrm>
            <a:off x="6072187" y="1174750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3_t1" descr="Editable shape; source id r3_t1"/>
          <p:cNvSpPr/>
          <p:nvPr/>
        </p:nvSpPr>
        <p:spPr>
          <a:xfrm>
            <a:off x="5326062" y="1444624"/>
            <a:ext cx="1579562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3_t1_t" descr="Editable text; source id r3_t1_t"/>
          <p:cNvSpPr txBox="1"/>
          <p:nvPr/>
        </p:nvSpPr>
        <p:spPr>
          <a:xfrm>
            <a:off x="5373687" y="1468437"/>
            <a:ext cx="1484312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煅烧复磨</a:t>
            </a:r>
          </a:p>
        </p:txBody>
      </p:sp>
      <p:sp>
        <p:nvSpPr>
          <p:cNvPr id="40" name="r3_a1" descr="Editable line; source id r3_a1"/>
          <p:cNvSpPr/>
          <p:nvPr/>
        </p:nvSpPr>
        <p:spPr>
          <a:xfrm>
            <a:off x="6072187" y="1793875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3_t2" descr="Editable shape; source id r3_t2"/>
          <p:cNvSpPr/>
          <p:nvPr/>
        </p:nvSpPr>
        <p:spPr>
          <a:xfrm>
            <a:off x="5326062" y="2063749"/>
            <a:ext cx="1579562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3_t2_t" descr="Editable text; source id r3_t2_t"/>
          <p:cNvSpPr txBox="1"/>
          <p:nvPr/>
        </p:nvSpPr>
        <p:spPr>
          <a:xfrm>
            <a:off x="5373687" y="2087562"/>
            <a:ext cx="1484312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烧结</a:t>
            </a:r>
          </a:p>
        </p:txBody>
      </p:sp>
      <p:sp>
        <p:nvSpPr>
          <p:cNvPr id="43" name="r3_d1" descr="Editable line; source id r3_d1"/>
          <p:cNvSpPr/>
          <p:nvPr/>
        </p:nvSpPr>
        <p:spPr>
          <a:xfrm>
            <a:off x="6060281" y="2460625"/>
            <a:ext cx="103187" cy="515937"/>
          </a:xfrm>
          <a:custGeom>
            <a:avLst/>
            <a:gdLst/>
            <a:ahLst/>
            <a:cxnLst/>
            <a:rect l="l" t="t" r="r" b="b"/>
            <a:pathLst>
              <a:path w="13000" h="65000">
                <a:moveTo>
                  <a:pt x="8000" y="0"/>
                </a:moveTo>
                <a:lnTo>
                  <a:pt x="8000" y="49000"/>
                </a:lnTo>
                <a:lnTo>
                  <a:pt x="13000" y="49000"/>
                </a:lnTo>
                <a:lnTo>
                  <a:pt x="6500" y="65000"/>
                </a:lnTo>
                <a:lnTo>
                  <a:pt x="0" y="49000"/>
                </a:lnTo>
                <a:lnTo>
                  <a:pt x="5000" y="49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3_p" descr="Editable shape; source id r3_p"/>
          <p:cNvSpPr/>
          <p:nvPr/>
        </p:nvSpPr>
        <p:spPr>
          <a:xfrm>
            <a:off x="5460999" y="2992437"/>
            <a:ext cx="126999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3_pt" descr="Editable text; source id r3_pt"/>
          <p:cNvSpPr txBox="1"/>
          <p:nvPr/>
        </p:nvSpPr>
        <p:spPr>
          <a:xfrm>
            <a:off x="5524499" y="3016249"/>
            <a:ext cx="114299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混合</a:t>
            </a:r>
            <a:r>
              <a:rPr sz="1437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煅烧</a:t>
            </a:r>
          </a:p>
        </p:txBody>
      </p:sp>
      <p:sp>
        <p:nvSpPr>
          <p:cNvPr id="46" name="r3_d2" descr="Editable line; source id r3_d2"/>
          <p:cNvSpPr/>
          <p:nvPr/>
        </p:nvSpPr>
        <p:spPr>
          <a:xfrm>
            <a:off x="6060281" y="3341687"/>
            <a:ext cx="103187" cy="341312"/>
          </a:xfrm>
          <a:custGeom>
            <a:avLst/>
            <a:gdLst/>
            <a:ahLst/>
            <a:cxnLst/>
            <a:rect l="l" t="t" r="r" b="b"/>
            <a:pathLst>
              <a:path w="13000" h="43000">
                <a:moveTo>
                  <a:pt x="8000" y="0"/>
                </a:moveTo>
                <a:lnTo>
                  <a:pt x="8000" y="27000"/>
                </a:lnTo>
                <a:lnTo>
                  <a:pt x="13000" y="27000"/>
                </a:lnTo>
                <a:lnTo>
                  <a:pt x="6500" y="43000"/>
                </a:lnTo>
                <a:lnTo>
                  <a:pt x="0" y="27000"/>
                </a:lnTo>
                <a:lnTo>
                  <a:pt x="5000" y="2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4" descr="Editable shape; source id r4"/>
          <p:cNvSpPr/>
          <p:nvPr/>
        </p:nvSpPr>
        <p:spPr>
          <a:xfrm>
            <a:off x="7294562" y="222249"/>
            <a:ext cx="2135187" cy="2222499"/>
          </a:xfrm>
          <a:prstGeom prst="roundRect">
            <a:avLst>
              <a:gd name="adj" fmla="val 594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4_h" descr="Editable shape; source id r4_h"/>
          <p:cNvSpPr/>
          <p:nvPr/>
        </p:nvSpPr>
        <p:spPr>
          <a:xfrm>
            <a:off x="7294562" y="222249"/>
            <a:ext cx="2135187" cy="460374"/>
          </a:xfrm>
          <a:prstGeom prst="roundRect">
            <a:avLst>
              <a:gd name="adj" fmla="val 27586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4_ht" descr="Editable text; source id r4_ht"/>
          <p:cNvSpPr txBox="1"/>
          <p:nvPr/>
        </p:nvSpPr>
        <p:spPr>
          <a:xfrm>
            <a:off x="7373937" y="269874"/>
            <a:ext cx="1976437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机械化学预活化</a:t>
            </a:r>
          </a:p>
        </p:txBody>
      </p:sp>
      <p:sp>
        <p:nvSpPr>
          <p:cNvPr id="50" name="r4_t0" descr="Editable shape; source id r4_t0"/>
          <p:cNvSpPr/>
          <p:nvPr/>
        </p:nvSpPr>
        <p:spPr>
          <a:xfrm>
            <a:off x="7540624" y="825499"/>
            <a:ext cx="16589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4_t0_t" descr="Editable text; source id r4_t0_t"/>
          <p:cNvSpPr txBox="1"/>
          <p:nvPr/>
        </p:nvSpPr>
        <p:spPr>
          <a:xfrm>
            <a:off x="7588249" y="849312"/>
            <a:ext cx="15636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高能研磨</a:t>
            </a:r>
          </a:p>
        </p:txBody>
      </p:sp>
      <p:sp>
        <p:nvSpPr>
          <p:cNvPr id="52" name="r4_a0" descr="Editable line; source id r4_a0"/>
          <p:cNvSpPr/>
          <p:nvPr/>
        </p:nvSpPr>
        <p:spPr>
          <a:xfrm>
            <a:off x="8326437" y="1174750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4_t1" descr="Editable shape; source id r4_t1"/>
          <p:cNvSpPr/>
          <p:nvPr/>
        </p:nvSpPr>
        <p:spPr>
          <a:xfrm>
            <a:off x="7540624" y="1444624"/>
            <a:ext cx="16589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4_t1_t" descr="Editable text; source id r4_t1_t"/>
          <p:cNvSpPr txBox="1"/>
          <p:nvPr/>
        </p:nvSpPr>
        <p:spPr>
          <a:xfrm>
            <a:off x="7588249" y="1468437"/>
            <a:ext cx="15636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活化</a:t>
            </a:r>
          </a:p>
        </p:txBody>
      </p:sp>
      <p:sp>
        <p:nvSpPr>
          <p:cNvPr id="55" name="r4_a1" descr="Editable line; source id r4_a1"/>
          <p:cNvSpPr/>
          <p:nvPr/>
        </p:nvSpPr>
        <p:spPr>
          <a:xfrm>
            <a:off x="8326437" y="1793875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6500" y="0"/>
                </a:moveTo>
                <a:lnTo>
                  <a:pt x="65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3500" y="20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4_t2" descr="Editable shape; source id r4_t2"/>
          <p:cNvSpPr/>
          <p:nvPr/>
        </p:nvSpPr>
        <p:spPr>
          <a:xfrm>
            <a:off x="7540624" y="2063749"/>
            <a:ext cx="1658937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4_t2_t" descr="Editable text; source id r4_t2_t"/>
          <p:cNvSpPr txBox="1"/>
          <p:nvPr/>
        </p:nvSpPr>
        <p:spPr>
          <a:xfrm>
            <a:off x="7588249" y="2087562"/>
            <a:ext cx="156368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后续成相</a:t>
            </a:r>
          </a:p>
        </p:txBody>
      </p:sp>
      <p:sp>
        <p:nvSpPr>
          <p:cNvPr id="58" name="r4_d1" descr="Editable line; source id r4_d1"/>
          <p:cNvSpPr/>
          <p:nvPr/>
        </p:nvSpPr>
        <p:spPr>
          <a:xfrm>
            <a:off x="8314531" y="2460625"/>
            <a:ext cx="103187" cy="515937"/>
          </a:xfrm>
          <a:custGeom>
            <a:avLst/>
            <a:gdLst/>
            <a:ahLst/>
            <a:cxnLst/>
            <a:rect l="l" t="t" r="r" b="b"/>
            <a:pathLst>
              <a:path w="13000" h="65000">
                <a:moveTo>
                  <a:pt x="8000" y="0"/>
                </a:moveTo>
                <a:lnTo>
                  <a:pt x="8000" y="49000"/>
                </a:lnTo>
                <a:lnTo>
                  <a:pt x="13000" y="49000"/>
                </a:lnTo>
                <a:lnTo>
                  <a:pt x="6500" y="65000"/>
                </a:lnTo>
                <a:lnTo>
                  <a:pt x="0" y="49000"/>
                </a:lnTo>
                <a:lnTo>
                  <a:pt x="5000" y="49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4_p" descr="Editable shape; source id r4_p"/>
          <p:cNvSpPr/>
          <p:nvPr/>
        </p:nvSpPr>
        <p:spPr>
          <a:xfrm>
            <a:off x="7723187" y="2992437"/>
            <a:ext cx="1285874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4_pt" descr="Editable text; source id r4_pt"/>
          <p:cNvSpPr txBox="1"/>
          <p:nvPr/>
        </p:nvSpPr>
        <p:spPr>
          <a:xfrm>
            <a:off x="7786687" y="3016249"/>
            <a:ext cx="1158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研磨</a:t>
            </a:r>
            <a:r>
              <a:rPr sz="1437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污染</a:t>
            </a:r>
          </a:p>
        </p:txBody>
      </p:sp>
      <p:sp>
        <p:nvSpPr>
          <p:cNvPr id="61" name="r4_d2" descr="Editable line; source id r4_d2"/>
          <p:cNvSpPr/>
          <p:nvPr/>
        </p:nvSpPr>
        <p:spPr>
          <a:xfrm>
            <a:off x="8314531" y="3341687"/>
            <a:ext cx="103187" cy="341312"/>
          </a:xfrm>
          <a:custGeom>
            <a:avLst/>
            <a:gdLst/>
            <a:ahLst/>
            <a:cxnLst/>
            <a:rect l="l" t="t" r="r" b="b"/>
            <a:pathLst>
              <a:path w="13000" h="43000">
                <a:moveTo>
                  <a:pt x="8000" y="0"/>
                </a:moveTo>
                <a:lnTo>
                  <a:pt x="8000" y="27000"/>
                </a:lnTo>
                <a:lnTo>
                  <a:pt x="13000" y="27000"/>
                </a:lnTo>
                <a:lnTo>
                  <a:pt x="6500" y="43000"/>
                </a:lnTo>
                <a:lnTo>
                  <a:pt x="0" y="27000"/>
                </a:lnTo>
                <a:lnTo>
                  <a:pt x="5000" y="2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5" descr="Editable shape; source id r5"/>
          <p:cNvSpPr/>
          <p:nvPr/>
        </p:nvSpPr>
        <p:spPr>
          <a:xfrm>
            <a:off x="9604374" y="222249"/>
            <a:ext cx="2222499" cy="2222499"/>
          </a:xfrm>
          <a:prstGeom prst="roundRect">
            <a:avLst>
              <a:gd name="adj" fmla="val 5714"/>
            </a:avLst>
          </a:prstGeom>
          <a:solidFill>
            <a:srgbClr val="F3F5F6"/>
          </a:solidFill>
          <a:ln w="19843">
            <a:solidFill>
              <a:srgbClr val="8A9199"/>
            </a:solidFill>
            <a:custDash>
              <a:ds d="560000" sp="36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5_ht" descr="Editable text; source id r5_ht"/>
          <p:cNvSpPr txBox="1"/>
          <p:nvPr/>
        </p:nvSpPr>
        <p:spPr>
          <a:xfrm>
            <a:off x="9683749" y="317499"/>
            <a:ext cx="206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5A6470"/>
                </a:solidFill>
                <a:latin typeface="DejaVu Sans"/>
                <a:ea typeface="DejaVu Sans"/>
                <a:cs typeface="DejaVu Sans"/>
              </a:defRPr>
            </a:pPr>
            <a:r>
              <a:rPr sz="1874" b="1" i="0" lang="zh-CN" dirty="0">
                <a:solidFill>
                  <a:srgbClr val="5A64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sp>
        <p:nvSpPr>
          <p:cNvPr id="64" name="r5_tag" descr="Editable shape; source id r5_tag"/>
          <p:cNvSpPr/>
          <p:nvPr/>
        </p:nvSpPr>
        <p:spPr>
          <a:xfrm>
            <a:off x="10279062" y="666749"/>
            <a:ext cx="873124" cy="269874"/>
          </a:xfrm>
          <a:prstGeom prst="roundRect">
            <a:avLst>
              <a:gd name="adj" fmla="val 17647"/>
            </a:avLst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5_tagt" descr="Editable text; source id r5_tagt"/>
          <p:cNvSpPr txBox="1"/>
          <p:nvPr/>
        </p:nvSpPr>
        <p:spPr>
          <a:xfrm>
            <a:off x="10302874" y="682624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66" name="r5_t0" descr="Editable shape; source id r5_t0"/>
          <p:cNvSpPr/>
          <p:nvPr/>
        </p:nvSpPr>
        <p:spPr>
          <a:xfrm>
            <a:off x="9842499" y="1015999"/>
            <a:ext cx="1746249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5_t0_t" descr="Editable text; source id r5_t0_t"/>
          <p:cNvSpPr txBox="1"/>
          <p:nvPr/>
        </p:nvSpPr>
        <p:spPr>
          <a:xfrm>
            <a:off x="9890124" y="1039812"/>
            <a:ext cx="165099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A64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A6470"/>
                </a:solidFill>
                <a:latin typeface="Noto Sans CJK SC"/>
                <a:ea typeface="Noto Sans CJK SC"/>
                <a:cs typeface="Noto Sans CJK SC"/>
              </a:rPr>
              <a:t>预烧熔化</a:t>
            </a:r>
          </a:p>
        </p:txBody>
      </p:sp>
      <p:sp>
        <p:nvSpPr>
          <p:cNvPr id="68" name="r5_a0" descr="Editable line; source id r5_a0"/>
          <p:cNvSpPr/>
          <p:nvPr/>
        </p:nvSpPr>
        <p:spPr>
          <a:xfrm>
            <a:off x="10675937" y="1365250"/>
            <a:ext cx="79375" cy="166687"/>
          </a:xfrm>
          <a:custGeom>
            <a:avLst/>
            <a:gdLst/>
            <a:ahLst/>
            <a:cxnLst/>
            <a:rect l="l" t="t" r="r" b="b"/>
            <a:pathLst>
              <a:path w="10000" h="21000">
                <a:moveTo>
                  <a:pt x="6500" y="0"/>
                </a:moveTo>
                <a:lnTo>
                  <a:pt x="6500" y="9000"/>
                </a:lnTo>
                <a:lnTo>
                  <a:pt x="10000" y="9000"/>
                </a:lnTo>
                <a:lnTo>
                  <a:pt x="5000" y="21000"/>
                </a:lnTo>
                <a:lnTo>
                  <a:pt x="0" y="9000"/>
                </a:lnTo>
                <a:lnTo>
                  <a:pt x="3500" y="9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5_t1" descr="Editable shape; source id r5_t1"/>
          <p:cNvSpPr/>
          <p:nvPr/>
        </p:nvSpPr>
        <p:spPr>
          <a:xfrm>
            <a:off x="9842499" y="1547812"/>
            <a:ext cx="1746249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5_t1_t" descr="Editable text; source id r5_t1_t"/>
          <p:cNvSpPr txBox="1"/>
          <p:nvPr/>
        </p:nvSpPr>
        <p:spPr>
          <a:xfrm>
            <a:off x="9890124" y="1571624"/>
            <a:ext cx="165099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A64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A6470"/>
                </a:solidFill>
                <a:latin typeface="Noto Sans CJK SC"/>
                <a:ea typeface="Noto Sans CJK SC"/>
                <a:cs typeface="Noto Sans CJK SC"/>
              </a:rPr>
              <a:t>籽晶提拉</a:t>
            </a:r>
          </a:p>
        </p:txBody>
      </p:sp>
      <p:sp>
        <p:nvSpPr>
          <p:cNvPr id="71" name="r5_a1" descr="Editable line; source id r5_a1"/>
          <p:cNvSpPr/>
          <p:nvPr/>
        </p:nvSpPr>
        <p:spPr>
          <a:xfrm>
            <a:off x="10675937" y="1897062"/>
            <a:ext cx="79375" cy="166687"/>
          </a:xfrm>
          <a:custGeom>
            <a:avLst/>
            <a:gdLst/>
            <a:ahLst/>
            <a:cxnLst/>
            <a:rect l="l" t="t" r="r" b="b"/>
            <a:pathLst>
              <a:path w="10000" h="21000">
                <a:moveTo>
                  <a:pt x="6500" y="0"/>
                </a:moveTo>
                <a:lnTo>
                  <a:pt x="6500" y="9000"/>
                </a:lnTo>
                <a:lnTo>
                  <a:pt x="10000" y="9000"/>
                </a:lnTo>
                <a:lnTo>
                  <a:pt x="5000" y="21000"/>
                </a:lnTo>
                <a:lnTo>
                  <a:pt x="0" y="9000"/>
                </a:lnTo>
                <a:lnTo>
                  <a:pt x="3500" y="9000"/>
                </a:lnTo>
                <a:lnTo>
                  <a:pt x="3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5_t2" descr="Editable shape; source id r5_t2"/>
          <p:cNvSpPr/>
          <p:nvPr/>
        </p:nvSpPr>
        <p:spPr>
          <a:xfrm>
            <a:off x="9842499" y="2079624"/>
            <a:ext cx="1746249" cy="333374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5_t2_t" descr="Editable text; source id r5_t2_t"/>
          <p:cNvSpPr txBox="1"/>
          <p:nvPr/>
        </p:nvSpPr>
        <p:spPr>
          <a:xfrm>
            <a:off x="9890124" y="2103437"/>
            <a:ext cx="165099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A64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A6470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74" name="r5_d1" descr="Editable line; source id r5_d1"/>
          <p:cNvSpPr/>
          <p:nvPr/>
        </p:nvSpPr>
        <p:spPr>
          <a:xfrm>
            <a:off x="10664031" y="2460625"/>
            <a:ext cx="103187" cy="515937"/>
          </a:xfrm>
          <a:custGeom>
            <a:avLst/>
            <a:gdLst/>
            <a:ahLst/>
            <a:cxnLst/>
            <a:rect l="l" t="t" r="r" b="b"/>
            <a:pathLst>
              <a:path w="13000" h="65000">
                <a:moveTo>
                  <a:pt x="8000" y="0"/>
                </a:moveTo>
                <a:lnTo>
                  <a:pt x="8000" y="49000"/>
                </a:lnTo>
                <a:lnTo>
                  <a:pt x="13000" y="49000"/>
                </a:lnTo>
                <a:lnTo>
                  <a:pt x="6500" y="65000"/>
                </a:lnTo>
                <a:lnTo>
                  <a:pt x="0" y="49000"/>
                </a:lnTo>
                <a:lnTo>
                  <a:pt x="5000" y="49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5_p" descr="Editable shape; source id r5_p"/>
          <p:cNvSpPr/>
          <p:nvPr/>
        </p:nvSpPr>
        <p:spPr>
          <a:xfrm>
            <a:off x="10056812" y="2992437"/>
            <a:ext cx="126999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5_pt" descr="Editable text; source id r5_pt"/>
          <p:cNvSpPr txBox="1"/>
          <p:nvPr/>
        </p:nvSpPr>
        <p:spPr>
          <a:xfrm>
            <a:off x="10120312" y="3016249"/>
            <a:ext cx="114299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籽晶</a:t>
            </a:r>
            <a:r>
              <a:rPr sz="1437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77" name="r5_d2" descr="Editable line; source id r5_d2"/>
          <p:cNvSpPr/>
          <p:nvPr/>
        </p:nvSpPr>
        <p:spPr>
          <a:xfrm>
            <a:off x="10664031" y="3341687"/>
            <a:ext cx="103187" cy="341312"/>
          </a:xfrm>
          <a:custGeom>
            <a:avLst/>
            <a:gdLst/>
            <a:ahLst/>
            <a:cxnLst/>
            <a:rect l="l" t="t" r="r" b="b"/>
            <a:pathLst>
              <a:path w="13000" h="43000">
                <a:moveTo>
                  <a:pt x="8000" y="0"/>
                </a:moveTo>
                <a:lnTo>
                  <a:pt x="8000" y="27000"/>
                </a:lnTo>
                <a:lnTo>
                  <a:pt x="13000" y="27000"/>
                </a:lnTo>
                <a:lnTo>
                  <a:pt x="6500" y="43000"/>
                </a:lnTo>
                <a:lnTo>
                  <a:pt x="0" y="27000"/>
                </a:lnTo>
                <a:lnTo>
                  <a:pt x="5000" y="2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edger" descr="Editable shape; source id ledger"/>
          <p:cNvSpPr/>
          <p:nvPr/>
        </p:nvSpPr>
        <p:spPr>
          <a:xfrm>
            <a:off x="349249" y="3698874"/>
            <a:ext cx="11501437" cy="1365249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3812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edger_h" descr="Editable shape; source id ledger_h"/>
          <p:cNvSpPr/>
          <p:nvPr/>
        </p:nvSpPr>
        <p:spPr>
          <a:xfrm>
            <a:off x="349249" y="3698874"/>
            <a:ext cx="11501437" cy="555624"/>
          </a:xfrm>
          <a:prstGeom prst="roundRect">
            <a:avLst>
              <a:gd name="adj" fmla="val 22857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edger_t" descr="Editable text; source id ledger_t"/>
          <p:cNvSpPr txBox="1"/>
          <p:nvPr/>
        </p:nvSpPr>
        <p:spPr>
          <a:xfrm>
            <a:off x="4444999" y="3778249"/>
            <a:ext cx="3333749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093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统一实验记录</a:t>
            </a:r>
          </a:p>
        </p:txBody>
      </p:sp>
      <p:sp>
        <p:nvSpPr>
          <p:cNvPr id="81" name="btag" descr="Editable shape; source id btag"/>
          <p:cNvSpPr/>
          <p:nvPr/>
        </p:nvSpPr>
        <p:spPr>
          <a:xfrm>
            <a:off x="9890124" y="3778249"/>
            <a:ext cx="1833562" cy="357187"/>
          </a:xfrm>
          <a:prstGeom prst="roundRect">
            <a:avLst>
              <a:gd name="adj" fmla="val 17777"/>
            </a:avLst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btag_t" descr="Editable text; source id btag_t"/>
          <p:cNvSpPr txBox="1"/>
          <p:nvPr/>
        </p:nvSpPr>
        <p:spPr>
          <a:xfrm>
            <a:off x="9937749" y="3802062"/>
            <a:ext cx="173831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抽取框架</a:t>
            </a: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实验处方</a:t>
            </a:r>
          </a:p>
        </p:txBody>
      </p:sp>
      <p:sp>
        <p:nvSpPr>
          <p:cNvPr id="83" name="cell0" descr="Editable shape; source id cell0"/>
          <p:cNvSpPr/>
          <p:nvPr/>
        </p:nvSpPr>
        <p:spPr>
          <a:xfrm>
            <a:off x="507999" y="4294187"/>
            <a:ext cx="2722562" cy="619124"/>
          </a:xfrm>
          <a:prstGeom prst="roundRect">
            <a:avLst>
              <a:gd name="adj" fmla="val 12820"/>
            </a:avLst>
          </a:prstGeom>
          <a:solidFill>
            <a:srgbClr val="F3F5F6"/>
          </a:solidFill>
          <a:ln w="15874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ell0_t" descr="Editable text; source id cell0_t"/>
          <p:cNvSpPr txBox="1"/>
          <p:nvPr/>
        </p:nvSpPr>
        <p:spPr>
          <a:xfrm>
            <a:off x="587374" y="4381499"/>
            <a:ext cx="2563812" cy="444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配比与原料</a:t>
            </a:r>
          </a:p>
        </p:txBody>
      </p:sp>
      <p:sp>
        <p:nvSpPr>
          <p:cNvPr id="85" name="l0_a1" descr="Editable line; source id l0_a1"/>
          <p:cNvSpPr/>
          <p:nvPr/>
        </p:nvSpPr>
        <p:spPr>
          <a:xfrm>
            <a:off x="1821656" y="5080000"/>
            <a:ext cx="103187" cy="230187"/>
          </a:xfrm>
          <a:custGeom>
            <a:avLst/>
            <a:gdLst/>
            <a:ahLst/>
            <a:cxnLst/>
            <a:rect l="l" t="t" r="r" b="b"/>
            <a:pathLst>
              <a:path w="13000" h="29000">
                <a:moveTo>
                  <a:pt x="8000" y="0"/>
                </a:moveTo>
                <a:lnTo>
                  <a:pt x="8000" y="13000"/>
                </a:lnTo>
                <a:lnTo>
                  <a:pt x="13000" y="13000"/>
                </a:lnTo>
                <a:lnTo>
                  <a:pt x="6500" y="29000"/>
                </a:lnTo>
                <a:lnTo>
                  <a:pt x="0" y="13000"/>
                </a:lnTo>
                <a:lnTo>
                  <a:pt x="5000" y="13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0_p" descr="Editable shape; source id l0_p"/>
          <p:cNvSpPr/>
          <p:nvPr/>
        </p:nvSpPr>
        <p:spPr>
          <a:xfrm>
            <a:off x="1269999" y="5326062"/>
            <a:ext cx="984249" cy="317499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0_pt" descr="Editable text; source id l0_pt"/>
          <p:cNvSpPr txBox="1"/>
          <p:nvPr/>
        </p:nvSpPr>
        <p:spPr>
          <a:xfrm>
            <a:off x="1333499" y="5349874"/>
            <a:ext cx="857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88" name="l0_a2" descr="Editable line; source id l0_a2"/>
          <p:cNvSpPr/>
          <p:nvPr/>
        </p:nvSpPr>
        <p:spPr>
          <a:xfrm>
            <a:off x="1821656" y="5659437"/>
            <a:ext cx="103187" cy="182562"/>
          </a:xfrm>
          <a:custGeom>
            <a:avLst/>
            <a:gdLst/>
            <a:ahLst/>
            <a:cxnLst/>
            <a:rect l="l" t="t" r="r" b="b"/>
            <a:pathLst>
              <a:path w="13000" h="23000">
                <a:moveTo>
                  <a:pt x="8000" y="0"/>
                </a:moveTo>
                <a:lnTo>
                  <a:pt x="8000" y="7000"/>
                </a:lnTo>
                <a:lnTo>
                  <a:pt x="13000" y="7000"/>
                </a:lnTo>
                <a:lnTo>
                  <a:pt x="6500" y="23000"/>
                </a:lnTo>
                <a:lnTo>
                  <a:pt x="0" y="7000"/>
                </a:lnTo>
                <a:lnTo>
                  <a:pt x="5000" y="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ard0" descr="Editable shape; source id card0"/>
          <p:cNvSpPr/>
          <p:nvPr/>
        </p:nvSpPr>
        <p:spPr>
          <a:xfrm>
            <a:off x="373062" y="5857874"/>
            <a:ext cx="2778124" cy="1936749"/>
          </a:xfrm>
          <a:prstGeom prst="roundRect">
            <a:avLst>
              <a:gd name="adj" fmla="val 655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ard0_t" descr="Editable text; source id card0_t"/>
          <p:cNvSpPr txBox="1"/>
          <p:nvPr/>
        </p:nvSpPr>
        <p:spPr>
          <a:xfrm>
            <a:off x="468312" y="5953124"/>
            <a:ext cx="258762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单晶结构</a:t>
            </a:r>
          </a:p>
        </p:txBody>
      </p:sp>
      <p:sp>
        <p:nvSpPr>
          <p:cNvPr id="91" name="card0_s" descr="Editable text; source id card0_s"/>
          <p:cNvSpPr txBox="1"/>
          <p:nvPr/>
        </p:nvSpPr>
        <p:spPr>
          <a:xfrm>
            <a:off x="468312" y="6334124"/>
            <a:ext cx="2587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结构身份与位点占据</a:t>
            </a:r>
          </a:p>
        </p:txBody>
      </p:sp>
      <p:sp>
        <p:nvSpPr>
          <p:cNvPr id="92" name="cell1" descr="Editable shape; source id cell1"/>
          <p:cNvSpPr/>
          <p:nvPr/>
        </p:nvSpPr>
        <p:spPr>
          <a:xfrm>
            <a:off x="3325812" y="4294187"/>
            <a:ext cx="2722562" cy="619124"/>
          </a:xfrm>
          <a:prstGeom prst="roundRect">
            <a:avLst>
              <a:gd name="adj" fmla="val 12820"/>
            </a:avLst>
          </a:prstGeom>
          <a:solidFill>
            <a:srgbClr val="F3F5F6"/>
          </a:solidFill>
          <a:ln w="15874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ell1_t" descr="Editable text; source id cell1_t"/>
          <p:cNvSpPr txBox="1"/>
          <p:nvPr/>
        </p:nvSpPr>
        <p:spPr>
          <a:xfrm>
            <a:off x="3405187" y="4381499"/>
            <a:ext cx="2563812" cy="444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温度</a:t>
            </a:r>
            <a:r>
              <a:rPr sz="1687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时间与气氛</a:t>
            </a:r>
          </a:p>
        </p:txBody>
      </p:sp>
      <p:sp>
        <p:nvSpPr>
          <p:cNvPr id="94" name="l1_a1" descr="Editable line; source id l1_a1"/>
          <p:cNvSpPr/>
          <p:nvPr/>
        </p:nvSpPr>
        <p:spPr>
          <a:xfrm>
            <a:off x="4631531" y="5080000"/>
            <a:ext cx="103187" cy="230187"/>
          </a:xfrm>
          <a:custGeom>
            <a:avLst/>
            <a:gdLst/>
            <a:ahLst/>
            <a:cxnLst/>
            <a:rect l="l" t="t" r="r" b="b"/>
            <a:pathLst>
              <a:path w="13000" h="29000">
                <a:moveTo>
                  <a:pt x="8000" y="0"/>
                </a:moveTo>
                <a:lnTo>
                  <a:pt x="8000" y="13000"/>
                </a:lnTo>
                <a:lnTo>
                  <a:pt x="13000" y="13000"/>
                </a:lnTo>
                <a:lnTo>
                  <a:pt x="6500" y="29000"/>
                </a:lnTo>
                <a:lnTo>
                  <a:pt x="0" y="13000"/>
                </a:lnTo>
                <a:lnTo>
                  <a:pt x="5000" y="13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1_p" descr="Editable shape; source id l1_p"/>
          <p:cNvSpPr/>
          <p:nvPr/>
        </p:nvSpPr>
        <p:spPr>
          <a:xfrm>
            <a:off x="4159249" y="5326062"/>
            <a:ext cx="992187" cy="317499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1_pt" descr="Editable text; source id l1_pt"/>
          <p:cNvSpPr txBox="1"/>
          <p:nvPr/>
        </p:nvSpPr>
        <p:spPr>
          <a:xfrm>
            <a:off x="4222749" y="5349874"/>
            <a:ext cx="865187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相组成</a:t>
            </a:r>
          </a:p>
        </p:txBody>
      </p:sp>
      <p:sp>
        <p:nvSpPr>
          <p:cNvPr id="97" name="l1_a2" descr="Editable line; source id l1_a2"/>
          <p:cNvSpPr/>
          <p:nvPr/>
        </p:nvSpPr>
        <p:spPr>
          <a:xfrm>
            <a:off x="4631531" y="5659437"/>
            <a:ext cx="103187" cy="182562"/>
          </a:xfrm>
          <a:custGeom>
            <a:avLst/>
            <a:gdLst/>
            <a:ahLst/>
            <a:cxnLst/>
            <a:rect l="l" t="t" r="r" b="b"/>
            <a:pathLst>
              <a:path w="13000" h="23000">
                <a:moveTo>
                  <a:pt x="8000" y="0"/>
                </a:moveTo>
                <a:lnTo>
                  <a:pt x="8000" y="7000"/>
                </a:lnTo>
                <a:lnTo>
                  <a:pt x="13000" y="7000"/>
                </a:lnTo>
                <a:lnTo>
                  <a:pt x="6500" y="23000"/>
                </a:lnTo>
                <a:lnTo>
                  <a:pt x="0" y="7000"/>
                </a:lnTo>
                <a:lnTo>
                  <a:pt x="5000" y="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ard1" descr="Editable shape; source id card1"/>
          <p:cNvSpPr/>
          <p:nvPr/>
        </p:nvSpPr>
        <p:spPr>
          <a:xfrm>
            <a:off x="3270249" y="5857874"/>
            <a:ext cx="2762249" cy="1936749"/>
          </a:xfrm>
          <a:prstGeom prst="roundRect">
            <a:avLst>
              <a:gd name="adj" fmla="val 655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ard1_t" descr="Editable text; source id card1_t"/>
          <p:cNvSpPr txBox="1"/>
          <p:nvPr/>
        </p:nvSpPr>
        <p:spPr>
          <a:xfrm>
            <a:off x="3365499" y="5953124"/>
            <a:ext cx="25717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874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100" name="card1_s" descr="Editable text; source id card1_s"/>
          <p:cNvSpPr txBox="1"/>
          <p:nvPr/>
        </p:nvSpPr>
        <p:spPr>
          <a:xfrm>
            <a:off x="3365499" y="6334124"/>
            <a:ext cx="2571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批量相纯与杂相</a:t>
            </a:r>
          </a:p>
        </p:txBody>
      </p:sp>
      <p:sp>
        <p:nvSpPr>
          <p:cNvPr id="101" name="cell2" descr="Editable shape; source id cell2"/>
          <p:cNvSpPr/>
          <p:nvPr/>
        </p:nvSpPr>
        <p:spPr>
          <a:xfrm>
            <a:off x="6143624" y="4294187"/>
            <a:ext cx="2730499" cy="619124"/>
          </a:xfrm>
          <a:prstGeom prst="roundRect">
            <a:avLst>
              <a:gd name="adj" fmla="val 12820"/>
            </a:avLst>
          </a:prstGeom>
          <a:solidFill>
            <a:srgbClr val="F3F5F6"/>
          </a:solidFill>
          <a:ln w="15874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ell2_t" descr="Editable text; source id cell2_t"/>
          <p:cNvSpPr txBox="1"/>
          <p:nvPr/>
        </p:nvSpPr>
        <p:spPr>
          <a:xfrm>
            <a:off x="6222999" y="4381499"/>
            <a:ext cx="2571749" cy="444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坩埚与助熔剂</a:t>
            </a:r>
          </a:p>
        </p:txBody>
      </p:sp>
      <p:sp>
        <p:nvSpPr>
          <p:cNvPr id="103" name="l2_a1" descr="Editable line; source id l2_a1"/>
          <p:cNvSpPr/>
          <p:nvPr/>
        </p:nvSpPr>
        <p:spPr>
          <a:xfrm>
            <a:off x="7457281" y="5080000"/>
            <a:ext cx="103187" cy="230187"/>
          </a:xfrm>
          <a:custGeom>
            <a:avLst/>
            <a:gdLst/>
            <a:ahLst/>
            <a:cxnLst/>
            <a:rect l="l" t="t" r="r" b="b"/>
            <a:pathLst>
              <a:path w="13000" h="29000">
                <a:moveTo>
                  <a:pt x="8000" y="0"/>
                </a:moveTo>
                <a:lnTo>
                  <a:pt x="8000" y="13000"/>
                </a:lnTo>
                <a:lnTo>
                  <a:pt x="13000" y="13000"/>
                </a:lnTo>
                <a:lnTo>
                  <a:pt x="6500" y="29000"/>
                </a:lnTo>
                <a:lnTo>
                  <a:pt x="0" y="13000"/>
                </a:lnTo>
                <a:lnTo>
                  <a:pt x="5000" y="13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2_p" descr="Editable shape; source id l2_p"/>
          <p:cNvSpPr/>
          <p:nvPr/>
        </p:nvSpPr>
        <p:spPr>
          <a:xfrm>
            <a:off x="7016749" y="5326062"/>
            <a:ext cx="1008062" cy="317499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2_pt" descr="Editable text; source id l2_pt"/>
          <p:cNvSpPr txBox="1"/>
          <p:nvPr/>
        </p:nvSpPr>
        <p:spPr>
          <a:xfrm>
            <a:off x="7080249" y="5349874"/>
            <a:ext cx="881062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成分</a:t>
            </a:r>
          </a:p>
        </p:txBody>
      </p:sp>
      <p:sp>
        <p:nvSpPr>
          <p:cNvPr id="106" name="l2_a2" descr="Editable line; source id l2_a2"/>
          <p:cNvSpPr/>
          <p:nvPr/>
        </p:nvSpPr>
        <p:spPr>
          <a:xfrm>
            <a:off x="7457281" y="5659437"/>
            <a:ext cx="103187" cy="182562"/>
          </a:xfrm>
          <a:custGeom>
            <a:avLst/>
            <a:gdLst/>
            <a:ahLst/>
            <a:cxnLst/>
            <a:rect l="l" t="t" r="r" b="b"/>
            <a:pathLst>
              <a:path w="13000" h="23000">
                <a:moveTo>
                  <a:pt x="8000" y="0"/>
                </a:moveTo>
                <a:lnTo>
                  <a:pt x="8000" y="7000"/>
                </a:lnTo>
                <a:lnTo>
                  <a:pt x="13000" y="7000"/>
                </a:lnTo>
                <a:lnTo>
                  <a:pt x="6500" y="23000"/>
                </a:lnTo>
                <a:lnTo>
                  <a:pt x="0" y="7000"/>
                </a:lnTo>
                <a:lnTo>
                  <a:pt x="5000" y="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ard2" descr="Editable shape; source id card2"/>
          <p:cNvSpPr/>
          <p:nvPr/>
        </p:nvSpPr>
        <p:spPr>
          <a:xfrm>
            <a:off x="6159499" y="5857874"/>
            <a:ext cx="2762249" cy="1936749"/>
          </a:xfrm>
          <a:prstGeom prst="roundRect">
            <a:avLst>
              <a:gd name="adj" fmla="val 655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ard2_t" descr="Editable text; source id card2_t"/>
          <p:cNvSpPr txBox="1"/>
          <p:nvPr/>
        </p:nvSpPr>
        <p:spPr>
          <a:xfrm>
            <a:off x="6254749" y="5953124"/>
            <a:ext cx="25717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成分与污染</a:t>
            </a:r>
          </a:p>
        </p:txBody>
      </p:sp>
      <p:sp>
        <p:nvSpPr>
          <p:cNvPr id="109" name="card2_s" descr="Editable text; source id card2_s"/>
          <p:cNvSpPr txBox="1"/>
          <p:nvPr/>
        </p:nvSpPr>
        <p:spPr>
          <a:xfrm>
            <a:off x="6254749" y="6334124"/>
            <a:ext cx="2571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名义</a:t>
            </a:r>
            <a:r>
              <a:rPr sz="1374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局域</a:t>
            </a:r>
            <a:r>
              <a:rPr sz="1374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体平均</a:t>
            </a:r>
          </a:p>
        </p:txBody>
      </p:sp>
      <p:sp>
        <p:nvSpPr>
          <p:cNvPr id="110" name="cell3" descr="Editable shape; source id cell3"/>
          <p:cNvSpPr/>
          <p:nvPr/>
        </p:nvSpPr>
        <p:spPr>
          <a:xfrm>
            <a:off x="8961437" y="4294187"/>
            <a:ext cx="2738437" cy="619124"/>
          </a:xfrm>
          <a:prstGeom prst="roundRect">
            <a:avLst>
              <a:gd name="adj" fmla="val 12820"/>
            </a:avLst>
          </a:prstGeom>
          <a:solidFill>
            <a:srgbClr val="F3F5F6"/>
          </a:solidFill>
          <a:ln w="15874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ell3_t" descr="Editable text; source id cell3_t"/>
          <p:cNvSpPr txBox="1"/>
          <p:nvPr/>
        </p:nvSpPr>
        <p:spPr>
          <a:xfrm>
            <a:off x="9040812" y="4381499"/>
            <a:ext cx="2579687" cy="444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冷却、生长与分离</a:t>
            </a:r>
          </a:p>
        </p:txBody>
      </p:sp>
      <p:sp>
        <p:nvSpPr>
          <p:cNvPr id="112" name="l3_a1" descr="Editable line; source id l3_a1"/>
          <p:cNvSpPr/>
          <p:nvPr/>
        </p:nvSpPr>
        <p:spPr>
          <a:xfrm>
            <a:off x="10283031" y="5080000"/>
            <a:ext cx="103187" cy="230187"/>
          </a:xfrm>
          <a:custGeom>
            <a:avLst/>
            <a:gdLst/>
            <a:ahLst/>
            <a:cxnLst/>
            <a:rect l="l" t="t" r="r" b="b"/>
            <a:pathLst>
              <a:path w="13000" h="29000">
                <a:moveTo>
                  <a:pt x="8000" y="0"/>
                </a:moveTo>
                <a:lnTo>
                  <a:pt x="8000" y="13000"/>
                </a:lnTo>
                <a:lnTo>
                  <a:pt x="13000" y="13000"/>
                </a:lnTo>
                <a:lnTo>
                  <a:pt x="6500" y="29000"/>
                </a:lnTo>
                <a:lnTo>
                  <a:pt x="0" y="13000"/>
                </a:lnTo>
                <a:lnTo>
                  <a:pt x="5000" y="13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l3_p" descr="Editable shape; source id l3_p"/>
          <p:cNvSpPr/>
          <p:nvPr/>
        </p:nvSpPr>
        <p:spPr>
          <a:xfrm>
            <a:off x="9945687" y="5326062"/>
            <a:ext cx="984249" cy="317499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3_pt" descr="Editable text; source id l3_pt"/>
          <p:cNvSpPr txBox="1"/>
          <p:nvPr/>
        </p:nvSpPr>
        <p:spPr>
          <a:xfrm>
            <a:off x="10009187" y="5349874"/>
            <a:ext cx="857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高温</a:t>
            </a:r>
          </a:p>
        </p:txBody>
      </p:sp>
      <p:sp>
        <p:nvSpPr>
          <p:cNvPr id="115" name="l3_a2" descr="Editable line; source id l3_a2"/>
          <p:cNvSpPr/>
          <p:nvPr/>
        </p:nvSpPr>
        <p:spPr>
          <a:xfrm>
            <a:off x="10283031" y="5659437"/>
            <a:ext cx="103187" cy="182562"/>
          </a:xfrm>
          <a:custGeom>
            <a:avLst/>
            <a:gdLst/>
            <a:ahLst/>
            <a:cxnLst/>
            <a:rect l="l" t="t" r="r" b="b"/>
            <a:pathLst>
              <a:path w="13000" h="23000">
                <a:moveTo>
                  <a:pt x="8000" y="0"/>
                </a:moveTo>
                <a:lnTo>
                  <a:pt x="8000" y="7000"/>
                </a:lnTo>
                <a:lnTo>
                  <a:pt x="13000" y="7000"/>
                </a:lnTo>
                <a:lnTo>
                  <a:pt x="6500" y="23000"/>
                </a:lnTo>
                <a:lnTo>
                  <a:pt x="0" y="7000"/>
                </a:lnTo>
                <a:lnTo>
                  <a:pt x="5000" y="7000"/>
                </a:lnTo>
                <a:lnTo>
                  <a:pt x="50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ard3" descr="Editable shape; source id card3"/>
          <p:cNvSpPr/>
          <p:nvPr/>
        </p:nvSpPr>
        <p:spPr>
          <a:xfrm>
            <a:off x="9048749" y="5857874"/>
            <a:ext cx="2778124" cy="1936749"/>
          </a:xfrm>
          <a:prstGeom prst="roundRect">
            <a:avLst>
              <a:gd name="adj" fmla="val 655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card3_t" descr="Editable text; source id card3_t"/>
          <p:cNvSpPr txBox="1"/>
          <p:nvPr/>
        </p:nvSpPr>
        <p:spPr>
          <a:xfrm>
            <a:off x="9143999" y="5953124"/>
            <a:ext cx="258762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高温稳定性</a:t>
            </a:r>
          </a:p>
        </p:txBody>
      </p:sp>
      <p:sp>
        <p:nvSpPr>
          <p:cNvPr id="118" name="card3_s" descr="Editable text; source id card3_s"/>
          <p:cNvSpPr txBox="1"/>
          <p:nvPr/>
        </p:nvSpPr>
        <p:spPr>
          <a:xfrm>
            <a:off x="9143999" y="6334124"/>
            <a:ext cx="2587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原位高温</a:t>
            </a:r>
            <a:r>
              <a:rPr sz="1374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374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冷却回收</a:t>
            </a:r>
          </a:p>
        </p:txBody>
      </p:sp>
      <p:pic>
        <p:nvPicPr>
          <p:cNvPr id="119" name="icon_poly" descr="exact crop of source page_001 (schematic polyhedron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49" y="6619874"/>
            <a:ext cx="1142999" cy="1127124"/>
          </a:xfrm>
          <a:prstGeom prst="rect">
            <a:avLst/>
          </a:prstGeom>
          <a:effectLst/>
        </p:spPr>
      </p:pic>
      <p:pic>
        <p:nvPicPr>
          <p:cNvPr id="120" name="icon_peaks" descr="exact crop of source page_001 (schematic diffraction trac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249" y="6619874"/>
            <a:ext cx="2524124" cy="1000124"/>
          </a:xfrm>
          <a:prstGeom prst="rect">
            <a:avLst/>
          </a:prstGeom>
          <a:effectLst/>
        </p:spPr>
      </p:pic>
      <p:sp>
        <p:nvSpPr>
          <p:cNvPr id="121" name="dot0" descr="Editable shape; source id dot0"/>
          <p:cNvSpPr/>
          <p:nvPr/>
        </p:nvSpPr>
        <p:spPr>
          <a:xfrm>
            <a:off x="6635749" y="6945312"/>
            <a:ext cx="476249" cy="476249"/>
          </a:xfrm>
          <a:prstGeom prst="ellipse">
            <a:avLst/>
          </a:prstGeom>
          <a:solidFill>
            <a:srgbClr val="3E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dot1" descr="Editable shape; source id dot1"/>
          <p:cNvSpPr/>
          <p:nvPr/>
        </p:nvSpPr>
        <p:spPr>
          <a:xfrm>
            <a:off x="7373937" y="6992937"/>
            <a:ext cx="380999" cy="380999"/>
          </a:xfrm>
          <a:prstGeom prst="ellipse">
            <a:avLst/>
          </a:prstGeom>
          <a:solidFill>
            <a:srgbClr val="6B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ot2" descr="Editable shape; source id dot2"/>
          <p:cNvSpPr/>
          <p:nvPr/>
        </p:nvSpPr>
        <p:spPr>
          <a:xfrm>
            <a:off x="8040687" y="7040562"/>
            <a:ext cx="285749" cy="285749"/>
          </a:xfrm>
          <a:prstGeom prst="ellipse">
            <a:avLst/>
          </a:prstGeom>
          <a:solidFill>
            <a:srgbClr val="9A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icon_curve" descr="exact crop of source page_001 (schematic temperature curv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4" y="6794499"/>
            <a:ext cx="2317749" cy="857249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