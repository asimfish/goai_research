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答辩要点（不逐字念，按提示自然讲）：</a:t>
            </a:r>
          </a:p>
          <a:p>
            <a:endParaRPr lang="en-US" dirty="0"/>
          </a:p>
          <a:p>
            <a:r>
              <a:rPr lang="zh-CN" dirty="0"/>
              <a:t>• 我们是第13队科学无极，作品 SAGE-Mat。一句话：一行研究主题进去，可核验的综述、证据链和候选合成路线出来。</a:t>
            </a:r>
          </a:p>
          <a:p>
            <a:r>
              <a:rPr lang="zh-CN" dirty="0"/>
              <a:t>• 定位：一个通用的文献调研引擎，加上面向合成实验方案的特化——证据约束、接入训练好的前驱体预测模型、能从失败中迭代。</a:t>
            </a:r>
          </a:p>
          <a:p>
            <a:r>
              <a:rPr lang="zh-CN" dirty="0"/>
              <a:t>• 服务对象是自动化实验室：交付的方案可执行、结果可回写、下一轮更优。</a:t>
            </a:r>
          </a:p>
          <a:p>
            <a:r>
              <a:rPr lang="zh-CN" dirty="0"/>
              <a:t>• 右侧四个数字是规模与科学内容：约三千八百万篇本地全文加在线检索；九个角色四个自研服务；二十八条合成条件逐字段比较；七种化合物的前驱体预测与四个新实验方向。</a:t>
            </a:r>
          </a:p>
          <a:p>
            <a:endParaRPr lang="en-US" dirty="0"/>
          </a:p>
          <a:p>
            <a:r>
              <a:rPr lang="zh-CN" dirty="0"/>
              <a:t>答辩路线建议：三分钟讲 1、2、4、7、8、11、13 页；五分钟再加 3、6、9、12 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解决什么问题：自动化实验室不缺产能，缺的是"做什么实验、为什么做"——这一步仍靠人读文献。</a:t>
            </a:r>
          </a:p>
          <a:p>
            <a:r>
              <a:rPr lang="zh-CN" dirty="0"/>
              <a:t>• 空缺：让大模型把文献知识抽取、总结、压缩成可执行的假设，和实验结果、历史文献一起迭代。</a:t>
            </a:r>
          </a:p>
          <a:p>
            <a:r>
              <a:rPr lang="zh-CN" dirty="0"/>
              <a:t>• 强调闭环右下角：失败的实验同样回写为证据，Agent 据此给出下一轮更优方案——这是我们与"写一篇总结"的根本区别。</a:t>
            </a:r>
          </a:p>
          <a:p>
            <a:r>
              <a:rPr lang="zh-CN" dirty="0"/>
              <a:t>• 为什么现在：实验产能远大于知识吞吐；文献里的成功与失败边界是最便宜的实验。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合成条件与前人经验散落在文献里，站在巨人肩膀上才有新发现：用哪些、怎么找、找到之后新发现在哪。</a:t>
            </a:r>
          </a:p>
          <a:p>
            <a:r>
              <a:rPr lang="zh-CN" dirty="0"/>
              <a:t>• 两个案例的问题来源不同：LLZO 是团队初赛自主探索定的，文献多但没人整理成跨掺杂体系的统一工艺图景；Ba5Y12Zn[O(SiO4)]8 是领域专家推荐的，2024 年首报、只有一篇直接合成文献，但近邻体系证据丰富。</a:t>
            </a:r>
          </a:p>
          <a:p>
            <a:r>
              <a:rPr lang="zh-CN" dirty="0"/>
              <a:t>• 一个文献丰富、一个文献稀缺，正好检验系统两端的能力。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核心创新之一：把"生成像论文的结论"改成"保存证据与判定过程"。</a:t>
            </a:r>
          </a:p>
          <a:p>
            <a:r>
              <a:rPr lang="zh-CN" dirty="0"/>
              <a:t>• 认知层九个角色都是 Markdown 写的规程，Codex 执行——这是通用调研引擎；材料特化在确定性层：前驱体预测模型、近邻体系与相图两条强制检索面、合成条件表。</a:t>
            </a:r>
          </a:p>
          <a:p>
            <a:r>
              <a:rPr lang="zh-CN" dirty="0"/>
              <a:t>• 确定性工作进四个自研 MCP 服务；控制层每个阶段有完成标准，由程序检查，不由模型自己宣布；写稿与审稿分离。</a:t>
            </a:r>
          </a:p>
          <a:p>
            <a:r>
              <a:rPr lang="zh-CN" dirty="0"/>
              <a:t>• 九个角色编号与后面几页一一对应，评委可以对着看。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角色之间靠产物文件和共享进度记录交接：每一步是否通过、待返工问题、产物版本；上游一变下游自动重查。</a:t>
            </a:r>
          </a:p>
          <a:p>
            <a:r>
              <a:rPr lang="zh-CN" dirty="0"/>
              <a:t>• 写作与图纸、想法方案并行，审稿覆盖三者，问题沿原路返工。</a:t>
            </a:r>
          </a:p>
          <a:p>
            <a:r>
              <a:rPr lang="zh-CN" dirty="0"/>
              <a:t>• 底部是接到自动化实验室之后的样子：结构化路线 + 失败判据交给实验，结果按同一格式回写为证据，触发新一轮。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"做完了"不由模型说：九道关卡全部通过、没有未关闭的严重问题、终审有审稿记录，程序才放行。</a:t>
            </a:r>
          </a:p>
          <a:p>
            <a:r>
              <a:rPr lang="zh-CN" dirty="0"/>
              <a:t>• 正式运行里四次需要人确认的节点，其中一次是五条作者名不匹配的文献三轮没收敛，交人决定后删除继续——系统不会为了"好看"保留可疑引用。</a:t>
            </a:r>
          </a:p>
          <a:p>
            <a:r>
              <a:rPr lang="zh-CN" dirty="0"/>
              <a:t>• 对抗审稿用全新上下文、三个视角（领域专家、方法严谨派、期刊编辑）。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核心创新之二：把建模的反应前驱体预测接进 Agent 回环。RECIPE 把无机逆合成重述为变长前驱体集合的排序问题：高召回候选池 → 枚举二到五元集合 → 学习到的重排器直接给完整集合打分（团队 NeurIPS 2026 投稿）。</a:t>
            </a:r>
          </a:p>
          <a:p>
            <a:r>
              <a:rPr lang="zh-CN" dirty="0"/>
              <a:t>• 前驱体交给模型；温度、气氛、助熔剂不由模型臆造，从结构近邻的实验记录按证据等级类比，并标出不可迁移的边界。</a:t>
            </a:r>
          </a:p>
          <a:p>
            <a:r>
              <a:rPr lang="zh-CN" dirty="0"/>
              <a:t>• 左下角是随 checkpoint 提交的基准：两千五百五十八条留出反应，Combo@1 71.81，比先前最优基线高 11.4 个百分点。</a:t>
            </a:r>
          </a:p>
          <a:p>
            <a:r>
              <a:rPr lang="zh-CN" dirty="0"/>
              <a:t>• 每条路线都标注"模型候选、未经实验验证"。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实际效果：纯主题冷启动，唯一输入是一行主题；先交出二十页综述，按材料专家八条意见修订为二十三页正式稿。</a:t>
            </a:r>
          </a:p>
          <a:p>
            <a:r>
              <a:rPr lang="zh-CN" dirty="0"/>
              <a:t>• 五十一篇参考文献逐条核对通过；正文二百一十九次引用；三张图由同一图源生成可编辑版本；两轮对抗审稿的终审零遗留。</a:t>
            </a:r>
          </a:p>
          <a:p>
            <a:r>
              <a:rPr lang="zh-CN" dirty="0"/>
              <a:t>• 右侧运行事实：整个过程都被记录，可以逐条回看。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系统给出的不是一份配方，而是文献证据限定的可迁移范围。</a:t>
            </a:r>
          </a:p>
          <a:p>
            <a:r>
              <a:rPr lang="zh-CN" dirty="0"/>
              <a:t>• 公开证据只能确认目标相的开放体系高温溶液法和单晶衍射鉴定；无锌谱系提供三类可比路线但数值不能无条件迁移；获得单晶不等于建立批量相纯窗口。</a:t>
            </a:r>
          </a:p>
          <a:p>
            <a:r>
              <a:rPr lang="zh-CN" dirty="0"/>
              <a:t>• 因此第一步实验是局部相图；四个方向每个都配了工艺路线和模型候选前驱体，成功与失败分别意味着什么都写清楚了。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文献丰富的一端：四十六篇文献覆盖六个子主题、逐条核对通过，整合成十页综述。</a:t>
            </a:r>
          </a:p>
          <a:p>
            <a:r>
              <a:rPr lang="zh-CN" dirty="0"/>
              <a:t>• 模型首选前驱体路线（氧化锆、氧化镧、碳酸锂）与文献一致；次选出现可疑命名，恰好说明模型生成 → 化学式规范化 → 文献复核 → 对抗审稿这四步把关是必要的。</a:t>
            </a:r>
          </a:p>
          <a:p>
            <a:r>
              <a:rPr lang="zh-CN" dirty="0"/>
              <a:t>• 替代材料 Li6PS5Cl、Li3YCl6、LATP 的首选路线也过了文献复核，对应三种应用场景。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Demo 最能说明什么：这套系统是"在跑"的，不是一张流程图。演示用自研的「循证台」控制台。</a:t>
            </a:r>
          </a:p>
          <a:p>
            <a:r>
              <a:rPr lang="zh-CN" dirty="0"/>
              <a:t>• 演示顺序：输入一行主题发起 → 看到编排器定范围、派出文献检索和风格库两路并行 → 每个角色卡上是它正在做的动作、最近产出、用时 → 研究推进条显示当前阶段与负责角色 → 九项质量检查逐项亮起 → 审稿意见出现时标明责任角色和返工阶段 → 完成后打开综述 PDF、交付清单和可核验摘要；历史运行可以回放。</a:t>
            </a:r>
          </a:p>
          <a:p>
            <a:r>
              <a:rPr lang="zh-CN" dirty="0"/>
              <a:t>• 截图是答辩前正在运行的 LLZO 主题：文献检索阶段、六个角色并行。所有数据来自各角色的事件流、共享进度记录和工具调用审计，控制台只读不干预。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相比其他方案的特点：通用 Deep Research 类工具给出一段带引用的总结；我们做了四点不同。</a:t>
            </a:r>
          </a:p>
          <a:p>
            <a:r>
              <a:rPr lang="zh-CN" dirty="0"/>
              <a:t>• 一，引用零信任：只引检索到且逐条核对过的文献，查无此文直接删，正式案例 51/51。</a:t>
            </a:r>
          </a:p>
          <a:p>
            <a:r>
              <a:rPr lang="zh-CN" dirty="0"/>
              <a:t>• 二，前驱体由训练好的模型预测，条件从近邻体系按证据等级类比并标出不可迁移边界，而不是纯文本推理。</a:t>
            </a:r>
          </a:p>
          <a:p>
            <a:r>
              <a:rPr lang="zh-CN" dirty="0"/>
              <a:t>• 三，完成由程序判定：九项检查、写稿审稿分离、意见按角色返工；失败与返工记入进度记录，成为下一轮的证据。</a:t>
            </a:r>
          </a:p>
          <a:p>
            <a:r>
              <a:rPr lang="zh-CN" dirty="0"/>
              <a:t>• 四，全流程开源可复现：Codex 宿主 + 四个自研 MCP + 控制台，MIT；一键安装、冒烟一两分钟、同一主题可重跑。</a:t>
            </a:r>
          </a:p>
          <a:p>
            <a:r>
              <a:rPr lang="zh-CN" dirty="0"/>
              <a:t>• 诚实边界：目标相只有一篇直接报道；大模型步骤不能逐字复现，以关卡全部通过为判据；三个新主题的冷启动随包提交。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收尾回到定位：面向自动化实验室——方案可执行、结果可回写、从失败中迭代。</a:t>
            </a:r>
          </a:p>
          <a:p>
            <a:r>
              <a:rPr lang="zh-CN" dirty="0"/>
              <a:t>• 这套系统真正改变的，是把"该不该相信这条结论"变成一个可以点开 DOI 与原文段落回答的问题。</a:t>
            </a:r>
          </a:p>
          <a:p>
            <a:r>
              <a:rPr lang="zh-CN" dirty="0"/>
              <a:t>• 对研究者：一次运行替代数周文献梳理；对自动化实验室：交付结构化、可调度的方案，成功与失败的实验都回写为证据、Agent 据此迭代；对稀缺体系：只有一篇直接报道也能给出方向与前驱体候选，并明确哪些近邻条件不可迁移。</a:t>
            </a:r>
          </a:p>
          <a:p>
            <a:r>
              <a:rPr lang="zh-CN" dirty="0"/>
              <a:t>• 下一步：接入实验平台的结果回写，对四个方向开展合成实验，扩展温度 / 气氛条件预测。仓库 MIT 开源。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c4a3301d2618663e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1313572d1f0a68a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8e2ce96c0a7bc27e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8572500" y="0"/>
              <a:ext cx="36195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8942" y="978218"/>
            <a:ext cx="6161913" cy="355282"/>
            <a:chOff x="678942" y="978218"/>
            <a:chExt cx="6161913" cy="355282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978218"/>
              <a:ext cx="6161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第13队 · 科学无极 · 材料科学 · GOAI 2026 AI for Research · 进阶路线 C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85800" y="1295400"/>
              <a:ext cx="6858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66750" y="1609725"/>
            <a:ext cx="7663434" cy="2013776"/>
            <a:chOff x="666750" y="1609725"/>
            <a:chExt cx="7663434" cy="2013776"/>
          </a:xfrm>
        </p:grpSpPr>
        <p:sp>
          <p:nvSpPr>
            <p:cNvPr id="8" name="TextBox 8"/>
            <p:cNvSpPr txBox="1"/>
            <p:nvPr/>
          </p:nvSpPr>
          <p:spPr>
            <a:xfrm>
              <a:off x="666750" y="1609725"/>
              <a:ext cx="308236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>SAGE-Mat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4370" y="2386012"/>
              <a:ext cx="76558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面向无机材料发现与合成规划的证据约束自循环智能体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842260"/>
              <a:ext cx="3131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Evidence-Constrained Self-Cyclic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3051810"/>
              <a:ext cx="4213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for Inorganic Material Discovery &amp; Synthesis Planning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3359468"/>
              <a:ext cx="7183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通用文献调研引擎 × 面向合成实验方案的特化：证据约束 · 前驱体预测建模 · 从失败迭代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5894" y="3789998"/>
            <a:ext cx="7068179" cy="671703"/>
            <a:chOff x="675894" y="3789998"/>
            <a:chExt cx="7068179" cy="671703"/>
          </a:xfrm>
        </p:grpSpPr>
        <p:sp>
          <p:nvSpPr>
            <p:cNvPr id="14" name="TextBox 14"/>
            <p:cNvSpPr txBox="1"/>
            <p:nvPr/>
          </p:nvSpPr>
          <p:spPr>
            <a:xfrm>
              <a:off x="675894" y="3789998"/>
              <a:ext cx="70681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一行主题进去，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可核验的综述、证据链与候选合成路线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出来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942" y="419766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服务自动化实验室：方案可执行、结果可回写、下一轮更优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8942" y="5219700"/>
            <a:ext cx="7207758" cy="1185101"/>
            <a:chOff x="678942" y="5219700"/>
            <a:chExt cx="7207758" cy="1185101"/>
          </a:xfrm>
        </p:grpSpPr>
        <p:sp>
          <p:nvSpPr>
            <p:cNvPr id="17" name="Line 17"/>
            <p:cNvSpPr/>
            <p:nvPr/>
          </p:nvSpPr>
          <p:spPr>
            <a:xfrm>
              <a:off x="685800" y="521970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8942" y="5416868"/>
              <a:ext cx="4630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第13队 · 科学无极 · TeamNo.13 · MaterialsScience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5721668"/>
              <a:ext cx="6319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高京（上海交通大学）· 吕丁阳（中国科学院大学）· 李雨峰（上海交通大学）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8942" y="6140768"/>
              <a:ext cx="320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MIT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092994" y="6101398"/>
              <a:ext cx="148431" cy="158909"/>
            </a:xfrm>
            <a:custGeom>
              <a:avLst/>
              <a:gdLst/>
              <a:ahLst/>
              <a:cxnLst/>
              <a:rect l="l" t="t" r="r" b="b"/>
              <a:pathLst>
                <a:path w="148431" h="158909">
                  <a:moveTo>
                    <a:pt x="52388" y="141446"/>
                  </a:moveTo>
                  <a:cubicBezTo>
                    <a:pt x="14843" y="153670"/>
                    <a:pt x="14843" y="119618"/>
                    <a:pt x="0" y="115253"/>
                  </a:cubicBezTo>
                  <a:moveTo>
                    <a:pt x="104775" y="158909"/>
                  </a:moveTo>
                  <a:lnTo>
                    <a:pt x="104775" y="128349"/>
                  </a:lnTo>
                  <a:cubicBezTo>
                    <a:pt x="104775" y="119618"/>
                    <a:pt x="105648" y="116126"/>
                    <a:pt x="100409" y="110887"/>
                  </a:cubicBezTo>
                  <a:cubicBezTo>
                    <a:pt x="124857" y="108268"/>
                    <a:pt x="148431" y="98663"/>
                    <a:pt x="148431" y="58499"/>
                  </a:cubicBezTo>
                  <a:cubicBezTo>
                    <a:pt x="148421" y="48065"/>
                    <a:pt x="144350" y="38045"/>
                    <a:pt x="137081" y="30559"/>
                  </a:cubicBezTo>
                  <a:cubicBezTo>
                    <a:pt x="140490" y="21496"/>
                    <a:pt x="140176" y="11452"/>
                    <a:pt x="136208" y="2619"/>
                  </a:cubicBezTo>
                  <a:cubicBezTo>
                    <a:pt x="136208" y="2619"/>
                    <a:pt x="126603" y="0"/>
                    <a:pt x="105648" y="13970"/>
                  </a:cubicBezTo>
                  <a:cubicBezTo>
                    <a:pt x="87900" y="9348"/>
                    <a:pt x="69263" y="9348"/>
                    <a:pt x="51514" y="13970"/>
                  </a:cubicBezTo>
                  <a:cubicBezTo>
                    <a:pt x="30559" y="0"/>
                    <a:pt x="20955" y="2619"/>
                    <a:pt x="20955" y="2619"/>
                  </a:cubicBezTo>
                  <a:cubicBezTo>
                    <a:pt x="16986" y="11452"/>
                    <a:pt x="16673" y="21496"/>
                    <a:pt x="20082" y="30559"/>
                  </a:cubicBezTo>
                  <a:cubicBezTo>
                    <a:pt x="12813" y="38045"/>
                    <a:pt x="8742" y="48065"/>
                    <a:pt x="8731" y="58499"/>
                  </a:cubicBezTo>
                  <a:cubicBezTo>
                    <a:pt x="8731" y="98663"/>
                    <a:pt x="32306" y="108268"/>
                    <a:pt x="56753" y="110887"/>
                  </a:cubicBezTo>
                  <a:cubicBezTo>
                    <a:pt x="51514" y="116126"/>
                    <a:pt x="51514" y="121364"/>
                    <a:pt x="52388" y="128349"/>
                  </a:cubicBezTo>
                  <a:lnTo>
                    <a:pt x="52388" y="158909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64742" y="61407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asimfish/goai_research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10650" y="975360"/>
            <a:ext cx="2917420" cy="5225415"/>
            <a:chOff x="9010650" y="975360"/>
            <a:chExt cx="2917420" cy="5225415"/>
          </a:xfrm>
        </p:grpSpPr>
        <p:sp>
          <p:nvSpPr>
            <p:cNvPr id="24" name="TextBox 24"/>
            <p:cNvSpPr txBox="1"/>
            <p:nvPr/>
          </p:nvSpPr>
          <p:spPr>
            <a:xfrm>
              <a:off x="9010650" y="975360"/>
              <a:ext cx="244248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3,757 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22842" y="1587818"/>
              <a:ext cx="249974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篇本地文献全文（1990s–2021）</a:t>
              </a:r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+ 在线五源检索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10650" y="2308860"/>
              <a:ext cx="11363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9 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2842" y="2921318"/>
              <a:ext cx="249974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Agent 角色 · 4 个自研 MCP 服务</a:t>
              </a:r>
            </a:p>
            <a:p>
              <a:pPr algn="l" marL="145732" indent="-145732">
                <a:lnSpc>
                  <a:spcPts val="180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25 个工具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10650" y="364236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28 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22842" y="4254818"/>
              <a:ext cx="24140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合成条件逐字段比较：目标相</a:t>
              </a:r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Ba–Y–Zn–Si–O 及 4 个近邻体系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10650" y="4975860"/>
              <a:ext cx="29174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7 种 · 4 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22842" y="5588318"/>
              <a:ext cx="22425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目标化合物的前驱体路线预测</a:t>
              </a:r>
            </a:p>
            <a:p>
              <a:pPr algn="l" marL="145732" indent="-145732">
                <a:lnSpc>
                  <a:spcPts val="180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值得探索的新实验方向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029700" y="619125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9525">
              <a:solidFill>
                <a:srgbClr val="FFFFFF">
                  <a:alpha val="35000"/>
                </a:srgbClr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9723120" y="64808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2026-09 · 复赛作品说明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1055858" cy="586740"/>
            <a:chOff x="670560" y="590550"/>
            <a:chExt cx="11055858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10558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自动化实验室缺的不是产能，而是能随实验迭代的知识闭环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10941177" cy="724281"/>
            <a:chOff x="675894" y="1370648"/>
            <a:chExt cx="10941177" cy="72428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10941177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实验平台已能高通量地做实验，“做什么实验、为什么做”仍靠人读文献。AI for Science 的空缺是：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让大模型把文献知识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抽取、总结、压缩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成可执行的假设，并与实验结果、历史文献形成迭代。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324100"/>
            <a:ext cx="2990850" cy="800100"/>
            <a:chOff x="685800" y="2324100"/>
            <a:chExt cx="2990850" cy="800100"/>
          </a:xfrm>
        </p:grpSpPr>
        <p:sp>
          <p:nvSpPr>
            <p:cNvPr id="7" name="Rectangle 7"/>
            <p:cNvSpPr/>
            <p:nvPr/>
          </p:nvSpPr>
          <p:spPr>
            <a:xfrm>
              <a:off x="685800" y="2324100"/>
              <a:ext cx="24003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324100"/>
              <a:ext cx="24003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442" y="25022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历史文献与数据库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204" y="2766060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3.8 kw 篇全文 + 在线五源检索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105150" y="272415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733800" y="2324100"/>
            <a:ext cx="3159664" cy="2247900"/>
            <a:chOff x="3733800" y="2324100"/>
            <a:chExt cx="3159664" cy="2247900"/>
          </a:xfrm>
        </p:grpSpPr>
        <p:sp>
          <p:nvSpPr>
            <p:cNvPr id="13" name="Rectangle 13"/>
            <p:cNvSpPr/>
            <p:nvPr/>
          </p:nvSpPr>
          <p:spPr>
            <a:xfrm>
              <a:off x="3733800" y="2324100"/>
              <a:ext cx="28575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17442" y="2502218"/>
              <a:ext cx="2976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大模型 Agent：抽取 · 总结 · 压缩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18204" y="27660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检索 → 核对 → 条件表 → 可迁移范围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162550" y="3143250"/>
              <a:ext cx="1" cy="1428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143250" y="4629150"/>
            <a:ext cx="3533394" cy="800100"/>
            <a:chOff x="3143250" y="4629150"/>
            <a:chExt cx="3533394" cy="800100"/>
          </a:xfrm>
        </p:grpSpPr>
        <p:sp>
          <p:nvSpPr>
            <p:cNvPr id="18" name="Rectangle 18"/>
            <p:cNvSpPr/>
            <p:nvPr/>
          </p:nvSpPr>
          <p:spPr>
            <a:xfrm>
              <a:off x="3733800" y="4629150"/>
              <a:ext cx="28575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33800" y="4629150"/>
              <a:ext cx="2857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17442" y="4807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假设与合成方案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18204" y="5071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前驱体 · 温度/气氛 · 表征 · 失败判据</a:t>
              </a:r>
            </a:p>
          </p:txBody>
        </p:sp>
        <p:sp>
          <p:nvSpPr>
            <p:cNvPr id="22" name="Line 22"/>
            <p:cNvSpPr/>
            <p:nvPr/>
          </p:nvSpPr>
          <p:spPr>
            <a:xfrm flipH="1">
              <a:off x="3143250" y="5029200"/>
              <a:ext cx="5524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85800" y="3181350"/>
            <a:ext cx="2400300" cy="2247900"/>
            <a:chOff x="685800" y="3181350"/>
            <a:chExt cx="2400300" cy="2247900"/>
          </a:xfrm>
        </p:grpSpPr>
        <p:sp>
          <p:nvSpPr>
            <p:cNvPr id="24" name="Rectangle 24"/>
            <p:cNvSpPr/>
            <p:nvPr/>
          </p:nvSpPr>
          <p:spPr>
            <a:xfrm>
              <a:off x="685800" y="4629150"/>
              <a:ext cx="24003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6"/>
              </a:custDash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4629150"/>
              <a:ext cx="24003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自动化实验室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204" y="50711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合成 · 表征 · 结果回写为证据</a:t>
              </a:r>
            </a:p>
          </p:txBody>
        </p:sp>
        <p:sp>
          <p:nvSpPr>
            <p:cNvPr id="28" name="Line 28"/>
            <p:cNvSpPr/>
            <p:nvPr/>
          </p:nvSpPr>
          <p:spPr>
            <a:xfrm flipV="1">
              <a:off x="1885950" y="3181350"/>
              <a:ext cx="1" cy="14097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custDash>
                <a:ds d="300000" sp="200000"/>
              </a:custDash>
              <a:tailEnd type="triangle" w="med" len="med"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9704" y="3702368"/>
            <a:ext cx="7378598" cy="2232088"/>
            <a:chOff x="679704" y="3702368"/>
            <a:chExt cx="7378598" cy="2232088"/>
          </a:xfrm>
        </p:grpSpPr>
        <p:sp>
          <p:nvSpPr>
            <p:cNvPr id="30" name="TextBox 30"/>
            <p:cNvSpPr txBox="1"/>
            <p:nvPr/>
          </p:nvSpPr>
          <p:spPr>
            <a:xfrm>
              <a:off x="3250044" y="3702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知识闭环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78558" y="39471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失败也回写为证据，下一轮给出更优方案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9704" y="5699760"/>
              <a:ext cx="7378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实线：本系统覆盖的知识侧（文献 → 抽取压缩 → 假设方案） 虚线：下一环，实验结果回写后触发新一轮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048500" y="2324100"/>
            <a:ext cx="4672155" cy="2861501"/>
            <a:chOff x="7048500" y="2324100"/>
            <a:chExt cx="4672155" cy="2861501"/>
          </a:xfrm>
        </p:grpSpPr>
        <p:sp>
          <p:nvSpPr>
            <p:cNvPr id="34" name="Rectangle 34"/>
            <p:cNvSpPr/>
            <p:nvPr/>
          </p:nvSpPr>
          <p:spPr>
            <a:xfrm>
              <a:off x="7048500" y="2324100"/>
              <a:ext cx="57150" cy="2724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67956" y="23774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为什么现在重要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70242" y="2787968"/>
              <a:ext cx="4450413" cy="1654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①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实验产能已经远大于知识吞吐：机器人一天能做的实验，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人几周也读不完对应的文献</a:t>
              </a:r>
            </a:p>
            <a:p>
              <a:pPr algn="l">
                <a:lnSpc>
                  <a:spcPts val="1950"/>
                </a:lnSpc>
                <a:spcBef>
                  <a:spcPts val="600"/>
                </a:spcBef>
              </a:pPr>
              <a:r>
                <a:rPr lang="en-US" sz="135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②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文献里的成功经验与失败边界，是最便宜的“实验”；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跳过它们等于重复别人已经做过的探索</a:t>
              </a:r>
            </a:p>
            <a:p>
              <a:pPr algn="l">
                <a:lnSpc>
                  <a:spcPts val="1950"/>
                </a:lnSpc>
                <a:spcBef>
                  <a:spcPts val="600"/>
                </a:spcBef>
              </a:pPr>
              <a:r>
                <a:rPr lang="en-US" sz="135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③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闭环要能自我纠错：每条假设必须带可核验的证据，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而不是一段无法追溯的总结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277100" y="451485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70242" y="4673918"/>
              <a:ext cx="439426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我们的科学 gap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把散落在文献中的合成知识，变成</a:t>
              </a:r>
              <a:r>
                <a:rPr lang="zh-CN" sz="13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可执行、可追溯、可回写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的合成方案，接到实验闭环里。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47781" y="64808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1903964" cy="586740"/>
            <a:chOff x="670560" y="590550"/>
            <a:chExt cx="11903964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190396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合成条件与前人经验散落在文献里，站在巨人肩膀上才有新发现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9269540" cy="990981"/>
            <a:chOff x="675894" y="1370648"/>
            <a:chExt cx="9269540" cy="99098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9269540" cy="9909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成功的合成条件和失败的边界都写在文献里，关键是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用哪些、怎么找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，以及找到之后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哪里还有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新的科学发现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。科学问题本身也是探索出来的：一个来自团队自主探索，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一个来自领域专家推荐。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2266950"/>
            <a:ext cx="5295900" cy="2381250"/>
            <a:chOff x="685800" y="2266950"/>
            <a:chExt cx="5295900" cy="2381250"/>
          </a:xfrm>
        </p:grpSpPr>
        <p:sp>
          <p:nvSpPr>
            <p:cNvPr id="7" name="Rectangle 7"/>
            <p:cNvSpPr/>
            <p:nvPr/>
          </p:nvSpPr>
          <p:spPr>
            <a:xfrm>
              <a:off x="685800" y="2266950"/>
              <a:ext cx="529590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266950"/>
              <a:ext cx="57150" cy="2381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2406" y="2453640"/>
              <a:ext cx="3970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案例 A · LLZO 石榴石固态电解质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7689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团队在初赛调研中自主探索确定的科学问题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2406" y="30251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低温致密化、两步烧结、冷烧结、超快烧结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2406" y="332994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各有先例，文献很多，却没有人把它们整理成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2406" y="36347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跨掺杂体系的统一工艺图景；要找的是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2406" y="393954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可迁移的有效路线，而非重复已有探索。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4692" y="4331018"/>
              <a:ext cx="29046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文献丰富 · 需要梳理出可迁移路线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10300" y="2266950"/>
            <a:ext cx="5348006" cy="2381250"/>
            <a:chOff x="6210300" y="2266950"/>
            <a:chExt cx="5348006" cy="2381250"/>
          </a:xfrm>
        </p:grpSpPr>
        <p:sp>
          <p:nvSpPr>
            <p:cNvPr id="17" name="Rectangle 17"/>
            <p:cNvSpPr/>
            <p:nvPr/>
          </p:nvSpPr>
          <p:spPr>
            <a:xfrm>
              <a:off x="6210300" y="2266950"/>
              <a:ext cx="529590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10300" y="2266950"/>
              <a:ext cx="57150" cy="2381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86906" y="2453640"/>
              <a:ext cx="5071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案例 B · Ba5Y12Zn[O(SiO4)]8（BYZSO）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2768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材料领域专家推荐的科学问题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6906" y="3025140"/>
              <a:ext cx="42588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2024 年首次报道的非中心对称硅酸盐；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6906" y="3291840"/>
              <a:ext cx="34694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公开文献仅 </a:t>
              </a:r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1 篇</a:t>
              </a:r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直接合成报道，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6906" y="35585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投料比、温程与冷却程序仍不可复现；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6906" y="3825240"/>
              <a:ext cx="39368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Ba–Y–Si–O、Ba–Zn–Si–O、Y–Si–O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6906" y="40919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近邻体系证据丰富。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9192" y="4331018"/>
              <a:ext cx="1759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文献稀缺 · 近邻丰富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8942" y="5029200"/>
            <a:ext cx="11043037" cy="1147001"/>
            <a:chOff x="678942" y="5029200"/>
            <a:chExt cx="11043037" cy="1147001"/>
          </a:xfrm>
        </p:grpSpPr>
        <p:sp>
          <p:nvSpPr>
            <p:cNvPr id="28" name="Line 28"/>
            <p:cNvSpPr/>
            <p:nvPr/>
          </p:nvSpPr>
          <p:spPr>
            <a:xfrm>
              <a:off x="685800" y="5029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942" y="5188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我们要回答的三个问题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23900" y="5581650"/>
              <a:ext cx="228600" cy="228600"/>
              <a:chOff x="723900" y="5581650"/>
              <a:chExt cx="228600" cy="228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23900" y="558165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88900"/>
                    </a:moveTo>
                    <a:cubicBezTo>
                      <a:pt x="0" y="137998"/>
                      <a:pt x="39802" y="177800"/>
                      <a:pt x="88900" y="177800"/>
                    </a:cubicBezTo>
                    <a:cubicBezTo>
                      <a:pt x="137998" y="177800"/>
                      <a:pt x="177800" y="137998"/>
                      <a:pt x="177800" y="88900"/>
                    </a:cubicBezTo>
                    <a:cubicBezTo>
                      <a:pt x="177800" y="39802"/>
                      <a:pt x="137998" y="0"/>
                      <a:pt x="88900" y="0"/>
                    </a:cubicBezTo>
                    <a:cubicBezTo>
                      <a:pt x="39802" y="0"/>
                      <a:pt x="0" y="39802"/>
                      <a:pt x="0" y="889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6300" y="57340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95756" y="55778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用哪些文献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8042" y="59121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按结构近邻判据筛选，而非只看元素相似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4356100" y="5581650"/>
              <a:ext cx="203199" cy="228600"/>
              <a:chOff x="4356100" y="5581650"/>
              <a:chExt cx="203199" cy="228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356100" y="558165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356100" y="56197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356100" y="56959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4715256" y="5577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怎么找到、怎么核对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17542" y="5912168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全文库 + 在线库检索，逐条核对后再用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7999758" y="5581650"/>
              <a:ext cx="154884" cy="228599"/>
              <a:chOff x="7999758" y="5581650"/>
              <a:chExt cx="154884" cy="22859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039100" y="55816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051800" y="56578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999758" y="5581650"/>
                <a:ext cx="154884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54884" h="228599">
                    <a:moveTo>
                      <a:pt x="52042" y="0"/>
                    </a:moveTo>
                    <a:lnTo>
                      <a:pt x="52042" y="76200"/>
                    </a:lnTo>
                    <a:lnTo>
                      <a:pt x="1242" y="215899"/>
                    </a:lnTo>
                    <a:cubicBezTo>
                      <a:pt x="0" y="218399"/>
                      <a:pt x="3" y="221336"/>
                      <a:pt x="1252" y="223832"/>
                    </a:cubicBezTo>
                    <a:cubicBezTo>
                      <a:pt x="2500" y="226329"/>
                      <a:pt x="4848" y="228094"/>
                      <a:pt x="7592" y="228599"/>
                    </a:cubicBezTo>
                    <a:lnTo>
                      <a:pt x="147292" y="228599"/>
                    </a:lnTo>
                    <a:cubicBezTo>
                      <a:pt x="150037" y="228094"/>
                      <a:pt x="152385" y="226329"/>
                      <a:pt x="153633" y="223832"/>
                    </a:cubicBezTo>
                    <a:cubicBezTo>
                      <a:pt x="154881" y="221336"/>
                      <a:pt x="154884" y="218399"/>
                      <a:pt x="153642" y="215899"/>
                    </a:cubicBezTo>
                    <a:lnTo>
                      <a:pt x="102842" y="76200"/>
                    </a:lnTo>
                    <a:lnTo>
                      <a:pt x="102842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334756" y="5577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新发现在哪里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7042" y="591216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相图缺口、组成—结构耦合、模型候选路线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47781" y="64808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0292563" cy="586740"/>
            <a:chOff x="670560" y="590550"/>
            <a:chExt cx="10292563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02925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系统把“生成像论文的结论”改为“保存证据与判定过程”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11115919" cy="381381"/>
            <a:chOff x="675894" y="1370648"/>
            <a:chExt cx="11115919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111159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通用调研引擎做底，面向材料合成特化；确定性工作进 MCP 服务，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“做完了”由程序检查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9704" y="1962150"/>
            <a:ext cx="6758026" cy="3610356"/>
            <a:chOff x="679704" y="1962150"/>
            <a:chExt cx="6758026" cy="3610356"/>
          </a:xfrm>
        </p:grpSpPr>
        <p:sp>
          <p:nvSpPr>
            <p:cNvPr id="7" name="Rectangle 7"/>
            <p:cNvSpPr/>
            <p:nvPr/>
          </p:nvSpPr>
          <p:spPr>
            <a:xfrm>
              <a:off x="685800" y="1962150"/>
              <a:ext cx="6667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004" y="2061210"/>
              <a:ext cx="6322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① 编排器 orchestrator：读共享进度记录 · 分派任务 · 验收每一步产物 · 路由返工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2495550"/>
              <a:ext cx="152400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4954" y="253746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② 文献检索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4954" y="27089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在线五源 + 本地库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143250"/>
              <a:ext cx="152400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4954" y="318516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④ 引用核对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954" y="3356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题录与作者逐条比对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5800" y="4000500"/>
              <a:ext cx="152400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4954" y="404241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③ 写作风格学习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954" y="42138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30 篇经典综述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95550" y="3143250"/>
              <a:ext cx="142875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84704" y="3185160"/>
              <a:ext cx="1004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⑤ 分类与写作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84704" y="335661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分类法 → 章节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210050" y="2495550"/>
              <a:ext cx="152400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99204" y="253746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⑥ 学术插图绘制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99204" y="270891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图源 → 论文图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10050" y="3143250"/>
              <a:ext cx="152400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99204" y="318516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⑦ 旧图可编辑化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99204" y="3356610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位图 → draw.io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10050" y="3790950"/>
              <a:ext cx="152400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99204" y="3832860"/>
              <a:ext cx="13437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⑧ 想法与实验方案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99204" y="40043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调用前驱体预测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19800" y="3143250"/>
              <a:ext cx="133350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08954" y="318516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⑨ 对抗审稿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08954" y="33566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新上下文 · 三视角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447800" y="2933700"/>
              <a:ext cx="1" cy="1714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  <p:sp>
          <p:nvSpPr>
            <p:cNvPr id="34" name="Freeform 34"/>
            <p:cNvSpPr/>
            <p:nvPr/>
          </p:nvSpPr>
          <p:spPr>
            <a:xfrm>
              <a:off x="2209800" y="33528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  <p:sp>
          <p:nvSpPr>
            <p:cNvPr id="35" name="Freeform 35"/>
            <p:cNvSpPr/>
            <p:nvPr/>
          </p:nvSpPr>
          <p:spPr>
            <a:xfrm>
              <a:off x="2209800" y="3352800"/>
              <a:ext cx="142875" cy="857250"/>
            </a:xfrm>
            <a:custGeom>
              <a:avLst/>
              <a:gdLst/>
              <a:ahLst/>
              <a:cxnLst/>
              <a:rect l="l" t="t" r="r" b="b"/>
              <a:pathLst>
                <a:path w="142875" h="857250">
                  <a:moveTo>
                    <a:pt x="0" y="857250"/>
                  </a:moveTo>
                  <a:lnTo>
                    <a:pt x="142875" y="857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924300" y="2705100"/>
              <a:ext cx="142875" cy="1295400"/>
            </a:xfrm>
            <a:custGeom>
              <a:avLst/>
              <a:gdLst/>
              <a:ahLst/>
              <a:cxnLst/>
              <a:rect l="l" t="t" r="r" b="b"/>
              <a:pathLst>
                <a:path w="142875" h="1295400">
                  <a:moveTo>
                    <a:pt x="0" y="647700"/>
                  </a:moveTo>
                  <a:lnTo>
                    <a:pt x="142875" y="647700"/>
                  </a:lnTo>
                  <a:moveTo>
                    <a:pt x="142875" y="0"/>
                  </a:moveTo>
                  <a:lnTo>
                    <a:pt x="142875" y="1295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067175" y="2705100"/>
              <a:ext cx="1047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  <p:sp>
          <p:nvSpPr>
            <p:cNvPr id="38" name="Line 38"/>
            <p:cNvSpPr/>
            <p:nvPr/>
          </p:nvSpPr>
          <p:spPr>
            <a:xfrm>
              <a:off x="4067175" y="3352800"/>
              <a:ext cx="1047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  <p:sp>
          <p:nvSpPr>
            <p:cNvPr id="39" name="Line 39"/>
            <p:cNvSpPr/>
            <p:nvPr/>
          </p:nvSpPr>
          <p:spPr>
            <a:xfrm>
              <a:off x="4067175" y="4000500"/>
              <a:ext cx="1047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  <p:sp>
          <p:nvSpPr>
            <p:cNvPr id="40" name="Freeform 40"/>
            <p:cNvSpPr/>
            <p:nvPr/>
          </p:nvSpPr>
          <p:spPr>
            <a:xfrm>
              <a:off x="5734050" y="2705100"/>
              <a:ext cx="142875" cy="1295400"/>
            </a:xfrm>
            <a:custGeom>
              <a:avLst/>
              <a:gdLst/>
              <a:ahLst/>
              <a:cxnLst/>
              <a:rect l="l" t="t" r="r" b="b"/>
              <a:pathLst>
                <a:path w="142875" h="1295400">
                  <a:moveTo>
                    <a:pt x="0" y="0"/>
                  </a:moveTo>
                  <a:lnTo>
                    <a:pt x="142875" y="0"/>
                  </a:lnTo>
                  <a:moveTo>
                    <a:pt x="0" y="647700"/>
                  </a:moveTo>
                  <a:lnTo>
                    <a:pt x="142875" y="647700"/>
                  </a:lnTo>
                  <a:moveTo>
                    <a:pt x="0" y="1295400"/>
                  </a:moveTo>
                  <a:lnTo>
                    <a:pt x="142875" y="1295400"/>
                  </a:lnTo>
                  <a:moveTo>
                    <a:pt x="142875" y="0"/>
                  </a:moveTo>
                  <a:lnTo>
                    <a:pt x="142875" y="1295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5876925" y="3352800"/>
              <a:ext cx="1047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  <p:sp>
          <p:nvSpPr>
            <p:cNvPr id="42" name="Freeform 42"/>
            <p:cNvSpPr/>
            <p:nvPr/>
          </p:nvSpPr>
          <p:spPr>
            <a:xfrm>
              <a:off x="3209925" y="3562350"/>
              <a:ext cx="3476625" cy="990600"/>
            </a:xfrm>
            <a:custGeom>
              <a:avLst/>
              <a:gdLst/>
              <a:ahLst/>
              <a:cxnLst/>
              <a:rect l="l" t="t" r="r" b="b"/>
              <a:pathLst>
                <a:path w="3476625" h="990600">
                  <a:moveTo>
                    <a:pt x="3476625" y="0"/>
                  </a:moveTo>
                  <a:lnTo>
                    <a:pt x="3476625" y="990600"/>
                  </a:lnTo>
                  <a:lnTo>
                    <a:pt x="0" y="990600"/>
                  </a:lnTo>
                  <a:lnTo>
                    <a:pt x="0" y="381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242615" y="4594860"/>
              <a:ext cx="3420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审稿 issue 沿原路返工（稿件、图、想法方案）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80160" y="4918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发现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42285" y="4918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写作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81322" y="4918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生产（并行）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18910" y="4918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质量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85800" y="52006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9704" y="5337810"/>
              <a:ext cx="628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4 个自研 MCP 服务：② 文献检索 · ④ 引用核对 · ⑥⑦ 绘图 · ⑧ 前驱体预测（RECIPE）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734300" y="1962150"/>
            <a:ext cx="3520187" cy="1428750"/>
            <a:chOff x="7734300" y="1962150"/>
            <a:chExt cx="3520187" cy="1428750"/>
          </a:xfrm>
        </p:grpSpPr>
        <p:sp>
          <p:nvSpPr>
            <p:cNvPr id="51" name="Rectangle 51"/>
            <p:cNvSpPr/>
            <p:nvPr/>
          </p:nvSpPr>
          <p:spPr>
            <a:xfrm>
              <a:off x="7734300" y="1962150"/>
              <a:ext cx="57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996238" y="2033588"/>
              <a:ext cx="200025" cy="200025"/>
              <a:chOff x="7996238" y="2033588"/>
              <a:chExt cx="200025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074025" y="20335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0"/>
                    </a:lnTo>
                    <a:lnTo>
                      <a:pt x="44450" y="44450"/>
                    </a:lnTo>
                    <a:lnTo>
                      <a:pt x="0" y="444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996238" y="21891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0"/>
                    </a:lnTo>
                    <a:lnTo>
                      <a:pt x="44450" y="44450"/>
                    </a:lnTo>
                    <a:lnTo>
                      <a:pt x="0" y="444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51813" y="21891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0"/>
                    </a:lnTo>
                    <a:lnTo>
                      <a:pt x="44450" y="44450"/>
                    </a:lnTo>
                    <a:lnTo>
                      <a:pt x="0" y="444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40688" y="2144713"/>
                <a:ext cx="1111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4450">
                    <a:moveTo>
                      <a:pt x="0" y="44450"/>
                    </a:moveTo>
                    <a:lnTo>
                      <a:pt x="55563" y="0"/>
                    </a:lnTo>
                    <a:lnTo>
                      <a:pt x="111125" y="444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096250" y="2078038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315706" y="2015490"/>
              <a:ext cx="2938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认知层 · 9 个 Agent 角色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56042" y="2368868"/>
              <a:ext cx="3245548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① 编排 ② 文献检索 ③ 写作风格学习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④ 引用核对 ⑤ 分类与写作 ⑥ 学术插图绘制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⑦ 旧图可编辑化 ⑧ 想法与实验方案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⑨ 对抗审稿（全新上下文，先核对再批评）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734300" y="3543300"/>
            <a:ext cx="4215506" cy="1661351"/>
            <a:chOff x="7734300" y="3543300"/>
            <a:chExt cx="4215506" cy="1661351"/>
          </a:xfrm>
        </p:grpSpPr>
        <p:sp>
          <p:nvSpPr>
            <p:cNvPr id="61" name="Rectangle 61"/>
            <p:cNvSpPr/>
            <p:nvPr/>
          </p:nvSpPr>
          <p:spPr>
            <a:xfrm>
              <a:off x="7734300" y="3543300"/>
              <a:ext cx="57150" cy="1428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007350" y="3614738"/>
              <a:ext cx="177801" cy="200025"/>
              <a:chOff x="8007350" y="3614738"/>
              <a:chExt cx="177801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007350" y="36147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007350" y="36480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007350" y="37147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315706" y="3596640"/>
              <a:ext cx="3634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确定性层 · 4 个自研 MCP 服务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56042" y="3950018"/>
              <a:ext cx="3348419" cy="1254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文献检索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：arXiv、OpenAlex、Crossref、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Semantic Scholar 在线库 + 本地全文库</a:t>
              </a: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引用核对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：逐条比对题录与作者顺序</a:t>
              </a: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绘图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：一份图源同时出论文图与可编辑图</a:t>
              </a: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前驱体预测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：RECIPE 两阶段模型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734300" y="5295900"/>
            <a:ext cx="3835908" cy="1127951"/>
            <a:chOff x="7734300" y="5295900"/>
            <a:chExt cx="3835908" cy="1127951"/>
          </a:xfrm>
        </p:grpSpPr>
        <p:sp>
          <p:nvSpPr>
            <p:cNvPr id="69" name="Rectangle 69"/>
            <p:cNvSpPr/>
            <p:nvPr/>
          </p:nvSpPr>
          <p:spPr>
            <a:xfrm>
              <a:off x="7734300" y="5295900"/>
              <a:ext cx="57150" cy="1066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8007350" y="5367338"/>
              <a:ext cx="177801" cy="200025"/>
              <a:chOff x="8007350" y="5367338"/>
              <a:chExt cx="177801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007350" y="5367338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100013"/>
                    </a:moveTo>
                    <a:lnTo>
                      <a:pt x="0" y="66675"/>
                    </a:lnTo>
                    <a:cubicBezTo>
                      <a:pt x="0" y="48263"/>
                      <a:pt x="14926" y="33338"/>
                      <a:pt x="33338" y="33338"/>
                    </a:cubicBezTo>
                    <a:lnTo>
                      <a:pt x="177801" y="33338"/>
                    </a:lnTo>
                    <a:moveTo>
                      <a:pt x="144463" y="0"/>
                    </a:moveTo>
                    <a:lnTo>
                      <a:pt x="177801" y="33338"/>
                    </a:lnTo>
                    <a:lnTo>
                      <a:pt x="144463" y="666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007350" y="54673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177801" y="0"/>
                    </a:moveTo>
                    <a:lnTo>
                      <a:pt x="177801" y="33338"/>
                    </a:lnTo>
                    <a:cubicBezTo>
                      <a:pt x="177801" y="51749"/>
                      <a:pt x="162875" y="66675"/>
                      <a:pt x="144463" y="66675"/>
                    </a:cubicBezTo>
                    <a:lnTo>
                      <a:pt x="0" y="66675"/>
                    </a:lnTo>
                    <a:moveTo>
                      <a:pt x="33338" y="100013"/>
                    </a:moveTo>
                    <a:lnTo>
                      <a:pt x="0" y="66675"/>
                    </a:lnTo>
                    <a:lnTo>
                      <a:pt x="33338" y="333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8315706" y="5349240"/>
              <a:ext cx="28552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控制层 · 流程与质量把关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56042" y="5702618"/>
              <a:ext cx="3614166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每个阶段有明确完成标准：文献覆盖、引用全部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核对、图文齐全、审稿通过；由程序检查，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不由模型自己宣布完成；写稿与审稿分离。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047781" y="64808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1202116" cy="586740"/>
            <a:chOff x="670560" y="590550"/>
            <a:chExt cx="11202116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1202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Agent 通过产物文件与共享进度记录交接，每一步都可审计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11524050" cy="381381"/>
            <a:chOff x="675894" y="1370648"/>
            <a:chExt cx="11524050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115240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产物在 Agent 之间逐级流转：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写作·图纸与想法方案并行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，审稿覆盖三者并把 issue 沿原路返工。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9704" y="2004060"/>
            <a:ext cx="10826496" cy="1777365"/>
            <a:chOff x="679704" y="2004060"/>
            <a:chExt cx="10826496" cy="1777365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2004060"/>
              <a:ext cx="461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9704" y="2194560"/>
              <a:ext cx="1206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Codex 执行 skill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704" y="3099435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MCP 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3528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交接产物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771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905000" y="1905000"/>
            <a:ext cx="1866900" cy="1857756"/>
            <a:chOff x="1905000" y="1905000"/>
            <a:chExt cx="1866900" cy="1857756"/>
          </a:xfrm>
        </p:grpSpPr>
        <p:sp>
          <p:nvSpPr>
            <p:cNvPr id="13" name="Rectangle 13"/>
            <p:cNvSpPr/>
            <p:nvPr/>
          </p:nvSpPr>
          <p:spPr>
            <a:xfrm>
              <a:off x="1905000" y="1905000"/>
              <a:ext cx="161925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21531" y="201644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编排器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75434" y="223266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Segoe UI"/>
                  <a:cs typeface="Segoe UI"/>
                </a:rPr>
                <a:t>orchestrator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905000" y="2971800"/>
              <a:ext cx="16192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50237" y="309943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读进度 · 分派任务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51247" y="3528060"/>
              <a:ext cx="1326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主题 → scope.md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543300" y="2190750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3810000" y="1905000"/>
            <a:ext cx="1866900" cy="1857756"/>
            <a:chOff x="3810000" y="1905000"/>
            <a:chExt cx="1866900" cy="1857756"/>
          </a:xfrm>
        </p:grpSpPr>
        <p:sp>
          <p:nvSpPr>
            <p:cNvPr id="21" name="Rectangle 21"/>
            <p:cNvSpPr/>
            <p:nvPr/>
          </p:nvSpPr>
          <p:spPr>
            <a:xfrm>
              <a:off x="3810000" y="1905000"/>
              <a:ext cx="1619250" cy="5715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31119" y="2016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文献检索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09669" y="22326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lit-search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10000" y="2971800"/>
              <a:ext cx="16192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55237" y="309943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五源检索 · 本地库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96184" y="3528060"/>
              <a:ext cx="1046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papers.jsonl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448300" y="2190750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0" y="1905000"/>
            <a:ext cx="1866900" cy="1857756"/>
            <a:chOff x="5715000" y="1905000"/>
            <a:chExt cx="1866900" cy="1857756"/>
          </a:xfrm>
        </p:grpSpPr>
        <p:sp>
          <p:nvSpPr>
            <p:cNvPr id="29" name="Rectangle 29"/>
            <p:cNvSpPr/>
            <p:nvPr/>
          </p:nvSpPr>
          <p:spPr>
            <a:xfrm>
              <a:off x="5715000" y="1905000"/>
              <a:ext cx="1619250" cy="5715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36119" y="2016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引用核验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18708" y="22326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ref-guard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0" y="2971800"/>
              <a:ext cx="16192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53125" y="30994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题录与作者比对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46057" y="3528060"/>
              <a:ext cx="1157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bib 51/51 通过</a:t>
              </a:r>
            </a:p>
          </p:txBody>
        </p:sp>
        <p:sp>
          <p:nvSpPr>
            <p:cNvPr id="35" name="Line 35"/>
            <p:cNvSpPr/>
            <p:nvPr/>
          </p:nvSpPr>
          <p:spPr>
            <a:xfrm flipV="1">
              <a:off x="7353300" y="2076450"/>
              <a:ext cx="228600" cy="1143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  <p:sp>
          <p:nvSpPr>
            <p:cNvPr id="36" name="Line 36"/>
            <p:cNvSpPr/>
            <p:nvPr/>
          </p:nvSpPr>
          <p:spPr>
            <a:xfrm>
              <a:off x="7353300" y="2190750"/>
              <a:ext cx="228600" cy="3619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620000" y="1866900"/>
            <a:ext cx="1866900" cy="467106"/>
            <a:chOff x="7620000" y="1866900"/>
            <a:chExt cx="1866900" cy="467106"/>
          </a:xfrm>
        </p:grpSpPr>
        <p:sp>
          <p:nvSpPr>
            <p:cNvPr id="38" name="Rectangle 38"/>
            <p:cNvSpPr/>
            <p:nvPr/>
          </p:nvSpPr>
          <p:spPr>
            <a:xfrm>
              <a:off x="7620000" y="1866900"/>
              <a:ext cx="161925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31396" y="189261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写作 · 图纸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21778" y="209931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writer · figure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9258300" y="2076450"/>
              <a:ext cx="228600" cy="1143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7579664" y="2190750"/>
            <a:ext cx="1907236" cy="1572006"/>
            <a:chOff x="7579664" y="2190750"/>
            <a:chExt cx="1907236" cy="1572006"/>
          </a:xfrm>
        </p:grpSpPr>
        <p:sp>
          <p:nvSpPr>
            <p:cNvPr id="43" name="Rectangle 43"/>
            <p:cNvSpPr/>
            <p:nvPr/>
          </p:nvSpPr>
          <p:spPr>
            <a:xfrm>
              <a:off x="7620000" y="2343150"/>
              <a:ext cx="1619250" cy="419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1119" y="2368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想法生成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99476" y="25755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idea-forge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0" y="2971800"/>
              <a:ext cx="161925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38336" y="3023235"/>
              <a:ext cx="1182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figspec 双渲染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75275" y="3204210"/>
              <a:ext cx="1508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RECIPE 前驱体预测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79664" y="3528060"/>
              <a:ext cx="1699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tex · 图源 · 候选路线</a:t>
              </a:r>
            </a:p>
          </p:txBody>
        </p:sp>
        <p:sp>
          <p:nvSpPr>
            <p:cNvPr id="50" name="Line 50"/>
            <p:cNvSpPr/>
            <p:nvPr/>
          </p:nvSpPr>
          <p:spPr>
            <a:xfrm flipV="1">
              <a:off x="9258300" y="2190750"/>
              <a:ext cx="228600" cy="3619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9525000" y="1905000"/>
            <a:ext cx="1619250" cy="1857756"/>
            <a:chOff x="9525000" y="1905000"/>
            <a:chExt cx="1619250" cy="1857756"/>
          </a:xfrm>
        </p:grpSpPr>
        <p:sp>
          <p:nvSpPr>
            <p:cNvPr id="52" name="Rectangle 52"/>
            <p:cNvSpPr/>
            <p:nvPr/>
          </p:nvSpPr>
          <p:spPr>
            <a:xfrm>
              <a:off x="9525000" y="1905000"/>
              <a:ext cx="1619250" cy="5715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946119" y="2016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对抗审稿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77171" y="223266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reviewer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525000" y="2971800"/>
              <a:ext cx="16192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589465" y="3099435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全新上下文 · 三视角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79728" y="3528060"/>
              <a:ext cx="1309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issue · 审稿记录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429625" y="2495550"/>
            <a:ext cx="1905000" cy="381000"/>
            <a:chOff x="8429625" y="2495550"/>
            <a:chExt cx="1905000" cy="381000"/>
          </a:xfrm>
        </p:grpSpPr>
        <p:sp>
          <p:nvSpPr>
            <p:cNvPr id="59" name="Freeform 59"/>
            <p:cNvSpPr/>
            <p:nvPr/>
          </p:nvSpPr>
          <p:spPr>
            <a:xfrm>
              <a:off x="8429625" y="249555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1905000" y="381000"/>
                  </a:lnTo>
                  <a:lnTo>
                    <a:pt x="0" y="381000"/>
                  </a:lnTo>
                  <a:lnTo>
                    <a:pt x="0" y="304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266666"/>
              </a:custDash>
              <a:tailEnd type="triangle" w="med" len="med"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685800" y="3905250"/>
            <a:ext cx="10820400" cy="419100"/>
            <a:chOff x="685800" y="3905250"/>
            <a:chExt cx="10820400" cy="419100"/>
          </a:xfrm>
        </p:grpSpPr>
        <p:sp>
          <p:nvSpPr>
            <p:cNvPr id="61" name="Rectangle 61"/>
            <p:cNvSpPr/>
            <p:nvPr/>
          </p:nvSpPr>
          <p:spPr>
            <a:xfrm>
              <a:off x="685800" y="3905250"/>
              <a:ext cx="108204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1342" y="40262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共享进度记录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356104" y="4042410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记录每一步是否通过、待返工问题与产物版本；上游一变，下游自动重查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9467850" y="40576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9696450" y="40576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9925050" y="40576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153650" y="40576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0382250" y="40576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0610850" y="40576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0839450" y="40576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1068050" y="40576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1296650" y="40576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685800" y="4533900"/>
            <a:ext cx="3733800" cy="848106"/>
            <a:chOff x="685800" y="4533900"/>
            <a:chExt cx="3733800" cy="848106"/>
          </a:xfrm>
        </p:grpSpPr>
        <p:sp>
          <p:nvSpPr>
            <p:cNvPr id="74" name="Rectangle 74"/>
            <p:cNvSpPr/>
            <p:nvPr/>
          </p:nvSpPr>
          <p:spPr>
            <a:xfrm>
              <a:off x="685800" y="4533900"/>
              <a:ext cx="3238500" cy="81915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85800" y="4533900"/>
              <a:ext cx="32385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69442" y="4692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本轮输出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70204" y="4956810"/>
              <a:ext cx="2463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综述 PDF · claim_evidence.jsonl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70204" y="5147310"/>
              <a:ext cx="29926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候选路线 + 前驱体 + 表征方案 + 失败判据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3943350" y="4943475"/>
              <a:ext cx="4762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4457700" y="4533900"/>
            <a:ext cx="3733800" cy="848106"/>
            <a:chOff x="4457700" y="4533900"/>
            <a:chExt cx="3733800" cy="848106"/>
          </a:xfrm>
        </p:grpSpPr>
        <p:sp>
          <p:nvSpPr>
            <p:cNvPr id="81" name="Rectangle 81"/>
            <p:cNvSpPr/>
            <p:nvPr/>
          </p:nvSpPr>
          <p:spPr>
            <a:xfrm>
              <a:off x="4457700" y="4533900"/>
              <a:ext cx="3238500" cy="81915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6"/>
              </a:custDash>
            </a:ln>
          </p:spPr>
        </p:sp>
        <p:sp>
          <p:nvSpPr>
            <p:cNvPr id="82" name="Rectangle 82"/>
            <p:cNvSpPr/>
            <p:nvPr/>
          </p:nvSpPr>
          <p:spPr>
            <a:xfrm>
              <a:off x="4457700" y="4533900"/>
              <a:ext cx="3238500" cy="47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641342" y="46929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自动化实验室（下一环）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642104" y="4956810"/>
              <a:ext cx="2845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按方案合成 · PXRD / 单晶 / EDS 表征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642104" y="51473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结构化结果与失败判据同格式记录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7715250" y="4943475"/>
              <a:ext cx="4762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95" name="Group 95"/>
          <p:cNvGrpSpPr/>
          <p:nvPr/>
        </p:nvGrpSpPr>
        <p:grpSpPr>
          <a:xfrm>
            <a:off x="533400" y="1790700"/>
            <a:ext cx="10972800" cy="4029456"/>
            <a:chOff x="533400" y="1790700"/>
            <a:chExt cx="10972800" cy="4029456"/>
          </a:xfrm>
        </p:grpSpPr>
        <p:sp>
          <p:nvSpPr>
            <p:cNvPr id="88" name="Rectangle 88"/>
            <p:cNvSpPr/>
            <p:nvPr/>
          </p:nvSpPr>
          <p:spPr>
            <a:xfrm>
              <a:off x="8229600" y="4533900"/>
              <a:ext cx="3276600" cy="81915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6"/>
              </a:custDash>
            </a:ln>
          </p:spPr>
        </p:sp>
        <p:sp>
          <p:nvSpPr>
            <p:cNvPr id="89" name="Rectangle 89"/>
            <p:cNvSpPr/>
            <p:nvPr/>
          </p:nvSpPr>
          <p:spPr>
            <a:xfrm>
              <a:off x="8229600" y="4533900"/>
              <a:ext cx="3276600" cy="47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413242" y="46929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结果回写为证据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414004" y="49568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实验记录进入证据库与共享进度记录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414004" y="51473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触发新一轮检索、假设与路线更新</a:t>
              </a:r>
            </a:p>
          </p:txBody>
        </p:sp>
        <p:sp>
          <p:nvSpPr>
            <p:cNvPr id="93" name="Freeform 93"/>
            <p:cNvSpPr/>
            <p:nvPr/>
          </p:nvSpPr>
          <p:spPr>
            <a:xfrm>
              <a:off x="533400" y="1790700"/>
              <a:ext cx="9334500" cy="3733800"/>
            </a:xfrm>
            <a:custGeom>
              <a:avLst/>
              <a:gdLst/>
              <a:ahLst/>
              <a:cxnLst/>
              <a:rect l="l" t="t" r="r" b="b"/>
              <a:pathLst>
                <a:path w="9334500" h="3733800">
                  <a:moveTo>
                    <a:pt x="9334500" y="3581400"/>
                  </a:moveTo>
                  <a:lnTo>
                    <a:pt x="9334500" y="3733800"/>
                  </a:lnTo>
                  <a:lnTo>
                    <a:pt x="0" y="3733800"/>
                  </a:lnTo>
                  <a:lnTo>
                    <a:pt x="0" y="0"/>
                  </a:lnTo>
                  <a:lnTo>
                    <a:pt x="2181225" y="0"/>
                  </a:lnTo>
                  <a:lnTo>
                    <a:pt x="2181225" y="762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  <a:custDash>
                <a:ds d="400000" sp="266666"/>
              </a:custDash>
              <a:tailEnd type="triangle" w="med" len="med"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4070604" y="55854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闭环：新证据回到编排器，开启下一轮检索、核验与假设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85800" y="5848350"/>
            <a:ext cx="9449524" cy="575501"/>
            <a:chOff x="685800" y="5848350"/>
            <a:chExt cx="9449524" cy="575501"/>
          </a:xfrm>
        </p:grpSpPr>
        <p:sp>
          <p:nvSpPr>
            <p:cNvPr id="96" name="Rectangle 96"/>
            <p:cNvSpPr/>
            <p:nvPr/>
          </p:nvSpPr>
          <p:spPr>
            <a:xfrm>
              <a:off x="685800" y="5848350"/>
              <a:ext cx="57150" cy="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07542" y="5893118"/>
              <a:ext cx="7219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解决的科学问题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文献能限定什么、哪些近邻条件可迁移、下一步做什么实验最有发现价值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07542" y="6159818"/>
              <a:ext cx="9227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对闭环探索的关键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每条建议都带证据、可执行、可回写；需要人确认的节点与程序质量检查保证可信而不失自动化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100" name="TextBox 100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047781" y="64808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85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35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2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5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7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8" grpId="0"/>
      <p:bldP spid="37" grpId="0"/>
      <p:bldP spid="42" grpId="0"/>
      <p:bldP spid="51" grpId="0"/>
      <p:bldP spid="58" grpId="0"/>
      <p:bldP spid="60" grpId="0"/>
      <p:bldP spid="73" grpId="0"/>
      <p:bldP spid="80" grpId="0"/>
      <p:bldP spid="87" grpId="0"/>
      <p:bldP spid="95" grpId="0"/>
      <p:bldP spid="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8087487" cy="586740"/>
            <a:chOff x="670560" y="590550"/>
            <a:chExt cx="8087487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80874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九道质量关卡由程序检查，写稿与审稿分离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8217027" cy="743331"/>
            <a:chOff x="675894" y="1370648"/>
            <a:chExt cx="8217027" cy="7433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8217027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“做完了”不由模型自己宣布：九道关卡全部通过、没有未关闭的严重问题、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终审有审稿记录，程序才放行交付。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5800" y="2286000"/>
            <a:ext cx="10826496" cy="1200531"/>
            <a:chOff x="685800" y="2286000"/>
            <a:chExt cx="10826496" cy="1200531"/>
          </a:xfrm>
        </p:grpSpPr>
        <p:sp>
          <p:nvSpPr>
            <p:cNvPr id="7" name="Line 7"/>
            <p:cNvSpPr/>
            <p:nvPr/>
          </p:nvSpPr>
          <p:spPr>
            <a:xfrm>
              <a:off x="1200150" y="2590800"/>
              <a:ext cx="9791700" cy="9525"/>
            </a:xfrm>
            <a:custGeom>
              <a:avLst/>
              <a:gdLst/>
              <a:ahLst/>
              <a:cxnLst/>
              <a:rect l="l" t="t" r="r" b="b"/>
              <a:pathLst>
                <a:path w="9791700" h="9525">
                  <a:moveTo>
                    <a:pt x="0" y="0"/>
                  </a:moveTo>
                  <a:lnTo>
                    <a:pt x="97917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286000"/>
              <a:ext cx="1028700" cy="609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2286000"/>
              <a:ext cx="10287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2521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范围确认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909762" y="2286000"/>
              <a:ext cx="1028700" cy="609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909762" y="2286000"/>
              <a:ext cx="10287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53780" y="2521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文献覆盖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33725" y="2286000"/>
              <a:ext cx="1028700" cy="609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133725" y="2286000"/>
              <a:ext cx="10287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68611" y="2521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风格库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57688" y="2286000"/>
              <a:ext cx="1028700" cy="609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57688" y="2286000"/>
              <a:ext cx="10287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10837" y="25212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引用完整性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81650" y="2286000"/>
              <a:ext cx="1028700" cy="609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81650" y="2286000"/>
              <a:ext cx="10287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16536" y="2521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分类法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05612" y="2286000"/>
              <a:ext cx="1028700" cy="609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05612" y="2286000"/>
              <a:ext cx="10287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31367" y="2521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图纸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29575" y="2286000"/>
              <a:ext cx="1028700" cy="609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29575" y="2286000"/>
              <a:ext cx="10287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55330" y="2521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稿件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53538" y="2286000"/>
              <a:ext cx="1028700" cy="6096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253538" y="2286000"/>
              <a:ext cx="10287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7556" y="2521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想法审稿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477500" y="2286000"/>
              <a:ext cx="1028700" cy="609600"/>
            </a:xfrm>
            <a:prstGeom prst="rect">
              <a:avLst/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94168" y="25212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终审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3854" y="29565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① 编排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26272" y="29565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② 文献检索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50235" y="29565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③ 风格学习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74197" y="29565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④ 引用核对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59704" y="29565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⑤ 写作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9242" y="295656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⑥⑦ 绘图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7629" y="29565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⑤ 写作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08503" y="29565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⑧ 想法 · ⑨ 审稿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94010" y="29565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⑨ 对抗审稿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5800" y="3295650"/>
              <a:ext cx="1333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9254" y="32518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通过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209800" y="3295650"/>
              <a:ext cx="1333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13254" y="325183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有备注的降级（文献规模档、写作风格样本数、想法为诊断级）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58604" y="3251835"/>
              <a:ext cx="4153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节点下方：负责该关卡的 Agent 编号（对应系统能力页）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5800" y="3543300"/>
            <a:ext cx="5295900" cy="2571750"/>
            <a:chOff x="685800" y="3543300"/>
            <a:chExt cx="5295900" cy="2571750"/>
          </a:xfrm>
        </p:grpSpPr>
        <p:sp>
          <p:nvSpPr>
            <p:cNvPr id="49" name="Rectangle 49"/>
            <p:cNvSpPr/>
            <p:nvPr/>
          </p:nvSpPr>
          <p:spPr>
            <a:xfrm>
              <a:off x="685800" y="3543300"/>
              <a:ext cx="5295900" cy="2571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947738" y="3767138"/>
              <a:ext cx="200026" cy="200025"/>
              <a:chOff x="947738" y="376713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969963" y="37671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47738" y="39004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92201" y="37685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14426" y="39021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267206" y="3749040"/>
              <a:ext cx="4636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需要人确认的节点（正式运行出现 4 次）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7542" y="4197668"/>
              <a:ext cx="4977194" cy="1235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① 范围草案由人确认（裸主题且范围无实质歧义）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② 5 条作者名不匹配三轮未收敛，交人决定后删除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③ 贡献结构由人确认：身份谱系、路线—变量—验证矩阵、迁移边界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④ 终审由人确认：没有严重问题，且有审稿记录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210300" y="3543300"/>
            <a:ext cx="5295900" cy="2632901"/>
            <a:chOff x="6210300" y="3543300"/>
            <a:chExt cx="5295900" cy="2632901"/>
          </a:xfrm>
        </p:grpSpPr>
        <p:sp>
          <p:nvSpPr>
            <p:cNvPr id="58" name="Rectangle 58"/>
            <p:cNvSpPr/>
            <p:nvPr/>
          </p:nvSpPr>
          <p:spPr>
            <a:xfrm>
              <a:off x="6210300" y="3543300"/>
              <a:ext cx="5295900" cy="2571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7241" y="3767138"/>
              <a:ext cx="217008" cy="200025"/>
              <a:chOff x="6457241" y="3767138"/>
              <a:chExt cx="217008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7241" y="376713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605588" y="39227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1706" y="37490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对抗审稿：审与做永远分离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32042" y="4197668"/>
              <a:ext cx="4214241" cy="1978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全新上下文的独立 reviewer；先核对引用是否真实，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再提出批评</a:t>
              </a:r>
            </a:p>
            <a:p>
              <a:pPr algn="l" marL="145732" indent="-145732">
                <a:lnSpc>
                  <a:spcPts val="1950"/>
                </a:lnSpc>
                <a:spcBef>
                  <a:spcPts val="6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三视角裁决：领域专家 / 方法严谨派 / 期刊编辑</a:t>
              </a:r>
            </a:p>
            <a:p>
              <a:pPr algn="l" marL="145732" indent="-145732">
                <a:lnSpc>
                  <a:spcPts val="1950"/>
                </a:lnSpc>
                <a:spcBef>
                  <a:spcPts val="6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结构化 issue 带 target 阶段，路由回属主返工，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上游变更后，下游自动重新检查</a:t>
              </a:r>
            </a:p>
            <a:p>
              <a:pPr algn="l" marL="145732" indent="-145732">
                <a:lnSpc>
                  <a:spcPts val="1950"/>
                </a:lnSpc>
                <a:spcBef>
                  <a:spcPts val="6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同一 issue 三轮未收敛升级人类；没有审稿记录的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“通过”不算通过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65" name="TextBox 65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47781" y="64808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2195200" cy="586740"/>
            <a:chOff x="670560" y="590550"/>
            <a:chExt cx="1219520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2195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合成方案建模：AI 预测前驱体，合成条件由近邻体系类比推理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11659362" cy="705231"/>
            <a:chOff x="675894" y="1370648"/>
            <a:chExt cx="11659362" cy="7052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11659362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前驱体交给 RECIPE：把无机逆合成重述为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变长前驱体集合的排序问题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（团队 NeurIPS 2026 投稿）；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温度、气氛、助熔剂不由模型臆造，而从结构近邻的实验记录中按证据等级类比，并标出不可迁移的边界。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9704" y="2038350"/>
            <a:ext cx="5533116" cy="3934206"/>
            <a:chOff x="679704" y="2038350"/>
            <a:chExt cx="5533116" cy="3934206"/>
          </a:xfrm>
        </p:grpSpPr>
        <p:sp>
          <p:nvSpPr>
            <p:cNvPr id="7" name="Rectangle 7"/>
            <p:cNvSpPr/>
            <p:nvPr/>
          </p:nvSpPr>
          <p:spPr>
            <a:xfrm>
              <a:off x="685800" y="2038350"/>
              <a:ext cx="5334000" cy="36385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88" y="2076450"/>
              <a:ext cx="5252624" cy="35623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79704" y="5737860"/>
              <a:ext cx="5533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RECIPE 两阶段架构（NeurIPS 2026 投稿图 1）：候选生成 → 候选集合重排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5981700"/>
            <a:ext cx="6168133" cy="457581"/>
            <a:chOff x="685800" y="5981700"/>
            <a:chExt cx="6168133" cy="457581"/>
          </a:xfrm>
        </p:grpSpPr>
        <p:sp>
          <p:nvSpPr>
            <p:cNvPr id="11" name="Rectangle 11"/>
            <p:cNvSpPr/>
            <p:nvPr/>
          </p:nvSpPr>
          <p:spPr>
            <a:xfrm>
              <a:off x="685800" y="5981700"/>
              <a:ext cx="5334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4004" y="6023610"/>
              <a:ext cx="60599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Retro 留出测试集 2,558 条（RECIPE / Retrieval-Retro，checkpoint 评测汇总）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004" y="6204585"/>
              <a:ext cx="5634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Combo@1 </a:t>
              </a:r>
              <a:r>
                <a:rPr lang="en-US" sz="1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71.81</a:t>
              </a:r>
              <a:r>
                <a:rPr lang="en-US" sz="120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 / 60.40 · Combo@20 </a:t>
              </a:r>
              <a:r>
                <a:rPr lang="en-US" sz="1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89.21</a:t>
              </a:r>
              <a:r>
                <a:rPr lang="en-US" sz="120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 / 69.00 · MRR </a:t>
              </a:r>
              <a:r>
                <a:rPr lang="en-US" sz="1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77.48</a:t>
              </a:r>
              <a:r>
                <a:rPr lang="en-US" sz="120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 / 63.29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2038350"/>
            <a:ext cx="5018913" cy="1619250"/>
            <a:chOff x="6324600" y="2038350"/>
            <a:chExt cx="5018913" cy="1619250"/>
          </a:xfrm>
        </p:grpSpPr>
        <p:sp>
          <p:nvSpPr>
            <p:cNvPr id="15" name="Rectangle 15"/>
            <p:cNvSpPr/>
            <p:nvPr/>
          </p:nvSpPr>
          <p:spPr>
            <a:xfrm>
              <a:off x="6324600" y="2038350"/>
              <a:ext cx="5715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4056" y="2091690"/>
              <a:ext cx="2518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① 前驱体：让 AI 预测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6342" y="2464118"/>
              <a:ext cx="4797171" cy="10831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Top-30 候选池 → 2–5 元集合枚举 → 学习到的集合重排 Top-K；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每条路线附分数与校验值，标注“模型候选、未经实验验证”</a:t>
              </a:r>
            </a:p>
            <a:p>
              <a:pPr algn="l">
                <a:lnSpc>
                  <a:spcPts val="1950"/>
                </a:lnSpc>
                <a:spcBef>
                  <a:spcPts val="600"/>
                </a:spcBef>
              </a:pP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Zn 目标 Top-1</a:t>
              </a:r>
              <a:r>
                <a:rPr lang="en-US" sz="135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 ZnO + Y2O3 + SiO2 + BaCO3 · </a:t>
              </a:r>
              <a:r>
                <a:rPr lang="en-US" sz="135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 xml:space="preserve">0.594 </a:t>
              </a: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Mg / Co 类比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MgO · Co3O4 分别为首选 Zn 位替代源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24600" y="3848100"/>
            <a:ext cx="5661850" cy="2514600"/>
            <a:chOff x="6324600" y="3848100"/>
            <a:chExt cx="5661850" cy="2514600"/>
          </a:xfrm>
        </p:grpSpPr>
        <p:sp>
          <p:nvSpPr>
            <p:cNvPr id="19" name="Rectangle 19"/>
            <p:cNvSpPr/>
            <p:nvPr/>
          </p:nvSpPr>
          <p:spPr>
            <a:xfrm>
              <a:off x="6324600" y="3848100"/>
              <a:ext cx="57150" cy="251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4056" y="3901440"/>
              <a:ext cx="3542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② 合成条件：近邻体系类比推理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6342" y="4273868"/>
              <a:ext cx="5440108" cy="17308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固相成相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1300 °C 预烧 → 1600 °C 烧成（Ba–Y–Si–O 陶瓷系列）</a:t>
              </a:r>
            </a:p>
            <a:p>
              <a:pPr algn="l">
                <a:lnSpc>
                  <a:spcPts val="1950"/>
                </a:lnSpc>
                <a:spcBef>
                  <a:spcPts val="150"/>
                </a:spcBef>
              </a:pP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助熔生长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MoO3 助熔 · Pt 坩埚 · 1150 °C · 2 K/h 慢冷（同谱系单晶）</a:t>
              </a:r>
            </a:p>
            <a:p>
              <a:pPr algn="l">
                <a:lnSpc>
                  <a:spcPts val="1950"/>
                </a:lnSpc>
                <a:spcBef>
                  <a:spcPts val="150"/>
                </a:spcBef>
              </a:pP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相场筛查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1273 K 预烧 + 1573 K 三次退火（粉体相场研究）</a:t>
              </a:r>
            </a:p>
            <a:p>
              <a:pPr algn="l">
                <a:lnSpc>
                  <a:spcPts val="1950"/>
                </a:lnSpc>
                <a:spcBef>
                  <a:spcPts val="750"/>
                </a:spcBef>
              </a:pPr>
              <a:r>
                <a:rPr lang="zh-CN" sz="13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边界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以上数值来自无 Zn 谱系，不得无条件迁移到含 Zn 目标，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因此第一步实验是目标组成附近的局部相图</a:t>
              </a:r>
            </a:p>
            <a:p>
              <a:pPr algn="l">
                <a:lnSpc>
                  <a:spcPts val="1950"/>
                </a:lnSpc>
                <a:spcBef>
                  <a:spcPts val="750"/>
                </a:spcBef>
              </a:pP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方案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= 前驱体 + 条件 + 表征（PXRD / 单晶 / EDS）+ 失败判据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47781" y="64808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1204277" cy="586740"/>
            <a:chOff x="670560" y="590550"/>
            <a:chExt cx="11204277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12042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纯主题冷启动：51 篇文献全部核验、100 条结论全部可追溯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9881235" cy="743331"/>
            <a:chOff x="675894" y="1370648"/>
            <a:chExt cx="9881235" cy="7433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9881235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唯一输入是一行主题“Ba5Y12Zn[O(SiO4)]8 及其结构相近化合物的合成条件”；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在需要人确认的节点续跑后交出 20 页综述，再按材料专家 8 条意见修订为 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23 页正式稿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2247900"/>
            <a:ext cx="2590800" cy="1085850"/>
            <a:chOff x="685800" y="2247900"/>
            <a:chExt cx="2590800" cy="1085850"/>
          </a:xfrm>
        </p:grpSpPr>
        <p:sp>
          <p:nvSpPr>
            <p:cNvPr id="7" name="Rectangle 7"/>
            <p:cNvSpPr/>
            <p:nvPr/>
          </p:nvSpPr>
          <p:spPr>
            <a:xfrm>
              <a:off x="6858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2404110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51 / 51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016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参考文献逐条核对通过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29000" y="2247900"/>
            <a:ext cx="2590800" cy="1085850"/>
            <a:chOff x="3429000" y="2247900"/>
            <a:chExt cx="2590800" cy="1085850"/>
          </a:xfrm>
        </p:grpSpPr>
        <p:sp>
          <p:nvSpPr>
            <p:cNvPr id="12" name="Rectangle 12"/>
            <p:cNvSpPr/>
            <p:nvPr/>
          </p:nvSpPr>
          <p:spPr>
            <a:xfrm>
              <a:off x="34290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00450" y="240411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219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2642" y="30165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次引用，整合率 100%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72200" y="2247900"/>
            <a:ext cx="2590800" cy="1085850"/>
            <a:chOff x="6172200" y="2247900"/>
            <a:chExt cx="2590800" cy="1085850"/>
          </a:xfrm>
        </p:grpSpPr>
        <p:sp>
          <p:nvSpPr>
            <p:cNvPr id="17" name="Rectangle 17"/>
            <p:cNvSpPr/>
            <p:nvPr/>
          </p:nvSpPr>
          <p:spPr>
            <a:xfrm>
              <a:off x="61722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3650" y="2404110"/>
              <a:ext cx="11363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3 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842" y="30165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figspec 同源可编辑图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15400" y="2247900"/>
            <a:ext cx="2590800" cy="1085850"/>
            <a:chOff x="8915400" y="2247900"/>
            <a:chExt cx="25908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89154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15400" y="2247900"/>
              <a:ext cx="25908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6850" y="24041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9042" y="30165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两轮对抗审稿的终审 issue 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3581400"/>
            <a:ext cx="4543425" cy="2552700"/>
            <a:chOff x="685800" y="3581400"/>
            <a:chExt cx="4543425" cy="2552700"/>
          </a:xfrm>
        </p:grpSpPr>
        <p:sp>
          <p:nvSpPr>
            <p:cNvPr id="27" name="Rectangle 27"/>
            <p:cNvSpPr/>
            <p:nvPr/>
          </p:nvSpPr>
          <p:spPr>
            <a:xfrm>
              <a:off x="685800" y="3581400"/>
              <a:ext cx="4543425" cy="2552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446" y="3581400"/>
              <a:ext cx="4538133" cy="2552700"/>
            </a:xfrm>
            <a:prstGeom prst="rect">
              <a:avLst/>
            </a:prstGeom>
          </p:spPr>
        </p:pic>
      </p:grpSp>
      <p:grpSp>
        <p:nvGrpSpPr>
          <p:cNvPr id="33" name="Group 33"/>
          <p:cNvGrpSpPr/>
          <p:nvPr/>
        </p:nvGrpSpPr>
        <p:grpSpPr>
          <a:xfrm>
            <a:off x="5591556" y="3653790"/>
            <a:ext cx="5305234" cy="2484311"/>
            <a:chOff x="5591556" y="3653790"/>
            <a:chExt cx="5305234" cy="2484311"/>
          </a:xfrm>
        </p:grpSpPr>
        <p:sp>
          <p:nvSpPr>
            <p:cNvPr id="30" name="TextBox 30"/>
            <p:cNvSpPr txBox="1"/>
            <p:nvPr/>
          </p:nvSpPr>
          <p:spPr>
            <a:xfrm>
              <a:off x="5591556" y="36537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运行事实（全部过程留痕）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93842" y="4064318"/>
              <a:ext cx="5302948" cy="1654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顶层编排器 5 次调用（首轮 + 4 次续跑），29 批 / 40 个子任务</a:t>
              </a:r>
            </a:p>
            <a:p>
              <a:pPr algn="l" marL="145732" indent="-145732">
                <a:lnSpc>
                  <a:spcPts val="195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63 条候选 → 51 篇入库；5 条作者名不匹配经人确认后删除</a:t>
              </a:r>
            </a:p>
            <a:p>
              <a:pPr algn="l" marL="145732" indent="-145732">
                <a:lnSpc>
                  <a:spcPts val="195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两轮对抗审稿：首轮 7 项 issue 路由返工，第二轮 0 / 0 / 0</a:t>
              </a:r>
            </a:p>
            <a:p>
              <a:pPr algn="l" marL="145732" indent="-145732">
                <a:lnSpc>
                  <a:spcPts val="195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正式报告调用前驱体预测 3 次（Zn / Mg / Co 目标）</a:t>
              </a:r>
            </a:p>
            <a:p>
              <a:pPr algn="l" marL="145732" indent="-145732">
                <a:lnSpc>
                  <a:spcPts val="195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专家反馈修订：正规论文语言、同类体系单独成节、前人结论汇总、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方向落到工艺与前驱体、相图讨论、学术排版图、去除工程术语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93842" y="58740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左图：正式报告研究路线图（第三轮学术化重绘）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47781" y="64808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1479911" cy="586740"/>
            <a:chOff x="670560" y="590550"/>
            <a:chExt cx="11479911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1479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目标相只有一篇直接报道；组成坐标比单一温度更能解释成相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9640767" cy="381381"/>
            <a:chOff x="675894" y="1370648"/>
            <a:chExt cx="9640767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96407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系统给出的不是配方，而是文献证据限定的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可迁移范围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与四类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可检验的实验方向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6656" y="1920240"/>
            <a:ext cx="5361432" cy="3551111"/>
            <a:chOff x="676656" y="1920240"/>
            <a:chExt cx="5361432" cy="3551111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19202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既有文献能够确认什么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6656" y="23774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3742" y="2426018"/>
              <a:ext cx="50543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公开证据只能确认“开放体系高温溶液法 + 单晶 X 射线衍射鉴定”，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不足以给出经验证的目标相复现配方。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6656" y="30441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3092768"/>
              <a:ext cx="491718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无 Zn 谱系提供三类可比路线：MoO3 助熔（Pt 坩埚、1150 °C、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2 K/h）、x:26:16 固相陶瓷（1300 / 1600 °C）、5:13:8 粉体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相场筛查（1273 / 1573 K）；</a:t>
              </a: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具体数值不得无条件迁移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39585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4007168"/>
              <a:ext cx="347700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“获得单晶”不等于“建立批量相纯窗口”；</a:t>
              </a: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局部相图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是连接复现与科学发现的核心实验。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47625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8942" y="4959668"/>
              <a:ext cx="399135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合成条件表逐字段区分“原文可支持”与“不可支持”，</a:t>
              </a:r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36 条结论带原文页码定位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10300" y="1905000"/>
            <a:ext cx="5311750" cy="4233101"/>
            <a:chOff x="6210300" y="1905000"/>
            <a:chExt cx="5311750" cy="4233101"/>
          </a:xfrm>
        </p:grpSpPr>
        <p:sp>
          <p:nvSpPr>
            <p:cNvPr id="17" name="Rectangle 17"/>
            <p:cNvSpPr/>
            <p:nvPr/>
          </p:nvSpPr>
          <p:spPr>
            <a:xfrm>
              <a:off x="6210300" y="1905000"/>
              <a:ext cx="5295900" cy="422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29756" y="205359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四个值得探索的方向（各配工艺与前驱体）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9756" y="2491740"/>
              <a:ext cx="2896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①</a:t>
              </a:r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目标组成附近的局部相图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74942" y="2807018"/>
              <a:ext cx="41062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固相成相组成系列 + 定量 PXRD / Rietveld 相分数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29756" y="3158490"/>
              <a:ext cx="2187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②</a:t>
              </a:r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Zn–Y–氧计量耦合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74942" y="3473768"/>
              <a:ext cx="4747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名义 / 实际化学计量对照，EDS / EPMA 与结构模型互证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9756" y="3825240"/>
              <a:ext cx="3381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③</a:t>
              </a:r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固相成相与高温溶液长晶并行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4942" y="41405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单晶确认结构模型，批量样品测定目标相比例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9756" y="4491990"/>
              <a:ext cx="3189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④</a:t>
              </a:r>
              <a:r>
                <a:rPr lang="zh-CN" sz="18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Mg / Co 类比与模型前驱体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942" y="4807268"/>
              <a:ext cx="3854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位点 / 价态探针；Co 需联测氧分压与烧后价态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438900" y="5219700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32042" y="5378768"/>
              <a:ext cx="460000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模型候选（待实验验证）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Zn：ZnO + Y2O3 + SiO2 + BaCO3 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Mg：MgO + Y2O3 + BaCO3 + SiO2 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Co：Co3O4 + Y2O3 + BaCO3 + SiO2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47781" y="648081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2800076" cy="586740"/>
            <a:chOff x="670560" y="590550"/>
            <a:chExt cx="12800076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28000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LLZO 主题端到端跑通：46 篇文献、10 页综述、路线与文献一致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9281922" cy="743331"/>
            <a:chOff x="675894" y="1370648"/>
            <a:chExt cx="9281922" cy="7433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9281922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初赛承诺的主题交出 46 篇文献、六个子主题覆盖与 10 页综述；模型首选前驱体路线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与文献一致，系统把每一步都留在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可追溯的质量回环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里。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2270760"/>
            <a:ext cx="3426104" cy="2952941"/>
            <a:chOff x="666750" y="2270760"/>
            <a:chExt cx="3426104" cy="2952941"/>
          </a:xfrm>
        </p:grpSpPr>
        <p:sp>
          <p:nvSpPr>
            <p:cNvPr id="7" name="TextBox 7"/>
            <p:cNvSpPr txBox="1"/>
            <p:nvPr/>
          </p:nvSpPr>
          <p:spPr>
            <a:xfrm>
              <a:off x="666750" y="227076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46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8942" y="28641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篇文献覆盖六个子主题，逐条核对通过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750" y="3318510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21 · 49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911918"/>
              <a:ext cx="3413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个 Agent 任务 · 次工具调用，全过程留痕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6750" y="436626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10 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4959668"/>
              <a:ext cx="2462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A4 综述 PDF，46 篇全部整合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5391150"/>
            <a:ext cx="4267200" cy="762000"/>
            <a:chOff x="685800" y="5391150"/>
            <a:chExt cx="4267200" cy="762000"/>
          </a:xfrm>
        </p:grpSpPr>
        <p:sp>
          <p:nvSpPr>
            <p:cNvPr id="14" name="Rectangle 14"/>
            <p:cNvSpPr/>
            <p:nvPr/>
          </p:nvSpPr>
          <p:spPr>
            <a:xfrm>
              <a:off x="685800" y="5391150"/>
              <a:ext cx="42672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5800" y="5391150"/>
              <a:ext cx="5715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7542" y="5531168"/>
              <a:ext cx="3971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首选路线</a:t>
              </a:r>
              <a:r>
                <a:rPr lang="en-US" sz="135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 ZrO2 + La2O3 + Li2CO3 </a:t>
              </a:r>
              <a:r>
                <a:rPr lang="zh-CN" sz="135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与文献一致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542" y="5816918"/>
              <a:ext cx="3557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质量把关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次选命名可疑，持续执行四步核对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95900" y="2247900"/>
            <a:ext cx="6210300" cy="3143250"/>
            <a:chOff x="5295900" y="2247900"/>
            <a:chExt cx="6210300" cy="3143250"/>
          </a:xfrm>
        </p:grpSpPr>
        <p:sp>
          <p:nvSpPr>
            <p:cNvPr id="19" name="Rectangle 19"/>
            <p:cNvSpPr/>
            <p:nvPr/>
          </p:nvSpPr>
          <p:spPr>
            <a:xfrm>
              <a:off x="5295900" y="2247900"/>
              <a:ext cx="62103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542841" y="2471738"/>
              <a:ext cx="217008" cy="200025"/>
              <a:chOff x="5542841" y="2471738"/>
              <a:chExt cx="217008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542841" y="247173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91188" y="26273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877306" y="245364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四步把关，让模型建议可审查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17642" y="2902268"/>
              <a:ext cx="4694301" cy="1407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模型首选前驱体路线 ZrO2 + La2O3 + Li2CO3 与文献一致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系统始终坚持：模型生成 → 化学式规范化 → 文献复核 → 审稿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次选命名可疑也不直接采信，四步把关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多源检索 + 逐条核对，模型与文献互证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每一步可追溯，建议不被直接采信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89042" y="5626418"/>
            <a:ext cx="5560124" cy="511683"/>
            <a:chOff x="5289042" y="5626418"/>
            <a:chExt cx="5560124" cy="511683"/>
          </a:xfrm>
        </p:grpSpPr>
        <p:sp>
          <p:nvSpPr>
            <p:cNvPr id="26" name="TextBox 26"/>
            <p:cNvSpPr txBox="1"/>
            <p:nvPr/>
          </p:nvSpPr>
          <p:spPr>
            <a:xfrm>
              <a:off x="5289042" y="5626418"/>
              <a:ext cx="55601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替代材料分析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Li6PS5Cl、Li3YCl6、LATP 的模型首选路线均通过文献复核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分别对应高电导冷压、高电压正极侧、低成本空气中操作三种场景。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0953845" cy="586740"/>
            <a:chOff x="670560" y="590550"/>
            <a:chExt cx="10953845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09538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Demo：一行主题发起，实时看九个角色如何把它变成综述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9430512" cy="686181"/>
            <a:chOff x="675894" y="1370648"/>
            <a:chExt cx="9430512" cy="68618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9430512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演示用自研「循证台」控制台：一行主题发起研究，实时看到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各角色在做什么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、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推进到哪个阶段、九项质量检查过了几项、审稿意见回到哪个角色返工；过程可回放。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9704" y="2114550"/>
            <a:ext cx="7368845" cy="4353306"/>
            <a:chOff x="679704" y="2114550"/>
            <a:chExt cx="7368845" cy="4353306"/>
          </a:xfrm>
        </p:grpSpPr>
        <p:sp>
          <p:nvSpPr>
            <p:cNvPr id="7" name="Rectangle 7"/>
            <p:cNvSpPr/>
            <p:nvPr/>
          </p:nvSpPr>
          <p:spPr>
            <a:xfrm>
              <a:off x="685800" y="2114550"/>
              <a:ext cx="7239000" cy="407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9300" y="2152650"/>
              <a:ext cx="7112000" cy="40005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85800" y="2114550"/>
              <a:ext cx="7239000" cy="40767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9704" y="6233160"/>
              <a:ext cx="73688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截图为正在运行的主题「LLZO 合成方法调研」：文献检索阶段，6 个角色并行，质量检查 1 / 9。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53400" y="2114550"/>
            <a:ext cx="3469234" cy="4095750"/>
            <a:chOff x="8153400" y="2114550"/>
            <a:chExt cx="3469234" cy="4095750"/>
          </a:xfrm>
        </p:grpSpPr>
        <p:sp>
          <p:nvSpPr>
            <p:cNvPr id="12" name="Rectangle 12"/>
            <p:cNvSpPr/>
            <p:nvPr/>
          </p:nvSpPr>
          <p:spPr>
            <a:xfrm>
              <a:off x="8153400" y="2114550"/>
              <a:ext cx="33528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153400" y="2114550"/>
              <a:ext cx="5715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5142" y="223551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① 发起研究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5904" y="24993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一行主题；可选私有全文库、交付语言、模型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53400" y="2952750"/>
              <a:ext cx="33528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153400" y="2952750"/>
              <a:ext cx="5715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75142" y="307371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② 角色实时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5904" y="33375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每个角色正在做的动作、最近产出与用时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153400" y="3790950"/>
              <a:ext cx="33528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3790950"/>
              <a:ext cx="5715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391191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③ 研究推进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5904" y="4175760"/>
              <a:ext cx="2984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11 个阶段、并行段、当前阶段与负责角色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53400" y="4629150"/>
              <a:ext cx="33528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53400" y="4629150"/>
              <a:ext cx="5715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5142" y="4750118"/>
              <a:ext cx="1511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④ 质量检查与审稿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5904" y="501396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9 项通过 / 待完成，意见带责任角色与返工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53400" y="5467350"/>
              <a:ext cx="33528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5467350"/>
              <a:ext cx="57150" cy="7429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5142" y="5588318"/>
              <a:ext cx="1130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⑤ 成果与回放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904" y="5852160"/>
              <a:ext cx="32467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综述 PDF、交付清单、可核验摘要，可回放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0560" y="590550"/>
            <a:ext cx="10901919" cy="586740"/>
            <a:chOff x="670560" y="590550"/>
            <a:chExt cx="10901919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670560" y="590550"/>
              <a:ext cx="1090191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相比通用文献综述 Agent 的四点不同，且全部开源可复现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5894" y="1370648"/>
            <a:ext cx="9851517" cy="724281"/>
            <a:chOff x="675894" y="1370648"/>
            <a:chExt cx="9851517" cy="72428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370648"/>
              <a:ext cx="9851517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通用 Deep Research 工具给出一段带引用的总结；SAGE-Mat 面向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合成实验方案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做特化，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并把「做完了」交给程序判定，每一步留痕、可回放、失败可迭代。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171700"/>
            <a:ext cx="5295900" cy="3429000"/>
            <a:chOff x="685800" y="2171700"/>
            <a:chExt cx="5295900" cy="3429000"/>
          </a:xfrm>
        </p:grpSpPr>
        <p:sp>
          <p:nvSpPr>
            <p:cNvPr id="7" name="Rectangle 7"/>
            <p:cNvSpPr/>
            <p:nvPr/>
          </p:nvSpPr>
          <p:spPr>
            <a:xfrm>
              <a:off x="685800" y="2171700"/>
              <a:ext cx="52959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32741" y="2414588"/>
              <a:ext cx="217008" cy="200025"/>
              <a:chOff x="932741" y="2414588"/>
              <a:chExt cx="217008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32741" y="24145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81088" y="25701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267206" y="2396490"/>
              <a:ext cx="3542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1 引用零信任，而非生成式引用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807018"/>
              <a:ext cx="466001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只引用检索到且逐条核对过的文献（存在·题录·作者顺序）；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查无此文直接删除并换证据。正式案例 51 / 51 通过。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3962400"/>
              <a:ext cx="52959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53294" y="4221956"/>
              <a:ext cx="183357" cy="161132"/>
              <a:chOff x="953294" y="4221956"/>
              <a:chExt cx="183357" cy="16113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953294" y="4221956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53294" y="4288632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53294" y="4355307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36638" y="4238625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36638" y="4305300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6638" y="4371976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67206" y="4187190"/>
              <a:ext cx="37966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3 完成由程序判定，而非模型自报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542" y="4597718"/>
              <a:ext cx="42999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九项质量检查、写稿与审稿分离、审稿意见按角色返工；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失败与返工都记入共享进度记录，成为下一轮的证据。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" y="2171700"/>
            <a:ext cx="10820400" cy="4175951"/>
            <a:chOff x="685800" y="2171700"/>
            <a:chExt cx="10820400" cy="4175951"/>
          </a:xfrm>
        </p:grpSpPr>
        <p:sp>
          <p:nvSpPr>
            <p:cNvPr id="24" name="Rectangle 24"/>
            <p:cNvSpPr/>
            <p:nvPr/>
          </p:nvSpPr>
          <p:spPr>
            <a:xfrm>
              <a:off x="6210300" y="2171700"/>
              <a:ext cx="52959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72238" y="2406659"/>
              <a:ext cx="209550" cy="217479"/>
              <a:chOff x="6472238" y="2406659"/>
              <a:chExt cx="209550" cy="21747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38913" y="24812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72250" y="2614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472238" y="24812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72263" y="24812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472238" y="2525713"/>
                <a:ext cx="55563" cy="78899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78899">
                    <a:moveTo>
                      <a:pt x="55563" y="78899"/>
                    </a:moveTo>
                    <a:cubicBezTo>
                      <a:pt x="24740" y="63865"/>
                      <a:pt x="3769" y="34086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16701" y="2525713"/>
                <a:ext cx="55563" cy="78899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78899">
                    <a:moveTo>
                      <a:pt x="0" y="78899"/>
                    </a:moveTo>
                    <a:cubicBezTo>
                      <a:pt x="30823" y="63865"/>
                      <a:pt x="51794" y="34086"/>
                      <a:pt x="55563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07798" y="2406659"/>
                <a:ext cx="126683" cy="30153"/>
              </a:xfrm>
              <a:custGeom>
                <a:avLst/>
                <a:gdLst/>
                <a:ahLst/>
                <a:cxnLst/>
                <a:rect l="l" t="t" r="r" b="b"/>
                <a:pathLst>
                  <a:path w="126683" h="30153">
                    <a:moveTo>
                      <a:pt x="0" y="30153"/>
                    </a:moveTo>
                    <a:cubicBezTo>
                      <a:pt x="36845" y="0"/>
                      <a:pt x="89838" y="0"/>
                      <a:pt x="126683" y="30153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91706" y="2396490"/>
              <a:ext cx="32877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2 前驱体由训练好的模型预测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2042" y="2807018"/>
              <a:ext cx="484003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接入两阶段前驱体预测模型 RECIPE（NeurIPS 2026 投稿）；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温度 / 气氛从近邻体系按证据等级类比，并标出不可迁移边界。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10300" y="3962400"/>
              <a:ext cx="52959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472238" y="4203065"/>
              <a:ext cx="188913" cy="202248"/>
            </a:xfrm>
            <a:custGeom>
              <a:avLst/>
              <a:gdLst/>
              <a:ahLst/>
              <a:cxnLst/>
              <a:rect l="l" t="t" r="r" b="b"/>
              <a:pathLst>
                <a:path w="188913" h="202248">
                  <a:moveTo>
                    <a:pt x="66675" y="180023"/>
                  </a:moveTo>
                  <a:cubicBezTo>
                    <a:pt x="18891" y="195581"/>
                    <a:pt x="18891" y="152242"/>
                    <a:pt x="0" y="146685"/>
                  </a:cubicBezTo>
                  <a:moveTo>
                    <a:pt x="133350" y="202248"/>
                  </a:moveTo>
                  <a:lnTo>
                    <a:pt x="133350" y="163354"/>
                  </a:lnTo>
                  <a:cubicBezTo>
                    <a:pt x="133350" y="152242"/>
                    <a:pt x="134462" y="147797"/>
                    <a:pt x="127794" y="141129"/>
                  </a:cubicBezTo>
                  <a:cubicBezTo>
                    <a:pt x="158909" y="137795"/>
                    <a:pt x="188913" y="125572"/>
                    <a:pt x="188913" y="74454"/>
                  </a:cubicBezTo>
                  <a:cubicBezTo>
                    <a:pt x="188900" y="61174"/>
                    <a:pt x="183718" y="48421"/>
                    <a:pt x="174467" y="38894"/>
                  </a:cubicBezTo>
                  <a:cubicBezTo>
                    <a:pt x="178806" y="27359"/>
                    <a:pt x="178406" y="14576"/>
                    <a:pt x="173355" y="3334"/>
                  </a:cubicBezTo>
                  <a:cubicBezTo>
                    <a:pt x="173355" y="3334"/>
                    <a:pt x="161132" y="0"/>
                    <a:pt x="134462" y="17780"/>
                  </a:cubicBezTo>
                  <a:cubicBezTo>
                    <a:pt x="111873" y="11897"/>
                    <a:pt x="88153" y="11897"/>
                    <a:pt x="65564" y="17780"/>
                  </a:cubicBezTo>
                  <a:cubicBezTo>
                    <a:pt x="38894" y="0"/>
                    <a:pt x="26670" y="3334"/>
                    <a:pt x="26670" y="3334"/>
                  </a:cubicBezTo>
                  <a:cubicBezTo>
                    <a:pt x="21619" y="14576"/>
                    <a:pt x="21220" y="27359"/>
                    <a:pt x="25559" y="38894"/>
                  </a:cubicBezTo>
                  <a:cubicBezTo>
                    <a:pt x="16307" y="48421"/>
                    <a:pt x="11126" y="61174"/>
                    <a:pt x="11113" y="74454"/>
                  </a:cubicBezTo>
                  <a:cubicBezTo>
                    <a:pt x="11113" y="125572"/>
                    <a:pt x="41116" y="137795"/>
                    <a:pt x="72231" y="141129"/>
                  </a:cubicBezTo>
                  <a:cubicBezTo>
                    <a:pt x="65564" y="147797"/>
                    <a:pt x="65564" y="154464"/>
                    <a:pt x="66675" y="163354"/>
                  </a:cubicBezTo>
                  <a:lnTo>
                    <a:pt x="66675" y="202248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1706" y="4187190"/>
              <a:ext cx="3033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4 全流程开源，可一键复现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2042" y="4597718"/>
              <a:ext cx="468572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Codex CLI 宿主 + 4 个自研 MCP 服务 + 控制台，MIT 开源；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一键安装、冒烟 1–2 分钟、同一主题重跑，关卡全过才算复现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85800" y="5753100"/>
              <a:ext cx="10820400" cy="571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97579" y="5935146"/>
              <a:ext cx="224134" cy="192560"/>
              <a:chOff x="897579" y="5935146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09650" y="60055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97579" y="59351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09650" y="60833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250442" y="5855018"/>
              <a:ext cx="8680513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边界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目标相仅 1 篇直接报道；大模型步骤不可逐字复现，以关卡全部通过为复现判据。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同一系统对三个新主题各冷启动一次（LLZO 16 页 · BaZn2Si2O7 4 页 · Ba–Y–Zn–Si–O 相图 35 页），随包提交。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0560" y="590550"/>
            <a:ext cx="11479911" cy="586740"/>
            <a:chOff x="670560" y="590550"/>
            <a:chExt cx="11479911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670560" y="590550"/>
              <a:ext cx="11479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面向自动化实验室：方案可执行、结果可回写、从失败中迭代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85800" y="1085850"/>
              <a:ext cx="685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734998" y="1776412"/>
            <a:ext cx="8722004" cy="1161289"/>
            <a:chOff x="1734998" y="1776412"/>
            <a:chExt cx="8722004" cy="1161289"/>
          </a:xfrm>
        </p:grpSpPr>
        <p:sp>
          <p:nvSpPr>
            <p:cNvPr id="8" name="TextBox 8"/>
            <p:cNvSpPr txBox="1"/>
            <p:nvPr/>
          </p:nvSpPr>
          <p:spPr>
            <a:xfrm>
              <a:off x="2570231" y="1776412"/>
              <a:ext cx="70515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这套系统真正改变的，是把“该不该相信这条结论”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0546" y="2195512"/>
              <a:ext cx="681090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变成一个可以点开 DOI 与原文段落回答的问题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34998" y="2673668"/>
              <a:ext cx="8722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文献稀缺（BYZSO）与文献丰富（LLZO）两种情形下，都产出了可逐条核对的结论与可检验的实验方案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3200400"/>
            <a:ext cx="3429000" cy="2571750"/>
            <a:chOff x="685800" y="3200400"/>
            <a:chExt cx="3429000" cy="2571750"/>
          </a:xfrm>
        </p:grpSpPr>
        <p:sp>
          <p:nvSpPr>
            <p:cNvPr id="12" name="Rectangle 12"/>
            <p:cNvSpPr/>
            <p:nvPr/>
          </p:nvSpPr>
          <p:spPr>
            <a:xfrm>
              <a:off x="685800" y="3200400"/>
              <a:ext cx="3429000" cy="2571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47738" y="3424238"/>
              <a:ext cx="200026" cy="200025"/>
              <a:chOff x="947738" y="3424238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69963" y="34242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47738" y="35575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92201" y="34256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14426" y="35592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67206" y="34061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对材料研究者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542" y="3759518"/>
              <a:ext cx="2928366" cy="17499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一次运行替代数周文献梳理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51 篇文献逐条核对，28 条合成条件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逐字段比较，同类体系单独成节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每条结论可点开 DOI 与原文段落，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“该不该信”变成可回答的问题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前人结论汇总 + 相图讨论，直接进入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课题设计而非再读一遍文献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81500" y="3200400"/>
            <a:ext cx="3570161" cy="2571750"/>
            <a:chOff x="4381500" y="3200400"/>
            <a:chExt cx="3570161" cy="2571750"/>
          </a:xfrm>
        </p:grpSpPr>
        <p:sp>
          <p:nvSpPr>
            <p:cNvPr id="21" name="Rectangle 21"/>
            <p:cNvSpPr/>
            <p:nvPr/>
          </p:nvSpPr>
          <p:spPr>
            <a:xfrm>
              <a:off x="4381500" y="3200400"/>
              <a:ext cx="3429000" cy="2571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675688" y="3424238"/>
              <a:ext cx="135524" cy="200026"/>
              <a:chOff x="4675688" y="3424238"/>
              <a:chExt cx="135524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710113" y="3424238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21225" y="3490913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75688" y="3424238"/>
                <a:ext cx="13552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6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100"/>
                      <a:pt x="3" y="193670"/>
                      <a:pt x="1095" y="195854"/>
                    </a:cubicBezTo>
                    <a:cubicBezTo>
                      <a:pt x="2187" y="198039"/>
                      <a:pt x="4242" y="199583"/>
                      <a:pt x="6643" y="200026"/>
                    </a:cubicBezTo>
                    <a:lnTo>
                      <a:pt x="128881" y="200026"/>
                    </a:lnTo>
                    <a:cubicBezTo>
                      <a:pt x="131283" y="199583"/>
                      <a:pt x="133337" y="198039"/>
                      <a:pt x="134429" y="195854"/>
                    </a:cubicBezTo>
                    <a:cubicBezTo>
                      <a:pt x="135521" y="193670"/>
                      <a:pt x="135524" y="191100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962906" y="34061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对自动化实验室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3242" y="3759518"/>
              <a:ext cx="3348419" cy="17499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交付可执行的方案，而非一段总结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方案 = 前驱体 + 条件 + 表征 + 失败判据，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全部是结构化、可调度的对象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成功与失败的实验都回写为证据，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Agent 据此迭代出下一轮更优方案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需要人确认的节点保留在回路中，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自动化而不失可信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77200" y="3200400"/>
            <a:ext cx="3429000" cy="2571750"/>
            <a:chOff x="8077200" y="3200400"/>
            <a:chExt cx="3429000" cy="2571750"/>
          </a:xfrm>
        </p:grpSpPr>
        <p:sp>
          <p:nvSpPr>
            <p:cNvPr id="29" name="Rectangle 29"/>
            <p:cNvSpPr/>
            <p:nvPr/>
          </p:nvSpPr>
          <p:spPr>
            <a:xfrm>
              <a:off x="8077200" y="3200400"/>
              <a:ext cx="3429000" cy="2571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339138" y="3416309"/>
              <a:ext cx="209550" cy="217479"/>
              <a:chOff x="8339138" y="3416309"/>
              <a:chExt cx="209550" cy="21747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405813" y="34909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39150" y="36242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39138" y="34909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539163" y="34909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39138" y="3535363"/>
                <a:ext cx="55563" cy="78899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78899">
                    <a:moveTo>
                      <a:pt x="55563" y="78899"/>
                    </a:moveTo>
                    <a:cubicBezTo>
                      <a:pt x="24740" y="63865"/>
                      <a:pt x="3769" y="34086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483601" y="3535363"/>
                <a:ext cx="55563" cy="78899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78899">
                    <a:moveTo>
                      <a:pt x="0" y="78899"/>
                    </a:moveTo>
                    <a:cubicBezTo>
                      <a:pt x="30823" y="63865"/>
                      <a:pt x="51794" y="34086"/>
                      <a:pt x="55563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74698" y="3416309"/>
                <a:ext cx="126683" cy="30153"/>
              </a:xfrm>
              <a:custGeom>
                <a:avLst/>
                <a:gdLst/>
                <a:ahLst/>
                <a:cxnLst/>
                <a:rect l="l" t="t" r="r" b="b"/>
                <a:pathLst>
                  <a:path w="126683" h="30153">
                    <a:moveTo>
                      <a:pt x="0" y="30153"/>
                    </a:moveTo>
                    <a:cubicBezTo>
                      <a:pt x="36845" y="0"/>
                      <a:pt x="89838" y="0"/>
                      <a:pt x="126683" y="30153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658606" y="34061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对新化合物与稀缺体系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8942" y="3759518"/>
              <a:ext cx="3099816" cy="17499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从近邻体系推断可迁移的边界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只有 1 篇直接报道的目标相，也得到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4 个实验方向与 7 种化合物的前驱体候选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明确哪些近邻条件不可迁移，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避免重复已知的失败实验</a:t>
              </a:r>
            </a:p>
            <a:p>
              <a:pPr algn="l" marL="145732" indent="-145732">
                <a:lnSpc>
                  <a:spcPts val="1800"/>
                </a:lnSpc>
                <a:spcBef>
                  <a:spcPts val="300"/>
                </a:spcBef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先做局部相图再做单一配方，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把探索预算花在最有发现价值处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8942" y="6007418"/>
            <a:ext cx="10109595" cy="264033"/>
            <a:chOff x="678942" y="6007418"/>
            <a:chExt cx="10109595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678942" y="6007418"/>
              <a:ext cx="10109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下一步</a:t>
              </a:r>
              <a:r>
                <a:rPr lang="zh-CN" sz="13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 xml:space="preserve"> 接入实验平台的结果回写 · 对四个方向开展合成实验 · 扩展温度 / 气氛条件预测 </a:t>
              </a:r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MIT 开源</a:t>
              </a:r>
              <a:r>
                <a:rPr lang="en-US" sz="135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 asimfish/goai_research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9704" y="6480810"/>
            <a:ext cx="10832592" cy="234696"/>
            <a:chOff x="679704" y="6480810"/>
            <a:chExt cx="108325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79704" y="6480810"/>
              <a:ext cx="3417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Segoe UI"/>
                  <a:ea typeface="Microsoft YaHei"/>
                  <a:cs typeface="Segoe UI"/>
                </a:rPr>
                <a:t>SAGE-Mat · GOAI 2026 AI for Research 复赛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Segoe UI"/>
                  <a:ea typeface="Segoe UI"/>
                  <a:cs typeface="Segoe UI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D1D1F"/>
      </a:dk1>
      <a:lt1>
        <a:srgbClr val="FFFFFF"/>
      </a:lt1>
      <a:dk2>
        <a:srgbClr val="5A6573"/>
      </a:dk2>
      <a:lt2>
        <a:srgbClr val="F3F5F8"/>
      </a:lt2>
      <a:accent1>
        <a:srgbClr val="1F4D78"/>
      </a:accent1>
      <a:accent2>
        <a:srgbClr val="C48A2B"/>
      </a:accent2>
      <a:accent3>
        <a:srgbClr val="4F8A9E"/>
      </a:accent3>
      <a:accent4>
        <a:srgbClr val="D5DBE3"/>
      </a:accent4>
      <a:accent5>
        <a:srgbClr val="8A94A0"/>
      </a:accent5>
      <a:accent6>
        <a:srgbClr val="E6EAF0"/>
      </a:accent6>
      <a:hlink>
        <a:srgbClr val="C48A2B"/>
      </a:hlink>
      <a:folHlink>
        <a:srgbClr val="4F8A9E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D1D1F"/>
      </a:dk1>
      <a:lt1>
        <a:srgbClr val="FFFFFF"/>
      </a:lt1>
      <a:dk2>
        <a:srgbClr val="5A6573"/>
      </a:dk2>
      <a:lt2>
        <a:srgbClr val="F3F5F8"/>
      </a:lt2>
      <a:accent1>
        <a:srgbClr val="1F4D78"/>
      </a:accent1>
      <a:accent2>
        <a:srgbClr val="C48A2B"/>
      </a:accent2>
      <a:accent3>
        <a:srgbClr val="4F8A9E"/>
      </a:accent3>
      <a:accent4>
        <a:srgbClr val="D5DBE3"/>
      </a:accent4>
      <a:accent5>
        <a:srgbClr val="8A94A0"/>
      </a:accent5>
      <a:accent6>
        <a:srgbClr val="E6EAF0"/>
      </a:accent6>
      <a:hlink>
        <a:srgbClr val="C48A2B"/>
      </a:hlink>
      <a:folHlink>
        <a:srgbClr val="4F8A9E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2026-09-05T22:49:10Z</dcterms:created>
  <dcterms:modified xsi:type="dcterms:W3CDTF">2026-09-05T22:49:10Z</dcterms:modified>
  <cp:category/>
  <cp:contentStatus/>
</cp:coreProperties>
</file>